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0"/>
  </p:notesMasterIdLst>
  <p:sldIdLst>
    <p:sldId id="257" r:id="rId2"/>
    <p:sldId id="285" r:id="rId3"/>
    <p:sldId id="256" r:id="rId4"/>
    <p:sldId id="259" r:id="rId5"/>
    <p:sldId id="258" r:id="rId6"/>
    <p:sldId id="260" r:id="rId7"/>
    <p:sldId id="278" r:id="rId8"/>
    <p:sldId id="261" r:id="rId9"/>
    <p:sldId id="262" r:id="rId10"/>
    <p:sldId id="277" r:id="rId11"/>
    <p:sldId id="263" r:id="rId12"/>
    <p:sldId id="264" r:id="rId13"/>
    <p:sldId id="265" r:id="rId14"/>
    <p:sldId id="266" r:id="rId15"/>
    <p:sldId id="27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6" r:id="rId24"/>
    <p:sldId id="274" r:id="rId25"/>
    <p:sldId id="275" r:id="rId26"/>
    <p:sldId id="280" r:id="rId27"/>
    <p:sldId id="281" r:id="rId28"/>
    <p:sldId id="282" r:id="rId29"/>
    <p:sldId id="283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3" r:id="rId47"/>
    <p:sldId id="302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6" r:id="rId60"/>
    <p:sldId id="315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6" r:id="rId70"/>
    <p:sldId id="327" r:id="rId71"/>
    <p:sldId id="328" r:id="rId72"/>
    <p:sldId id="329" r:id="rId73"/>
    <p:sldId id="325" r:id="rId74"/>
    <p:sldId id="330" r:id="rId75"/>
    <p:sldId id="331" r:id="rId76"/>
    <p:sldId id="332" r:id="rId77"/>
    <p:sldId id="333" r:id="rId78"/>
    <p:sldId id="334" r:id="rId79"/>
  </p:sldIdLst>
  <p:sldSz cx="12192000" cy="6858000"/>
  <p:notesSz cx="6858000" cy="9144000"/>
  <p:defaultTextStyle>
    <a:defPPr>
      <a:defRPr lang="en-K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B06"/>
    <a:srgbClr val="1C27CF"/>
    <a:srgbClr val="FBB902"/>
    <a:srgbClr val="FF9300"/>
    <a:srgbClr val="F7D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42"/>
    <p:restoredTop sz="94719"/>
  </p:normalViewPr>
  <p:slideViewPr>
    <p:cSldViewPr snapToGrid="0">
      <p:cViewPr varScale="1">
        <p:scale>
          <a:sx n="152" d="100"/>
          <a:sy n="152" d="100"/>
        </p:scale>
        <p:origin x="424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2FDEF-09AE-D841-82B5-B8C57D3BE67B}" type="datetimeFigureOut">
              <a:rPr lang="en-KH" smtClean="0"/>
              <a:t>20/2/26</a:t>
            </a:fld>
            <a:endParaRPr lang="en-K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DABFE7-2B72-E34A-B8CF-9CC2D7D3F47E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89156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4169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14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506881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140248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50405-EA6E-E7C9-0FB1-BE4DD6BD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CE1FA3-7CE0-9711-EEE5-B7ECFB06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BBAAE-706B-0E6C-4EC7-4E4C579A6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0FE22-2D10-12A0-0FBF-A72BBB002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4281335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DE283-5004-EDFE-E284-418BADCFD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24B57-B88F-A610-7A8D-C70500F5F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A1662-94C7-3A95-F22F-E7689C1DC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ABE0E-EB76-80D7-5DAD-D73AACF897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92022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363E8-59E2-C8BB-5CA7-74DE51905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85A76-7024-17A8-96EE-FD0AC6C26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60A10-C287-7F89-55F7-108743D82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A6232-3E57-1C7B-15D2-27E0569F26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38321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4739-DACE-B04A-8DDA-59A86FBD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8D71B6-CA73-21CD-F878-519FC534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047CE-1D9D-1C5D-DB8E-67DD8205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CDC08-6028-E4C0-131C-C85A04C07D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39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021849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7BA6-33D2-0678-9B24-97F53DBC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7C6A34-0BE4-679C-BCFF-D5E5D8A96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9A8C3-51E6-9018-4B4D-F7B3812337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BD51D-3E34-C369-6D4E-0905E4848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79144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308FD-81B4-3104-8BF0-0F47DE1BD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E55AF-C792-996D-7026-A94AF3ED3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1B95B1-1FBD-5FBA-5022-F35048AE0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18853D-931F-B944-1396-C65C4BC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911017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73601-A223-BAE3-6ED2-B605EDAE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3AFCA3-60DD-09BE-EBA8-A2021E7F5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3E2ED4-D1C0-A138-8A7D-4C4E26463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DF1FD-8DB3-DDC6-E160-E123FC0AC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558506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E7EB-43AF-C2E4-36ED-D4DC00DB6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5C7A92-A94D-7CB6-4767-6A44B94B1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1E1AC-8E5F-BECD-91D8-ABDEBDE99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2761C0-D103-476C-545E-92355F1DF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390669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4DA4E-AC9B-6B5A-6C2E-19EDC8960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7521A7-6F5B-3267-4476-9A1DF6A156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192D46-32A6-D480-060D-78F03D364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395BE-9677-4790-7858-513151E647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759245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D41F5-4DAF-CDEB-11C2-8436EDA3E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6D71B7-A8E8-4A3E-BBBB-02374FD05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46D64-630E-435F-8910-0215ACF41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DADF-EA0E-61F6-E4B1-AB5C3E1226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734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E13-7310-B22D-F2C2-C69AF471C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032311-35EA-91DA-CC3C-7EDC700B2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044A8-8159-7893-1536-4AD53FF5B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BBB8B2-1033-322A-4A2C-1C59128F28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43533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67797-8F42-EA5D-A33A-54B3D0EC7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05F4F-0F0A-5914-E5FD-FFCC076635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EE9A03-F01F-B4D3-96F8-81F809461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008A-031B-F80D-A5A8-D3ED159D8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110504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CF2B7-28BE-542C-680B-CDD4BA64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3822AD-D75A-26C1-11E9-EAF173415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912D2-5EC1-47F9-EB8A-86662F6359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45DAF-C4C9-406A-77EC-523F3C394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0563721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5034F-4929-703E-A983-7856F81BD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64837D-BF92-944A-FBD5-0FA64FC32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28D48-1A74-3903-4505-87637A940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1ABF0-D20B-1D30-C1DD-B84F54A6FE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49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77781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6FB16-F1C0-2979-2E80-AC8D0CA7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9A462-8361-8367-72FE-EE6B2D261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8D5FAD-10AD-0BAF-5D85-AE58ACC7C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7A73D-CE14-4615-4BB8-57D1949719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99988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52875-DDC5-0ED0-730F-26A528AF9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36E80B-A1BA-A42E-8972-B440CE5E3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9C49F-61F5-1B88-8060-95396FBED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E374A-2CC8-51B1-6FDD-26DBC482A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953456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E6DA5-D2FA-D3CF-B2B1-EC4CC757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7C9A9-4CE5-3A76-4692-809AD3623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6BBAA-CCAA-458A-2208-DDAB3CC75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54130-2A49-8339-B684-A31D06DEF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311276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7F16-9F0C-077F-72BA-C54E20C67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93ED34-EDF8-FD84-00E5-B75425B72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96F6B-37D6-18FF-9525-422C950394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353C6-B2DD-6A37-4E87-C853A5E865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8329027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A1B11-1AEA-A7EE-82BE-EE1733A5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6900C-E5DA-38BE-B67F-682D08808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3D7DAF-C1AB-45EA-60BC-7E667A188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DDE8B-6A57-5D47-F022-8DF49EA6AA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577016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0BE8-CBD1-F8E2-B817-C4D41276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62707B-5CCD-0BC1-24CE-F5DAEBC854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55C62-9190-67B9-B96D-345EAF64D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E5203F-5D48-DB12-ABF6-CFD47546C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2039992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4A0FF-D4F8-4923-972C-ECD3DEB1D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36C73-6F2A-DB6D-10C7-F81D16D96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69223-12A8-6AA1-D563-F1AABF6CA0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10BDD-C9DE-E49C-7096-6B341FF01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435029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66B1A-5F9B-017A-974A-91E89FE49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1B44C-C582-18AC-18EC-426C6B71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33510E-53C9-4F85-C4AC-93A60790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E2D5A0-6164-D9BA-563F-6C97FD738D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450763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1AA1C-23F9-5E2B-C92D-1A4FA285B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BC2AB-9DDF-C1A3-494E-B8BBDE8C0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D7150C-3E50-1AEA-773B-A57593E53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433BC-25EA-135B-C671-476849F1F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7623724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FDC73-8A59-2F57-5E93-33D1368E4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98AEF-D5DD-B3F5-AC96-0BC9C99DE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DC4C3-0301-E7B3-D630-9B7B519CE1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FA1C0-052A-C679-870C-CB61251F08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59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1419008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3C073-9739-DF51-6C8E-9B0F26E3C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1CBE3-75AA-FDE6-38CC-D8D0F4FF5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1676B7-71A0-9951-2D0E-25DB5D9B9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26CAD-9BE1-9C97-C39A-83851E8325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0104814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892A-108B-2851-7FDE-D2E4E524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6D70CB-E955-3A54-FDB6-040D66B80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4F9FD-0E8B-CC3E-142F-5D408718E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83735-27E6-351C-C2C0-9CB5CD85D2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344006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A488-6076-E8DF-8BCC-A4E96F8CA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1F608-098E-ADC3-ECD8-3F4C8E590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8904D9-836C-31D3-069D-4B5AF74E2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125A1-018F-AC10-35FC-6E8B366257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98616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E326-E3BD-D7CD-44D0-E9C854C2D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3FB5-ADF3-BA6A-07A2-EC3719BA1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F8885B-D8F0-06AA-4908-D8B2E671C3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4D7D5-0884-B6CB-B158-D7E16718B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2860554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E7450-0B80-88F1-6FAD-2E545DB8C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825F2A-11D2-36FD-F13B-8229ADC9B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BC4F58-650A-215D-F3FB-9901DCE5D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455A-3945-BC5F-EBDC-A29A913068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1081310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AEFB2-8FE0-3BDA-6A51-4D65DA8A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323F5-29B3-F1BB-1097-197CB2FA0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9A61D-9AAC-80A8-F183-E662CAB50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A29D7-B7B7-7C7F-E5D1-F1572038D3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2263711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AF07C-180D-C59C-5A98-01A64F37B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FE5A7C-C300-A368-7D7F-5DD3FB39A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E1DAF7-B6B1-D71E-D908-F42410F48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7E801C-A7A1-B12E-1F28-ADEAC9115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723628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94452-629A-6D55-CCB3-E162E878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2E1D8-D8F4-396E-140C-BB88BB507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F9A17-0949-A98E-94D4-9D3CFB34F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7AECC-B9E7-4996-548F-7D6DC77E4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5745871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F34F-ADE5-E1B2-AA56-A6D847426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4A415-ED4E-F154-BFB5-DA97EEAD2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66B49-22EC-FA49-D843-B9B36DCB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3D2BE-1C1B-D87D-0C3B-AF5E36746E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7525554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D8EEE-30FA-48C0-E97B-BA99728FE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1A83E-623A-00F5-52AD-45D0539A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12D80A-C452-9361-1155-77FF7730D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CF994-0A10-9DE7-7A64-1098516595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69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589513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E4B63-81DF-0336-0A9D-5E44F7479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F24E5-D1B8-D27B-6E81-2E92597FB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9A753-B9F2-24EF-A44F-ECF4E2E47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71C19-920D-9B22-B4D9-C9051D48C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70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603468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F61F8-DB25-C2A5-EB79-736B34A7C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F68413-E7B2-EC98-35BF-FC55FBC638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29C764-3C68-445C-F7D5-80A910F05B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AD3D31-19BD-40EB-0CFF-9D672AF0C7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71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07097841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5E60E-D9E9-8C7A-3FC7-F645A7CE5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198A23-DCCA-A8C6-F6C2-67F16675A6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98499-AA44-21A0-397B-A5AF95D162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40F6E-F2C7-C5CB-FC41-A9A43C13A8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72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016493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02B5C-6DD3-CDCE-4278-F7C2D2E9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2B7BD3-D004-C596-6F73-46F21EEA4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BB7D16-37E1-3271-2FEA-5A7A7CFB8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E28CE-5A0C-D70F-1591-0E0E542087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73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85616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DD186-CBFC-09ED-B2EA-AD08976EE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66944-4202-0554-4A3F-5C35CEEE46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1CC89-3AF8-1967-CD38-0BBDCF980D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B01422-1DB7-EC50-411E-066A4325B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74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44298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81D4A-55E4-EA6D-95E5-48B796CA8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7DA36-51FA-6293-5BB1-B105AB297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145A00-B656-BD2E-12F6-B61ABE7D8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8635B-F06A-133C-BADA-9600E03310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75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2149104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7B703-FCC4-8BAC-2164-B88F8A830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2B2BA-7F7E-C6D7-5484-DDB969134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64994-31A0-8931-A730-AB3B15D58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2B906-63C4-1088-B302-0B4C1CE9B3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76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0820062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9FDA1-FDE0-612A-BE29-82CF375FD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1A721A-15D6-94B1-F7A2-BED606FC0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26797A-A7A1-208D-A454-6D81DE462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2EC09-CD71-D4EA-B74C-C487548933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77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9013046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26101-6259-A466-C57B-90F38C21C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700BB-9EF9-B426-5C72-056ED1F290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09AEBC-CB28-161D-4CD5-5ED33C047C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D6B27-8BE8-E5C9-5F53-63FBF5DA62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DABFE7-2B72-E34A-B8CF-9CC2D7D3F47E}" type="slidenum">
              <a:rPr lang="en-KH" smtClean="0"/>
              <a:t>78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57501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92B20-97B0-BFE8-33A8-6ED6EF0D96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B3A344-7B9B-A86D-C38C-B6663E9ECF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5DA2D-97F9-996E-1A7F-053671A6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C6F87E-8ED6-2EC1-128A-C0C4AD76E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212E0-D388-FE97-F524-B75760D44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788058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45033-11D5-AACD-36DD-6A5A404DB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B0BD3A-8858-736F-BB1B-431733E45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0283A-9327-9628-574C-612C2DA9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8B789-84FF-3F91-EF3A-357C7F578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225E5-510D-6A0A-7044-806F89652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13823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4BF2D-27B8-22F6-E2D1-49CD6A4F3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2890CE-1BF6-21FA-1C62-24D67E65BC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EF9CE-E4DB-CFAF-6B77-B78A603EE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3C8D6A-23C8-7A30-CCB1-09BD88E99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26B7D-E582-17D8-3321-401FC4D5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5737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2CF3F-78E9-AA6D-4948-732FA9E31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F34FD-6E08-D45D-177D-8E7E72DDF0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4195D7-018E-6BB1-598D-AF306C255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8468ED-74DE-9272-347C-B9F780A2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75A200-39CD-EF7E-0187-F37CCE9B2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0B3CE2-5082-8512-ED0D-FC78EBB3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2850264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DDB90-FFDD-52A8-6C54-BFFF5C1F4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70F8-EC63-79CB-4B50-05C84AEF8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ED119D-A17D-777C-2944-2E0C0462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0A5507-9F48-BD1B-4FB6-1285A1EA7E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7E10D-9A3C-D69B-E36D-3ED811FED9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4C588-3075-74BC-0FF9-EC3F1035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570D63-AE1F-50C1-5089-2BBD015D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E86FB9-3142-04A9-8F46-EEE231EA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345522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8A0DA-EF88-A891-9F84-F8396C11C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A44A92-6CB6-5FC8-C40A-8216978D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FCEEBE-3A6F-6309-B07F-8BC14F749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7192F-FB9E-FC80-8ACE-F2D874424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32088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A8E491-E1F8-8751-8252-11FCE4A69D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182E04-D7B8-01A9-0FFD-03FF9F8E8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2186F-9254-9D89-55D8-75C414CE8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683840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941F4-FC4D-AD9F-340A-60400B381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635C5-0D68-7984-C398-8FF9D26B2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0C6B4-2BFE-AACD-3C8F-791644B46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830EEE-36C9-C890-AA6E-C7D41AFF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04BD5-1B0C-A6A1-CB1E-7F3088E1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2806C-198E-9B48-60B9-8D100B708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56507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D7767-5206-B51A-F11B-94BAE866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4E6E24-1F13-33C8-CA09-CF8C3D8FEC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9867FE-C012-5FD3-F77C-DE609CB6CD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F4DA8-DA37-E3B9-C1F8-DA37D22C3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E1ADDC-871E-7F98-022B-FE66B287B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3DF440-5BE5-49FE-16CA-3E163353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426735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ECCA5-B5B9-71EF-30B5-652D0A9E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F8E4-CB5E-2DAD-CDA3-7C753D9609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1DCF3F-7F37-C3FE-F2FC-DF200465AC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7EB44-3DA1-1DB8-DDBD-991061BD9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8CE1A-B5C5-A4C6-303E-54C9263D1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4173842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5D7DAB-DDDE-8643-83A3-8B177C3A9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6E13D-129B-2C77-FD05-B1BB45BD7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D8C85-9541-9EBD-54A6-26A31FEE5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6762D-DE41-3B0D-37A5-7B3A040DC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3DBA5-5CC0-FE80-8C83-4E8C6E28F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1537684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B53CF3-A869-244F-3FF5-4BEF22385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FC56A3-3D0F-1C46-F625-43A6AAF8DE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11A31-2AC6-AC57-EDC2-D54C8048BB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A51AF-933C-9446-AB7C-4A14F59AF2F3}" type="datetimeFigureOut">
              <a:rPr lang="en-KH" smtClean="0"/>
              <a:t>20/2/26</a:t>
            </a:fld>
            <a:endParaRPr lang="en-K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C582D2-80F7-CCB1-8D23-DDCA04E8C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E82A1-1183-9FA9-82EB-0FC03B035B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312EF-28A4-0246-9A95-0A9CE360A7B2}" type="slidenum">
              <a:rPr lang="en-KH" smtClean="0"/>
              <a:t>‹#›</a:t>
            </a:fld>
            <a:endParaRPr lang="en-KH"/>
          </a:p>
        </p:txBody>
      </p:sp>
    </p:spTree>
    <p:extLst>
      <p:ext uri="{BB962C8B-B14F-4D97-AF65-F5344CB8AC3E}">
        <p14:creationId xmlns:p14="http://schemas.microsoft.com/office/powerpoint/2010/main" val="3907333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netbeans.apache.org/front/main/download" TargetMode="External"/><Relationship Id="rId2" Type="http://schemas.openxmlformats.org/officeDocument/2006/relationships/hyperlink" Target="https://spring.io/tools#eclipse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jetbrains.com/idea/download" TargetMode="External"/><Relationship Id="rId4" Type="http://schemas.openxmlformats.org/officeDocument/2006/relationships/hyperlink" Target="https://code.visualstudio.com/download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va programming language - ProgKids">
            <a:extLst>
              <a:ext uri="{FF2B5EF4-FFF2-40B4-BE49-F238E27FC236}">
                <a16:creationId xmlns:a16="http://schemas.microsoft.com/office/drawing/2014/main" id="{E15B2BE2-42B3-05E4-B46E-AF9EC81B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356" y="86504"/>
            <a:ext cx="6853818" cy="4283637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E77245-BB7E-31F8-2C0A-701588E62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700" y="3530601"/>
            <a:ext cx="7073900" cy="1854200"/>
          </a:xfr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>
            <a:noAutofit/>
          </a:bodyPr>
          <a:lstStyle/>
          <a:p>
            <a:pPr algn="ctr"/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54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សម្រាប់អ្នកចាប់ផ្តើមដំបូង</a:t>
            </a: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6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6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EBDD3B2-F42D-358F-CBF2-3B58D1169800}"/>
              </a:ext>
            </a:extLst>
          </p:cNvPr>
          <p:cNvSpPr txBox="1">
            <a:spLocks/>
          </p:cNvSpPr>
          <p:nvPr/>
        </p:nvSpPr>
        <p:spPr>
          <a:xfrm>
            <a:off x="539750" y="5858956"/>
            <a:ext cx="4895850" cy="761999"/>
          </a:xfrm>
          <a:prstGeom prst="rect">
            <a:avLst/>
          </a:prstGeom>
          <a:effectLst>
            <a:outerShdw blurRad="50800" dist="50800" dir="5400000" sx="1000" sy="1000" algn="ctr" rotWithShape="0">
              <a:srgbClr val="000000">
                <a:alpha val="43137"/>
              </a:srgbClr>
            </a:outerShdw>
          </a:effectLst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KH" sz="2800" dirty="0">
                <a:solidFill>
                  <a:srgbClr val="002060"/>
                </a:solidFill>
                <a:effectLst>
                  <a:innerShdw blurRad="63500" dist="50800" dir="16200000">
                    <a:prstClr val="black">
                      <a:alpha val="50000"/>
                    </a:prstClr>
                  </a:innerShdw>
                </a:effectLst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បង្រៀនដោយ៖ លោក ងួន ឆេងហ៊ី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243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4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 tmFilter="0,0; .5, 1; 1, 1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មាតិកា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7"/>
            <a:ext cx="10472662" cy="5125659"/>
          </a:xfrm>
        </p:spPr>
        <p:txBody>
          <a:bodyPr numCol="2">
            <a:normAutofit fontScale="70000" lnSpcReduction="20000"/>
          </a:bodyPr>
          <a:lstStyle/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លក្ខណៈទូរទៅ និងការដំឡើង JDK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ប្រតិបត្តិករ (Operators)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 និងParameter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និងមូលដ្ឋាននៃការប្រមូល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 Concepts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class និង object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Inheritance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Polymorphism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Abstraction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ការកាន់កាប់ Exception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មូលដ្ឋាននៃ I/O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ការណែនាំអំពី Java Package 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ការអនុវត្តន៍ Java Project</a:t>
            </a: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457200" indent="-457200" algn="l">
              <a:lnSpc>
                <a:spcPct val="150000"/>
              </a:lnSpc>
              <a:buFont typeface="Wingdings" pitchFamily="2" charset="2"/>
              <a:buChar char="v"/>
            </a:pP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4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7E3D8-2A3E-05E8-5FD6-6DB6F5BEB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អ្វីទៅជា Java?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AAA15-100F-2D87-E3A6-1E413672A8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925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គឺជាភាសាសរសេរកម្មវីធីដ៍ពេញនិយម និងតម្រង់ទិសវត្ថុ(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Object-Oriented Programing)​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ដែលត្រូវបានបង្កើតឡើងដោយក្រុមហ៊ុន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Sun Microsystems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ដែលបច្ចុប្បន្នត្រូវបានគ្រប់គ្រងដោយក្រុមហ៊ុន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Oracle។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កម្មវីធីដែលសរសេរដោយភាសា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</a:t>
            </a:r>
            <a:r>
              <a:rPr lang="en-US" sz="3200" dirty="0" err="1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អាចដំណើរការលើគ្រប់ឧបករណ៍ណាដែលមាន</a:t>
            </a:r>
            <a:r>
              <a:rPr lang="en-US" sz="3200" dirty="0">
                <a:solidFill>
                  <a:srgbClr val="0070C0"/>
                </a:solidFill>
                <a:latin typeface="Kh Battambang" panose="02000500000000020004" pitchFamily="2" charset="77"/>
                <a:cs typeface="Kh Battambang" panose="02000500000000020004" pitchFamily="2" charset="77"/>
              </a:rPr>
              <a:t> Java Virtual Machine (JVM)។</a:t>
            </a:r>
            <a:endParaRPr lang="en-KH" sz="3200" dirty="0">
              <a:solidFill>
                <a:srgbClr val="0070C0"/>
              </a:solidFill>
              <a:latin typeface="Kh Battambang" panose="02000500000000020004" pitchFamily="2" charset="77"/>
              <a:cs typeface="Kh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ED8EBF-9896-23AD-8846-2B72B1837D1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2F01DB-C154-4658-5F7F-C4B6AD82BFD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09D81B-335C-FBB0-B76B-6DDCD80E2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41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E2073-4B55-5AB1-4A05-4BFA987B5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053E6-4CA8-AD7E-AC0C-3B2CE38F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ប្រវត្តិនៃ Java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B93D69-B108-5836-CD61-38CCB64F06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195957"/>
            <a:ext cx="10472662" cy="5320581"/>
          </a:xfrm>
        </p:spPr>
        <p:txBody>
          <a:bodyPr>
            <a:normAutofit fontScale="3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KH" sz="4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ត្រូវាបានអភិវឌ្ឍជាភាសាថ្មីមួយ(ផ្អែកលើ C++) ចាប់ពីឆ្នាំ 1991 ដល់ 1994 ​ដោយលោក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James Gosling​,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Mike Sheridan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និងលោក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Patrick Naughton និងដាក់ឲ្យប្រើប្រាស់ជាផ្លូវការនៅឆ្នាំ1995។</a:t>
            </a:r>
            <a:b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Sun Microsystems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បានដាក់ឲ្យប្រើប្រាស់ជាផ្លូវការនូវ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Java 1.0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ក្នុងឆ្នាំ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1996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Web Applets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ដែលធ្វើឲ្យ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កាន់តែមានភាពពេញនិយមសម្រាប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Dynamic Web Content។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ក្រោយមកទៀត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2(J2SE 1.2)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J2EE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សម្រាប់សហគ្រាស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J2ME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Mobile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ត្រូវបានដាក់ឲ្យប្រើប្រាស់ជាផ្លូវការនៅឆ្នាំ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1998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1999។ </a:t>
            </a:r>
            <a:r>
              <a:rPr lang="en-US" sz="7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បន្ទាប់មក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Core JVM ត្រូវបាន Sun ដាក់ឲ្យប្រើប្រាស់ជា          open-source នៅឆ្នាំ 2006។ </a:t>
            </a:r>
            <a:b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7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Oracle 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ទទួលបាន </a:t>
            </a:r>
            <a:r>
              <a:rPr lang="en-US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Sun Microsystems</a:t>
            </a:r>
            <a:r>
              <a:rPr lang="en-KH" sz="7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នៅឆ្នាំ 2010 និងធ្វើការអភិវឌ្ឍបន្តរហូតមកដល់សព្វថ្ងៃ។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7214E84-2D5A-6F5E-323D-C9F0C90D311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001CFDD-0ABE-8639-99B6-F95E039B4B8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A56B10-D991-86D0-48A8-19105FF77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970FC-2686-5948-92DD-9BA217F1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F2CCB-F663-B3FD-0118-5471DF03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Virtual Machine (JVM)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6DD334-F88C-C46A-BF62-499374128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Virtual Machine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គឺជាម៉ាស៊ីននិម្មិតដែលបើកប្រតិបត្តិការនៃ Java bytecode។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01863-0496-1ED0-C49B-37DA6F1C8D2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143A4-7B3D-B78B-F996-3E97CC2772A6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3E03E46-4FD8-44E6-FAE1-79578F9BC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3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92DCB6-D9F1-4FAD-25FF-81DB7D76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F03AD-6B62-D56F-E81C-5ED3F8880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Development Kit(JDK)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0E7FA-EF96-D6C7-2EE7-AFF92DB6F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dirty="0"/>
              <a:t>	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Development Kit</a:t>
            </a: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គឺកញ្ចប់អភិវឌ្ឍន៍ Software     សម្រាប់ធ្វើការអភិវឌ្ឍកម្មវិធីនៃ Java Platform។</a:t>
            </a: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https://www.oracle.com/java/technologies/downloads/</a:t>
            </a:r>
            <a:endParaRPr lang="en-KH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A0096CF-C180-9609-12F9-A147ABC5056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D06D9-01C3-1C77-8DB7-D6FB9E0554B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E409CEC-9E14-AAFE-A778-FA0540CDD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100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70267-BC5D-F5B7-8088-7B3998625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3D7BC-0AF3-BD90-363A-D39CCEE06E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F406E4-2A28-3FC0-3194-2CAC9D517A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200666"/>
            <a:ext cx="10472662" cy="2332945"/>
          </a:xfrm>
        </p:spPr>
        <p:txBody>
          <a:bodyPr>
            <a:normAutofit fontScale="92500" lnSpcReduction="20000"/>
          </a:bodyPr>
          <a:lstStyle/>
          <a:p>
            <a:pPr algn="l"/>
            <a:endParaRPr lang="en-KH" dirty="0"/>
          </a:p>
          <a:p>
            <a:pPr algn="l">
              <a:lnSpc>
                <a:spcPct val="150000"/>
              </a:lnSpc>
            </a:pPr>
            <a:r>
              <a:rPr lang="en-KH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 Compiler(</a:t>
            </a:r>
            <a:r>
              <a:rPr lang="en-US" sz="32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3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KH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ជាឧបករណ៍ដែលមាននៅក្នុង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JDK។វាមានមុខងារក្នុងការបម្លែង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code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ដែលមនុស្សអានបាន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(.java) </a:t>
            </a:r>
            <a:r>
              <a:rPr lang="en-US" sz="3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ទៅជា</a:t>
            </a:r>
            <a:r>
              <a:rPr lang="en-US" sz="3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bytecode (.class)។</a:t>
            </a:r>
            <a:endParaRPr lang="en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678946-27DF-BB33-F5AA-19516701ED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1D83C8-8AEE-468B-F0DE-8C946E49CEF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C44DE54-83E8-2B95-E1A5-8AED2C142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4778E8FC-43F6-52F0-BF36-7C68C1CC498B}"/>
              </a:ext>
            </a:extLst>
          </p:cNvPr>
          <p:cNvSpPr txBox="1">
            <a:spLocks/>
          </p:cNvSpPr>
          <p:nvPr/>
        </p:nvSpPr>
        <p:spPr>
          <a:xfrm>
            <a:off x="1701799" y="3482335"/>
            <a:ext cx="9630531" cy="5782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Main.java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710ACA-43C3-52A0-4043-0E5371753F24}"/>
              </a:ext>
            </a:extLst>
          </p:cNvPr>
          <p:cNvSpPr txBox="1">
            <a:spLocks/>
          </p:cNvSpPr>
          <p:nvPr/>
        </p:nvSpPr>
        <p:spPr>
          <a:xfrm>
            <a:off x="931938" y="4393385"/>
            <a:ext cx="10472662" cy="1496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</a:pPr>
            <a:r>
              <a:rPr lang="en-KH" dirty="0"/>
              <a:t>👉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run java bytecode(.class)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យើងត្រូវប្រើពាក្យបញ្ជា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“java”។</a:t>
            </a:r>
            <a:b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 </a:t>
            </a:r>
            <a:r>
              <a:rPr lang="en-US" sz="2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Main</a:t>
            </a:r>
            <a:endParaRPr lang="en-KH" sz="2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42496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BE615-A731-8777-9FCE-37E39787E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1A286-29D9-32B1-0B71-BDF86776A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ឧបករណ៍សម្រាប់សរសេរភាសា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Java(IDE)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B3F26-ED51-A7CE-7F26-9BA6464972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1938" y="1417638"/>
            <a:ext cx="10472662" cy="4389894"/>
          </a:xfrm>
        </p:spPr>
        <p:txBody>
          <a:bodyPr>
            <a:normAutofit fontScale="85000" lnSpcReduction="20000"/>
          </a:bodyPr>
          <a:lstStyle/>
          <a:p>
            <a:pPr algn="l"/>
            <a:endParaRPr lang="en-KH" dirty="0"/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Command line: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បង្កើត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.java file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ដោយប្រើ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OS command =&gt;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javac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Filename.java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=&gt; java Filename។</a:t>
            </a: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Eclipse: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2"/>
              </a:rPr>
              <a:t>https://spring.io/tools - eclipse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NetBeans: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3"/>
              </a:rPr>
              <a:t>https://netbeans.apache.org/front/main/download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Visual Studio Code (VS Code):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4"/>
              </a:rPr>
              <a:t>https://code.visualstudio.com/download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342900" indent="-342900" algn="l">
              <a:lnSpc>
                <a:spcPct val="150000"/>
              </a:lnSpc>
              <a:buFontTx/>
              <a:buChar char="-"/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IntelliJ IDEA: 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  <a:hlinkClick r:id="rId5"/>
              </a:rPr>
              <a:t>https://www.jetbrains.com/idea/download</a:t>
            </a:r>
            <a:endParaRPr lang="en-US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…</a:t>
            </a:r>
            <a:endParaRPr lang="en-KH" sz="2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600895-8F39-287A-A8DF-9382D51F114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020AEF-BA18-9478-D0FA-55E7EA5525A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ADD998-39A3-093E-7875-65D68201EE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76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DC70C4-0758-C1ED-AD3E-E9B3CA398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375A3-49E6-5330-B5B5-6163C17AAC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ប្រយោគនៃភាសា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(Java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B9FD26-3259-C683-4DBE-BDA87FAE5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18803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 (Statement) នៃភាសា Java សំដៅដល់ប្រយោគដែលសរសេរដើម្បីប្រាប់ទៅ Compiler ក្នុងការអនុវត្តនូវអ្វីមួយ ហើយប្រយោគនីមួយៗត្រូវបានខណ្ឌដោយសញ្ញា​ ”;” ។</a:t>
            </a:r>
          </a:p>
          <a:p>
            <a:pPr algn="l">
              <a:lnSpc>
                <a:spcPct val="150000"/>
              </a:lnSpc>
            </a:pP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System.out.println(“Welcome to Java Learning”);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ABD5D0-20BB-FC05-51D4-05DFD4160E8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4109B1-51A3-89A6-0EBC-F5BC97AFE0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1CBA71E-B120-6EEF-D945-B20BBC50F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66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D1F00-4E6D-ED97-029E-FA893F5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2A7D4-2322-3630-5E70-631739880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3DB125-D4AE-9D32-6851-1697C760E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65233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ប្រភេទទិន្នន័យបឋម(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EE3454-DEED-59E6-772F-7ECFC3DF378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664515-6477-3CE8-871A-4A6592D6A76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C1B088F-3A97-86E8-DBD8-C38A46A3F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99D84DA-C95B-FB22-D93C-574A9C14C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060528"/>
              </p:ext>
            </p:extLst>
          </p:nvPr>
        </p:nvGraphicFramePr>
        <p:xfrm>
          <a:off x="624192" y="1730100"/>
          <a:ext cx="10954537" cy="482312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55451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28423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134738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24490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  <a:gridCol w="3977090">
                  <a:extLst>
                    <a:ext uri="{9D8B030D-6E8A-4147-A177-3AD203B41FA5}">
                      <a16:colId xmlns:a16="http://schemas.microsoft.com/office/drawing/2014/main" val="3370400522"/>
                    </a:ext>
                  </a:extLst>
                </a:gridCol>
              </a:tblGrid>
              <a:tr h="43400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ដែនកំណត់នៃតម្លៃ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byte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8-bit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 byte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-128 ដល់ 127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short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16-bit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-32,768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32,767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-2,147,483,648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2,147,483,647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long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ចំនួនគត់ 64-bit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-9,223,372,036,854,775,808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ដល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់ 9,223,372,036,854,775,807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float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6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7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4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0.0f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double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ចំនួនទសភាគ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15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ទៅ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16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ខ្ទង់</a:t>
                      </a: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32-bit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8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0.0d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ប្រែប្រួល ប្រើសម្រាប់រក្សាទុកអង្គចងចាំ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មិនមែនភាពជាក់លាក់ទេ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1380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 err="1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boolean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ឡូជីខល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~1 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true 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ឫ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 false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0418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char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តួអក្សរ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​Unicode​16-bit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2 bytes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\u000 (0) ដល់ \uffff (65,535)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50607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9134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7D0DB0-653A-910E-BE01-F7FC6BB8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523A-087C-1965-07C8-A952DC28D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54FD7-03BD-95F6-D76F-E3D044573F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42C9F3-7DD8-9D27-A1C8-2D0C2A20F37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915AFF-DFBC-C611-D4D7-A7156B77606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2C05A5-6797-4B99-57B9-C2CA77291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8BA7A4-7565-5AE3-4D68-EAB4788049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081018"/>
              </p:ext>
            </p:extLst>
          </p:nvPr>
        </p:nvGraphicFramePr>
        <p:xfrm>
          <a:off x="624192" y="2123382"/>
          <a:ext cx="10557928" cy="37874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56262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00907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909003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691756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cs typeface="Khmer OS Battambang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តម្លៃដើម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327736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Classes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គឺជាការកំណត់របស់អ្នកប្រើប្រាស់ ពី object ដែលត្រូវបានបង្កើត ដោយពួកគេធ្វើការ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encapsulate data (fields)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និង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behavior (methods)។</a:t>
                      </a: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endParaRPr lang="en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ផ្ទុកតម្លៃជាក់ស្តែងដោយផ្ទាល់ក្នុង memory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6997984"/>
                  </a:ext>
                </a:extLst>
              </a:tr>
              <a:tr h="944981">
                <a:tc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Strings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ជាប្រភេទដែលបានកំណត់ជាមុននៅក្នុង 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Java។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វាគឺជា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object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នៃ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class String 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ដែលតំណាងឱ្យលំដាប់នៃតួអក្សរ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5006438"/>
                  </a:ext>
                </a:extLst>
              </a:tr>
              <a:tr h="133805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308684"/>
                  </a:ext>
                </a:extLst>
              </a:tr>
              <a:tr h="923816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Arrays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 ជាវត្ថុសម្រាប់ផ្ទុកនូវធាតុជាច្រើនដែលមានប្រភេទទិន្នន័យដូចគ្នា និងនៅក្នុង</a:t>
                      </a:r>
                      <a:r>
                        <a:rPr lang="km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ទីតាំងចងចាំជាប់គ្នា</a:t>
                      </a:r>
                      <a:r>
                        <a:rPr lang="en-US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។</a:t>
                      </a:r>
                      <a:endParaRPr lang="km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507085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928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B2A585-4685-99A1-BF62-DCEA433D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ECB1-8548-4BC9-FA3F-200A902B2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(Data Type)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E06D49-8DFA-0277-09AA-064AC8C84E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8"/>
            <a:ext cx="10954536" cy="4389894"/>
          </a:xfrm>
        </p:spPr>
        <p:txBody>
          <a:bodyPr>
            <a:normAutofit/>
          </a:bodyPr>
          <a:lstStyle/>
          <a:p>
            <a:pPr algn="l"/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ប្រភេទទិន្នន័យមិនបឋម(Non-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Primitive Data Types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)(ត):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KH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01AF43-AC4B-A90A-9209-36C24C7A41A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B681B-FD27-D455-40F1-4337AFE73D3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B88E863-0DD6-F706-1467-95D547E65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6CFB58-18CC-9C8C-2D79-B2B6261E6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265468"/>
              </p:ext>
            </p:extLst>
          </p:nvPr>
        </p:nvGraphicFramePr>
        <p:xfrm>
          <a:off x="624192" y="2090331"/>
          <a:ext cx="10789283" cy="18488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14468">
                  <a:extLst>
                    <a:ext uri="{9D8B030D-6E8A-4147-A177-3AD203B41FA5}">
                      <a16:colId xmlns:a16="http://schemas.microsoft.com/office/drawing/2014/main" val="4047497681"/>
                    </a:ext>
                  </a:extLst>
                </a:gridCol>
                <a:gridCol w="4395152">
                  <a:extLst>
                    <a:ext uri="{9D8B030D-6E8A-4147-A177-3AD203B41FA5}">
                      <a16:colId xmlns:a16="http://schemas.microsoft.com/office/drawing/2014/main" val="821048884"/>
                    </a:ext>
                  </a:extLst>
                </a:gridCol>
                <a:gridCol w="1770406">
                  <a:extLst>
                    <a:ext uri="{9D8B030D-6E8A-4147-A177-3AD203B41FA5}">
                      <a16:colId xmlns:a16="http://schemas.microsoft.com/office/drawing/2014/main" val="1256672291"/>
                    </a:ext>
                  </a:extLst>
                </a:gridCol>
                <a:gridCol w="1909257">
                  <a:extLst>
                    <a:ext uri="{9D8B030D-6E8A-4147-A177-3AD203B41FA5}">
                      <a16:colId xmlns:a16="http://schemas.microsoft.com/office/drawing/2014/main" val="3921409523"/>
                    </a:ext>
                  </a:extLst>
                </a:gridCol>
              </a:tblGrid>
              <a:tr h="359595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cs typeface="Khmer OS Content" panose="02000500000000020004" pitchFamily="2" charset="77"/>
                        </a:rPr>
                        <a:t>ប្រភេទទិន្នន័យ</a:t>
                      </a:r>
                      <a:endParaRPr lang="en-KH" sz="2000" kern="1200" dirty="0">
                        <a:solidFill>
                          <a:srgbClr val="0070C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បរិយាយ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ទំហំ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KH" sz="2000" kern="1200" dirty="0">
                          <a:solidFill>
                            <a:srgbClr val="0070C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លំនាំដើម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2388122"/>
                  </a:ext>
                </a:extLst>
              </a:tr>
              <a:tr h="154970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 dirty="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Interfaces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</a:t>
                      </a:r>
                      <a:r>
                        <a:rPr lang="en-US" sz="2000" kern="1200" dirty="0" err="1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ជា</a:t>
                      </a:r>
                      <a:r>
                        <a:rPr lang="km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ប្រភេទអរូបីដែលកំណត់កិច្ចសន្យានៃវិធីសាស្រ្តដែលថ្នាក់ត្រូវអនុវត្ត</a:t>
                      </a:r>
                      <a:r>
                        <a:rPr lang="en-US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4">
                  <a:txBody>
                    <a:bodyPr/>
                    <a:lstStyle/>
                    <a:p>
                      <a:endParaRPr lang="en-KH" sz="2000" dirty="0">
                        <a:latin typeface="Khmer OS Content" panose="02000500000000020004" pitchFamily="2" charset="77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3679604"/>
                  </a:ext>
                </a:extLst>
              </a:tr>
              <a:tr h="35535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Interfaces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l"/>
                      <a:endParaRPr lang="en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832117"/>
                  </a:ext>
                </a:extLst>
              </a:tr>
              <a:tr h="207546">
                <a:tc rowSpan="2">
                  <a:txBody>
                    <a:bodyPr/>
                    <a:lstStyle/>
                    <a:p>
                      <a:pPr algn="l"/>
                      <a:r>
                        <a:rPr lang="en-US" sz="2000" kern="1200">
                          <a:solidFill>
                            <a:srgbClr val="D49B06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Enums</a:t>
                      </a:r>
                      <a:endParaRPr lang="en-KH" sz="2000" kern="1200" dirty="0">
                        <a:solidFill>
                          <a:srgbClr val="D49B06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  <a:endParaRPr lang="km-KH" sz="2000" kern="1200" dirty="0">
                        <a:solidFill>
                          <a:srgbClr val="7030A0"/>
                        </a:solidFill>
                        <a:latin typeface="Khmer OS Content" panose="02000500000000020004" pitchFamily="2" charset="77"/>
                        <a:ea typeface="+mn-ea"/>
                        <a:cs typeface="Khmer OS Content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endParaRPr lang="en-KH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48077"/>
                  </a:ext>
                </a:extLst>
              </a:tr>
              <a:tr h="331934">
                <a:tc vMerge="1">
                  <a:txBody>
                    <a:bodyPr/>
                    <a:lstStyle/>
                    <a:p>
                      <a:pPr algn="l"/>
                      <a:r>
                        <a:rPr lang="en-US" sz="1800" kern="1200" dirty="0">
                          <a:solidFill>
                            <a:srgbClr val="D49B06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Enums</a:t>
                      </a:r>
                      <a:endParaRPr lang="en-KH" sz="1800" kern="1200" dirty="0">
                        <a:solidFill>
                          <a:srgbClr val="D49B06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r>
                        <a:rPr lang="en-KH" sz="1800" kern="1200" dirty="0">
                          <a:solidFill>
                            <a:srgbClr val="7030A0"/>
                          </a:solidFill>
                          <a:latin typeface="Khmer OS Battambang" panose="02000500000000020004" pitchFamily="2" charset="77"/>
                          <a:ea typeface="+mn-ea"/>
                          <a:cs typeface="Khmer OS Battambang" panose="02000500000000020004" pitchFamily="2" charset="77"/>
                        </a:rPr>
                        <a:t> ជាប្រភេទពិសេសដែលប្រើដើម្បីកំណត់តម្លៃអថេដែលមិនប្រែប្រួល។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en-KH" sz="1800" kern="1200" dirty="0">
                        <a:solidFill>
                          <a:srgbClr val="7030A0"/>
                        </a:solidFill>
                        <a:latin typeface="Khmer OS Battambang" panose="02000500000000020004" pitchFamily="2" charset="77"/>
                        <a:ea typeface="+mn-ea"/>
                        <a:cs typeface="Khmer OS Battambang" panose="02000500000000020004" pitchFamily="2" charset="77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KH" sz="2000" kern="1200" dirty="0">
                          <a:solidFill>
                            <a:srgbClr val="7030A0"/>
                          </a:solidFill>
                          <a:latin typeface="Khmer OS Content" panose="02000500000000020004" pitchFamily="2" charset="77"/>
                          <a:ea typeface="+mn-ea"/>
                          <a:cs typeface="Khmer OS Content" panose="02000500000000020004" pitchFamily="2" charset="77"/>
                        </a:rPr>
                        <a:t>null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4587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128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05DA8-021B-CDEE-1DA3-6333145A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4613E-EAA9-BE10-0DAE-850A6B9468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Variable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DB14E-0CC1-544D-90F8-9962D93461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417637"/>
            <a:ext cx="10954536" cy="4836403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Variable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គឺជាឈ្មោះអថេរមួយសម្រាប់រក្សាទុកតម្លៃរបស់ទិន្នន័យកំឡុងពេលដំណើរការកម្មវិធី។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ការប្រកាស​ Variable 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	ឧទាហរណ៍​៖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amount;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ការបញ្ចូលតម្លៃទៅឲ្យ Variable៖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ឧទាហរណ៍៖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marL="457200" indent="-457200" algn="l">
              <a:lnSpc>
                <a:spcPct val="150000"/>
              </a:lnSpc>
              <a:buFontTx/>
              <a:buChar char="-"/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Variable និង​កំណត់តម្លៃដំបូង(Initialization)៖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(ឈ្មោះ Variable) = (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    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 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 = </a:t>
            </a:r>
            <a:r>
              <a:rPr lang="en-KH" sz="26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50000"/>
              </a:lnSpc>
            </a:pPr>
            <a:r>
              <a:rPr lang="en-KH" dirty="0"/>
              <a:t>✍️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 Vairable ច្រើនដែលមានប្រភេទទិន្នន័យដូចគ្នា អាចដាក់បន្តបន្ទាប់គ្នាដោយប្រើប្រភេទទិន្នន័យតែមួយ ដោយមានសញ្ញា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នៅចន្លោះកណ្តាល។ ឧទាហរណ៍៖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</a:t>
            </a:r>
            <a:r>
              <a:rPr lang="en-KH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D30AB15-09DD-66A0-2489-BF7C7FBDDF0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C37A7C-F4E2-179B-F923-AC9DA76C1D5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8826D76-722A-8F7A-494F-581F55742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585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7DD55-2040-90F1-B111-BBB17E542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26EFC-C41F-7D36-29D5-DB1F67F5D2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5243BE-5AE1-3116-A871-8C7DA04EB7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	Operator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គឺជាសញ្ញាពិសេសដែលប្រាប់ compiler  ដើម្បីអនុវត្តនូវភាពជាក់លាក់ក្នុងការគណនាគណិតវិទ្យា ការប្រៀបធៀប ឫប្រតិបត្តិការតក្កវិទ្យា ចំពោះតម្លៃ ឫ Variable។ </a:t>
            </a:r>
          </a:p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​​</a:t>
            </a:r>
            <a:r>
              <a:rPr lang="en-KH" sz="2800" dirty="0"/>
              <a:t> 👉 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Operator មានដូចជា៖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Arithmetic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Assignment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Relational (Comparison)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Logical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Unary Operators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(Conditional) Operator</a:t>
            </a:r>
            <a:b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-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EF10A7-DC44-D475-5E65-1BCB2C7A41B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59F8A-84CC-D8C7-B0FF-7A7276FDBB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1B44003-47F7-E62E-C082-70FE2BD8F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900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98FFB8-76A0-FD2E-37C3-7E80E3BB4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B3D2-153C-C607-6AA5-4AED67C50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782AFA-A663-692F-FA12-403D7CB0B2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519003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Arithmetic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 ប្រើប្រាស់សម្រាប់អនុវត្តប្រតិបត្តិការ គណិតវិទ្យាធម្មតាដូចជា បូក(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ដក(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គុណ(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ចែក(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)​ និងចែករកសំណល់(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amount1=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amount2=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/>
              <a:t>	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double</a:t>
            </a:r>
            <a:r>
              <a:rPr lang="en-US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resultAdd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</a:t>
            </a:r>
            <a:r>
              <a:rPr lang="en-US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resultSubtraction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resultMultiplication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*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resultDivision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double</a:t>
            </a:r>
            <a:r>
              <a:rPr lang="en-US" sz="2800" dirty="0"/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resultModulus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amount1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%</a:t>
            </a:r>
            <a:r>
              <a:rPr lang="en-US" sz="2800" dirty="0"/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amount2;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7A8C777-7494-5788-8C5D-4D4BAD6C765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2BF5ECF-3B50-A128-6BAE-ADF21B214E3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0461559-F173-1E9F-2C7B-65D4E4F5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963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61C95-8981-940C-146E-E05773C0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68098-E636-12DC-15A5-16C997F1BD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Assignment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DE7CA9-4F08-E131-8F73-5766F23F5F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40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Operators ប្រើប្រាស់សម្រាប់ចាត់តាំតម្លៃទៅកាន់Variable រួមទាំងការចាត់តាំងសមាសធាតុដែលផ្គួបផ្សំប្រតិបត្តិការជាមួយការចាត់តាំងមួយ។</a:t>
            </a:r>
            <a:r>
              <a:rPr lang="en-KH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sz="5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5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Assignment Operators​ </a:t>
            </a:r>
            <a:r>
              <a:rPr lang="en-US" sz="5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5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ការចាត់តាំងតម្លៃធម្មតា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</a:p>
          <a:p>
            <a:pPr lvl="1" algn="l">
              <a:lnSpc>
                <a:spcPct val="150000"/>
              </a:lnSpc>
            </a:pP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ឧទាហរណ៍៖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amount1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200;</a:t>
            </a:r>
            <a:endParaRPr lang="en-US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914400" lvl="1" indent="-45720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42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ការចាត់តាំងតម្លៃសមាសធាតុ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%=,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…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b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double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amount=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4200" b="1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-=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*=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/=</a:t>
            </a:r>
            <a:r>
              <a:rPr lang="en-US" sz="42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2;</a:t>
            </a:r>
          </a:p>
          <a:p>
            <a:pPr algn="l">
              <a:lnSpc>
                <a:spcPct val="120000"/>
              </a:lnSpc>
            </a:pP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KH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amount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%=</a:t>
            </a:r>
            <a:r>
              <a:rPr lang="en-US" sz="4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4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3;</a:t>
            </a:r>
            <a:endParaRPr lang="en-KH" sz="42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D6C1350-F877-571D-C5AE-49818C3DD17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7A785B-E998-B9D7-7AF8-DCEAA860D79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38B1998-E022-F2CA-BA63-0DD3C6359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84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63D7B-6701-CE63-F9B3-0E0B3BC63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A0FD1-4D01-EA10-9B8E-EAFC327CB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0BF7FB-543C-1A6B-CF21-49151AC53D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8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Relational (Comparison)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ប្រើប្រាស់សម្រាប់ប្រៀបធៀបតម្លៃពីរនិងផ្តល់លទ្ធផលជា boolean(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Relational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ធំជាងឫស្មើ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តូចជាងឫស្មើ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!=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9;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3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3;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5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93152C-7129-32C6-FCEB-E2852A2F367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838701-69F8-F32A-305D-F33281DDA02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A2ADB71-0106-C980-6FB5-C2DF524D1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033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6F4F00-8471-11A5-275A-24CC25631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1013D-B9F5-9757-C9E1-01AE898DD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3CB0B4-9C30-4C8A-92F2-B949865EA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Logical Operators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ប្រើប្រាស់សម្រាប់ផ្សំកន្សោម boolean ទៅកាន់លក្ខណដែលមានទំរង់ស្មុកស្មាញ។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Logical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b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algn="l">
              <a:lnSpc>
                <a:spcPct val="12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compare=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b="1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100 == 100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||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2==2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 10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9 </a:t>
            </a:r>
            <a:r>
              <a:rPr lang="en-US" sz="2800" dirty="0">
                <a:solidFill>
                  <a:srgbClr val="D49B06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&amp;&amp;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5 &lt; 6;</a:t>
            </a:r>
          </a:p>
          <a:p>
            <a:pPr algn="l">
              <a:lnSpc>
                <a:spcPct val="120000"/>
              </a:lnSpc>
            </a:pP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compare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800" dirty="0"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!(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5 &lt; 2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r>
              <a:rPr lang="en-US" sz="2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endParaRPr lang="en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A6477C-FD8E-E2D9-D54A-3E2D2AE36BC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4282677-83E0-B9BC-7370-A5B9704C8A8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DC21F0-C8F8-CA00-E62D-82750A501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026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26059-6FDD-61AA-0E80-A1DC99155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55A9C-6CAF-FA6A-BB9B-296FACA6D9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3AEB4B-C127-FBF0-DC87-89AFAD293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76080"/>
          </a:xfrm>
        </p:spPr>
        <p:txBody>
          <a:bodyPr>
            <a:normAutofit fontScale="925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Unary Operators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 Operators ប្រើប្រាស់សម្រាប់ធ្វើការជាមួយប្រតិបត្តិករតែមួយដើម្បីបង្កើន បន្ថែម </a:t>
            </a:r>
            <a:r>
              <a:rPr lang="en-KH" sz="26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ឫបដិសេធ ស្ថានភា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ពតម្លៃ។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Unary Operators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បង្កើន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បន្ថយ 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), តក្កវិទ្យាបំពេញបន្តែម(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)។ល។</a:t>
            </a:r>
          </a:p>
          <a:p>
            <a:pPr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ឧទាហរណ៍៖</a:t>
            </a:r>
          </a:p>
          <a:p>
            <a:pPr lvl="1" algn="l">
              <a:lnSpc>
                <a:spcPct val="150000"/>
              </a:lnSpc>
            </a:pP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a = 1;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false;</a:t>
            </a:r>
          </a:p>
          <a:p>
            <a:pPr lvl="1" algn="l">
              <a:lnSpc>
                <a:spcPct val="150000"/>
              </a:lnSpc>
            </a:pP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boolean isCorrect =</a:t>
            </a:r>
            <a:r>
              <a:rPr lang="en-KH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! </a:t>
            </a:r>
            <a:r>
              <a:rPr lang="en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isIncorrect;</a:t>
            </a:r>
          </a:p>
          <a:p>
            <a:pPr lvl="1" algn="l">
              <a:lnSpc>
                <a:spcPct val="150000"/>
              </a:lnSpc>
            </a:pPr>
            <a:r>
              <a:rPr lang="en-KH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05C94F6-E5D6-3AD6-F7F7-931FC0C0EA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CE5EB0-1680-C545-AA2F-95EFB80D8B7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A2510FF-1669-CBFC-DC74-DE64F6192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33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E724B9-C62D-B7EC-D411-9B865866D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34A87-B323-C03F-D0EB-3E59F30C3F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Ternary 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E706DA-5B28-31B8-A5B5-C5187DDBA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09845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Ternary (Conditional) Operator 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សរសេកាត់នៅក្នុងប្រយោគតែមួយសម្រាប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if-else statement ដោយវាយតម្លៃលើលក្ខណនិងកំណត់តម្លៃដែលផ្តល់ត្រឡប់មកវិញដោយផ្អែកលើលទ្ធផល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លក្ខណ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?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តម្លៃនៅពេលលទ្ធផល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 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false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ឧទាហរណ៍៖ </a:t>
            </a:r>
          </a:p>
          <a:p>
            <a:pPr lvl="1" algn="l"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nt a = 1, b = 2;</a:t>
            </a:r>
          </a:p>
          <a:p>
            <a:pPr lvl="1" algn="l">
              <a:lnSpc>
                <a:spcPct val="150000"/>
              </a:lnSpc>
            </a:pP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amount =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 &lt; b ?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100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  <a:r>
              <a:rPr lang="en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 ;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886F14-88C5-E50F-9699-1CD52578237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0D7CC2-CC97-3383-3C93-9FF34B6ABC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194BB0A-A3D5-612D-EFAB-F830C137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0401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DF9B2-578B-86BE-AC30-8562F0F0C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6D06-CC66-B24C-9B7C-C600010B5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instanceof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Operator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65973B-B0E8-B941-5DA9-5479ACD2F8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75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Operator 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 Operator សម្រាប់ធ្វើការត្រួតពិនិត្យប្រភេទទិន្នន័យដើម្បីសាកល្បងថាតើវត្ថុមួយគឺជា instance នៃ class ឫ 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ជាក់លាក់មួយឬទេ</a:t>
            </a:r>
            <a:r>
              <a:rPr lang="en-KH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</a:pPr>
            <a:r>
              <a:rPr lang="en-KH" sz="80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sz="8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ទម្រង់នៃការប្រើប្រាស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់(Syntax)៖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វត្ថុយោង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(object)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8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8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(Data type);</a:t>
            </a:r>
            <a:endParaRPr lang="en-KH" sz="8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</a:pPr>
            <a:r>
              <a:rPr lang="en-KH" sz="8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ឧទាហរណ៍៖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Lexus extends Car{}</a:t>
            </a:r>
          </a:p>
          <a:p>
            <a:pPr lvl="1" algn="l">
              <a:lnSpc>
                <a:spcPct val="150000"/>
              </a:lnSpc>
            </a:pP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Car mycar = new Lexus();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 (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mycar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72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instanceof</a:t>
            </a:r>
            <a:r>
              <a:rPr lang="en-US" sz="7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Lexus</a:t>
            </a: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{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  <a:b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…</a:t>
            </a:r>
          </a:p>
          <a:p>
            <a:pPr lvl="1" algn="l">
              <a:lnSpc>
                <a:spcPct val="150000"/>
              </a:lnSpc>
            </a:pPr>
            <a:r>
              <a:rPr lang="en-US" sz="7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lvl="1" algn="l">
              <a:lnSpc>
                <a:spcPct val="150000"/>
              </a:lnSpc>
            </a:pPr>
            <a:endParaRPr lang="en-KH" sz="22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89E53A-3256-A5A7-AD3F-FB773D47B31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B21BD3A-38D5-7266-AEA2-E6496E9E3F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FF01774-D685-00F4-0DB1-013C437FA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6165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C72877-4C83-F5A8-4403-ED24EE98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BFC23-F35E-C99C-358D-1414DA5B6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Control Flow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C89C24-7C34-93FE-8F97-6B4446EAFA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សំដៅលើការគ្រប់គ្រងលំហូដំណើរការនៃ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នៅក្នុងកម្មវិធី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</a:p>
          <a:p>
            <a:pPr algn="l">
              <a:lnSpc>
                <a:spcPct val="150000"/>
              </a:lnSpc>
            </a:pPr>
            <a:r>
              <a:rPr lang="en-KH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Control Flow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ប្រយោគបង្កើតការសម្រចចិត្ត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(Decision-Making Statements)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(Loop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ប្រយោគផ្លោះ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(Jump Statements)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Exception Handling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Static</a:t>
            </a:r>
          </a:p>
          <a:p>
            <a:pPr algn="l">
              <a:lnSpc>
                <a:spcPct val="170000"/>
              </a:lnSpc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- Instance</a:t>
            </a:r>
            <a:endParaRPr lang="km-KH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AFB8AC-A03C-54D9-6899-0B92EE99BB4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FB60B7-6572-7DBB-7A44-B70309CDA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03F132C-18C2-87DD-934B-6F84BA6CC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6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5743BD-B0A3-0CF4-7FBC-E8FE415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4D27-D040-C41B-D7DB-83008F1056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B202E-1588-5961-61F4-AA9F6E6A3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68413"/>
            <a:ext cx="10954536" cy="5146416"/>
          </a:xfrm>
        </p:spPr>
        <p:txBody>
          <a:bodyPr>
            <a:normAutofit fontScale="25000" lnSpcReduction="2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	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ប្រយោគបង្កើតការសម្រេចចិត្តនៅក្នុងភាសា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if, if-else, if-else-if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switch។</a:t>
            </a:r>
          </a:p>
          <a:p>
            <a:pPr algn="l">
              <a:lnSpc>
                <a:spcPct val="17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if: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ជាក់លាក់លុះត្រាតែការវាយតម្លៃលក្ខណដែលបានផ្តល់ឲ្យស្មើនិង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តែប៉ុណ្ណោះ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9600" dirty="0"/>
              <a:t>👉 </a:t>
            </a:r>
            <a:r>
              <a:rPr lang="en-US" sz="9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9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20000"/>
              </a:lnSpc>
            </a:pPr>
            <a:r>
              <a:rPr lang="en-US" sz="9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9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9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D1986F8-F7DD-3AD0-6B74-5E89B685247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9E51B28-085E-F607-6F39-D74B79BD1E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BA359F1-EA10-DA2A-52DC-6F408C316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314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801F8-0D67-890F-57FD-B7A2B7539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F23A6-0081-E42C-E366-96AA111D1A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612210-D8F8-B315-B381-8264F2417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EF3543-B7E8-52C4-BFFD-EEAF0F2AA2A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CC6F3-4951-1CCE-06B6-2ED8335B6D8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6A33DCE-B7BA-A585-6C69-21B556FD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08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5A418-D202-4E60-E032-9A809AF03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E1114-7FC4-E1E5-0039-5FAAD7859D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820791-D29E-F21E-0A2E-63E792DA2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5146416"/>
          </a:xfrm>
        </p:spPr>
        <p:txBody>
          <a:bodyPr>
            <a:normAutofit fontScale="77500" lnSpcReduction="20000"/>
          </a:bodyPr>
          <a:lstStyle/>
          <a:p>
            <a:pPr algn="l">
              <a:lnSpc>
                <a:spcPct val="17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 if-else-if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លំហូរ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km-KH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ការត្រួតពិនិត្យជាមូលដ្ឋានដែលអនុញ្ញាតឱ្យកម្មវិធីធ្វើការសម្រេចចិត្ត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នូវលក្ខណច្រើនបន្តបន្ទាប់គ្នា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ជាក់លាក់ក្នុងការវាយតម្លៃលក្ខណដែលបានផ្តល់ឲ្យស្មើ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800" dirty="0"/>
              <a:t>👉 </a:t>
            </a:r>
            <a:r>
              <a:rPr lang="en-US" sz="2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5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if(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		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 else {</a:t>
            </a: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	 //Statement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ប្រសិនបើលក្ខណស្មើ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false</a:t>
            </a:r>
            <a:endParaRPr lang="en-US" sz="2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km-KH" sz="26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AA2927-5748-B941-12D7-8004D5EB622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26DC0D0-F4F7-3D95-4655-64DF2A96758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18E364-928A-175D-26DF-1AE8FF7F4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714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6858C7-0549-BB94-3C6C-A105F253A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AA7DE-9981-AE92-064F-1C07C2C537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ប្រយោគបង្កើតការសម្រចចិត្ត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E12E3-CC1D-842D-A20C-AD692334D1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419065"/>
          </a:xfrm>
        </p:spPr>
        <p:txBody>
          <a:bodyPr>
            <a:noAutofit/>
          </a:bodyPr>
          <a:lstStyle/>
          <a:p>
            <a:pPr marL="457200" indent="-457200" algn="l">
              <a:lnSpc>
                <a:spcPct val="160000"/>
              </a:lnSpc>
              <a:buFontTx/>
              <a:buChar char="-"/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switch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មួយដែលអនុញ្ញាតឲ្យកម្មវិធីធ្វើការប្រតិបត្តិ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នូវប្លុក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នៅក្នុងចំណោមករណី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(Case)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ដែលបានកំណត់ទុកដោយផ្អែកទៅលើការផ្គូរផ្គងតម្លៃជាមួយតម្លៃបញ្ជាក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់(Expression)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  <a:b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FF0000"/>
                </a:solidFill>
              </a:rPr>
              <a:t>switch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តម្លៃបញ្ជាក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){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តម្លៃផ្គូផ្គងទី1 : 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case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តម្លៃផ្គូផ្គងទី2 : 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ប្រសិនបើតម្លៃបញ្ជាក់ស្មើនិងតម្លៃផ្គូផ្គង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break;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default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ប្រសិនបើតម្លៃបញ្ជាក់មិនស្មើនិងតម្លៃផ្គូផ្គងណាមួយ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9D5991-7328-266D-B7A0-1C4E7597D4A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CAFB4A-56C2-003A-619A-4956E9A9BF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CF07541-8BD5-58D3-CE32-6C95DD9F5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4831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AC115-38D3-BC41-0F3A-23169B665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A15D-D500-0380-360E-013C41839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(Loop Statements)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A6D95A-711A-6AA4-BE85-A582C8F6B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3"/>
            <a:ext cx="10954536" cy="4800588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 Statements):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គឺជារចនាសម្ព័ន្ធ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មួយដែលប្រតិបត្តិប្លុក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ម្តងហើយម្តងទៀតដរាបណាលក្ខណដែលបានបញ្ញាក់នៅតែពិត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</a:p>
          <a:p>
            <a:pPr algn="l">
              <a:lnSpc>
                <a:spcPct val="160000"/>
              </a:lnSpc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ប្រយោគរង្វិលជុំនៅក្នុងភាសា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 loop, for-each loop, while loop,  do-while loop។ 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ពាក្យគន្លឹះនៃប្រយោគរង្វិលជុំ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គឺជាពាក្យគន្លឹះសម្រាប់ធ្វើការបញ្ចប់រង្វិលជុំ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(loop)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ទាំងស្រង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742950" lvl="1" indent="-285750" algn="l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គឺជាពាក្យគន្លឹះសម្រាប់ធ្វើការរំលងទៅកាន់ជុំបន្ទាប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22C6563-4CFD-E1B6-228B-31F55237B0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0D0BA2-2050-3464-0797-C1CAF1C0C40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FC7601B-1037-B0C8-972F-B6444DC6F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7519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02887E-EACA-29C1-D05D-E7268B12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18ED-F7F4-676C-E5BF-800DC81D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4FBB0-F1FC-0F44-9897-53044CD5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ម្តងហើយម្តងទៀតទៅតាមចំនួនដងដែលបានកំណត់ទុកជាមុន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Termination​ Condition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ការធ្វើឡើងវិញនីមួយ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Initialization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ដែលបានកំណត់តម្លៃចាប់ផ្តើម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Temination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Condition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គឺជាលក្ខណនៃការបញ្ជាប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loop។</a:t>
            </a:r>
          </a:p>
          <a:p>
            <a:pPr marL="800100" lvl="1" indent="-342900" algn="l">
              <a:lnSpc>
                <a:spcPct val="100000"/>
              </a:lnSpc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Update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គឺជាប្រយោគដែលដំណើរការក្រោយពេលដែលការធ្វើឡើងវិញនីមួយ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       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រួចរាល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ជាធម្មតាវាត្រូវបានគេប្រើប្រាស់សម្រាប់បង្កើន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ឫបន្ថយតម្លៃ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60000"/>
              </a:lnSpc>
            </a:pP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44D3E0-225F-5F6C-9F1D-D1882996682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2BE5A4-33FE-17B9-7D30-4DDEA3993E6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A0F232F-FD2E-5070-53C2-5B8C6AB873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158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B1D183-3D13-BA53-E03C-B87F4FC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DA8D2-047A-E767-74E9-8FDDC4E267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 loop(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1D1290-4B38-6330-2B41-BAE0500084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ឧទាហរណ៍ទី១៖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&lt;=3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++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KH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6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ឧទាហរណ៍ទី២៖</a:t>
            </a:r>
          </a:p>
          <a:p>
            <a:pPr algn="l">
              <a:lnSpc>
                <a:spcPct val="100000"/>
              </a:lnSpc>
            </a:pPr>
            <a:r>
              <a:rPr lang="en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int n = 0;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I = 3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&gt;=1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--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n++;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(“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ជុំទី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+ n );</a:t>
            </a:r>
          </a:p>
          <a:p>
            <a:pPr algn="l">
              <a:lnSpc>
                <a:spcPct val="100000"/>
              </a:lnSpc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D444A4E-C5C2-056D-DC56-2293FDD7C13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6A7D91F-5792-E19C-0F6B-8DFE9701B2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FC85008-EAFF-EF6D-4797-9E286BA059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4964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589B37-8474-87E1-061A-F1BA6605B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6497-FDDF-B04B-BACA-2F5E183E6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1CEE8E-9E00-D260-9E85-973C0D3516A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4B1D4DB-8192-E865-D591-C0438B50115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00F2F2-840A-38D7-A702-B26BABF55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E50E9FE-384C-0869-652E-2E2E928CC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for-each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ម្តងហើយម្តងទៀតទៅតាមចំនួនធាតុនៃ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និងត្រូវបានណែនាំឲ្យប្រើប្រាស់ចាប់ពី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Java 1.5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for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arrays/collection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ការធ្វើឡើងវិញសម្រាប់ធាតុនីមួយ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String[]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= {“A”,”B”,”C”,”D”};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for(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capitalLetters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capitalLetter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835862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884F13-FC64-6529-5CE5-A9B0E6E97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61723-A9CB-A3FF-85A9-0636A579A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490DD6-2236-4F55-81F8-4CDB88987130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208C836-BC7F-09E4-8CF6-BD68EC7B87C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2575535-57CB-314B-2440-9F4CEE26E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34A7C8-D19D-B6E6-A1B8-FC782434A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while 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{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20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while(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0500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07F11-EE60-BBCD-6875-DA16DB776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8E613-A35B-DEE8-6128-694735BDC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do-while loop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A874F9B-A343-C7CA-2FB6-4F3FE4D323A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FDCAA6-0EB5-F27A-3ABA-BFCD7B9EE53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D8F6A2-A773-AF89-CF53-D4EB4CAA3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4885789-9522-B83C-93F5-30667095C6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do-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loop: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ដែលប្រើប្រាស់ដើម្បីប្រតិបត្តិ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យ៉ាងតិចម្តង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និងបន្ទាប់មកវាបន្តការប្រតិបត្តិ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(execute)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ម្តងហើយម្តងទៀតដរាបណាលក្ខណ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Boolean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ដែលបានបញ្ជាក់នៅតែ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់(Syntax)៖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do {</a:t>
            </a: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  //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ការធ្វើឡើងវិញនៅពេលលក្ខណដែលបានបញ្ចាក់ស្មើ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true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 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លក្ខណ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int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0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do {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System.out.println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 num 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    num++;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} while(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num &lt;= 4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28295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6BEE96-D498-F934-3B06-2A6AC86C8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A55AF-C5FD-4E3E-A0D0-4DAB2A767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(Jump Statement)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5CE460-F78D-AF09-F0F5-8466D2B25C3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AC5608-E4A9-92E1-0FAC-36CF7087C3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7FD4DB3-93A9-D9AC-EB57-19D6796E8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0C34949-ED45-38A2-58F5-BB5A9AF79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ដែលប្រើប្រាស់សម្រាប់កែប្រែលំហូរក្នុងការប្រតិបត្តិនៃប្លុក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ដោយធ្វើការផ្ទេរការគ្រប់គ្រងទៅកាន់ផ្នែកផ្សេងនៃកម្មវិធី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វាអនុញ្ញាតប្រើប្រាស់សម្រាប់ចាកចេញពី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loop/method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ជាមុន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រំលងការធ្វើម្តងទៀតនៃ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loop,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ការផ្តល់តម្លៃត្រឡប់ទៅវិញ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និងធ្វើឲ្យ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កាន់តែមានប្រសិទ្ធិភាព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ប្រយោគផ្លោះ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(Jump Statement)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continue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return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break: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</a:t>
            </a:r>
            <a:r>
              <a:rPr lang="km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ចេញពីរង្វិលជុំបច្ចុប្បន្នភ្លាមៗ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(for, while, do-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while,switch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continue: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គឺជាការរំលងនូវការធ្វើឡើងវិញនៃ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នាពេលបច្ចុប្បន្ន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ហើយបន្តទៅការធ្វើឡើងវិញបន្ទាប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គឺជាការចាកចេញពី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ទាំងស្រុង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ហើយផ្ទេរការគ្រប់គ្រងត្រឡប់ទៅ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ដែលបានហៅមក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ឫផ្តល់តម្លៃត្រឡប់ទៅវិញ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km-KH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3879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3D9452-9F9A-DC4B-36BB-214450AD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EB448-32EB-5468-5E07-480F578913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0660190-D9DF-7E5F-6EDB-D13428B0546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CE588-736C-5A5C-F8EE-10B6BD975E0A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BABEC3-2A4E-AFC2-4D04-6A15F080C1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82314D0-A1BD-8D85-1970-5F94021B24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គឺជាប្រយោគ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ដែលប្រើប្រាស់សម្រាប់កាន់កាប់ទៅលើ</a:t>
            </a:r>
            <a:r>
              <a:rPr lang="km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ព្រឹត្តិការណ៍ដែលមិនចង់បាន ឬមិននឹកស្មានដល់ដែលកើតឡើងកំឡុងពេលដំណើរការកម្មវិធី ហើយរំខានដល់លំហូរធម្មតារបស់វា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Exception Handling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catch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finally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 :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ដែលត្រូវបានសាកល្បងសម្រាប់ការលើកលែងក្នុងអំឡុងពេលប្រតិបត្តិ។ ប្រសិនបើករណីលើកលែងកើតឡើង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ដែលនៅសល់ក្នុងប្លុកសាកល្បងត្រូវបានរំលង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ដើម្បីដោះស្រាយប្រសិនបើមានករណីលើកលែងកើតឡើង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finally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តែងតែត្រូវបានប្រតិបត្តិបន្ទាប់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ពីការប្រតិបត្តិនៃប្លុក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របស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try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catch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throw​: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ប្រើដើម្បីបោះ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ការកើតឡើងនូវ</a:t>
            </a:r>
            <a:r>
              <a:rPr lang="km-KH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ករណីលើកលែងមួយយ៉ាងច្បាស់លាស់ពីក្នុង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throws 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ប្រើក្នុងការបញ្ជាក់លើ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ដើម្បីប្រកាសថា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អាចបណ្តាលឲ្យករណីលើកលែងជាក់លាក់មួយ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ឫច្រើនកើតឡើងក្នុងពេលវាធ្វើប្រតិបត្តិការ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។</a:t>
            </a:r>
            <a:endParaRPr lang="km-KH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v"/>
            </a:pP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4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endParaRPr lang="en-US" sz="18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223269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D39B0-55A8-EF29-D0E7-12C81B2BC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B7C63-13F4-0968-3E42-E219D77CB1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A601CB-85BF-18EB-C690-DE4B6D029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7FCE87-CC11-8CDF-4493-A3129572623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E6DF9C8-F40B-639D-ACCF-B99AE41DA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FCF2BE-DF88-72E5-135E-297DF666BB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 Control flow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ដែលប្រើប្រាស់ក្នុងការកំណត់លំដាប់លំដោយនៃជំហាននីមួយ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ៗ​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សម្រាប់ការផ្ទុកទិន្នន័យតែម្តងគត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និងការចាប់ផ្តើមនៃ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មួយដែលកើតឡើងនៅពេល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JVM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ត្រូវការប្រើប្រាស់វាដំបូង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ជំហាននៃ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Flow:</a:t>
            </a:r>
            <a:endParaRPr lang="km-KH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ធ្វើការស្កេន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ហើយធ្វើការកំណត់នូវអត្តសញ្ញាណរាល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static variables, static blocks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methods។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Static variables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ត្រូវបានចាត់តាំងតម្លៃចាប់ផ្តើម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1257300" lvl="2" indent="-342900" algn="l">
              <a:lnSpc>
                <a:spcPct val="10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បានប្រតិបត្តិទៅតាមលំដាប់ដែលបានលិចឡើងពីប្រភព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code។</a:t>
            </a: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ចាប់ផ្តើមប្រតិបត្តិ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public static void main(String[]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args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ដែលជាចំណុចចូលកម្មវិធី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18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50872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D83A6A-539A-ADDB-D8E0-9D0E2FD5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54139-28EB-EBFC-7407-F9177D2891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A6992-F556-F5B6-31B8-7C0B59BFA0C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698FBD-3CB5-D1FD-7203-611EFDA65D1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A81B597-8102-C362-5D51-B2168AE34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9C3E948-4D3B-CF13-506C-6C86FEAFC0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219212"/>
            <a:ext cx="10954536" cy="53062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Instance 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គឺជាជំហាននៃដំណើរការក្នុងការចាប់ផ្តើមរបស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មួយក្នុងកម្មវីធី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នៅពេលដែលវាត្រូវបានបង្កើតឡើង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លំដាប់លំដោយពេលដែលបង្កើត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object: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ការដំណើរការ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មុនគេបង្អស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ប្រតិបត្តិដំបូងគេបំផុតនូវ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Static control flow (static blocks, static variables)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class​។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ប៉ុន្តែវាប្រតិ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បត្តិតែម្តងប៉ុណ្ណោះ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ការកំណត់អត្តសញ្ញាណ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Member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JVM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ស្កេន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ពីលើចុះក្រោមដើម្បីកំណត់អត្តសញ្ញណនូវរាល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instance variables, instance initializer blocks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constuctors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និងការចាត់តាំងតម្លៃនៃ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 variable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ជាការប្រតិបត្តិពីលើចុះក្រោមនូវការចាត់តាំងតម្លៃ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ទៅឲ្យ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ដែលបាន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រួច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និងប្លុកកម្មវិធីចាប់ផ្តើម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Instance។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+mj-lt"/>
              <a:buAutoNum type="arabicPeriod"/>
            </a:pP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ការប្រតិបត្តិ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ជាការប្រតិបត្តិចុងក្រោយបំផុតនូវ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object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ជាក់លាក់ដែលនឹងត្រូវបានបង្កើត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220872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3D5F2-0FC7-2AE7-5D2B-89C136AF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3FFBF-3562-896C-8F30-B482D11AAC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50AC72-125B-BDCF-3866-5CCD6EDD77B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7F4470E-C2C7-2086-84C0-775259A2704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C41771-2614-1A15-D34A-DBD283168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71E7C86-87BB-E04B-ACF2-29A9CB612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507311"/>
            <a:ext cx="10954536" cy="3528152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      </a:t>
            </a: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គឺជាប្លុក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code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ដែលអនុវត្តនូវការងារជាក់លាក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ហើយវាដំណើរការតែពេលដែលត្រូវបានហៅមកប្រើតែប៉ុណ្ណោះ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Parameters :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មួយដែលបានកំណត់ឡើងនៅក្នុង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មួយ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ដែលមានតួនាទីដាក់ទិន្នន័យសម្រាប់បញ្ជូនទៅឲ្យ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នៅពេលដែល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constructor </a:t>
            </a:r>
            <a:r>
              <a:rPr lang="en-US" sz="26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ត្រូវបានហៅ</a:t>
            </a:r>
            <a:r>
              <a:rPr lang="en-US" sz="26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6887183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2A4274-3CA8-67B9-E0D9-C1A4ABC4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1E16E-A524-A9BB-51BE-00D5D4BEE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5708D5-6384-2ABD-E349-AA28DA165368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0D7CF6-B0F2-1885-9FC8-6EEFEDAA75D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61F6EEC-C875-0393-745F-C3D465561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877883-D334-D714-6BBD-6E1AEDB53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192" y="1156582"/>
            <a:ext cx="10954536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sz="2800" dirty="0"/>
              <a:t> </a:t>
            </a:r>
            <a:r>
              <a:rPr lang="en-KH" sz="2000" dirty="0"/>
              <a:t>👉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ដែលផ្តល់តម្លៃត្រឡប់មកវិញ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//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(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តម្លៃដែលត្រូវផ្តល់ត្រឡប់ទៅវិញ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ដែលមានប្រភេទទិន្នន័ដូចនិង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គឺជាពាក្យសម្រាប់បញ្ជាក់កម្រិតនៃការចូលទៅកាន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មិនបញ្ជាក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់) 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US" sz="2000" b="1" dirty="0"/>
              <a:t> </a:t>
            </a:r>
            <a:r>
              <a:rPr lang="en-US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ប្រភេទទិន្នន័យនៃតម្លៃដែលត្រូវផ្តល់ត្រឡប់មកវិញ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endParaRPr lang="en-US" sz="20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សម្រាប់ហៅនៅពេលប្រើប្រាស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់។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-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ឈ្មោះ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សម្រាប់ប្រើប្រាស់ក្នុង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sz="20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នៅពេលប្រតិបត្តិ</a:t>
            </a: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1486045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EEDD9A-9AB7-2D7D-2377-2293CEFB3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451F-8670-735F-59B4-82D837025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378FE91-F0D1-8BB6-0BE5-BFAA3D2E21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FDBDDBD-BDFC-F5A9-A2F6-F6225499C74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49E800C-B977-9320-EA12-0CD772F88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5CD8C5-0758-8B3E-09F3-7F605119B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ទម្រង់នៃការប្រើប្រាស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់(Syntax)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នៃ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ដែលមិនផ្តល់តម្លៃត្រឡប់មកវិញ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  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(No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return value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)៖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void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18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//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ប្លុក</a:t>
            </a: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code </a:t>
            </a:r>
            <a:r>
              <a:rPr lang="en-US" sz="18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ដែលត្រូវប្រតិបត្តិ</a:t>
            </a:r>
            <a:r>
              <a:rPr lang="en-US" sz="18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(execute)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sz="2000" dirty="0"/>
              <a:t>✍️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ចំណាំ៖ 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ការបង្កើត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អាចធ្វើការដាក់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ច្រើនបន្តបន្ទាប់គ្នាដោយប្រើសញ្ញា ”</a:t>
            </a:r>
            <a:r>
              <a:rPr lang="en-KH" sz="20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នៅចំកណ្តាលរវៀង parameter ពីរ ឫច្រើន ឫមិនដាក់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</a:t>
            </a:r>
            <a:r>
              <a:rPr lang="en-KH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ក៍បាន។</a:t>
            </a:r>
            <a:b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KH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​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ឧទាហរណ៍ទី១៖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parameterName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dataType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parameterName2){}</a:t>
            </a:r>
            <a:b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</a:t>
            </a:r>
            <a:r>
              <a:rPr lang="en-KH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ឧទាហរណ៍ទី២៖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methodName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(){}</a:t>
            </a:r>
            <a:b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69977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D82939-474D-9AF5-7DA6-AE243BB31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D42D5-55CB-C1B8-BD47-3591EB2B2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Methods 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និងParameters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CB24296-590A-6AFB-B54C-F2E44062772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66718-FBD5-D9C3-443D-C38CEA87EF0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A8D571-EA15-D167-F3E3-AA9107585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750D091-B569-4A1A-8380-9C4650A2F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6582"/>
            <a:ext cx="10459234" cy="518157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</a:t>
            </a:r>
            <a:r>
              <a:rPr lang="en-KH" dirty="0"/>
              <a:t>👉</a:t>
            </a:r>
            <a:r>
              <a:rPr lang="en-KH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វិសាលភាព​នៃ Access Modifier</a:t>
            </a:r>
            <a:r>
              <a:rPr lang="en-US" sz="2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private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default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protected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ឫmember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បានតែនៅក្នុង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subclasses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ប៉ុណ្ណោះ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</a:p>
          <a:p>
            <a:pPr marL="914400" lvl="1" indent="-4572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2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public</a:t>
            </a:r>
            <a:r>
              <a:rPr lang="en-US" sz="22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អាចហៅ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member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បានទាំងក្នុង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class 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ឫ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package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ជាមួយគ្នា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​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និងpackage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200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ផ្សេងគ្នា</a:t>
            </a:r>
            <a:r>
              <a:rPr lang="en-US" sz="22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b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sz="2400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116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36489-92E5-AA56-A601-E4FDCF7C0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269EF-0971-363A-37DD-DBE780D3C7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B832F0-880A-10E2-3951-DF73C2C0ABD6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85ACEAD-5F73-1745-9165-A23D73687CC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538804B-BBE5-0539-7C77-C9772E799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30923D-D914-BD8E-B0FB-9E5D1E2008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0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គឺជាវត្ថុសម្រាប់ផ្ទុកសំណុំនៃតម្លៃដែលមានចំនួនថេរ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និងប្រភេទទិន្នន័យដូចគ្នា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ដែលតម្លៃនីមួយៗហៅថាធាតុ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។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Array​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ត្រូវបានចែកជាពីរប្រភេទគឺ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​(Single-Dimensional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គឺរចនាសម្ព័ន្ធទិន្នន័យមួយជួរ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ដែលផ្ទុកតារាងនៃធាតុជាច្រើនមានប្រភេទទិន្នន័យដូចគ្នា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ហើយធាតុនីមួយៗត្រូវបានចូលប្រើតាមរយៈ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capitalLetters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{"A", "B", "C"};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ច្រើនវិមាត្រ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(Multi-Dimensional Array):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វាត្រូវបានគេប្រើដើម្បីផ្ទុកទិន្នន័យជាទម្រង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grid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table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String[][]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 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{{"A", "B", "C"}, {"a", "b", "c"}};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1972995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9ECFA5-4EB5-AD29-7EA1-AB2428E2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562F-DAD3-0719-E28D-45A980850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BC4279-303C-3BA7-EDAF-236C3D3626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AF5D61-4872-E942-CBE0-5559FFB3C2C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E987755-B07A-FC08-D17A-E7338F9C2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55605F-748D-610D-528A-9F3AEAC6EF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ការប្រកាស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និងការកំណត់តម្លៃចាប់ផ្តើមនៅលើ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Variable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ដោយកំណត់ចំនួនធាតុ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 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ចំនួនធាតុ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int[10];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ប្រកាស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ដោយកំណត់តម្លៃជា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literal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 ]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ធាតុ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…}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String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letters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{"A", "B", "C"};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652586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A2EA9-4A5D-F977-B56B-7FC5A135F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34CB7-D26B-5B44-6588-540C5680AC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BC6EA60-B827-FB04-C401-76B8CA667A9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914093-D2FD-8E99-476A-C18A7E74ED5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70A8F7-9B7B-6BA9-B205-2453EE4E6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E856E0-2C67-432D-334C-A32FBD8EDB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និងការកែប្រែតម្លៃនៃធាតុនីមួយ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ទម្រង់នៃការចូលប្រើ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ទម្រង់នៃការកែប្រែតម្លៃ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: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arrays[ </a:t>
            </a:r>
            <a:r>
              <a:rPr lang="km-KH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សន្ទស្សន៍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តម្លៃថ្មី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ដើម្បីពិនិត្យចំនួនធាតុនៃ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យើងត្រូវប្រើ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method  “</a:t>
            </a: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length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” ។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dirty="0" err="1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.length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FF000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6582856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09183-08C5-FE65-02DC-71F962302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0CD83-6202-5A4E-3C8C-F5F2B96017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E71593-B715-BCEA-46F2-84C54601C88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0723D0-0790-137B-4BBA-59F6D05382F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9D35385-B7A4-45D0-0C61-9607D17E0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3298875-D3EA-F93E-A8C5-72729A566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ការចូលប្រើតម្លៃនៃធាតុនីមួយដោយប្រើ</a:t>
            </a:r>
            <a:r>
              <a:rPr lang="en-US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loop</a:t>
            </a: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ឧទាហរណ៍ទី១​ (for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int[]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.length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++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+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"]: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[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]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939302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0D7547-6B57-1118-CC4F-C65DE11E0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F95E9-ECB9-0445-B635-F3C628955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203C01-97AD-397D-6D61-7B28EBC5F46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76468C-97E3-5A19-84FE-196BBD30A61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F0867B-1767-C514-6607-E6F98C72B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F544F2C-6672-9F74-C84A-3BB025FA7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204749"/>
          </a:xfrm>
        </p:spPr>
        <p:txBody>
          <a:bodyPr>
            <a:noAutofit/>
          </a:bodyPr>
          <a:lstStyle/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ឧទាហរណ៍ទី២​ (for-each loop)៖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String[]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{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1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3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for(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studentIds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	 </a:t>
            </a:r>
            <a:r>
              <a:rPr lang="en-US" sz="24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System.out.println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"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+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studentId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}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463017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FC312-AFA4-6BF0-F5C1-DB6183B0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7BB4F-B911-5CCD-CC32-60B96D9DC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Arrays 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FF8B00-7E48-4B92-E4F0-362ED94AF1A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91566C-0176-8A2C-0AE4-FDBE90504C2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86132DC-1A5E-81B1-B3DD-001531626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38B3B40-C4D3-9109-A5DB-17E220EDE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33413"/>
            <a:ext cx="10459234" cy="5504874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/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ពីតូចទៅធំ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FF000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24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KH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👉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ទម្រង់នៃការរតម្រៀប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Arrays </a:t>
            </a:r>
            <a:r>
              <a:rPr lang="en-US" sz="24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ពីធំទៅតូច</a:t>
            </a: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៖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24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wraper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ដែលត្រូវតម្រៀប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​​​​         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Integer[]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5, 6, 3, 9, 4, 1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r>
              <a:rPr lang="en-US" sz="24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;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Arrays.sort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nums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4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())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5745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21FB5-2DC8-B44E-3B01-942917CD6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56507-6078-B74B-9577-414DD228F4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90CCD26-A330-75C6-E318-8E12482D889D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944E47-2955-2FE2-8128-31ADE67DE93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2FCC5AF-AC07-EB55-3D52-A4537E259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0D02F63-7526-74C9-C6AF-D8FAB511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គឺជាវត្ថុដែលតំណាងឲ្យឯកត្តាមួយនៃវត្ថុផ្សេងៗទៀតជាច្រើន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ដែលត្រូវបានប្រើប្រាស់ដើម្បីផ្ទុក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យកតម្លៃ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និងរៀបចំការប្រមូលផ្តុំទិន្នន័យ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ប្រភេទនៃ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Collection​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List: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គឺជាការប្រមូលផ្តុំដែលត្រូវបានតម្រៀបនូវធាតុជាច្រើនមានលក្ខណៈ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Dynamic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និងអនុញ្ញាតឲ្យផ្ទុកនូវធាតុស្ទួន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ហើយផ្តល់នូវការប្រើប្រាស់ដោយផ្អែកលើ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KH" sz="2000" dirty="0"/>
              <a:t>👉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List​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Vector&lt;&gt;()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625722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6FEE2-2A96-E68A-A3DA-B56FB6EC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58CC-0B33-02BC-C17C-F65E2B20A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F438B5A-C780-E776-C948-CB12A144811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27F95DE-1658-6CAF-1A43-55F998839DE1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215605F8-9AF0-05FE-917B-552585B63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900CA6-44FE-0E1E-7FD7-76D3491DAE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ដែលអាចផ្លាស់ប្តូរទំហំខាងក្នុងនៃ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ដែលល្អបំផុតសម្រាប់ការប្រើប្រាស់ធាតុនីមួយៗនៃ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array។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សម្រាប់ការបន្ថែម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ឫការលុបញឹកញាប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ការចូលប្រើប្រាស់ទិន្នន័យដោយ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random​  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index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មានលក្ខណៈយឺត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Vector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ដែលស្រដៀងទៅនិង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ប៉ុន្តែវាមានលក្ខណៈជា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thread-safe (synchronized)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8057525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D1392F-CD19-96A6-AFD1-180CE2F9E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4C504-B2D9-C73F-0FD8-B7CF0BE413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2A20DA4-79D5-AAE4-542F-91940A7FA2CB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7A1A0C3-2D52-A446-11FC-C5C60760B34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6DF5BD5B-F59E-4FF9-020E-81BA139172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37501D9-1EBF-7D0C-5895-FDADB691FD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ប្រើសម្រាប់ផ្លាស់ប្តូរធាតុមួយនៃ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0, 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"B"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ប្រើសម្រាប់លុបធាតុមួយនៃ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0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29158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356A4A-FB5D-D622-F804-F077C7655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BEE3A-40FC-872A-9902-75E0958B2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EA598B-717E-F5E2-148D-89599F3655C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A86B0F9-561A-5981-D91A-DD6E1C98570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17083AB2-EEED-5C26-61C4-FF420B4C3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415A91F-E5D3-CA5D-3874-A09B86105B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"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1"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index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latin typeface="Khmer OS Content" panose="02000500000000020004" pitchFamily="2" charset="77"/>
                <a:cs typeface="Khmer OS Content" panose="02000500000000020004" pitchFamily="2" charset="77"/>
              </a:rPr>
              <a:t>"D"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ប្រើសម្រាប់លុបធាតុដំបូងនៃ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720537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8F9F45-ABE7-88BC-C458-3F81309A7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79F32-D89D-51BF-0A0F-A03243483F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2DF271-92BE-AF6D-7C84-D070F460A17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C954F7-068C-1D2F-ED78-17C508523CE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36EB7122-F6C0-C769-5E8D-C417FEC6FD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88BADAF-C93F-0268-BCD8-93DF9FEC3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03529"/>
            <a:ext cx="10459234" cy="5221654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ប្រើសម្រាប់ចាប់យកធាតុនៅដំបូងគេនៃ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.getFirst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ប្រើសម្រាប់ចាប់យកធាតុចុងក្រោយគេនៃ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.getLast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254253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2DD93C-6927-B2BA-317C-B575216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550A-3642-1D31-BCDC-76C9C49E26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D2B54AE-F6BA-B1A6-F80D-5B626AC4B07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5F7D5D-75C3-5C56-618C-6E8A5995090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ED99F07-E11F-A902-FD5D-3FE8EE7D2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88E362B-AAA0-5D6D-79B5-C64FC658BF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21535"/>
            <a:ext cx="10459234" cy="4803647"/>
          </a:xfrm>
        </p:spPr>
        <p:txBody>
          <a:bodyPr>
            <a:noAutofit/>
          </a:bodyPr>
          <a:lstStyle/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List​ (List Sorting)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  <a:endParaRPr lang="en-US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742950" lvl="1" indent="-28575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ការតម្រៀបធាតុពីតូចទៅធំ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ការតម្រៀបធាតុពីធំទៅតូច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listVariable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/>
              <a:t>;</a:t>
            </a:r>
            <a:endParaRPr lang="en-US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List&lt;String&gt;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ArrayList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             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</a:t>
            </a:r>
            <a:r>
              <a:rPr lang="en-US" dirty="0" err="1">
                <a:solidFill>
                  <a:srgbClr val="FF0000"/>
                </a:solidFill>
              </a:rPr>
              <a:t>.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list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</a:t>
            </a:r>
            <a:r>
              <a:rPr lang="en-US" dirty="0"/>
              <a:t> </a:t>
            </a:r>
            <a:r>
              <a:rPr lang="en-US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Collections.reverseOrder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)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190284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4401A-F22F-1B31-60A2-FC1E29C74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2B2A-09A1-E3BC-A066-2C764DB21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657CA3-6440-93F9-8321-E8B239C05B3F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A0A290-641D-C183-1D84-2785A061D635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0FFBD09-D20B-75A5-C833-A34117EEE6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1677A76-8520-C5ED-B2A9-0EC31B0337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9"/>
            <a:ext cx="11324747" cy="5078974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សម្រាប់រក្សាទុកធាតុដែលមានតម្លៃខុសៗគ្នា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Set​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201210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811D7-39B0-EB88-9B8E-55C6C2233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1123F-56F9-6A06-B2E8-EE3B63477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39BD1B-BCB5-48A8-2DB3-1386D5CE481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EE86A7-925D-A2E2-3B25-15D9662423E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D7C3E4-9385-BE87-D7B3-483578F2D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4F043B0-FCE2-F319-BF86-C49B709ED5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227913"/>
            <a:ext cx="10459234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គឺរចនាសម្ព័ន្ធទិន្នន័យមួយដែលរក្សាទុកនូវធាតុដែលមានតម្លៃខុសគ្នា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និងមិនមានលំដាប់លំដោយ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គឺការអនុវត្ត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(implementation)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Set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ដែលរួមបញ្ចូលគ្នារវាង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hash table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មួយសម្រាប់រក្សាទុកនូវធាតុដែលមានតម្លៃខុស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double-linked list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ដើម្បីរក្សាលំដាប់លំដោយនៃការបញ្ចូលរបស់ធាតុនីមួយ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ៗ។</a:t>
            </a:r>
            <a:b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 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TreeSet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ដែលបានតម្រៀប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និងរក្សាទុកនូវធាតុដែលមានតម្លៃខុសៗគ្នានៅក្នុងលំដាប់លំដោយពីតូចទៅធំ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ឫពីធំទៅតូច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dirty="0">
              <a:solidFill>
                <a:srgbClr val="0070C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639646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170A1-2C92-5B4B-F7FF-ACF22BC20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37143-8519-E3A3-4DA8-EF94FEA265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F3A458-5291-25BD-FE5F-703BDD97960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55E894-1294-5F7D-E438-5C113B1F717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8AF5586-10BA-CB27-92C3-A71AFC3C8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2DA5B595-5AF4-242D-B9B5-050E0A41C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ប្រើសម្រាប់ពិនិត្យថាមានធាតុដែលយើងចង់រកឬទេ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if(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 else {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340202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781CDC-3C7F-A595-E7C2-6B2A52D0C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7FDEF-365E-98C1-0CFC-28E0121E4B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512813-E90B-D6ED-F003-5E83955702D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7B1F98-B5E9-1F68-CF86-A18DC768187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9D3A3C7-8F91-D26C-78F2-917076277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AF0CEEED-A7E3-747A-E6AB-2B7E8A310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612900"/>
            <a:ext cx="10459234" cy="4089400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size()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ប្រើសម្រាប់ពិនិត្យចំនួនធាតុ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.size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clear()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 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HashSet 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.clear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3281715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3FF0DD-E8DD-A125-BDB0-4C8D39DF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44D4C-3913-5CE0-F7F2-44EBA7AA0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5A472A1-92A2-6A39-5F1D-79AD3E92E5E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CDD0B6-32A5-017A-6505-5AA91EDC9EC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5905492-47CF-AC43-C100-E5B4705D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6B88B5DD-3F19-51A6-ECAB-A338F642F2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346208"/>
            <a:ext cx="11330006" cy="539200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ដែលតំណាង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ឱ្យការប្រមូលធាតុតាមលំដាប់ដែលបានរចនាឡើងសម្រាប់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ផ្ទុកនិងការកាន់កាប់ធាតុដែលត្រូវដំណើរការមុន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</a:t>
            </a:r>
            <a:r>
              <a:rPr lang="en-KH" sz="2000" dirty="0"/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Queue​ (common implementations)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</a:t>
            </a:r>
            <a:b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)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/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ArrayBlockingQueue</a:t>
            </a:r>
            <a:b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;)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067210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FB0E5-5140-7EDD-06E0-F584E444B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AA29E-33C1-6DC6-2881-B0257AD073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D9171B-6C84-977D-485F-7E15CF386D2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4B9ADD-C5F0-EBBB-17DB-60DEE235C99F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C2DC2BC-D469-92D1-5776-6ECF5A904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08D26EB-8203-BEEC-FFCD-BE2D5D9465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LinkedList: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គឺជាការអនុវត្តនៃគោលបំណងទូរទៅមួយ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ដែលធ្វើការយ៉ាងល្អសម្រាប់ស្តង់ដា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FIFO queues។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ArrayDeque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គឺជាការអនុវត្តក្នុងការផ្លាស់ប្តូរទំហំរបស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Array 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Deque (double-ended queue)​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នៅក្នុងភាសា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ដែលអាចអនុវត្តស្តង់ដាពីរនៃ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FIFO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LIFO។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PriorityQueue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រចនាសម្ព័នទិន្នន័យពិសេសដែលធាតុនីមួយៗមានអាទិភាពដែលបានកំណត់ ហើយធាតុដែលមានអាទិភាពខ្ពស់ជាងត្រូវបានបម្រើមុនអ្នកដែលមានអាទិភាពទាបជាង ដោយមិនគិតពីលំដាប់នៃការបញ្ចូល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ឡើយ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31608510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FF5D6-2927-5DA7-9070-5D43687D7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4A69-9717-E5F0-2C89-555F5AD18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0DCA72-E644-6E3D-D728-B27EC236818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C7B6E95-22ED-C50E-A8FD-7672DB80F94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DA0D5AD-F59E-9D1D-8C3A-3CE3E8ACC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8B02C5F-81C9-9783-6B18-518EE5292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ConcurrentLinkedQueue: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សម្រាប់ប្រើជាលក្ខណៈ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multi-thread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thread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នីមួយៗអាចចូលដំណើរការ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ក្នុងពេលដំណាលគ្នា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LinkedBlockingQueue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/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ArrayBlockingQueue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km-KH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រចនាសម្ព័នទិន្នន័យ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ដែលមានលក្ខណៈ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ដែលរារាំងប្រតិបត្តិការដោយស្វ័យប្រវត្តិនៅពេល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ត្រូវបានពេញក្នុងពេលបន្ថែមធាតុចូល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មិនមានធាតុក្នុងពេលដកចេញ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44467479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404A66-67F3-D723-54AD-19ED7E4D2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678DD-B38A-E2C5-A827-D53F309B5E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142DAA7-E884-9798-42A6-5C0BEB0280E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0460A3-E514-43AE-65C6-F6F22305FD83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E529744-E11E-4983-6784-5171E5245D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2A6C1829-0F94-3740-7264-72175A0E80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add(E e)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offer(E e)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ប្រើសម្រាប់បន្ថែមធាតុ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poll()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ឫលុបធាតុដែលនៅលើគេបំផុតនៃ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.offer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element()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peek()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ប្រើសម្រាប់ចាប់យកធាតុដែលនៅលើគេបំផុតនៃ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Queue។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ប៉ន្តែមិនលុបធាតុនោះទេ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Queue&lt;String&gt;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LinkedList&lt;&gt;()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“B”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.add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“C”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​ String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nextElement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queue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.peek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86420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E38F5E-58C9-83CD-DB01-C157B9C6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3A648-DB73-55AB-753F-8A932EE54F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AA36DEB-339A-CA30-4C5C-CDDC5238EB5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90B4AC-8EDD-8F17-4C95-4FA40B366B0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06C52372-09E3-A402-4A08-44F75BF15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73972562-8A26-B34C-EF86-C53A06FB65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3626" y="1237024"/>
            <a:ext cx="11330006" cy="5272951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មូលដ្ឋានមួយនៅក្នុង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Collections Framework ប្រើប្រាស់សម្រាប់ផ្ទុកទិន្នន័យដែលផ្គូរផ្គងតម្លៃតាមរយៈពាក្យគន្លឹះ (key-value pairs)។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ពាក្យគន្លឹះ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(key)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នីមួយ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ៗ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គឺខុសៗគ្នា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ប៉ុន្តែតម្លៃអាចស្ទួនគ្នាបាន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សម្រាប់ការអនុវត្តទូរទៅនៃ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Map​ (common implementations)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</a:t>
            </a:r>
            <a:endParaRPr lang="en-US" sz="2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endParaRPr lang="en-US" sz="20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342900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endParaRPr lang="en-US" sz="2000" dirty="0">
              <a:solidFill>
                <a:srgbClr val="FF000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</a:t>
            </a:r>
            <a:r>
              <a:rPr lang="en-US" sz="20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ទម្រង់ប្រើប្រាស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់៖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SortedMap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ប្រភេទទិន្នន័យ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&gt;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variableName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59210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D00AA-07EA-D8D7-CB50-C6A285A4C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35227-6A0C-DDCE-D627-25B80D5208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C011E06-0808-8C33-C6B1-B14C0B6B90B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1516E2-9163-E085-68EF-D109B2FD1C9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7F92122B-3A86-11BB-FE06-850976F0B6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7AA6C1D4-7C25-13B3-595E-B01AA9101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2" y="1088213"/>
            <a:ext cx="10791005" cy="505530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HashMap: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ដែលមិនធានានូវការរក្សាលំដាប់លំដោយនៃធាតុដែលបានផ្ទុកឡើយ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LinkedHashMap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ដែលធានានូវការរក្សាលំដាប់លំដោយនៃការបញ្ចូលរបស់ធាតុនីមួយៗដែលត្រូវបានផ្ទុក។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: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គឺជាការអនុវត្តនៃ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ដែលធ្វើការតម្រៀបធាតុដោយស្វ័យប្រវត្តតាមរយៈពាក្យគន្លឹះ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(key)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ដែលលំនាំដើ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មនៃការតម្រៀបគឺពីតូចទៅធំ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យើងអាចធ្វើការកំណត់ជា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Thread-Safe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បានដោយប្រើ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Collections.synchronizedSortedMap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(new </a:t>
            </a:r>
            <a:r>
              <a:rPr lang="en-US" sz="20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TreeMap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&lt;&gt;());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164322230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9A127-46AB-7075-0004-37D56C58E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2F23F-EF7B-040B-5A59-1C30E962A4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CC6B7CE-A3BE-64A7-1421-04EBB7DA816C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87613C-0BE9-120D-59DD-5E22F80DC304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9086B30-B0DC-8B19-2164-FA4757450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F987F94-4288-14B6-0533-A2F8545E81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510306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 method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put(key, value)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ប្រើសម្រាប់បញ្ចូលធាតុទៅក្នុង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ប្រើសម្រាប់ចាប់យកធាតុតាមរយៈពាក្យគន្លឹះ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.get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remove(Object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ប្រើសម្រាប់លុបធាតុតាមរយៈពាក្យគន្លឹះ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.remove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012312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7D476-70B5-6CD9-8066-DDF7E1F2F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E8FAE-288A-DDB1-2D33-7ED723DA40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2EBE53E-3DA8-A834-41E9-EA044A03AC0E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8DA3318-0806-B152-4D1A-807FBC11AC2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8FB7759F-C288-E2C2-E9DD-C92F8AA11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9D2999C-EFAB-64E0-08F6-C2E88C91E1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154761"/>
            <a:ext cx="10459234" cy="5119037"/>
          </a:xfrm>
        </p:spPr>
        <p:txBody>
          <a:bodyPr>
            <a:noAutofit/>
          </a:bodyPr>
          <a:lstStyle/>
          <a:p>
            <a:pPr marL="742950" lvl="1" indent="-28575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containsKey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(Object key)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ប្រើសម្រាប់ស្វែងរកធាតុក្នុង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តាមរយៈពាក្យគន្លឹះ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boolean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.containsKey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ប្រើសម្រាប់ចាប់យកពាក្យគន្លឹះ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ទាំងអស់ដែលមាននៅក្នុង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Set&lt;String&gt;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keysName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.keySet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values()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ប្រើសម្រាប់ចាប់យកតម្លៃទាំងអស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values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Collections 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lvl="1" algn="l">
              <a:lnSpc>
                <a:spcPct val="15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Collection&lt;Integer&gt;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values =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.values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7471654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1B86E4-EE0D-43B8-47E6-76B0CC99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BF6F8-8AA9-9BAD-54F0-9273F6236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Collections(</a:t>
            </a:r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53D1A7-9CC4-3591-54F9-17294876D2A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C5BCC-969C-5388-9BFC-4B1B592D10D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A793AA89-292F-2BB0-AEE5-413395998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FC27530F-F541-919F-3E8A-34CCEB0B3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spcBef>
                <a:spcPts val="1500"/>
              </a:spcBef>
            </a:pPr>
            <a:endParaRPr lang="en-US" sz="20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0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 :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ប្រើចាប់យកធាតុទាំងអស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entries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ដែលមាននៅក្នុង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Map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និងលទ្ធផលដែលទទួលបានជា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lvl="1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Map&lt;String, Integer&gt;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new HashMap&lt;&gt;()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.put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“A”, 1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  <a:b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     Set&lt;Entry&lt;String, Object&gt;&gt;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entries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=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map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.entrySet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93256022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E4EA66-EF9D-9A51-7622-131ECC947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62B0C-7BB7-278E-946D-508CFC111D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Object-Oriented Programming (OOP)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31AAA30-65CE-B479-501D-F7BE954160D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7DC6C88-AD38-5079-EACB-5A806309D6FE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E9A1001A-E5F8-7B31-F1FA-66D5A2C26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316890B-EC56-EB21-796A-904DBD5996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Object-Oriented Programing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គឺជាគំរូនៃការអភិវឌ្ឍន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 software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ដោយការបង្កើតជាគំរូតំណាងឱ្យវត្ថុពិតផ្សេងៗហៅថា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”objects”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ដែលជាការ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instances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ដែលរួមគ្នាបញ្ចូលទាំង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(fields/attributes)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32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behavior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(methods) </a:t>
            </a:r>
            <a:r>
              <a:rPr lang="en-US" sz="32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នៅក្នុងមួយឯកតា</a:t>
            </a:r>
            <a:r>
              <a:rPr lang="en-US" sz="32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</p:txBody>
      </p:sp>
    </p:spTree>
    <p:extLst>
      <p:ext uri="{BB962C8B-B14F-4D97-AF65-F5344CB8AC3E}">
        <p14:creationId xmlns:p14="http://schemas.microsoft.com/office/powerpoint/2010/main" val="29402272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1F571-876C-9F82-369B-919F227AD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7B84A-CDF0-0E4A-E831-6AA878E4E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km-KH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គោលគំនិតស្នូលនៃ 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OOP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8F4DA52-A8CF-837E-0832-820A6393B703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6A2317-F2F6-20E3-0659-11E0D4AC9392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2A0B7BE-549C-8D9B-58F2-BCCFCB2F8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533248E5-EC44-B427-1703-897E39BA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KH" dirty="0"/>
              <a:t>👉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គោលគំនិតស្នូលនៃ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OOP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</a:t>
            </a:r>
          </a:p>
        </p:txBody>
      </p:sp>
    </p:spTree>
    <p:extLst>
      <p:ext uri="{BB962C8B-B14F-4D97-AF65-F5344CB8AC3E}">
        <p14:creationId xmlns:p14="http://schemas.microsoft.com/office/powerpoint/2010/main" val="38879625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39DA89-6F06-436D-6CE0-C65B87AD5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E0322-C81A-2A43-4089-0CD1DEEC9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EFD7E47-5788-3C4D-9DF9-A47E3ED56F82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B5680D-1057-67DF-85CC-460378C5695D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CDF13ACF-3EFD-0BA6-E71F-7CBF38CC3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B307DE5-8C95-1D98-9085-40FA4D070FE6}"/>
              </a:ext>
            </a:extLst>
          </p:cNvPr>
          <p:cNvSpPr txBox="1">
            <a:spLocks/>
          </p:cNvSpPr>
          <p:nvPr/>
        </p:nvSpPr>
        <p:spPr>
          <a:xfrm>
            <a:off x="803753" y="1133413"/>
            <a:ext cx="10459234" cy="51784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គឺជាប្លង់មេ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ឫជាគំរូមួយដែលកំណត់រចនាសម្ព័ន្ធទិន្នន័យ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 Structure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និងអាកប្បកិរិយា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(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Behavior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នៃវត្ថុមួយ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sz="28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Class៖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ClassName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//Fields/Attributes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//Behavior</a:t>
            </a:r>
            <a:b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method</a:t>
            </a:r>
            <a:endParaRPr lang="en-US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8806165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ACB10E-2738-63F3-8C1E-15B72FA20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85206-F9C8-C990-C050-15DB4A411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1C19251-331B-3A29-A36A-99A92CFFE2CA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5E5320-003C-7D9B-C62B-CEA76789A31B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B858181-8E7E-CD51-1A84-BC51C1972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867A4DEE-6FDC-8978-8FC5-E41A8EE53256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44037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Object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គឺជាវត្ថុពិតប្រាកដមួយ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និងជាការ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instance​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user =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User()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new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ដែលកើតឡើងពីការ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instance​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variable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មួយដែលចាំទទួល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ដែលកើតឡើងពីការ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instance​ </a:t>
            </a:r>
            <a:r>
              <a:rPr lang="en-US" sz="24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</a:t>
            </a:r>
            <a:r>
              <a:rPr lang="en-US" sz="24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endParaRPr lang="en-US" sz="24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13155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EC6660-D62D-F66A-F820-147C37F6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B1B3-2D63-7F5E-F122-E9E508FA26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01B906-B43B-8C3E-1D3E-B498217851B4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7DC92AF-A042-CCE3-0305-D4F28ABC56D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400A3A72-02E6-FAA9-ECB4-EE35A006D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6D50EE2-2335-28AD-AC0E-FC57C5069229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Constructors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methods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ពិសេសដែលមានឈ្មោះដូច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ដែលមិនមាន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Return Type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void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វាត្រូវបានហៅនៅពេលដែល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ត្រូវបានបង្កើតដើម្បីចាប់ផ្តើមសម្រាប់ការប្រើប្រាស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់។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  public class User{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private int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private String username;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public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public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User(int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, String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userName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   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this.username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  }</a:t>
            </a:r>
          </a:p>
          <a:p>
            <a:pPr lvl="3"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b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endParaRPr lang="en-US" sz="20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364886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051F9F-B4A1-BD7B-6146-4E33D6A8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A52B8-C601-DFEF-D4C2-E7F0C6CF4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F24C1B0-C2CF-C4D5-9C8D-F64E90427D2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8BC246-3BDF-23BE-EC28-CC781F995BB8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B718BCDD-F40F-3F65-EB6B-1B7713A13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F7F629C-724A-20B2-7CDE-D210AD8F11A3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គឺជាការ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កំណត់កិច្ចសន្យាសម្រាប់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ដែលត្រូវប្រកាន់ខ្ជាប់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បើកទម្រង់នៃមរតក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ច្រើនដែល 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មិនគាំទ្រជាមួយ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ការប្រើ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km-KH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តែមួយ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នោះទេ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៖ 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DataType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KH" sz="1800" dirty="0"/>
              <a:t>👉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ទម្រង់នៃការបង្កើត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ដើម្បីអនុវត្តទៅតាម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Interface ៖</a:t>
            </a:r>
            <a:b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AccessModifier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ClassName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implements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@Override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 err="1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DataType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/void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     //Code to do something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150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8749094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2A63A-6667-54C7-91F4-F4C2B1126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2746-1960-34E2-174E-D91FB0517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9C9E8D4-D8B2-6321-0BA1-594B8E13D4F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EB1913-E9AA-109E-E21E-7B7853A8A9E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9E8423A-10E8-392C-0C44-3224590AC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5DC52B1D-9415-1FF6-C74C-8CD366980E04}"/>
              </a:ext>
            </a:extLst>
          </p:cNvPr>
          <p:cNvSpPr txBox="1">
            <a:spLocks/>
          </p:cNvSpPr>
          <p:nvPr/>
        </p:nvSpPr>
        <p:spPr>
          <a:xfrm>
            <a:off x="803753" y="1133414"/>
            <a:ext cx="10459234" cy="55048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គឺជាពាក្យគន្លឹះសម្រាប់គ្រប់គ្រងការបង្ហាញ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និងការចូលប្រើ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memebers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</a:p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KH" dirty="0"/>
              <a:t>👉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Access Modifiers </a:t>
            </a:r>
            <a:r>
              <a:rPr lang="en-US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</a:t>
            </a: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2400" dirty="0"/>
              <a:t>​</a:t>
            </a:r>
            <a:endParaRPr lang="en-US" sz="24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marL="800100" lvl="1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4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protected</a:t>
            </a:r>
          </a:p>
        </p:txBody>
      </p:sp>
    </p:spTree>
    <p:extLst>
      <p:ext uri="{BB962C8B-B14F-4D97-AF65-F5344CB8AC3E}">
        <p14:creationId xmlns:p14="http://schemas.microsoft.com/office/powerpoint/2010/main" val="237968895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04FF9A-EDA6-DDA2-A270-570D1AA73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2BDF9-58B5-E4CC-A033-A3C502FD2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 err="1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គន្លឹះនៃការករសាងរបស</a:t>
            </a:r>
            <a:r>
              <a:rPr lang="en-US" sz="3600" dirty="0">
                <a:solidFill>
                  <a:srgbClr val="002060"/>
                </a:solidFill>
                <a:latin typeface="Khmer OS Battambang" panose="02000500000000020004" pitchFamily="2" charset="77"/>
                <a:cs typeface="Khmer OS Battambang" panose="02000500000000020004" pitchFamily="2" charset="77"/>
              </a:rPr>
              <a:t>់ OOP(key building)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22139F-B74F-F06A-980A-DE556736A53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B6C8CF-49ED-6B20-B7B7-FD19F8007BA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E055D1C-49A9-0E63-71A8-286DC719D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1925E91-DAB7-035D-5BD6-D2D131447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 </a:t>
            </a:r>
            <a:r>
              <a:rPr lang="en-KH" dirty="0"/>
              <a:t>👉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គន្លឹះ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ការកសាងរបស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OOP </a:t>
            </a:r>
            <a:r>
              <a:rPr lang="km-KH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នៅក្នុង 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Java </a:t>
            </a: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មានដូចជា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៖ 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Inheritance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</a:t>
            </a:r>
          </a:p>
          <a:p>
            <a:pPr marL="1257300" lvl="2" indent="-342900" algn="l">
              <a:lnSpc>
                <a:spcPct val="150000"/>
              </a:lnSpc>
              <a:spcBef>
                <a:spcPts val="1500"/>
              </a:spcBef>
              <a:buFont typeface="Wingdings" pitchFamily="2" charset="2"/>
              <a:buChar char="Ø"/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275057671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36463D-AEF2-1C4C-E08F-7665F088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A6C7A-AB0D-5A96-AA78-DB2C35FE0F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BE3637A-96D3-78F0-7C27-72907702551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913A88-FCE7-4294-248E-F9705100E38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531CD640-4233-D5C0-1623-3DA86A8DC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EBAA7E8-40C3-FE62-31FA-24D4223040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4429107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	Encapsulation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គឺជាយន្តការក្នុងការគ្របដណ្តប់ទៅលើទិន្នន័យ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ជាមួយនិង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block code(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ដែលប្រតិបត្តិទិន្នន័យទៅក្នុងឯកតាតែមួយ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វាត្រូវបានធ្វើឡើងតាមរយៈការប្រកាស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variables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ជា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និងផ្តល់នូវ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getter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setter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ដើម្បីគ្រប់គ្រងការចូលប្រើប្រាស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និងការពារការកែប្រែពីខាងក្រៅដោយគ្មានការអនុញ្ញាត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28045744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58DC63-2C3D-62D3-999A-F4E949E02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28A71-9BC7-6D7D-00F9-C927CA939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Encapsulation(</a:t>
            </a:r>
            <a:r>
              <a:rPr lang="en-US" sz="36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</a:t>
            </a:r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905EE5C-39AE-4506-1526-98AE1E736555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E2E8F1-9914-7AE6-0AC2-B43D5BEC00F0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69265B12-0579-0F88-FE7C-9A889E49FC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D283F794-0CDA-A9A9-892C-1D3F1EEBB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1353" y="1378424"/>
            <a:ext cx="10459234" cy="5045521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class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Staff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(int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void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setName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String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</a:t>
            </a: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this.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=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592392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DC7EB-6E56-6430-297B-EC704D543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6F395-D278-A8CB-07FC-7D66A607E5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Inheritance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0B6871-2C7B-AC03-2FCD-9E860FE0F0F7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E59B909-8A13-4B42-054B-223854074779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F22C9D3F-AE24-EACB-3367-2D47F2A84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53D611FA-A585-AB88-7A8F-90C3BDA31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88" y="1121846"/>
            <a:ext cx="10980720" cy="5278948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Inheritance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គឺជាគោលការណ៍មួយដែលអនុញ្ញាតឲ្យ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ថ្មីមួយអាចទទួលបាននូវ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properties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fields/attributes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)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​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ពី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មួយដែលមានស្រាប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0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ដែលលើកកម្ពស់នូវការប្រើប្រាស់ឡើងវិញនៃ</a:t>
            </a:r>
            <a:r>
              <a:rPr lang="en-US" sz="20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code។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 err="1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ឧទាហរណ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៍៖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Staff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int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name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 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User 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extends</a:t>
            </a:r>
            <a:r>
              <a:rPr lang="en-US" sz="1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Staff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private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pwd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en-US" sz="1800" dirty="0">
              <a:solidFill>
                <a:srgbClr val="00206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1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public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String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getPwd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(){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	return </a:t>
            </a:r>
            <a:r>
              <a:rPr lang="en-US" sz="1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pwd</a:t>
            </a: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}</a:t>
            </a:r>
            <a:b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</a:br>
            <a:r>
              <a:rPr lang="en-US" sz="1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}</a:t>
            </a:r>
            <a:endParaRPr lang="en-US" sz="1800" dirty="0">
              <a:solidFill>
                <a:srgbClr val="0070C0"/>
              </a:solidFill>
              <a:latin typeface="Khmer OS Content" panose="02000500000000020004" pitchFamily="2" charset="77"/>
              <a:cs typeface="Khmer OS Content" panose="02000500000000020004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0499192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B674-8E68-D37F-DF99-3260BBCF1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1E786-EF8D-B69A-4DB1-B9A3799468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C8FDC26-6E76-9475-8474-8F8724277999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636299E-718C-5FFE-CCB5-B4ED94272F27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967313A3-1968-B38C-0AF5-923F74456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C5602C43-4A71-5B58-4BE2-5E9DCDBF6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88" y="1260746"/>
            <a:ext cx="10980720" cy="321865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Polymorphism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សំដៅលើការប្រើប្រាស់ច្រើនទម្រង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objects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ផ្សេងៗត្រូវបានចាត់ទុកជា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objects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នៃ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superclass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ទូរទៅមួយ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វាត្រូវបានធ្វើឡើងតាមរយៈ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overloading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method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overriding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273986200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03D1-9DFB-B755-0875-C27BE8DB4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4146-257E-4689-FF37-C8214D63A2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1800" y="119781"/>
            <a:ext cx="9144000" cy="78937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</a:t>
            </a:r>
            <a:endParaRPr lang="en-KH" sz="3600" dirty="0">
              <a:solidFill>
                <a:srgbClr val="002060"/>
              </a:solidFill>
              <a:latin typeface="Khmer OS Battambang" panose="02000500000000020004" pitchFamily="2" charset="77"/>
              <a:cs typeface="Khmer OS Battambang" panose="02000500000000020004" pitchFamily="2" charset="77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73BA2B3-880A-BDC3-CB30-A41CE280A5A1}"/>
              </a:ext>
            </a:extLst>
          </p:cNvPr>
          <p:cNvCxnSpPr/>
          <p:nvPr/>
        </p:nvCxnSpPr>
        <p:spPr>
          <a:xfrm>
            <a:off x="0" y="1050468"/>
            <a:ext cx="12192000" cy="0"/>
          </a:xfrm>
          <a:prstGeom prst="line">
            <a:avLst/>
          </a:prstGeom>
          <a:ln w="57150">
            <a:solidFill>
              <a:srgbClr val="D49B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2079795-1738-778F-B86E-A85C6CD573BC}"/>
              </a:ext>
            </a:extLst>
          </p:cNvPr>
          <p:cNvCxnSpPr>
            <a:cxnSpLocks/>
          </p:cNvCxnSpPr>
          <p:nvPr/>
        </p:nvCxnSpPr>
        <p:spPr>
          <a:xfrm>
            <a:off x="0" y="979812"/>
            <a:ext cx="12192000" cy="0"/>
          </a:xfrm>
          <a:prstGeom prst="line">
            <a:avLst/>
          </a:prstGeom>
          <a:ln w="57150">
            <a:solidFill>
              <a:srgbClr val="1C27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Picture 46" descr="A blue circle with a yellow and white bird in it&#10;&#10;AI-generated content may be incorrect.">
            <a:extLst>
              <a:ext uri="{FF2B5EF4-FFF2-40B4-BE49-F238E27FC236}">
                <a16:creationId xmlns:a16="http://schemas.microsoft.com/office/drawing/2014/main" id="{DC6AE34F-9345-CED4-9B1A-39B731C856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38" y="219712"/>
            <a:ext cx="606500" cy="6065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266C7CEB-A436-1151-B4F0-915EE2D72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88" y="1260746"/>
            <a:ext cx="10702927" cy="3218659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  <a:spcBef>
                <a:spcPts val="1500"/>
              </a:spcBef>
            </a:pP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0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	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Abstraction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គឺជាដំណើរការនៃការមិនបង្ហាញលម្អិតនូវការអនុវត្តខាងក្នុង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និងបង្ហាញតែលក្ខណៈសំខាន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់ៗ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ឫមុខងារនីមួយទៅកាន់អ្នកប្រើប្រាស់តែប៉ុណ្ណោះ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។​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វាត្រូវបានអនុវត្តនៅក្នុង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Java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ដោយប្រើប្រាស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់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abstract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classes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និង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interfaces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ដែលអនុញ្ញាតឲ្យ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developer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ផ្តោតលើតែអ្វីដែល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>
                <a:solidFill>
                  <a:srgbClr val="00206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object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 </a:t>
            </a:r>
            <a:r>
              <a:rPr lang="en-US" sz="2800" dirty="0" err="1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ត្រូវធ្វើតែប៉ុណ្ណោះ</a:t>
            </a:r>
            <a:r>
              <a:rPr lang="en-US" sz="2800" dirty="0">
                <a:solidFill>
                  <a:srgbClr val="0070C0"/>
                </a:solidFill>
                <a:latin typeface="Khmer OS Content" panose="02000500000000020004" pitchFamily="2" charset="77"/>
                <a:cs typeface="Khmer OS Content" panose="02000500000000020004" pitchFamily="2" charset="77"/>
              </a:rPr>
              <a:t>។</a:t>
            </a:r>
          </a:p>
        </p:txBody>
      </p:sp>
    </p:spTree>
    <p:extLst>
      <p:ext uri="{BB962C8B-B14F-4D97-AF65-F5344CB8AC3E}">
        <p14:creationId xmlns:p14="http://schemas.microsoft.com/office/powerpoint/2010/main" val="999891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3116</TotalTime>
  <Words>8324</Words>
  <Application>Microsoft Macintosh PowerPoint</Application>
  <PresentationFormat>Widescreen</PresentationFormat>
  <Paragraphs>650</Paragraphs>
  <Slides>78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6" baseType="lpstr">
      <vt:lpstr>Aptos</vt:lpstr>
      <vt:lpstr>Aptos Display</vt:lpstr>
      <vt:lpstr>Arial</vt:lpstr>
      <vt:lpstr>Kh Battambang</vt:lpstr>
      <vt:lpstr>Khmer OS Battambang</vt:lpstr>
      <vt:lpstr>Khmer OS Content</vt:lpstr>
      <vt:lpstr>Wingdings</vt:lpstr>
      <vt:lpstr>Office Theme</vt:lpstr>
      <vt:lpstr>   សម្រាប់អ្នកចាប់ផ្តើមដំបូង   </vt:lpstr>
      <vt:lpstr>មាតិកា</vt:lpstr>
      <vt:lpstr>អ្វីទៅជា Java?</vt:lpstr>
      <vt:lpstr>ប្រវត្តិនៃ Java</vt:lpstr>
      <vt:lpstr>Java Virtual Machine (JVM)</vt:lpstr>
      <vt:lpstr>Java Development Kit(JDK)</vt:lpstr>
      <vt:lpstr>Java Compiler</vt:lpstr>
      <vt:lpstr>ឧបករណ៍សម្រាប់សរសេរភាសា Java(IDE)</vt:lpstr>
      <vt:lpstr>ប្រយោគនៃភាសា Java (Java statements)</vt:lpstr>
      <vt:lpstr>ប្រភេទទិន្នន័យ (Data Type)</vt:lpstr>
      <vt:lpstr>ប្រភេទទិន្នន័យ (Data Type) (ត)</vt:lpstr>
      <vt:lpstr>ប្រភេទទិន្នន័យ (Data Type) (ត)</vt:lpstr>
      <vt:lpstr>Variable</vt:lpstr>
      <vt:lpstr>Operator</vt:lpstr>
      <vt:lpstr>Arithmetic Operators</vt:lpstr>
      <vt:lpstr>Assignment Operators</vt:lpstr>
      <vt:lpstr>Relational Operators</vt:lpstr>
      <vt:lpstr>Logical Operators</vt:lpstr>
      <vt:lpstr>Unary Operators</vt:lpstr>
      <vt:lpstr>Ternary Operator</vt:lpstr>
      <vt:lpstr>instanceof Operator</vt:lpstr>
      <vt:lpstr>Control Flow</vt:lpstr>
      <vt:lpstr>ប្រយោគបង្កើតការសម្រចចិត្ត</vt:lpstr>
      <vt:lpstr>ប្រយោគបង្កើតការសម្រចចិត្ត (ត)</vt:lpstr>
      <vt:lpstr>ប្រយោគបង្កើតការសម្រចចិត្ត (ត)</vt:lpstr>
      <vt:lpstr>ប្រយោគបង្កើតការសម្រចចិត្ត (ត)</vt:lpstr>
      <vt:lpstr>ប្រយោគរង្វិលជុំ(Loop Statements)</vt:lpstr>
      <vt:lpstr>for loop</vt:lpstr>
      <vt:lpstr>for loop(ត)</vt:lpstr>
      <vt:lpstr>for-each loop</vt:lpstr>
      <vt:lpstr>while loop</vt:lpstr>
      <vt:lpstr>do-while loop</vt:lpstr>
      <vt:lpstr>ប្រយោគផ្លោះ(Jump Statement)</vt:lpstr>
      <vt:lpstr>Exception Handling</vt:lpstr>
      <vt:lpstr>static</vt:lpstr>
      <vt:lpstr>Instance</vt:lpstr>
      <vt:lpstr>Methods និងParameters</vt:lpstr>
      <vt:lpstr>Methods និងParameters</vt:lpstr>
      <vt:lpstr>Methods និងParameters</vt:lpstr>
      <vt:lpstr>Methods និងParameters</vt:lpstr>
      <vt:lpstr>Arrays</vt:lpstr>
      <vt:lpstr>Arrays (ត)</vt:lpstr>
      <vt:lpstr>Arrays (ត)</vt:lpstr>
      <vt:lpstr>Arrays (ត)</vt:lpstr>
      <vt:lpstr>Arrays (ត)</vt:lpstr>
      <vt:lpstr>Arrays (ត)</vt:lpstr>
      <vt:lpstr>Collections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Collections(ត)</vt:lpstr>
      <vt:lpstr>Object-Oriented Programming (OOP)</vt:lpstr>
      <vt:lpstr>គោលគំនិតស្នូលនៃ OOP</vt:lpstr>
      <vt:lpstr>Class</vt:lpstr>
      <vt:lpstr>Object</vt:lpstr>
      <vt:lpstr>Constructors</vt:lpstr>
      <vt:lpstr>Interfaces</vt:lpstr>
      <vt:lpstr>Access Modifiers</vt:lpstr>
      <vt:lpstr>គន្លឹះនៃការករសាងរបស់ OOP(key building)</vt:lpstr>
      <vt:lpstr>Encapsulation</vt:lpstr>
      <vt:lpstr>Encapsulation(ត)</vt:lpstr>
      <vt:lpstr>Inheritance</vt:lpstr>
      <vt:lpstr>Polymorphism</vt:lpstr>
      <vt:lpstr>Abstraction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Ngoun Chheng Hy</dc:creator>
  <cp:lastModifiedBy>Ngoun Chheng Hy</cp:lastModifiedBy>
  <cp:revision>1182</cp:revision>
  <cp:lastPrinted>2026-01-11T04:09:46Z</cp:lastPrinted>
  <dcterms:created xsi:type="dcterms:W3CDTF">2026-01-06T12:55:20Z</dcterms:created>
  <dcterms:modified xsi:type="dcterms:W3CDTF">2026-02-20T06:35:34Z</dcterms:modified>
</cp:coreProperties>
</file>