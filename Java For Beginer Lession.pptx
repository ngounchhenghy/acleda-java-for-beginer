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7" r:id="rId2"/>
    <p:sldId id="285" r:id="rId3"/>
    <p:sldId id="256" r:id="rId4"/>
    <p:sldId id="259" r:id="rId5"/>
    <p:sldId id="258" r:id="rId6"/>
    <p:sldId id="260" r:id="rId7"/>
    <p:sldId id="278" r:id="rId8"/>
    <p:sldId id="261" r:id="rId9"/>
    <p:sldId id="262" r:id="rId10"/>
    <p:sldId id="277" r:id="rId11"/>
    <p:sldId id="263" r:id="rId12"/>
    <p:sldId id="264" r:id="rId13"/>
    <p:sldId id="265" r:id="rId14"/>
    <p:sldId id="266" r:id="rId15"/>
    <p:sldId id="27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6" r:id="rId24"/>
    <p:sldId id="274" r:id="rId25"/>
    <p:sldId id="275" r:id="rId26"/>
    <p:sldId id="280" r:id="rId27"/>
    <p:sldId id="281" r:id="rId28"/>
    <p:sldId id="282" r:id="rId29"/>
    <p:sldId id="283" r:id="rId30"/>
  </p:sldIdLst>
  <p:sldSz cx="12192000" cy="6858000"/>
  <p:notesSz cx="6858000" cy="9144000"/>
  <p:defaultTextStyle>
    <a:defPPr>
      <a:defRPr lang="en-K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9B06"/>
    <a:srgbClr val="1C27CF"/>
    <a:srgbClr val="FBB902"/>
    <a:srgbClr val="FF9300"/>
    <a:srgbClr val="F7D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822"/>
    <p:restoredTop sz="94719"/>
  </p:normalViewPr>
  <p:slideViewPr>
    <p:cSldViewPr snapToGrid="0">
      <p:cViewPr varScale="1">
        <p:scale>
          <a:sx n="111" d="100"/>
          <a:sy n="111" d="100"/>
        </p:scale>
        <p:origin x="216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B2FDEF-09AE-D841-82B5-B8C57D3BE67B}" type="datetimeFigureOut">
              <a:rPr lang="en-KH" smtClean="0"/>
              <a:t>13/1/26</a:t>
            </a:fld>
            <a:endParaRPr lang="en-K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DABFE7-2B72-E34A-B8CF-9CC2D7D3F47E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891560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14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50688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92B20-97B0-BFE8-33A8-6ED6EF0D96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B3A344-7B9B-A86D-C38C-B6663E9ECF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5DA2D-97F9-996E-1A7F-053671A6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6F87E-8ED6-2EC1-128A-C0C4AD76E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212E0-D388-FE97-F524-B75760D44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88058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45033-11D5-AACD-36DD-6A5A404DB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0BD3A-8858-736F-BB1B-431733E45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0283A-9327-9628-574C-612C2DA9A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8B789-84FF-3F91-EF3A-357C7F578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225E5-510D-6A0A-7044-806F89652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13823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4BF2D-27B8-22F6-E2D1-49CD6A4F3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2890CE-1BF6-21FA-1C62-24D67E65B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EF9CE-E4DB-CFAF-6B77-B78A603EE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C8D6A-23C8-7A30-CCB1-09BD88E99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426B7D-E582-17D8-3321-401FC4D5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5737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2CF3F-78E9-AA6D-4948-732FA9E31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F34FD-6E08-D45D-177D-8E7E72DDF0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4195D7-018E-6BB1-598D-AF306C2559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468ED-74DE-9272-347C-B9F780A2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75A200-39CD-EF7E-0187-F37CCE9B2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0B3CE2-5082-8512-ED0D-FC78EBB3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850264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DDB90-FFDD-52A8-6C54-BFFF5C1F4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170F8-EC63-79CB-4B50-05C84AEF8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ED119D-A17D-777C-2944-2E0C0462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0A5507-9F48-BD1B-4FB6-1285A1EA7E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47E10D-9A3C-D69B-E36D-3ED811FED9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E4C588-3075-74BC-0FF9-EC3F1035D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570D63-AE1F-50C1-5089-2BBD015D3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E86FB9-3142-04A9-8F46-EEE231EA6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345522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8A0DA-EF88-A891-9F84-F8396C11C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A44A92-6CB6-5FC8-C40A-8216978D9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FCEEBE-3A6F-6309-B07F-8BC14F749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27192F-FB9E-FC80-8ACE-F2D87442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32088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A8E491-E1F8-8751-8252-11FCE4A69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82E04-D7B8-01A9-0FFD-03FF9F8E8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2186F-9254-9D89-55D8-75C414CE8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683840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941F4-FC4D-AD9F-340A-60400B38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635C5-0D68-7984-C398-8FF9D26B2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A0C6B4-2BFE-AACD-3C8F-791644B46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30EEE-36C9-C890-AA6E-C7D41AFFB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04BD5-1B0C-A6A1-CB1E-7F3088E1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2806C-198E-9B48-60B9-8D100B708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65079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D7767-5206-B51A-F11B-94BAE866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4E6E24-1F13-33C8-CA09-CF8C3D8FEC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867FE-C012-5FD3-F77C-DE609CB6CD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F4DA8-DA37-E3B9-C1F8-DA37D22C3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E1ADDC-871E-7F98-022B-FE66B287B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3DF440-5BE5-49FE-16CA-3E163353A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26735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ECCA5-B5B9-71EF-30B5-652D0A9E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1F8E4-CB5E-2DAD-CDA3-7C753D9609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1DCF3F-7F37-C3FE-F2FC-DF200465A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7EB44-3DA1-1DB8-DDBD-991061BD9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8CE1A-B5C5-A4C6-303E-54C9263D1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173842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5D7DAB-DDDE-8643-83A3-8B177C3A9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56E13D-129B-2C77-FD05-B1BB45BD7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D8C85-9541-9EBD-54A6-26A31FEE5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6762D-DE41-3B0D-37A5-7B3A040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3DBA5-5CC0-FE80-8C83-4E8C6E28F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37684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B53CF3-A869-244F-3FF5-4BEF22385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FC56A3-3D0F-1C46-F625-43A6AAF8DE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311A31-2AC6-AC57-EDC2-D54C8048BB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C582D2-80F7-CCB1-8D23-DDCA04E8C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E82A1-1183-9FA9-82EB-0FC03B035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07333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oracle.com/java/technologies/downloads/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netbeans.apache.org/front/main/download" TargetMode="External"/><Relationship Id="rId2" Type="http://schemas.openxmlformats.org/officeDocument/2006/relationships/hyperlink" Target="https://spring.io/tools#eclipse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www.jetbrains.com/idea/download" TargetMode="External"/><Relationship Id="rId4" Type="http://schemas.openxmlformats.org/officeDocument/2006/relationships/hyperlink" Target="https://code.visualstudio.com/download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ava programming language - ProgKids">
            <a:extLst>
              <a:ext uri="{FF2B5EF4-FFF2-40B4-BE49-F238E27FC236}">
                <a16:creationId xmlns:a16="http://schemas.microsoft.com/office/drawing/2014/main" id="{E15B2BE2-42B3-05E4-B46E-AF9EC81B4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356" y="86504"/>
            <a:ext cx="6853818" cy="4283637"/>
          </a:xfrm>
          <a:prstGeom prst="rect">
            <a:avLst/>
          </a:prstGeom>
          <a:noFill/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E77245-BB7E-31F8-2C0A-701588E62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6700" y="3530601"/>
            <a:ext cx="7073900" cy="1854200"/>
          </a:xfr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>
            <a:noAutofit/>
          </a:bodyPr>
          <a:lstStyle/>
          <a:p>
            <a:pPr algn="ctr"/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54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សម្រាប់អ្នកចាប់ផ្តើមដំបូង</a:t>
            </a: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6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EBDD3B2-F42D-358F-CBF2-3B58D1169800}"/>
              </a:ext>
            </a:extLst>
          </p:cNvPr>
          <p:cNvSpPr txBox="1">
            <a:spLocks/>
          </p:cNvSpPr>
          <p:nvPr/>
        </p:nvSpPr>
        <p:spPr>
          <a:xfrm>
            <a:off x="539750" y="5858956"/>
            <a:ext cx="4895850" cy="761999"/>
          </a:xfrm>
          <a:prstGeom prst="rect">
            <a:avLst/>
          </a:prstGeo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KH" sz="28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បង្រៀនដោយ៖ លោក ងួន ឆេងហ៊ី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12437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4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 tmFilter="0,0; .5, 1; 1, 1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មាតិកា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7"/>
            <a:ext cx="10472662" cy="5125659"/>
          </a:xfrm>
        </p:spPr>
        <p:txBody>
          <a:bodyPr numCol="2">
            <a:normAutofit fontScale="70000" lnSpcReduction="20000"/>
          </a:bodyPr>
          <a:lstStyle/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លក្ខណៈទូរទៅ និងការដំឡើង JDK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ប្រតិបត្តិករ (Operators)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 និងParameter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និងមូលដ្ឋាននៃការប្រមូល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OOP Concepts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class និង object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Inheritance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Polymorphism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Abstraction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ការកាន់កាប់ Exception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មូលដ្ឋាននៃ I/O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ការណែនាំអំពី Java Package 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ការអនុវត្តន៍ Java Project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45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អ្វីទៅជា Java?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925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គឺជាភាសាសរសេរកម្មវីធីដ៍ពេញនិយម និងតម្រង់ទិសវត្ថុ(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Object-Oriented Programing)​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ដែលត្រូវបានបង្កើតឡើងដោយក្រុមហ៊ុន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Sun Microsystems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ដែលបច្ចុប្បន្នត្រូវបានគ្រប់គ្រងដោយក្រុមហ៊ុន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Oracle។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កម្មវីធីដែលសរសេរដោយភាសា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អាចដំណើរការលើគ្រប់ឧបករណ៍ណាដែលមាន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Virtual Machine (JVM)។</a:t>
            </a: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41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E2073-4B55-5AB1-4A05-4BFA987B5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053E6-4CA8-AD7E-AC0C-3B2CE38F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ប្រវត្តិនៃ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B93D69-B108-5836-CD61-38CCB64F06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195957"/>
            <a:ext cx="10472662" cy="5320581"/>
          </a:xfrm>
        </p:spPr>
        <p:txBody>
          <a:bodyPr>
            <a:normAutofit fontScale="3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KH" sz="4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ត្រូវាបានអភិវឌ្ឍជាភាសាថ្មីមួយ(ផ្អែកលើ C++) ចាប់ពីឆ្នាំ 1991 ដល់ 1994 ​ដោយលោក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James Gosling​,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Mike Sheridan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Patrick Naughton និងដាក់ឲ្យប្រើប្រាស់ជាផ្លូវការនៅឆ្នាំ1995។</a:t>
            </a:r>
            <a:b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Sun Microsystems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បានដាក់ឲ្យប្រើប្រាស់ជាផ្លូវការនូវ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Java 1.0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ក្នុងឆ្នាំ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1996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Web Applets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ដែលធ្វើឲ្យ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កាន់តែមានភាពពេញនិយមសម្រាប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Dynamic Web Content។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ក្រោយមកទៀត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2(J2SE 1.2)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J2EE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សម្រាប់សហគ្រាស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J2ME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Mobile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ត្រូវបានដាក់ឲ្យប្រើប្រាស់ជាផ្លូវការនៅឆ្នាំ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1998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1999។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បន្ទាប់មក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Core JVM ត្រូវបាន Sun ដាក់ឲ្យប្រើប្រាស់ជា          open-source នៅឆ្នាំ 2006។ </a:t>
            </a:r>
            <a:b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Oracle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ទទួលបាន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Sun Microsystems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នៅឆ្នាំ 2010 និងធ្វើការអភិវឌ្ឍបន្តរហូតមកដល់សព្វថ្ងៃ។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7214E84-2D5A-6F5E-323D-C9F0C90D311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001CFDD-0ABE-8639-99B6-F95E039B4B8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9A56B10-D991-86D0-48A8-19105FF77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3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970FC-2686-5948-92DD-9BA217F12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F2CCB-F663-B3FD-0118-5471DF03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Virtual Machine (JVM)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6DD334-F88C-C46A-BF62-4993741289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Virtual Machine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គឺជាម៉ាស៊ីននិម្មិតដែលបើកប្រតិបត្តិការនៃ Java bytecode។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301863-0496-1ED0-C49B-37DA6F1C8D2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143A4-7B3D-B78B-F996-3E97CC2772A6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3E03E46-4FD8-44E6-FAE1-79578F9BC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3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92DCB6-D9F1-4FAD-25FF-81DB7D76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F03AD-6B62-D56F-E81C-5ED3F8880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Development Kit(JDK)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0E7FA-EF96-D6C7-2EE7-AFF92DB6F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Development Kit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គឺកញ្ចប់អភិវឌ្ឍន៍ Software     សម្រាប់ធ្វើការអភិវឌ្ឍកម្មវិធីនៃ Java Platform។</a:t>
            </a: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https://www.oracle.com/java/technologies/downloads/</a:t>
            </a:r>
            <a:endParaRPr lang="en-KH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0096CF-C180-9609-12F9-A147ABC5056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D06D9-01C3-1C77-8DB7-D6FB9E0554B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E409CEC-9E14-AAFE-A778-FA0540CDD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10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470267-BC5D-F5B7-8088-7B3998625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3D7BC-0AF3-BD90-363A-D39CCEE06E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F406E4-2A28-3FC0-3194-2CAC9D517A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200666"/>
            <a:ext cx="10472662" cy="2332945"/>
          </a:xfrm>
        </p:spPr>
        <p:txBody>
          <a:bodyPr>
            <a:normAutofit fontScale="92500" lnSpcReduction="200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Compiler(</a:t>
            </a:r>
            <a:r>
              <a:rPr lang="en-US" sz="32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ជាឧបករណ៍ដែលមាននៅក្នុង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JDK។វាមានមុខងារក្នុងការបម្លែង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code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ដែលមនុស្សអានបាន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(.java)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ទៅជា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bytecode (.class)។</a:t>
            </a:r>
            <a:endParaRPr lang="en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D678946-27DF-BB33-F5AA-19516701ED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1D83C8-8AEE-468B-F0DE-8C946E49CEF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C44DE54-83E8-2B95-E1A5-8AED2C142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4778E8FC-43F6-52F0-BF36-7C68C1CC498B}"/>
              </a:ext>
            </a:extLst>
          </p:cNvPr>
          <p:cNvSpPr txBox="1">
            <a:spLocks/>
          </p:cNvSpPr>
          <p:nvPr/>
        </p:nvSpPr>
        <p:spPr>
          <a:xfrm>
            <a:off x="1701799" y="3482335"/>
            <a:ext cx="9630531" cy="5782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Main.java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710ACA-43C3-52A0-4043-0E5371753F24}"/>
              </a:ext>
            </a:extLst>
          </p:cNvPr>
          <p:cNvSpPr txBox="1">
            <a:spLocks/>
          </p:cNvSpPr>
          <p:nvPr/>
        </p:nvSpPr>
        <p:spPr>
          <a:xfrm>
            <a:off x="931938" y="4393385"/>
            <a:ext cx="10472662" cy="1496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KH" dirty="0"/>
              <a:t>👉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run java bytecode(.class)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យើងត្រូវប្រើពាក្យបញ្ជា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“java”។</a:t>
            </a:r>
            <a:b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 </a:t>
            </a: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42496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BE615-A731-8777-9FCE-37E39787E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1A286-29D9-32B1-0B71-BDF86776A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ឧបករណ៍សម្រាប់សរសេរភាសា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Java(IDE)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B3F26-ED51-A7CE-7F26-9BA6464972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85000" lnSpcReduction="20000"/>
          </a:bodyPr>
          <a:lstStyle/>
          <a:p>
            <a:pPr algn="l"/>
            <a:endParaRPr lang="en-KH" dirty="0"/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Command line: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បង្កើត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.java file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ដោយប្រើ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OS command =&gt;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Filename.java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=&gt; java Filename។</a:t>
            </a: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Eclipse: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https://spring.io/tools - eclipse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NetBeans: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3"/>
              </a:rPr>
              <a:t>https://netbeans.apache.org/front/main/download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Visual Studio Code (VS Code):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4"/>
              </a:rPr>
              <a:t>https://code.visualstudio.com/download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IntelliJ IDEA: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5"/>
              </a:rPr>
              <a:t>https://www.jetbrains.com/idea/download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…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600895-8F39-287A-A8DF-9382D51F114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020AEF-BA18-9478-D0FA-55E7EA5525A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6ADD998-39A3-093E-7875-65D68201EE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76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DC70C4-0758-C1ED-AD3E-E9B3CA398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375A3-49E6-5330-B5B5-6163C17AAC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ប្រយោគនៃភាសា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(Java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B9FD26-3259-C683-4DBE-BDA87FAE5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18803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 (Statement) នៃភាសា Java សំដៅដល់ប្រយោគដែលសរសេរដើម្បីប្រាប់ទៅ Compiler ក្នុងការអនុវត្តនូវអ្វីមួយ ហើយប្រយោគនីមួយៗត្រូវបានខណ្ឌដោយសញ្ញា​ ”;” ។</a:t>
            </a:r>
          </a:p>
          <a:p>
            <a:pPr algn="l">
              <a:lnSpc>
                <a:spcPct val="150000"/>
              </a:lnSpc>
            </a:pP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System.out.println(“Welcome to Java Learning”);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ABD5D0-20BB-FC05-51D4-05DFD4160E8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B4109B1-51A3-89A6-0EBC-F5BC97AFE0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1CBA71E-B120-6EEF-D945-B20BBC50F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866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2D1F00-4E6D-ED97-029E-FA893F515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2A7D4-2322-3630-5E70-631739880E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3DB125-D4AE-9D32-6851-1697C760EA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65233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ប្រភេទទិន្នន័យបឋម(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AEE3454-DEED-59E6-772F-7ECFC3DF378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664515-6477-3CE8-871A-4A6592D6A76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C1B088F-3A97-86E8-DBD8-C38A46A3FD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99D84DA-C95B-FB22-D93C-574A9C14C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060528"/>
              </p:ext>
            </p:extLst>
          </p:nvPr>
        </p:nvGraphicFramePr>
        <p:xfrm>
          <a:off x="624192" y="1730100"/>
          <a:ext cx="10954537" cy="48231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55451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28423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134738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24490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  <a:gridCol w="3977090">
                  <a:extLst>
                    <a:ext uri="{9D8B030D-6E8A-4147-A177-3AD203B41FA5}">
                      <a16:colId xmlns:a16="http://schemas.microsoft.com/office/drawing/2014/main" val="3370400522"/>
                    </a:ext>
                  </a:extLst>
                </a:gridCol>
              </a:tblGrid>
              <a:tr h="4340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ដែនកំណត់នៃតម្លៃ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byte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8-bit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 byte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-128 ដល់ 127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short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16-bit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-32,768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32,767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-2,147,483,648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2,147,483,647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long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64-bit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-9,223,372,036,854,775,808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9,223,372,036,854,775,807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float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6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7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0.0f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double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15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16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91380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 err="1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boolean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ឡូជីខល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~1 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true 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ឫ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 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0418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char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តួអក្សរ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​Unicode​16-bit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 (0) ដល់ \uffff (65,535)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50607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9134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7D0DB0-653A-910E-BE01-F7FC6BB8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4523A-087C-1965-07C8-A952DC28D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254FD7-03BD-95F6-D76F-E3D044573F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42C9F3-7DD8-9D27-A1C8-2D0C2A20F37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915AFF-DFBC-C611-D4D7-A7156B77606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2C05A5-6797-4B99-57B9-C2CA77291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8BA7A4-7565-5AE3-4D68-EAB4788049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081018"/>
              </p:ext>
            </p:extLst>
          </p:nvPr>
        </p:nvGraphicFramePr>
        <p:xfrm>
          <a:off x="624192" y="2123382"/>
          <a:ext cx="10557928" cy="37874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56262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00907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909003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69175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327736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Classes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គឺជាការកំណត់របស់អ្នកប្រើប្រាស់ ពី object ដែលត្រូវបានបង្កើត ដោយពួកគេធ្វើការ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encapsulate data (fields)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behavior (methods)។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ផ្ទុកតម្លៃជាក់ស្តែងដោយផ្ទាល់ក្នុង memory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944981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Strings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ជាប្រភេទដែលបានកំណត់ជាមុននៅក្នុង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Java។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វាគឺជា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object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នៃ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class String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ដែលតំណាងឱ្យលំដាប់នៃតួអក្សរ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133805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7308684"/>
                  </a:ext>
                </a:extLst>
              </a:tr>
              <a:tr h="923816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6928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B2A585-4685-99A1-BF62-DCEA433DF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5ECB1-8548-4BC9-FA3F-200A902B2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E06D49-8DFA-0277-09AA-064AC8C84E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)(ត):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01AF43-AC4B-A90A-9209-36C24C7A41A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B681B-FD27-D455-40F1-4337AFE73D3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B88E863-0DD6-F706-1467-95D547E65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66CFB58-18CC-9C8C-2D79-B2B6261E6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265468"/>
              </p:ext>
            </p:extLst>
          </p:nvPr>
        </p:nvGraphicFramePr>
        <p:xfrm>
          <a:off x="624192" y="2090331"/>
          <a:ext cx="10789283" cy="18488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14468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951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770406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909257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cs typeface="Khmer OS Content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លំនាំដើម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54970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Interfaces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ជា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ប្រភេទអរូបីដែលកំណត់កិច្ចសន្យានៃវិធីសាស្រ្តដែលថ្នាក់ត្រូវអនុវត្ត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endParaRPr lang="en-KH" sz="2000" dirty="0">
                        <a:latin typeface="Khmer OS Content" panose="02000500000000020004" pitchFamily="2" charset="77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3679604"/>
                  </a:ext>
                </a:extLst>
              </a:tr>
              <a:tr h="35535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Interfaces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endParaRPr lang="en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207546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Enums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548077"/>
                  </a:ext>
                </a:extLst>
              </a:tr>
              <a:tr h="33193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Enums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1287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05DA8-021B-CDEE-1DA3-6333145A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4613E-EAA9-BE10-0DAE-850A6B9468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5DB14E-0CC1-544D-90F8-9962D93461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836403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Variable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គឺជាឈ្មោះអថេរមួយសម្រាប់រក្សាទុកតម្លៃរបស់ទិន្នន័យកំឡុងពេលដំណើរការកម្មវិធី។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ការប្រកាស​ Variable 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	ឧទាហរណ៍​៖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amount;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ការបញ្ចូលតម្លៃទៅឲ្យ Variable៖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ឧទាហរណ៍៖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Variable និង​កំណត់តម្លៃដំបូង(Initialization)៖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    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 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50000"/>
              </a:lnSpc>
            </a:pPr>
            <a:r>
              <a:rPr lang="en-KH" dirty="0"/>
              <a:t>✍️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ចំណាំ៖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Vairable ច្រើនដែលមានប្រភេទទិន្នន័យដូចគ្នា អាចដាក់បន្តបន្ទាប់គ្នាដោយប្រើប្រភេទទិន្នន័យតែមួយ ដោយមានសញ្ញា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នៅចន្លោះកណ្តាល។ ឧទាហរណ៍៖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D30AB15-09DD-66A0-2489-BF7C7FBDDF0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C37A7C-F4E2-179B-F923-AC9DA76C1D5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8826D76-722A-8F7A-494F-581F55742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585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7DD55-2040-90F1-B111-BBB17E542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26EFC-C41F-7D36-29D5-DB1F67F5D2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5243BE-5AE1-3116-A871-8C7DA04EB7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	Operator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គឺជាសញ្ញាពិសេសដែលប្រាប់ compiler  ដើម្បីអនុវត្តនូវភាពជាក់លាក់ក្នុងការគណនាគណិតវិទ្យា ទំនាក់ទំនង ឫប្រតិបត្តិការតក្កវិទ្យា ចំពោះតម្លៃ ឫ Variable។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</a:t>
            </a:r>
            <a:r>
              <a:rPr lang="en-KH" sz="2800" dirty="0"/>
              <a:t> 👉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 មានដូចជា៖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Arithmetic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Assignment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Relational (Comparison)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Logical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Unary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(Conditional) Operator</a:t>
            </a:r>
            <a:b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EF10A7-DC44-D475-5E65-1BCB2C7A41B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59F8A-84CC-D8C7-B0FF-7A7276FDBBD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1B44003-47F7-E62E-C082-70FE2BD8F1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900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98FFB8-76A0-FD2E-37C3-7E80E3BB4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B3D2-153C-C607-6AA5-4AED67C50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782AFA-A663-692F-FA12-403D7CB0B2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 ប្រើប្រាស់សម្រាប់អនុវត្តប្រតិបត្តិការ គណិតវិទ្យាធម្មតាដូចជា បូក(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ដក(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គុណ(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ចែក(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)​ និងចែករកសំណល់(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amount2=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/>
              <a:t>	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US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resultAdd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US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resultSubtraction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resultMultiplication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resultDivision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resultModulus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7A8C777-7494-5788-8C5D-4D4BAD6C765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BF5ECF-3B50-A128-6BAE-ADF21B214E3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0461559-F173-1E9F-2C7B-65D4E4F51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963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561C95-8981-940C-146E-E05773C0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68098-E636-12DC-15A5-16C997F1BD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Assignment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DE7CA9-4F08-E131-8F73-5766F23F5F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40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Operators ប្រើប្រាស់សម្រាប់ចាត់តាំតម្លៃទៅកាន់Variable រួមទាំងការចាត់តាំងសមាសធាតុដែលផ្គួបផ្សំប្រតិបត្តិការជាមួយការចាត់តាំងមួយ។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sz="5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Operators​ </a:t>
            </a:r>
            <a:r>
              <a:rPr lang="en-US" sz="5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ការចាត់តាំងតម្លៃធម្មតា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</a:p>
          <a:p>
            <a:pPr lvl="1" algn="l">
              <a:lnSpc>
                <a:spcPct val="150000"/>
              </a:lnSpc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ឧទាហរណ៍៖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amount1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200;</a:t>
            </a:r>
            <a:endParaRPr lang="en-US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ការចាត់តាំងតម្លៃសមាសធាតុ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…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b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amount=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4200" b="1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3;</a:t>
            </a:r>
            <a:endParaRPr lang="en-KH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D6C1350-F877-571D-C5AE-49818C3DD17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7A785B-E998-B9D7-7AF8-DCEAA860D79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38B1998-E022-F2CA-BA63-0DD3C6359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840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C63D7B-6701-CE63-F9B3-0E0B3BC63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A0FD1-4D01-EA10-9B8E-EAFC327CB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0BF7FB-543C-1A6B-CF21-49151AC53D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Relational (Comparison)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ប្រើប្រាស់សម្រាប់ប្រៀបធៀបតម្លៃពីរនិងផ្តល់លទ្ធផលជា boolean(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9;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3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3;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93152C-7129-32C6-FCEB-E2852A2F367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838701-69F8-F32A-305D-F33281DDA02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A2ADB71-0106-C980-6FB5-C2DF524D1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03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6F4F00-8471-11A5-275A-24CC25631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1013D-B9F5-9757-C9E1-01AE898DDB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3CB0B4-9C30-4C8A-92F2-B949865EA4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Logical Operators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ប្រើប្រាស់សម្រាប់ផ្សំកន្សោម boolean ទៅកាន់លក្ខណដែលមានទំរង់ស្មុកស្មាញ។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 == 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2==2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9 </a:t>
            </a:r>
            <a:r>
              <a:rPr lang="en-US" sz="28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5 &lt; 6;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!(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 &lt; 2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A6477C-FD8E-E2D9-D54A-3E2D2AE36BC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4282677-83E0-B9BC-7370-A5B9704C8A8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92DC21F0-C8F8-CA00-E62D-82750A501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026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26059-6FDD-61AA-0E80-A1DC99155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55A9C-6CAF-FA6A-BB9B-296FACA6D9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3AEB4B-C127-FBF0-DC87-89AFAD293D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9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Unary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ប្រើប្រាស់សម្រាប់ធ្វើការជាមួយប្រតិបត្តិករតែមួយដើម្បីបង្កើន បន្ថែម ឫបដិសេធ ស្តានភាពតម្លៃ។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បង្កើន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បន្ថយ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តក្កវិទ្យាបំពេញបន្តែម(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)។ល។</a:t>
            </a:r>
          </a:p>
          <a:p>
            <a:pPr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lvl="1" algn="l">
              <a:lnSpc>
                <a:spcPct val="150000"/>
              </a:lnSpc>
            </a:pP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a = 1;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false;</a:t>
            </a:r>
          </a:p>
          <a:p>
            <a:pPr lvl="1"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 isCorrect =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isIncorrect;</a:t>
            </a:r>
          </a:p>
          <a:p>
            <a:pPr lvl="1"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05C94F6-E5D6-3AD6-F7F7-931FC0C0EA3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BCE5EB0-1680-C545-AA2F-95EFB80D8B7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A2510FF-1669-CBFC-DC74-DE64F6192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338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E724B9-C62D-B7EC-D411-9B865866D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34A87-B323-C03F-D0EB-3E59F30C3F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E706DA-5B28-31B8-A5B5-C5187DDBA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98458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Ternary (Conditional) Operator 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សរសេកាត់នៅក្នុងប្រយោគតែមួយសម្រាប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if-else statement ដោយវាយតម្លៃលើលក្ខណនិងកំណត់តម្លៃដែលផ្តល់ត្រឡប់មកវិញដោយផ្អែកលើលទ្ធផល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លក្ខណ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?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ឧទាហរណ៍៖ </a:t>
            </a:r>
          </a:p>
          <a:p>
            <a:pPr lvl="1" algn="l"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nt a = 1, b = 2;</a:t>
            </a:r>
          </a:p>
          <a:p>
            <a:pPr lvl="1" algn="l">
              <a:lnSpc>
                <a:spcPct val="150000"/>
              </a:lnSpc>
            </a:pP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 amount =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 &lt; b ?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 ;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886F14-88C5-E50F-9699-1CD52578237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0D7CC2-CC97-3383-3C93-9FF34B6ABC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194BB0A-A3D5-612D-EFAB-F830C1372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040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7DF9B2-578B-86BE-AC30-8562F0F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E6D06-CC66-B24C-9B7C-C600010B5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65973B-B0E8-B941-5DA9-5479ACD2F8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 Operator 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 សម្រាប់ធ្វើការត្រួតពិនិត្យប្រភេទទិន្នន័យដើម្បីសាកល្បងថាតើវត្ថុមួយគឺជា instance នៃ class ឫ 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ជាក់លាក់មួយឬទេ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sz="8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វត្ថុយោង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(object)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(Data type);</a:t>
            </a:r>
            <a:endParaRPr lang="en-KH" sz="80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KH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ឧទាហរណ៍៖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Lexus extends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Car mycar = new Lexus();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if (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mycar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72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Lexus</a:t>
            </a: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{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 else {</a:t>
            </a:r>
            <a:b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lvl="1" algn="l">
              <a:lnSpc>
                <a:spcPct val="150000"/>
              </a:lnSpc>
            </a:pPr>
            <a:endParaRPr lang="en-KH" sz="2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89E53A-3256-A5A7-AD3F-FB773D47B31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21BD3A-38D5-7266-AEA2-E6496E9E3F0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2FF01774-D685-00F4-0DB1-013C437FA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6165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C72877-4C83-F5A8-4403-ED24EE980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BFC23-F35E-C99C-358D-1414DA5B6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C89C24-7C34-93FE-8F97-6B4446EAFA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សំដៅលើលំដាប់លំដោយនៃប្រយោគនីមួយនៃ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ត្រូវបានដំណើរការនៅក្នុងកម្មវិធី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ប្រយោគបង្កើតការសម្រចចិត្ត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(Decision-Making Statements)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(Loop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ប្រយោគលោត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(Jums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ការដោះស្រាយករណីលើកលែង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(Exception Handling)</a:t>
            </a:r>
            <a:endParaRPr lang="km-KH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AFB8AC-A03C-54D9-6899-0B92EE99BB4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FB60B7-6572-7DBB-7A44-B70309CDAB0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03F132C-18C2-87DD-934B-6F84BA6CC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86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5743BD-B0A3-0CF4-7FBC-E8FE415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4D27-D040-C41B-D7DB-83008F1056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8B202E-1588-5961-61F4-AA9F6E6A35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ប្រយោគបង្កើតការសម្រេចចិត្តនៅក្នុងភាសា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if, if-else, if-else-if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switch។</a:t>
            </a:r>
          </a:p>
          <a:p>
            <a:pPr algn="l">
              <a:lnSpc>
                <a:spcPct val="17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if: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ជាក់លាក់លុះត្រាតែការវាយតម្លៃលក្ខណដែលបានផ្តល់ឲ្យស្មើនិង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តែប៉ុណ្ណោះ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9600" dirty="0"/>
              <a:t>👉 </a:t>
            </a:r>
            <a:r>
              <a:rPr lang="en-US" sz="9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9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D1986F8-F7DD-3AD0-6B74-5E89B685247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E51B28-085E-F607-6F39-D74B79BD1E5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BA359F1-EA10-DA2A-52DC-6F408C316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3148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D801F8-0D67-890F-57FD-B7A2B7539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F23A6-0081-E42C-E366-96AA111D1A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612210-D8F8-B315-B381-8264F2417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EF3543-B7E8-52C4-BFFD-EEAF0F2AA2A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ACC6F3-4951-1CCE-06B6-2ED8335B6D8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6A33DCE-B7BA-A585-6C69-21B556FD4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8083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5A418-D202-4E60-E032-9A809AF03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E1114-7FC4-E1E5-0039-5FAAD7859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820791-D29E-F21E-0A2E-63E792DA23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7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if-else-if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នូវលក្ខណច្រើនបន្តបន្ទាប់គ្នា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AAA2927-5748-B941-12D7-8004D5EB622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26DC0D0-F4F7-3D95-4655-64DF2A9675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E18E364-928A-175D-26DF-1AE8FF7F4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7149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6858C7-0549-BB94-3C6C-A105F253A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AA7DE-9981-AE92-064F-1C07C2C537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E12E3-CC1D-842D-A20C-AD692334D1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65"/>
          </a:xfrm>
        </p:spPr>
        <p:txBody>
          <a:bodyPr>
            <a:noAutofit/>
          </a:bodyPr>
          <a:lstStyle/>
          <a:p>
            <a:pPr marL="457200" indent="-457200" algn="l">
              <a:lnSpc>
                <a:spcPct val="160000"/>
              </a:lnSpc>
              <a:buFontTx/>
              <a:buChar char="-"/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switch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មួយដែលអនុញ្ញាតឲ្យកម្មវិធីធ្វើការប្រតិបត្តិ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នៅក្នុងចំណោមករណី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(Case)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ដែលបានកំណត់ទុកដោយផ្អែកទៅលើការផ្គូរផ្គងតម្លៃជាមួយតម្លៃបញ្ជាក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់(Expression)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1800" dirty="0"/>
              <a:t>👉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FF0000"/>
                </a:solidFill>
              </a:rPr>
              <a:t>switch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){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តម្លៃផ្គូផ្គងទី1 : 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តម្លៃផ្គូផ្គងទី2 : 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default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ប្រសិនបើតម្លៃបញ្ជាក់មិនស្មើនិងតម្លៃផ្គូផ្គងណាមួយ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en-US" sz="1800" dirty="0">
              <a:solidFill>
                <a:srgbClr val="0070C0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9D5991-7328-266D-B7A0-1C4E7597D4A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CAFB4A-56C2-003A-619A-4956E9A9BF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CF07541-8BD5-58D3-CE32-6C95DD9F5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4831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3AC115-38D3-BC41-0F3A-23169B665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0A15D-D500-0380-360E-013C418391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(Loop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6D95A-711A-6AA4-BE85-A582C8F6B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4800588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 Statements):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គឺជារចនាសម្ព័ន្ធ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មួយដែលប្រតិបត្តិប្លុក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ម្តងហើយម្តងទៀតដរាបណាលក្ខណដែលបានបញ្ញាក់នៅតែពិត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</a:p>
          <a:p>
            <a:pPr algn="l">
              <a:lnSpc>
                <a:spcPct val="160000"/>
              </a:lnSpc>
            </a:pP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ប្រយោគរង្វិលជុំនៅក្នុងភាសា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 loop, for-each loop, while loop,  do-while loop។ 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ពាក្យគន្លឹះនៃប្រយោគរង្វិលជុំ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គឺជាពាក្យគន្លឹះសម្រាប់ធ្វើការបញ្ចប់រង្វិលជុំ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(loop)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ទាំងស្រង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គឺជាពាក្យគន្លឹះសម្រាប់ធ្វើការរំលងទៅកាន់ជុំបន្ទាប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22C6563-4CFD-E1B6-228B-31F55237B00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0D0BA2-2050-3464-0797-C1CAF1C0C40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FC7601B-1037-B0C8-972F-B6444DC6F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7519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02887E-EACA-29C1-D05D-E7268B120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918ED-F7F4-676C-E5BF-800DC81D59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4FBB0-F1FC-0F44-9897-53044CD52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ទៅតាមចំនួនដងដែលបានកំណត់ទុកជាមុន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Termination​ Condition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ការធ្វើឡើងវិញនីមួយ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ដែលបានកំណត់តម្លៃចាប់ផ្តើម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Temination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Condition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គឺជាលក្ខណនៃការបញ្ជាប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loop។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គឺជាប្រយោគដែលដំណើរការក្រោយពេលដែលការធ្វើឡើងវិញនីមួយ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       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រួចរាល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ជាធម្មតាវាត្រូវបានគេប្រើប្រាស់សម្រាប់បង្កើន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ឫបន្ថយតម្លៃ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44D3E0-225F-5F6C-9F1D-D1882996682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2BE5A4-33FE-17B9-7D30-4DDEA3993E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0F232F-FD2E-5070-53C2-5B8C6AB87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158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B1D183-3D13-BA53-E03C-B87F4FCF0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DA8D2-047A-E767-74E9-8FDDC4E26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1D1290-4B38-6330-2B41-BAE0500084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ឧទាហរណ៍ទី១៖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KH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ឧទាហរណ៍ទី២៖</a:t>
            </a:r>
          </a:p>
          <a:p>
            <a:pPr algn="l">
              <a:lnSpc>
                <a:spcPct val="10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int n = 0;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n++;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n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US" sz="24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444A4E-C5C2-056D-DC56-2293FDD7C13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A7D91F-5792-E19C-0F6B-8DFE9701B27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FC85008-EAFF-EF6D-4797-9E286BA05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496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1182</TotalTime>
  <Words>2741</Words>
  <Application>Microsoft Macintosh PowerPoint</Application>
  <PresentationFormat>Widescreen</PresentationFormat>
  <Paragraphs>258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Aptos</vt:lpstr>
      <vt:lpstr>Aptos Display</vt:lpstr>
      <vt:lpstr>Arial</vt:lpstr>
      <vt:lpstr>Kh Battambang</vt:lpstr>
      <vt:lpstr>Khmer OS Battambang</vt:lpstr>
      <vt:lpstr>Khmer OS Content</vt:lpstr>
      <vt:lpstr>Wingdings</vt:lpstr>
      <vt:lpstr>Office Theme</vt:lpstr>
      <vt:lpstr>   សម្រាប់អ្នកចាប់ផ្តើមដំបូង   </vt:lpstr>
      <vt:lpstr>មាតិកា</vt:lpstr>
      <vt:lpstr>អ្វីទៅជា Java?</vt:lpstr>
      <vt:lpstr>ប្រវត្តិនៃ Java</vt:lpstr>
      <vt:lpstr>Java Virtual Machine (JVM)</vt:lpstr>
      <vt:lpstr>Java Development Kit(JDK)</vt:lpstr>
      <vt:lpstr>Java Compiler</vt:lpstr>
      <vt:lpstr>ឧបករណ៍សម្រាប់សរសេរភាសា Java(IDE)</vt:lpstr>
      <vt:lpstr>ប្រយោគនៃភាសា Java (Java statements)</vt:lpstr>
      <vt:lpstr>ប្រភេទទិន្នន័យ (Data Type)</vt:lpstr>
      <vt:lpstr>ប្រភេទទិន្នន័យ (Data Type) (ត)</vt:lpstr>
      <vt:lpstr>ប្រភេទទិន្នន័យ (Data Type) (ត)</vt:lpstr>
      <vt:lpstr>Variable</vt:lpstr>
      <vt:lpstr>Operator</vt:lpstr>
      <vt:lpstr>Arithmetic Operators</vt:lpstr>
      <vt:lpstr>Assignment Operators</vt:lpstr>
      <vt:lpstr>Relational Operators</vt:lpstr>
      <vt:lpstr>Logical Operators</vt:lpstr>
      <vt:lpstr>Unary Operators</vt:lpstr>
      <vt:lpstr>Ternary Operator</vt:lpstr>
      <vt:lpstr>instanceof Operator</vt:lpstr>
      <vt:lpstr>Control Flow</vt:lpstr>
      <vt:lpstr>ប្រយោគបង្កើតការសម្រចចិត្ត</vt:lpstr>
      <vt:lpstr>ប្រយោគបង្កើតការសម្រចចិត្ត (ត)</vt:lpstr>
      <vt:lpstr>ប្រយោគបង្កើតការសម្រចចិត្ត (ត)</vt:lpstr>
      <vt:lpstr>ប្រយោគបង្កើតការសម្រចចិត្ត (ត)</vt:lpstr>
      <vt:lpstr>ប្រយោគរង្វិលជុំ(Loop Statements)</vt:lpstr>
      <vt:lpstr>for loop</vt:lpstr>
      <vt:lpstr>for loop(ត)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Ngoun Chheng Hy</dc:creator>
  <cp:lastModifiedBy>Ngoun Chheng Hy</cp:lastModifiedBy>
  <cp:revision>408</cp:revision>
  <cp:lastPrinted>2026-01-11T04:09:46Z</cp:lastPrinted>
  <dcterms:created xsi:type="dcterms:W3CDTF">2026-01-06T12:55:20Z</dcterms:created>
  <dcterms:modified xsi:type="dcterms:W3CDTF">2026-01-13T13:57:38Z</dcterms:modified>
</cp:coreProperties>
</file>