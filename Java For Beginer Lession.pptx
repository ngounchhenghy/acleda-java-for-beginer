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75"/>
  </p:notesMasterIdLst>
  <p:sldIdLst>
    <p:sldId id="257" r:id="rId2"/>
    <p:sldId id="285" r:id="rId3"/>
    <p:sldId id="256" r:id="rId4"/>
    <p:sldId id="259" r:id="rId5"/>
    <p:sldId id="258" r:id="rId6"/>
    <p:sldId id="260" r:id="rId7"/>
    <p:sldId id="278" r:id="rId8"/>
    <p:sldId id="261" r:id="rId9"/>
    <p:sldId id="262" r:id="rId10"/>
    <p:sldId id="277" r:id="rId11"/>
    <p:sldId id="263" r:id="rId12"/>
    <p:sldId id="264" r:id="rId13"/>
    <p:sldId id="265" r:id="rId14"/>
    <p:sldId id="266" r:id="rId15"/>
    <p:sldId id="279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6" r:id="rId24"/>
    <p:sldId id="274" r:id="rId25"/>
    <p:sldId id="275" r:id="rId26"/>
    <p:sldId id="280" r:id="rId27"/>
    <p:sldId id="281" r:id="rId28"/>
    <p:sldId id="282" r:id="rId29"/>
    <p:sldId id="283" r:id="rId30"/>
    <p:sldId id="286" r:id="rId31"/>
    <p:sldId id="287" r:id="rId32"/>
    <p:sldId id="288" r:id="rId33"/>
    <p:sldId id="289" r:id="rId34"/>
    <p:sldId id="290" r:id="rId35"/>
    <p:sldId id="291" r:id="rId36"/>
    <p:sldId id="292" r:id="rId37"/>
    <p:sldId id="293" r:id="rId38"/>
    <p:sldId id="294" r:id="rId39"/>
    <p:sldId id="295" r:id="rId40"/>
    <p:sldId id="296" r:id="rId41"/>
    <p:sldId id="297" r:id="rId42"/>
    <p:sldId id="298" r:id="rId43"/>
    <p:sldId id="299" r:id="rId44"/>
    <p:sldId id="300" r:id="rId45"/>
    <p:sldId id="301" r:id="rId46"/>
    <p:sldId id="303" r:id="rId47"/>
    <p:sldId id="302" r:id="rId48"/>
    <p:sldId id="304" r:id="rId49"/>
    <p:sldId id="305" r:id="rId50"/>
    <p:sldId id="306" r:id="rId51"/>
    <p:sldId id="307" r:id="rId52"/>
    <p:sldId id="308" r:id="rId53"/>
    <p:sldId id="309" r:id="rId54"/>
    <p:sldId id="310" r:id="rId55"/>
    <p:sldId id="311" r:id="rId56"/>
    <p:sldId id="312" r:id="rId57"/>
    <p:sldId id="313" r:id="rId58"/>
    <p:sldId id="314" r:id="rId59"/>
    <p:sldId id="316" r:id="rId60"/>
    <p:sldId id="315" r:id="rId61"/>
    <p:sldId id="317" r:id="rId62"/>
    <p:sldId id="318" r:id="rId63"/>
    <p:sldId id="319" r:id="rId64"/>
    <p:sldId id="320" r:id="rId65"/>
    <p:sldId id="321" r:id="rId66"/>
    <p:sldId id="322" r:id="rId67"/>
    <p:sldId id="323" r:id="rId68"/>
    <p:sldId id="324" r:id="rId69"/>
    <p:sldId id="326" r:id="rId70"/>
    <p:sldId id="327" r:id="rId71"/>
    <p:sldId id="328" r:id="rId72"/>
    <p:sldId id="329" r:id="rId73"/>
    <p:sldId id="325" r:id="rId74"/>
  </p:sldIdLst>
  <p:sldSz cx="12192000" cy="6858000"/>
  <p:notesSz cx="6858000" cy="9144000"/>
  <p:defaultTextStyle>
    <a:defPPr>
      <a:defRPr lang="en-KH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D49B06"/>
    <a:srgbClr val="1C27CF"/>
    <a:srgbClr val="FBB902"/>
    <a:srgbClr val="FF9300"/>
    <a:srgbClr val="F7D2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0157"/>
    <p:restoredTop sz="94609"/>
  </p:normalViewPr>
  <p:slideViewPr>
    <p:cSldViewPr snapToGrid="0">
      <p:cViewPr varScale="1">
        <p:scale>
          <a:sx n="151" d="100"/>
          <a:sy n="151" d="100"/>
        </p:scale>
        <p:origin x="352" y="200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16" Type="http://schemas.openxmlformats.org/officeDocument/2006/relationships/slide" Target="slides/slide1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66" Type="http://schemas.openxmlformats.org/officeDocument/2006/relationships/slide" Target="slides/slide65.xml"/><Relationship Id="rId74" Type="http://schemas.openxmlformats.org/officeDocument/2006/relationships/slide" Target="slides/slide73.xml"/><Relationship Id="rId79" Type="http://schemas.openxmlformats.org/officeDocument/2006/relationships/tableStyles" Target="tableStyles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77" Type="http://schemas.openxmlformats.org/officeDocument/2006/relationships/viewProps" Target="viewProp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slide" Target="slides/slide69.xml"/><Relationship Id="rId75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presProps" Target="presProps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2" Type="http://schemas.openxmlformats.org/officeDocument/2006/relationships/slide" Target="slides/slide1.xml"/><Relationship Id="rId29" Type="http://schemas.openxmlformats.org/officeDocument/2006/relationships/slide" Target="slides/slide28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KH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4B2FDEF-09AE-D841-82B5-B8C57D3BE67B}" type="datetimeFigureOut">
              <a:rPr lang="en-KH" smtClean="0"/>
              <a:t>19/2/26</a:t>
            </a:fld>
            <a:endParaRPr lang="en-KH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KH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KH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KH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4DABFE7-2B72-E34A-B8CF-9CC2D7D3F47E}" type="slidenum">
              <a:rPr lang="en-KH" smtClean="0"/>
              <a:t>‹#›</a:t>
            </a:fld>
            <a:endParaRPr lang="en-KH"/>
          </a:p>
        </p:txBody>
      </p:sp>
    </p:spTree>
    <p:extLst>
      <p:ext uri="{BB962C8B-B14F-4D97-AF65-F5344CB8AC3E}">
        <p14:creationId xmlns:p14="http://schemas.microsoft.com/office/powerpoint/2010/main" val="189156073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1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2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3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4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5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6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7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8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9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0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1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2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KH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4DABFE7-2B72-E34A-B8CF-9CC2D7D3F47E}" type="slidenum">
              <a:rPr lang="en-KH" smtClean="0"/>
              <a:t>1</a:t>
            </a:fld>
            <a:endParaRPr lang="en-KH"/>
          </a:p>
        </p:txBody>
      </p:sp>
    </p:spTree>
    <p:extLst>
      <p:ext uri="{BB962C8B-B14F-4D97-AF65-F5344CB8AC3E}">
        <p14:creationId xmlns:p14="http://schemas.microsoft.com/office/powerpoint/2010/main" val="71416961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KH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4DABFE7-2B72-E34A-B8CF-9CC2D7D3F47E}" type="slidenum">
              <a:rPr lang="en-KH" smtClean="0"/>
              <a:t>14</a:t>
            </a:fld>
            <a:endParaRPr lang="en-KH"/>
          </a:p>
        </p:txBody>
      </p:sp>
    </p:spTree>
    <p:extLst>
      <p:ext uri="{BB962C8B-B14F-4D97-AF65-F5344CB8AC3E}">
        <p14:creationId xmlns:p14="http://schemas.microsoft.com/office/powerpoint/2010/main" val="155068818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KH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4DABFE7-2B72-E34A-B8CF-9CC2D7D3F47E}" type="slidenum">
              <a:rPr lang="en-KH" smtClean="0"/>
              <a:t>35</a:t>
            </a:fld>
            <a:endParaRPr lang="en-KH"/>
          </a:p>
        </p:txBody>
      </p:sp>
    </p:spTree>
    <p:extLst>
      <p:ext uri="{BB962C8B-B14F-4D97-AF65-F5344CB8AC3E}">
        <p14:creationId xmlns:p14="http://schemas.microsoft.com/office/powerpoint/2010/main" val="211402488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F50405-EA6E-E7C9-0FB1-BE4DD6BD77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DCE1FA3-7CE0-9711-EEE5-B7ECFB06CFB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FFBBAAE-706B-0E6C-4EC7-4E4C579A68B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K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E00FE22-2D10-12A0-0FBF-A72BBB002A0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4DABFE7-2B72-E34A-B8CF-9CC2D7D3F47E}" type="slidenum">
              <a:rPr lang="en-KH" smtClean="0"/>
              <a:t>36</a:t>
            </a:fld>
            <a:endParaRPr lang="en-KH"/>
          </a:p>
        </p:txBody>
      </p:sp>
    </p:spTree>
    <p:extLst>
      <p:ext uri="{BB962C8B-B14F-4D97-AF65-F5344CB8AC3E}">
        <p14:creationId xmlns:p14="http://schemas.microsoft.com/office/powerpoint/2010/main" val="242813350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FDE283-5004-EDFE-E284-418BADCFD1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DF24B57-B88F-A610-7A8D-C70500F5FBA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5EA1662-94C7-3A95-F22F-E7689C1DC27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K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E5ABE0E-EB76-80D7-5DAD-D73AACF8973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4DABFE7-2B72-E34A-B8CF-9CC2D7D3F47E}" type="slidenum">
              <a:rPr lang="en-KH" smtClean="0"/>
              <a:t>37</a:t>
            </a:fld>
            <a:endParaRPr lang="en-KH"/>
          </a:p>
        </p:txBody>
      </p:sp>
    </p:spTree>
    <p:extLst>
      <p:ext uri="{BB962C8B-B14F-4D97-AF65-F5344CB8AC3E}">
        <p14:creationId xmlns:p14="http://schemas.microsoft.com/office/powerpoint/2010/main" val="30920225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D363E8-59E2-C8BB-5CA7-74DE519053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2985A76-7024-17A8-96EE-FD0AC6C266D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7B60A10-C287-7F89-55F7-108743D8261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K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48A6232-3E57-1C7B-15D2-27E0569F264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4DABFE7-2B72-E34A-B8CF-9CC2D7D3F47E}" type="slidenum">
              <a:rPr lang="en-KH" smtClean="0"/>
              <a:t>38</a:t>
            </a:fld>
            <a:endParaRPr lang="en-KH"/>
          </a:p>
        </p:txBody>
      </p:sp>
    </p:spTree>
    <p:extLst>
      <p:ext uri="{BB962C8B-B14F-4D97-AF65-F5344CB8AC3E}">
        <p14:creationId xmlns:p14="http://schemas.microsoft.com/office/powerpoint/2010/main" val="438321169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FF4739-DACE-B04A-8DDA-59A86FBD81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B8D71B6-CA73-21CD-F878-519FC534045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CF047CE-1D9D-1C5D-DB8E-67DD8205D7E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K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84CDC08-6028-E4C0-131C-C85A04C07D9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4DABFE7-2B72-E34A-B8CF-9CC2D7D3F47E}" type="slidenum">
              <a:rPr lang="en-KH" smtClean="0"/>
              <a:t>39</a:t>
            </a:fld>
            <a:endParaRPr lang="en-KH"/>
          </a:p>
        </p:txBody>
      </p:sp>
    </p:spTree>
    <p:extLst>
      <p:ext uri="{BB962C8B-B14F-4D97-AF65-F5344CB8AC3E}">
        <p14:creationId xmlns:p14="http://schemas.microsoft.com/office/powerpoint/2010/main" val="2702184970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407BA6-33D2-0678-9B24-97F53DBCFA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C7C6A34-0BE4-679C-BCFF-D5E5D8A9688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909A8C3-51E6-9018-4B4D-F7B3812337C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K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97BD51D-3E34-C369-6D4E-0905E484887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4DABFE7-2B72-E34A-B8CF-9CC2D7D3F47E}" type="slidenum">
              <a:rPr lang="en-KH" smtClean="0"/>
              <a:t>40</a:t>
            </a:fld>
            <a:endParaRPr lang="en-KH"/>
          </a:p>
        </p:txBody>
      </p:sp>
    </p:spTree>
    <p:extLst>
      <p:ext uri="{BB962C8B-B14F-4D97-AF65-F5344CB8AC3E}">
        <p14:creationId xmlns:p14="http://schemas.microsoft.com/office/powerpoint/2010/main" val="1779144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6308FD-81B4-3104-8BF0-0F47DE1BD8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81E55AF-C792-996D-7026-A94AF3ED302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41B95B1-1FBD-5FBA-5022-F35048AE0D6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K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218853D-931F-B944-1396-C65C4BC146E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4DABFE7-2B72-E34A-B8CF-9CC2D7D3F47E}" type="slidenum">
              <a:rPr lang="en-KH" smtClean="0"/>
              <a:t>41</a:t>
            </a:fld>
            <a:endParaRPr lang="en-KH"/>
          </a:p>
        </p:txBody>
      </p:sp>
    </p:spTree>
    <p:extLst>
      <p:ext uri="{BB962C8B-B14F-4D97-AF65-F5344CB8AC3E}">
        <p14:creationId xmlns:p14="http://schemas.microsoft.com/office/powerpoint/2010/main" val="691101784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873601-A223-BAE3-6ED2-B605EDAECF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73AFCA3-60DD-09BE-EBA8-A2021E7F5EF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43E2ED4-D1C0-A138-8A7D-4C4E2646371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K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9DDF1FD-8DB3-DDC6-E160-E123FC0AC64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4DABFE7-2B72-E34A-B8CF-9CC2D7D3F47E}" type="slidenum">
              <a:rPr lang="en-KH" smtClean="0"/>
              <a:t>42</a:t>
            </a:fld>
            <a:endParaRPr lang="en-KH"/>
          </a:p>
        </p:txBody>
      </p:sp>
    </p:spTree>
    <p:extLst>
      <p:ext uri="{BB962C8B-B14F-4D97-AF65-F5344CB8AC3E}">
        <p14:creationId xmlns:p14="http://schemas.microsoft.com/office/powerpoint/2010/main" val="558506598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BBE7EB-43AF-C2E4-36ED-D4DC00DB6F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C5C7A92-A94D-7CB6-4767-6A44B94B1BA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131E1AC-8E5F-BECD-91D8-ABDEBDE9994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K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12761C0-D103-476C-545E-92355F1DF26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4DABFE7-2B72-E34A-B8CF-9CC2D7D3F47E}" type="slidenum">
              <a:rPr lang="en-KH" smtClean="0"/>
              <a:t>43</a:t>
            </a:fld>
            <a:endParaRPr lang="en-KH"/>
          </a:p>
        </p:txBody>
      </p:sp>
    </p:spTree>
    <p:extLst>
      <p:ext uri="{BB962C8B-B14F-4D97-AF65-F5344CB8AC3E}">
        <p14:creationId xmlns:p14="http://schemas.microsoft.com/office/powerpoint/2010/main" val="373906698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D4DA4E-AC9B-6B5A-6C2E-19EDC89606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B7521A7-6F5B-3267-4476-9A1DF6A156C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B192D46-32A6-D480-060D-78F03D364A4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K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6E395BE-9677-4790-7858-513151E647C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4DABFE7-2B72-E34A-B8CF-9CC2D7D3F47E}" type="slidenum">
              <a:rPr lang="en-KH" smtClean="0"/>
              <a:t>44</a:t>
            </a:fld>
            <a:endParaRPr lang="en-KH"/>
          </a:p>
        </p:txBody>
      </p:sp>
    </p:spTree>
    <p:extLst>
      <p:ext uri="{BB962C8B-B14F-4D97-AF65-F5344CB8AC3E}">
        <p14:creationId xmlns:p14="http://schemas.microsoft.com/office/powerpoint/2010/main" val="3575924583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0D41F5-4DAF-CDEB-11C2-8436EDA3E2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46D71B7-A8E8-4A3E-BBBB-02374FD058F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7546D64-630E-435F-8910-0215ACF4137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K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720DADF-EA0E-61F6-E4B1-AB5C3E12266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4DABFE7-2B72-E34A-B8CF-9CC2D7D3F47E}" type="slidenum">
              <a:rPr lang="en-KH" smtClean="0"/>
              <a:t>45</a:t>
            </a:fld>
            <a:endParaRPr lang="en-KH"/>
          </a:p>
        </p:txBody>
      </p:sp>
    </p:spTree>
    <p:extLst>
      <p:ext uri="{BB962C8B-B14F-4D97-AF65-F5344CB8AC3E}">
        <p14:creationId xmlns:p14="http://schemas.microsoft.com/office/powerpoint/2010/main" val="3545734754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77AE13-7310-B22D-F2C2-C69AF471C7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C032311-35EA-91DA-CC3C-7EDC700B2B1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CF044A8-8159-7893-1536-4AD53FF5B4F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K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1BBB8B2-1033-322A-4A2C-1C59128F281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4DABFE7-2B72-E34A-B8CF-9CC2D7D3F47E}" type="slidenum">
              <a:rPr lang="en-KH" smtClean="0"/>
              <a:t>46</a:t>
            </a:fld>
            <a:endParaRPr lang="en-KH"/>
          </a:p>
        </p:txBody>
      </p:sp>
    </p:spTree>
    <p:extLst>
      <p:ext uri="{BB962C8B-B14F-4D97-AF65-F5344CB8AC3E}">
        <p14:creationId xmlns:p14="http://schemas.microsoft.com/office/powerpoint/2010/main" val="3043533604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767797-8F42-EA5D-A33A-54B3D0EC79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FF05F4F-0F0A-5914-E5FD-FFCC0766350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CEE9A03-F01F-B4D3-96F8-81F8094619B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K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444008A-031B-F80D-A5A8-D3ED159D884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4DABFE7-2B72-E34A-B8CF-9CC2D7D3F47E}" type="slidenum">
              <a:rPr lang="en-KH" smtClean="0"/>
              <a:t>47</a:t>
            </a:fld>
            <a:endParaRPr lang="en-KH"/>
          </a:p>
        </p:txBody>
      </p:sp>
    </p:spTree>
    <p:extLst>
      <p:ext uri="{BB962C8B-B14F-4D97-AF65-F5344CB8AC3E}">
        <p14:creationId xmlns:p14="http://schemas.microsoft.com/office/powerpoint/2010/main" val="711050496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9CF2B7-28BE-542C-680B-CDD4BA6438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B3822AD-D75A-26C1-11E9-EAF173415DC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B1912D2-5EC1-47F9-EB8A-86662F6359D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K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BB45DAF-C4C9-406A-77EC-523F3C3944A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4DABFE7-2B72-E34A-B8CF-9CC2D7D3F47E}" type="slidenum">
              <a:rPr lang="en-KH" smtClean="0"/>
              <a:t>48</a:t>
            </a:fld>
            <a:endParaRPr lang="en-KH"/>
          </a:p>
        </p:txBody>
      </p:sp>
    </p:spTree>
    <p:extLst>
      <p:ext uri="{BB962C8B-B14F-4D97-AF65-F5344CB8AC3E}">
        <p14:creationId xmlns:p14="http://schemas.microsoft.com/office/powerpoint/2010/main" val="3056372117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D5034F-4929-703E-A983-7856F81BD4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B64837D-BF92-944A-FBD5-0FA64FC3212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6D28D48-1A74-3903-4505-87637A940DB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K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971ABF0-D20B-1D30-C1DD-B84F54A6FE2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4DABFE7-2B72-E34A-B8CF-9CC2D7D3F47E}" type="slidenum">
              <a:rPr lang="en-KH" smtClean="0"/>
              <a:t>49</a:t>
            </a:fld>
            <a:endParaRPr lang="en-KH"/>
          </a:p>
        </p:txBody>
      </p:sp>
    </p:spTree>
    <p:extLst>
      <p:ext uri="{BB962C8B-B14F-4D97-AF65-F5344CB8AC3E}">
        <p14:creationId xmlns:p14="http://schemas.microsoft.com/office/powerpoint/2010/main" val="2177781857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96FB16-F1C0-2979-2E80-AC8D0CA711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719A462-8361-8367-72FE-EE6B2D26190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48D5FAD-10AD-0BAF-5D85-AE58ACC7C45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K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7E7A73D-CE14-4615-4BB8-57D19497193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4DABFE7-2B72-E34A-B8CF-9CC2D7D3F47E}" type="slidenum">
              <a:rPr lang="en-KH" smtClean="0"/>
              <a:t>50</a:t>
            </a:fld>
            <a:endParaRPr lang="en-KH"/>
          </a:p>
        </p:txBody>
      </p:sp>
    </p:spTree>
    <p:extLst>
      <p:ext uri="{BB962C8B-B14F-4D97-AF65-F5344CB8AC3E}">
        <p14:creationId xmlns:p14="http://schemas.microsoft.com/office/powerpoint/2010/main" val="2299988846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E52875-DDC5-0ED0-730F-26A528AF99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136E80B-A1BA-A42E-8972-B440CE5E30F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8B9C49F-61F5-1B88-8060-95396FBEDE1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K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2CE374A-2CC8-51B1-6FDD-26DBC482A66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4DABFE7-2B72-E34A-B8CF-9CC2D7D3F47E}" type="slidenum">
              <a:rPr lang="en-KH" smtClean="0"/>
              <a:t>51</a:t>
            </a:fld>
            <a:endParaRPr lang="en-KH"/>
          </a:p>
        </p:txBody>
      </p:sp>
    </p:spTree>
    <p:extLst>
      <p:ext uri="{BB962C8B-B14F-4D97-AF65-F5344CB8AC3E}">
        <p14:creationId xmlns:p14="http://schemas.microsoft.com/office/powerpoint/2010/main" val="2109534566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0E6DA5-D2FA-D3CF-B2B1-EC4CC75766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ED7C9A9-4CE5-3A76-4692-809AD3623B1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DC6BBAA-CCAA-458A-2208-DDAB3CC75FB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K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5F54130-2A49-8339-B684-A31D06DEFA8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4DABFE7-2B72-E34A-B8CF-9CC2D7D3F47E}" type="slidenum">
              <a:rPr lang="en-KH" smtClean="0"/>
              <a:t>52</a:t>
            </a:fld>
            <a:endParaRPr lang="en-KH"/>
          </a:p>
        </p:txBody>
      </p:sp>
    </p:spTree>
    <p:extLst>
      <p:ext uri="{BB962C8B-B14F-4D97-AF65-F5344CB8AC3E}">
        <p14:creationId xmlns:p14="http://schemas.microsoft.com/office/powerpoint/2010/main" val="2311276906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5E7F16-9F0C-077F-72BA-C54E20C672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B93ED34-EDF8-FD84-00E5-B75425B7261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8696F6B-37D6-18FF-9525-422C950394E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K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C0353C6-B2DD-6A37-4E87-C853A5E865A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4DABFE7-2B72-E34A-B8CF-9CC2D7D3F47E}" type="slidenum">
              <a:rPr lang="en-KH" smtClean="0"/>
              <a:t>53</a:t>
            </a:fld>
            <a:endParaRPr lang="en-KH"/>
          </a:p>
        </p:txBody>
      </p:sp>
    </p:spTree>
    <p:extLst>
      <p:ext uri="{BB962C8B-B14F-4D97-AF65-F5344CB8AC3E}">
        <p14:creationId xmlns:p14="http://schemas.microsoft.com/office/powerpoint/2010/main" val="3832902716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CA1B11-1AEA-A7EE-82BE-EE1733A584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E46900C-E5DA-38BE-B67F-682D0880843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63D7DAF-C1AB-45EA-60BC-7E667A1881F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K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6ADDE8B-6A57-5D47-F022-8DF49EA6AAD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4DABFE7-2B72-E34A-B8CF-9CC2D7D3F47E}" type="slidenum">
              <a:rPr lang="en-KH" smtClean="0"/>
              <a:t>54</a:t>
            </a:fld>
            <a:endParaRPr lang="en-KH"/>
          </a:p>
        </p:txBody>
      </p:sp>
    </p:spTree>
    <p:extLst>
      <p:ext uri="{BB962C8B-B14F-4D97-AF65-F5344CB8AC3E}">
        <p14:creationId xmlns:p14="http://schemas.microsoft.com/office/powerpoint/2010/main" val="3757701615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F20BE8-CBD1-F8E2-B817-C4D4127641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662707B-5CCD-0BC1-24CE-F5DAEBC854E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1F55C62-9190-67B9-B96D-345EAF64D25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K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DE5203F-5D48-DB12-ABF6-CFD47546CFE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4DABFE7-2B72-E34A-B8CF-9CC2D7D3F47E}" type="slidenum">
              <a:rPr lang="en-KH" smtClean="0"/>
              <a:t>55</a:t>
            </a:fld>
            <a:endParaRPr lang="en-KH"/>
          </a:p>
        </p:txBody>
      </p:sp>
    </p:spTree>
    <p:extLst>
      <p:ext uri="{BB962C8B-B14F-4D97-AF65-F5344CB8AC3E}">
        <p14:creationId xmlns:p14="http://schemas.microsoft.com/office/powerpoint/2010/main" val="3203999277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B4A0FF-D4F8-4923-972C-ECD3DEB1D0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E036C73-6F2A-DB6D-10C7-F81D16D96D6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A169223-12A8-6AA1-D563-F1AABF6CA0F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K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2410BDD-C9DE-E49C-7096-6B341FF0171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4DABFE7-2B72-E34A-B8CF-9CC2D7D3F47E}" type="slidenum">
              <a:rPr lang="en-KH" smtClean="0"/>
              <a:t>56</a:t>
            </a:fld>
            <a:endParaRPr lang="en-KH"/>
          </a:p>
        </p:txBody>
      </p:sp>
    </p:spTree>
    <p:extLst>
      <p:ext uri="{BB962C8B-B14F-4D97-AF65-F5344CB8AC3E}">
        <p14:creationId xmlns:p14="http://schemas.microsoft.com/office/powerpoint/2010/main" val="1435029775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766B1A-5F9B-017A-974A-91E89FE498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C61B44C-C582-18AC-18EC-426C6B7162E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A33510E-53C9-4F85-C4AC-93A60790628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K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0E2D5A0-6164-D9BA-563F-6C97FD738DA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4DABFE7-2B72-E34A-B8CF-9CC2D7D3F47E}" type="slidenum">
              <a:rPr lang="en-KH" smtClean="0"/>
              <a:t>57</a:t>
            </a:fld>
            <a:endParaRPr lang="en-KH"/>
          </a:p>
        </p:txBody>
      </p:sp>
    </p:spTree>
    <p:extLst>
      <p:ext uri="{BB962C8B-B14F-4D97-AF65-F5344CB8AC3E}">
        <p14:creationId xmlns:p14="http://schemas.microsoft.com/office/powerpoint/2010/main" val="3545076395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61AA1C-23F9-5E2B-C92D-1A4FA285B6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82BC2AB-9DDF-C1A3-494E-B8BBDE8C0EF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6D7150C-3E50-1AEA-773B-A57593E5388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K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80433BC-25EA-135B-C671-476849F1FE6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4DABFE7-2B72-E34A-B8CF-9CC2D7D3F47E}" type="slidenum">
              <a:rPr lang="en-KH" smtClean="0"/>
              <a:t>58</a:t>
            </a:fld>
            <a:endParaRPr lang="en-KH"/>
          </a:p>
        </p:txBody>
      </p:sp>
    </p:spTree>
    <p:extLst>
      <p:ext uri="{BB962C8B-B14F-4D97-AF65-F5344CB8AC3E}">
        <p14:creationId xmlns:p14="http://schemas.microsoft.com/office/powerpoint/2010/main" val="762372428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AFDC73-8A59-2F57-5E93-33D1368E41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F498AEF-D5DD-B3F5-AC96-0BC9C99DEB0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EDDC4C3-0301-E7B3-D630-9B7B519CE17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K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2AFA1C0-052A-C679-870C-CB61251F088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4DABFE7-2B72-E34A-B8CF-9CC2D7D3F47E}" type="slidenum">
              <a:rPr lang="en-KH" smtClean="0"/>
              <a:t>59</a:t>
            </a:fld>
            <a:endParaRPr lang="en-KH"/>
          </a:p>
        </p:txBody>
      </p:sp>
    </p:spTree>
    <p:extLst>
      <p:ext uri="{BB962C8B-B14F-4D97-AF65-F5344CB8AC3E}">
        <p14:creationId xmlns:p14="http://schemas.microsoft.com/office/powerpoint/2010/main" val="114190086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C3C073-9739-DF51-6C8E-9B0F26E3CE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631CBE3-75AA-FDE6-38CC-D8D0F4FF5F9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81676B7-71A0-9951-2D0E-25DB5D9B92E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K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7126CAD-9BE1-9C97-C39A-83851E8325F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4DABFE7-2B72-E34A-B8CF-9CC2D7D3F47E}" type="slidenum">
              <a:rPr lang="en-KH" smtClean="0"/>
              <a:t>60</a:t>
            </a:fld>
            <a:endParaRPr lang="en-KH"/>
          </a:p>
        </p:txBody>
      </p:sp>
    </p:spTree>
    <p:extLst>
      <p:ext uri="{BB962C8B-B14F-4D97-AF65-F5344CB8AC3E}">
        <p14:creationId xmlns:p14="http://schemas.microsoft.com/office/powerpoint/2010/main" val="2010481436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71892A-108B-2851-7FDE-D2E4E52459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36D70CB-E955-3A54-FDB6-040D66B80AC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B94F9FD-0E8B-CC3E-142F-5D408718E94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K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2E83735-27E6-351C-C2C0-9CB5CD85D20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4DABFE7-2B72-E34A-B8CF-9CC2D7D3F47E}" type="slidenum">
              <a:rPr lang="en-KH" smtClean="0"/>
              <a:t>61</a:t>
            </a:fld>
            <a:endParaRPr lang="en-KH"/>
          </a:p>
        </p:txBody>
      </p:sp>
    </p:spTree>
    <p:extLst>
      <p:ext uri="{BB962C8B-B14F-4D97-AF65-F5344CB8AC3E}">
        <p14:creationId xmlns:p14="http://schemas.microsoft.com/office/powerpoint/2010/main" val="1344006358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00A488-6076-E8DF-8BCC-A4E96F8CAA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3C1F608-098E-ADC3-ECD8-3F4C8E5903A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F8904D9-836C-31D3-069D-4B5AF74E223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K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65125A1-018F-AC10-35FC-6E8B366257A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4DABFE7-2B72-E34A-B8CF-9CC2D7D3F47E}" type="slidenum">
              <a:rPr lang="en-KH" smtClean="0"/>
              <a:t>62</a:t>
            </a:fld>
            <a:endParaRPr lang="en-KH"/>
          </a:p>
        </p:txBody>
      </p:sp>
    </p:spTree>
    <p:extLst>
      <p:ext uri="{BB962C8B-B14F-4D97-AF65-F5344CB8AC3E}">
        <p14:creationId xmlns:p14="http://schemas.microsoft.com/office/powerpoint/2010/main" val="99861685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4BE326-E3BD-D7CD-44D0-E9C854C2D4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9313FB5-ADF3-BA6A-07A2-EC3719BA1F4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BF8885B-D8F0-06AA-4908-D8B2E671C33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K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E54D7D5-0884-B6CB-B158-D7E16718B4F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4DABFE7-2B72-E34A-B8CF-9CC2D7D3F47E}" type="slidenum">
              <a:rPr lang="en-KH" smtClean="0"/>
              <a:t>63</a:t>
            </a:fld>
            <a:endParaRPr lang="en-KH"/>
          </a:p>
        </p:txBody>
      </p:sp>
    </p:spTree>
    <p:extLst>
      <p:ext uri="{BB962C8B-B14F-4D97-AF65-F5344CB8AC3E}">
        <p14:creationId xmlns:p14="http://schemas.microsoft.com/office/powerpoint/2010/main" val="2286055449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1E7450-0B80-88F1-6FAD-2E545DB8C3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8825F2A-11D2-36FD-F13B-8229ADC9BCF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ABC4F58-650A-215D-F3FB-9901DCE5D06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K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F52455A-3945-BC5F-EBDC-A29A9130689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4DABFE7-2B72-E34A-B8CF-9CC2D7D3F47E}" type="slidenum">
              <a:rPr lang="en-KH" smtClean="0"/>
              <a:t>64</a:t>
            </a:fld>
            <a:endParaRPr lang="en-KH"/>
          </a:p>
        </p:txBody>
      </p:sp>
    </p:spTree>
    <p:extLst>
      <p:ext uri="{BB962C8B-B14F-4D97-AF65-F5344CB8AC3E}">
        <p14:creationId xmlns:p14="http://schemas.microsoft.com/office/powerpoint/2010/main" val="2108131055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CAEFB2-8FE0-3BDA-6A51-4D65DA8AE7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A4323F5-29B3-F1BB-1097-197CB2FA09B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619A61D-9AAC-80A8-F183-E662CAB50C2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K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5DA29D7-B7B7-7C7F-E5D1-F1572038D34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4DABFE7-2B72-E34A-B8CF-9CC2D7D3F47E}" type="slidenum">
              <a:rPr lang="en-KH" smtClean="0"/>
              <a:t>65</a:t>
            </a:fld>
            <a:endParaRPr lang="en-KH"/>
          </a:p>
        </p:txBody>
      </p:sp>
    </p:spTree>
    <p:extLst>
      <p:ext uri="{BB962C8B-B14F-4D97-AF65-F5344CB8AC3E}">
        <p14:creationId xmlns:p14="http://schemas.microsoft.com/office/powerpoint/2010/main" val="4122637110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8AF07C-180D-C59C-5A98-01A64F37B9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DFE5A7C-C300-A368-7D7F-5DD3FB39A84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7E1DAF7-B6B1-D71E-D908-F42410F487D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K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B7E801C-A7A1-B12E-1F28-ADEAC9115CE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4DABFE7-2B72-E34A-B8CF-9CC2D7D3F47E}" type="slidenum">
              <a:rPr lang="en-KH" smtClean="0"/>
              <a:t>66</a:t>
            </a:fld>
            <a:endParaRPr lang="en-KH"/>
          </a:p>
        </p:txBody>
      </p:sp>
    </p:spTree>
    <p:extLst>
      <p:ext uri="{BB962C8B-B14F-4D97-AF65-F5344CB8AC3E}">
        <p14:creationId xmlns:p14="http://schemas.microsoft.com/office/powerpoint/2010/main" val="1723628919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E94452-629A-6D55-CCB3-E162E878C9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F82E1D8-D8F4-396E-140C-BB88BB50751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60F9A17-0949-A98E-94D4-9D3CFB34F26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K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F77AECC-B9E7-4996-548F-7D6DC77E4B6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4DABFE7-2B72-E34A-B8CF-9CC2D7D3F47E}" type="slidenum">
              <a:rPr lang="en-KH" smtClean="0"/>
              <a:t>67</a:t>
            </a:fld>
            <a:endParaRPr lang="en-KH"/>
          </a:p>
        </p:txBody>
      </p:sp>
    </p:spTree>
    <p:extLst>
      <p:ext uri="{BB962C8B-B14F-4D97-AF65-F5344CB8AC3E}">
        <p14:creationId xmlns:p14="http://schemas.microsoft.com/office/powerpoint/2010/main" val="2574587159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7CF34F-ADE5-E1B2-AA56-A6D8474261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AA4A415-ED4E-F154-BFB5-DA97EEAD267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0B66B49-22EC-FA49-D843-B9B36DCB76D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K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9D3D2BE-1C1B-D87D-0C3B-AF5E36746EA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4DABFE7-2B72-E34A-B8CF-9CC2D7D3F47E}" type="slidenum">
              <a:rPr lang="en-KH" smtClean="0"/>
              <a:t>68</a:t>
            </a:fld>
            <a:endParaRPr lang="en-KH"/>
          </a:p>
        </p:txBody>
      </p:sp>
    </p:spTree>
    <p:extLst>
      <p:ext uri="{BB962C8B-B14F-4D97-AF65-F5344CB8AC3E}">
        <p14:creationId xmlns:p14="http://schemas.microsoft.com/office/powerpoint/2010/main" val="2752555484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FD8EEE-30FA-48C0-E97B-BA99728FEE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961A83E-623A-00F5-52AD-45D0539A6D8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512D80A-C452-9361-1155-77FF7730D0E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K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40CF994-0A10-9DE7-7A64-10985165956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4DABFE7-2B72-E34A-B8CF-9CC2D7D3F47E}" type="slidenum">
              <a:rPr lang="en-KH" smtClean="0"/>
              <a:t>69</a:t>
            </a:fld>
            <a:endParaRPr lang="en-KH"/>
          </a:p>
        </p:txBody>
      </p:sp>
    </p:spTree>
    <p:extLst>
      <p:ext uri="{BB962C8B-B14F-4D97-AF65-F5344CB8AC3E}">
        <p14:creationId xmlns:p14="http://schemas.microsoft.com/office/powerpoint/2010/main" val="45895132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5E4B63-81DF-0336-0A9D-5E44F74792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B9F24E5-D1B8-D27B-6E81-2E92597FB29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AB9A753-B9F2-24EF-A44F-ECF4E2E47FE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K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9771C19-920D-9B22-B4D9-C9051D48CC2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4DABFE7-2B72-E34A-B8CF-9CC2D7D3F47E}" type="slidenum">
              <a:rPr lang="en-KH" smtClean="0"/>
              <a:t>70</a:t>
            </a:fld>
            <a:endParaRPr lang="en-KH"/>
          </a:p>
        </p:txBody>
      </p:sp>
    </p:spTree>
    <p:extLst>
      <p:ext uri="{BB962C8B-B14F-4D97-AF65-F5344CB8AC3E}">
        <p14:creationId xmlns:p14="http://schemas.microsoft.com/office/powerpoint/2010/main" val="60346806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6F61F8-DB25-C2A5-EB79-736B34A7CA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FF68413-E7B2-EC98-35BF-FC55FBC638F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029C764-3C68-445C-F7D5-80A910F05B2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K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6AD3D31-19BD-40EB-0CFF-9D672AF0C75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4DABFE7-2B72-E34A-B8CF-9CC2D7D3F47E}" type="slidenum">
              <a:rPr lang="en-KH" smtClean="0"/>
              <a:t>71</a:t>
            </a:fld>
            <a:endParaRPr lang="en-KH"/>
          </a:p>
        </p:txBody>
      </p:sp>
    </p:spTree>
    <p:extLst>
      <p:ext uri="{BB962C8B-B14F-4D97-AF65-F5344CB8AC3E}">
        <p14:creationId xmlns:p14="http://schemas.microsoft.com/office/powerpoint/2010/main" val="1070978419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65E60E-D9E9-8C7A-3FC7-F645A7CE5B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F198A23-DCCA-A8C6-F6C2-67F16675A61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DA98499-AA44-21A0-397B-A5AF95D1622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K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8040F6E-F2C7-C5CB-FC41-A9A43C13A84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4DABFE7-2B72-E34A-B8CF-9CC2D7D3F47E}" type="slidenum">
              <a:rPr lang="en-KH" smtClean="0"/>
              <a:t>72</a:t>
            </a:fld>
            <a:endParaRPr lang="en-KH"/>
          </a:p>
        </p:txBody>
      </p:sp>
    </p:spTree>
    <p:extLst>
      <p:ext uri="{BB962C8B-B14F-4D97-AF65-F5344CB8AC3E}">
        <p14:creationId xmlns:p14="http://schemas.microsoft.com/office/powerpoint/2010/main" val="401649334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E02B5C-6DD3-CDCE-4278-F7C2D2E95F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B2B7BD3-D004-C596-6F73-46F21EEA430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6BB7D16-37E1-3271-2FEA-5A7A7CFB8AD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K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E4E28CE-5A0C-D70F-1591-0E0E542087D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4DABFE7-2B72-E34A-B8CF-9CC2D7D3F47E}" type="slidenum">
              <a:rPr lang="en-KH" smtClean="0"/>
              <a:t>73</a:t>
            </a:fld>
            <a:endParaRPr lang="en-KH"/>
          </a:p>
        </p:txBody>
      </p:sp>
    </p:spTree>
    <p:extLst>
      <p:ext uri="{BB962C8B-B14F-4D97-AF65-F5344CB8AC3E}">
        <p14:creationId xmlns:p14="http://schemas.microsoft.com/office/powerpoint/2010/main" val="98561679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A92B20-97B0-BFE8-33A8-6ED6EF0D964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KH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3B3A344-7B9B-A86D-C38C-B6663E9ECF8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K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685DA2D-97F9-996E-1A7F-053671A6E0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7A51AF-933C-9446-AB7C-4A14F59AF2F3}" type="datetimeFigureOut">
              <a:rPr lang="en-KH" smtClean="0"/>
              <a:t>19/2/26</a:t>
            </a:fld>
            <a:endParaRPr lang="en-K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3C6F87E-8ED6-2EC1-128A-C0C4AD76E4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K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5E212E0-D388-FE97-F524-B75760D440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3312EF-28A4-0246-9A95-0A9CE360A7B2}" type="slidenum">
              <a:rPr lang="en-KH" smtClean="0"/>
              <a:t>‹#›</a:t>
            </a:fld>
            <a:endParaRPr lang="en-KH"/>
          </a:p>
        </p:txBody>
      </p:sp>
    </p:spTree>
    <p:extLst>
      <p:ext uri="{BB962C8B-B14F-4D97-AF65-F5344CB8AC3E}">
        <p14:creationId xmlns:p14="http://schemas.microsoft.com/office/powerpoint/2010/main" val="378805841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D45033-11D5-AACD-36DD-6A5A404DBF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KH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EB0BD3A-8858-736F-BB1B-431733E4560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K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5C0283A-9327-9628-574C-612C2DA9A6F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7A51AF-933C-9446-AB7C-4A14F59AF2F3}" type="datetimeFigureOut">
              <a:rPr lang="en-KH" smtClean="0"/>
              <a:t>19/2/26</a:t>
            </a:fld>
            <a:endParaRPr lang="en-K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A88B789-84FF-3F91-EF3A-357C7F5780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K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AD225E5-510D-6A0A-7044-806F896529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3312EF-28A4-0246-9A95-0A9CE360A7B2}" type="slidenum">
              <a:rPr lang="en-KH" smtClean="0"/>
              <a:t>‹#›</a:t>
            </a:fld>
            <a:endParaRPr lang="en-KH"/>
          </a:p>
        </p:txBody>
      </p:sp>
    </p:spTree>
    <p:extLst>
      <p:ext uri="{BB962C8B-B14F-4D97-AF65-F5344CB8AC3E}">
        <p14:creationId xmlns:p14="http://schemas.microsoft.com/office/powerpoint/2010/main" val="31382345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64BF2D-27B8-22F6-E2D1-49CD6A4F3B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KH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42890CE-1BF6-21FA-1C62-24D67E65BC7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01EF9CE-E4DB-CFAF-6B77-B78A603EED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7A51AF-933C-9446-AB7C-4A14F59AF2F3}" type="datetimeFigureOut">
              <a:rPr lang="en-KH" smtClean="0"/>
              <a:t>19/2/26</a:t>
            </a:fld>
            <a:endParaRPr lang="en-K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43C8D6A-23C8-7A30-CCB1-09BD88E99F9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K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0426B7D-E582-17D8-3321-401FC4D59F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3312EF-28A4-0246-9A95-0A9CE360A7B2}" type="slidenum">
              <a:rPr lang="en-KH" smtClean="0"/>
              <a:t>‹#›</a:t>
            </a:fld>
            <a:endParaRPr lang="en-KH"/>
          </a:p>
        </p:txBody>
      </p:sp>
    </p:spTree>
    <p:extLst>
      <p:ext uri="{BB962C8B-B14F-4D97-AF65-F5344CB8AC3E}">
        <p14:creationId xmlns:p14="http://schemas.microsoft.com/office/powerpoint/2010/main" val="345737542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82CF3F-78E9-AA6D-4948-732FA9E312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KH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58F34FD-6E08-D45D-177D-8E7E72DDF0B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KH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54195D7-018E-6BB1-598D-AF306C25591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KH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A8468ED-74DE-9272-347C-B9F780A224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7A51AF-933C-9446-AB7C-4A14F59AF2F3}" type="datetimeFigureOut">
              <a:rPr lang="en-KH" smtClean="0"/>
              <a:t>19/2/26</a:t>
            </a:fld>
            <a:endParaRPr lang="en-KH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475A200-39CD-EF7E-0187-F37CCE9B26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KH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20B3CE2-5082-8512-ED0D-FC78EBB3A6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3312EF-28A4-0246-9A95-0A9CE360A7B2}" type="slidenum">
              <a:rPr lang="en-KH" smtClean="0"/>
              <a:t>‹#›</a:t>
            </a:fld>
            <a:endParaRPr lang="en-KH"/>
          </a:p>
        </p:txBody>
      </p:sp>
    </p:spTree>
    <p:extLst>
      <p:ext uri="{BB962C8B-B14F-4D97-AF65-F5344CB8AC3E}">
        <p14:creationId xmlns:p14="http://schemas.microsoft.com/office/powerpoint/2010/main" val="285026492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EDDB90-FFDD-52A8-6C54-BFFF5C1F4B7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KH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2D170F8-EC63-79CB-4B50-05C84AEF8CF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8ED119D-A17D-777C-2944-2E0C0462DC4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KH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60A5507-9F48-BD1B-4FB6-1285A1EA7E8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6C47E10D-9A3C-D69B-E36D-3ED811FED94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KH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90E4C588-3075-74BC-0FF9-EC3F1035D96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7A51AF-933C-9446-AB7C-4A14F59AF2F3}" type="datetimeFigureOut">
              <a:rPr lang="en-KH" smtClean="0"/>
              <a:t>19/2/26</a:t>
            </a:fld>
            <a:endParaRPr lang="en-KH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8C570D63-AE1F-50C1-5089-2BBD015D3A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KH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AE86FB9-3142-04A9-8F46-EEE231EA62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3312EF-28A4-0246-9A95-0A9CE360A7B2}" type="slidenum">
              <a:rPr lang="en-KH" smtClean="0"/>
              <a:t>‹#›</a:t>
            </a:fld>
            <a:endParaRPr lang="en-KH"/>
          </a:p>
        </p:txBody>
      </p:sp>
    </p:spTree>
    <p:extLst>
      <p:ext uri="{BB962C8B-B14F-4D97-AF65-F5344CB8AC3E}">
        <p14:creationId xmlns:p14="http://schemas.microsoft.com/office/powerpoint/2010/main" val="334552276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68A0DA-EF88-A891-9F84-F8396C11C3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KH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FA44A92-6CB6-5FC8-C40A-8216978D91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7A51AF-933C-9446-AB7C-4A14F59AF2F3}" type="datetimeFigureOut">
              <a:rPr lang="en-KH" smtClean="0"/>
              <a:t>19/2/26</a:t>
            </a:fld>
            <a:endParaRPr lang="en-KH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BFCEEBE-3A6F-6309-B07F-8BC14F749B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KH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A27192F-FB9E-FC80-8ACE-F2D8744246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3312EF-28A4-0246-9A95-0A9CE360A7B2}" type="slidenum">
              <a:rPr lang="en-KH" smtClean="0"/>
              <a:t>‹#›</a:t>
            </a:fld>
            <a:endParaRPr lang="en-KH"/>
          </a:p>
        </p:txBody>
      </p:sp>
    </p:spTree>
    <p:extLst>
      <p:ext uri="{BB962C8B-B14F-4D97-AF65-F5344CB8AC3E}">
        <p14:creationId xmlns:p14="http://schemas.microsoft.com/office/powerpoint/2010/main" val="393208871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0AA8E491-E1F8-8751-8252-11FCE4A69D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7A51AF-933C-9446-AB7C-4A14F59AF2F3}" type="datetimeFigureOut">
              <a:rPr lang="en-KH" smtClean="0"/>
              <a:t>19/2/26</a:t>
            </a:fld>
            <a:endParaRPr lang="en-KH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2182E04-D7B8-01A9-0FFD-03FF9F8E8D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KH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CC2186F-9254-9D89-55D8-75C414CE86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3312EF-28A4-0246-9A95-0A9CE360A7B2}" type="slidenum">
              <a:rPr lang="en-KH" smtClean="0"/>
              <a:t>‹#›</a:t>
            </a:fld>
            <a:endParaRPr lang="en-KH"/>
          </a:p>
        </p:txBody>
      </p:sp>
    </p:spTree>
    <p:extLst>
      <p:ext uri="{BB962C8B-B14F-4D97-AF65-F5344CB8AC3E}">
        <p14:creationId xmlns:p14="http://schemas.microsoft.com/office/powerpoint/2010/main" val="368384010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3941F4-FC4D-AD9F-340A-60400B381B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KH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B1635C5-0D68-7984-C398-8FF9D26B2AF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KH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5A0C6B4-2BFE-AACD-3C8F-791644B46B3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0830EEE-36C9-C890-AA6E-C7D41AFFBB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7A51AF-933C-9446-AB7C-4A14F59AF2F3}" type="datetimeFigureOut">
              <a:rPr lang="en-KH" smtClean="0"/>
              <a:t>19/2/26</a:t>
            </a:fld>
            <a:endParaRPr lang="en-KH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2804BD5-1B0C-A6A1-CB1E-7F3088E14B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KH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D92806C-198E-9B48-60B9-8D100B7089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3312EF-28A4-0246-9A95-0A9CE360A7B2}" type="slidenum">
              <a:rPr lang="en-KH" smtClean="0"/>
              <a:t>‹#›</a:t>
            </a:fld>
            <a:endParaRPr lang="en-KH"/>
          </a:p>
        </p:txBody>
      </p:sp>
    </p:spTree>
    <p:extLst>
      <p:ext uri="{BB962C8B-B14F-4D97-AF65-F5344CB8AC3E}">
        <p14:creationId xmlns:p14="http://schemas.microsoft.com/office/powerpoint/2010/main" val="356507983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FD7767-5206-B51A-F11B-94BAE866EA1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KH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84E6E24-1F13-33C8-CA09-CF8C3D8FECB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KH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E9867FE-C012-5FD3-F77C-DE609CB6CDB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D0F4DA8-DA37-E3B9-C1F8-DA37D22C33F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7A51AF-933C-9446-AB7C-4A14F59AF2F3}" type="datetimeFigureOut">
              <a:rPr lang="en-KH" smtClean="0"/>
              <a:t>19/2/26</a:t>
            </a:fld>
            <a:endParaRPr lang="en-KH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CE1ADDC-871E-7F98-022B-FE66B287B3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KH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33DF440-5BE5-49FE-16CA-3E163353A1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3312EF-28A4-0246-9A95-0A9CE360A7B2}" type="slidenum">
              <a:rPr lang="en-KH" smtClean="0"/>
              <a:t>‹#›</a:t>
            </a:fld>
            <a:endParaRPr lang="en-KH"/>
          </a:p>
        </p:txBody>
      </p:sp>
    </p:spTree>
    <p:extLst>
      <p:ext uri="{BB962C8B-B14F-4D97-AF65-F5344CB8AC3E}">
        <p14:creationId xmlns:p14="http://schemas.microsoft.com/office/powerpoint/2010/main" val="342673539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8ECCA5-B5B9-71EF-30B5-652D0A9E85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KH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E81F8E4-CB5E-2DAD-CDA3-7C753D96098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K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F1DCF3F-7F37-C3FE-F2FC-DF200465AC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7A51AF-933C-9446-AB7C-4A14F59AF2F3}" type="datetimeFigureOut">
              <a:rPr lang="en-KH" smtClean="0"/>
              <a:t>19/2/26</a:t>
            </a:fld>
            <a:endParaRPr lang="en-K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417EB44-3DA1-1DB8-DDBD-991061BD9F3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K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258CE1A-B5C5-A4C6-303E-54C9263D10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3312EF-28A4-0246-9A95-0A9CE360A7B2}" type="slidenum">
              <a:rPr lang="en-KH" smtClean="0"/>
              <a:t>‹#›</a:t>
            </a:fld>
            <a:endParaRPr lang="en-KH"/>
          </a:p>
        </p:txBody>
      </p:sp>
    </p:spTree>
    <p:extLst>
      <p:ext uri="{BB962C8B-B14F-4D97-AF65-F5344CB8AC3E}">
        <p14:creationId xmlns:p14="http://schemas.microsoft.com/office/powerpoint/2010/main" val="417384281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625D7DAB-DDDE-8643-83A3-8B177C3A9E5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KH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356E13D-129B-2C77-FD05-B1BB45BD74B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K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60D8C85-9541-9EBD-54A6-26A31FEE596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7A51AF-933C-9446-AB7C-4A14F59AF2F3}" type="datetimeFigureOut">
              <a:rPr lang="en-KH" smtClean="0"/>
              <a:t>19/2/26</a:t>
            </a:fld>
            <a:endParaRPr lang="en-K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B76762D-DE41-3B0D-37A5-7B3A040DC1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K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E33DBA5-5CC0-FE80-8C83-4E8C6E28FF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3312EF-28A4-0246-9A95-0A9CE360A7B2}" type="slidenum">
              <a:rPr lang="en-KH" smtClean="0"/>
              <a:t>‹#›</a:t>
            </a:fld>
            <a:endParaRPr lang="en-KH"/>
          </a:p>
        </p:txBody>
      </p:sp>
    </p:spTree>
    <p:extLst>
      <p:ext uri="{BB962C8B-B14F-4D97-AF65-F5344CB8AC3E}">
        <p14:creationId xmlns:p14="http://schemas.microsoft.com/office/powerpoint/2010/main" val="153768499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DB53CF3-A869-244F-3FF5-4BEF2238520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KH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3FC56A3-3D0F-1C46-F625-43A6AAF8DE3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K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6311A31-2AC6-AC57-EDC2-D54C8048BB3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F7A51AF-933C-9446-AB7C-4A14F59AF2F3}" type="datetimeFigureOut">
              <a:rPr lang="en-KH" smtClean="0"/>
              <a:t>19/2/26</a:t>
            </a:fld>
            <a:endParaRPr lang="en-K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2C582D2-80F7-CCB1-8D23-DDCA04E8C10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K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96E82A1-1183-9FA9-82EB-0FC03B035B7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33312EF-28A4-0246-9A95-0A9CE360A7B2}" type="slidenum">
              <a:rPr lang="en-KH" smtClean="0"/>
              <a:t>‹#›</a:t>
            </a:fld>
            <a:endParaRPr lang="en-KH"/>
          </a:p>
        </p:txBody>
      </p:sp>
    </p:spTree>
    <p:extLst>
      <p:ext uri="{BB962C8B-B14F-4D97-AF65-F5344CB8AC3E}">
        <p14:creationId xmlns:p14="http://schemas.microsoft.com/office/powerpoint/2010/main" val="390733387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KH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hyperlink" Target="https://www.oracle.com/java/technologies/downloads/" TargetMode="Externa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hyperlink" Target="https://netbeans.apache.org/front/main/download" TargetMode="External"/><Relationship Id="rId2" Type="http://schemas.openxmlformats.org/officeDocument/2006/relationships/hyperlink" Target="https://spring.io/tools#eclipse" TargetMode="Externa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.png"/><Relationship Id="rId5" Type="http://schemas.openxmlformats.org/officeDocument/2006/relationships/hyperlink" Target="https://www.jetbrains.com/idea/download" TargetMode="External"/><Relationship Id="rId4" Type="http://schemas.openxmlformats.org/officeDocument/2006/relationships/hyperlink" Target="https://code.visualstudio.com/download" TargetMode="Externa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/Relationships>
</file>

<file path=ppt/slides/_rels/slide5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/Relationships>
</file>

<file path=ppt/slides/_rels/slide6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.xml"/></Relationships>
</file>

<file path=ppt/slides/_rels/slide6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.xml"/></Relationships>
</file>

<file path=ppt/slides/_rels/slide6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.xml"/></Relationships>
</file>

<file path=ppt/slides/_rels/slide6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.xml"/></Relationships>
</file>

<file path=ppt/slides/_rels/slide6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1.xml"/></Relationships>
</file>

<file path=ppt/slides/_rels/slide6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1.xml"/></Relationships>
</file>

<file path=ppt/slides/_rels/slide6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1.xml"/></Relationships>
</file>

<file path=ppt/slides/_rels/slide6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1.xml"/></Relationships>
</file>

<file path=ppt/slides/_rels/slide6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1.xml"/></Relationships>
</file>

<file path=ppt/slides/_rels/slide6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1.xml"/></Relationships>
</file>

<file path=ppt/slides/_rels/slide7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1.xml"/></Relationships>
</file>

<file path=ppt/slides/_rels/slide7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1.xml"/></Relationships>
</file>

<file path=ppt/slides/_rels/slide7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1.xml"/></Relationships>
</file>

<file path=ppt/slides/_rels/slide7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Java programming language - ProgKids">
            <a:extLst>
              <a:ext uri="{FF2B5EF4-FFF2-40B4-BE49-F238E27FC236}">
                <a16:creationId xmlns:a16="http://schemas.microsoft.com/office/drawing/2014/main" id="{E15B2BE2-42B3-05E4-B46E-AF9EC81B46C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96356" y="86504"/>
            <a:ext cx="6853818" cy="4283637"/>
          </a:xfrm>
          <a:prstGeom prst="rect">
            <a:avLst/>
          </a:prstGeom>
          <a:noFill/>
          <a:effectLst>
            <a:outerShdw blurRad="50800" dist="50800" dir="5400000" sx="1000" sy="1000" algn="ctr" rotWithShape="0">
              <a:srgbClr val="000000">
                <a:alpha val="43137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E6E77245-BB7E-31F8-2C0A-701588E624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76700" y="3530601"/>
            <a:ext cx="7073900" cy="1854200"/>
          </a:xfrm>
          <a:effectLst>
            <a:outerShdw blurRad="50800" dist="50800" dir="5400000" sx="1000" sy="1000" algn="ctr" rotWithShape="0">
              <a:srgbClr val="000000">
                <a:alpha val="43137"/>
              </a:srgbClr>
            </a:outerShdw>
          </a:effectLst>
        </p:spPr>
        <p:txBody>
          <a:bodyPr>
            <a:noAutofit/>
          </a:bodyPr>
          <a:lstStyle/>
          <a:p>
            <a:pPr algn="ctr"/>
            <a:br>
              <a:rPr lang="en-KH" sz="6000" dirty="0">
                <a:solidFill>
                  <a:srgbClr val="002060"/>
                </a:solidFill>
                <a:effectLst>
                  <a:innerShdw blurRad="63500" dist="50800" dir="16200000">
                    <a:prstClr val="black">
                      <a:alpha val="50000"/>
                    </a:prstClr>
                  </a:innerShdw>
                </a:effectLst>
                <a:latin typeface="Khmer OS Battambang" panose="02000500000000020004" pitchFamily="2" charset="77"/>
                <a:cs typeface="Khmer OS Battambang" panose="02000500000000020004" pitchFamily="2" charset="77"/>
              </a:rPr>
            </a:br>
            <a:br>
              <a:rPr lang="en-KH" sz="6000" dirty="0">
                <a:solidFill>
                  <a:srgbClr val="002060"/>
                </a:solidFill>
                <a:effectLst>
                  <a:innerShdw blurRad="63500" dist="50800" dir="16200000">
                    <a:prstClr val="black">
                      <a:alpha val="50000"/>
                    </a:prstClr>
                  </a:innerShdw>
                </a:effectLst>
                <a:latin typeface="Khmer OS Battambang" panose="02000500000000020004" pitchFamily="2" charset="77"/>
                <a:cs typeface="Khmer OS Battambang" panose="02000500000000020004" pitchFamily="2" charset="77"/>
              </a:rPr>
            </a:br>
            <a:br>
              <a:rPr lang="en-KH" sz="6000" dirty="0">
                <a:ln w="0"/>
                <a:gradFill>
                  <a:gsLst>
                    <a:gs pos="0">
                      <a:schemeClr val="accent5">
                        <a:lumMod val="50000"/>
                      </a:schemeClr>
                    </a:gs>
                    <a:gs pos="50000">
                      <a:schemeClr val="accent5"/>
                    </a:gs>
                    <a:gs pos="100000">
                      <a:schemeClr val="accent5">
                        <a:lumMod val="60000"/>
                        <a:lumOff val="40000"/>
                      </a:schemeClr>
                    </a:gs>
                  </a:gsLst>
                  <a:lin ang="5400000"/>
                </a:gradFill>
                <a:effectLst>
                  <a:reflection blurRad="6350" stA="53000" endA="300" endPos="35500" dir="5400000" sy="-90000" algn="bl" rotWithShape="0"/>
                </a:effectLst>
                <a:latin typeface="Khmer OS Battambang" panose="02000500000000020004" pitchFamily="2" charset="77"/>
                <a:cs typeface="Khmer OS Battambang" panose="02000500000000020004" pitchFamily="2" charset="77"/>
              </a:rPr>
            </a:br>
            <a:r>
              <a:rPr lang="en-KH" sz="5400" dirty="0">
                <a:ln w="0"/>
                <a:gradFill>
                  <a:gsLst>
                    <a:gs pos="0">
                      <a:schemeClr val="accent5">
                        <a:lumMod val="50000"/>
                      </a:schemeClr>
                    </a:gs>
                    <a:gs pos="50000">
                      <a:schemeClr val="accent5"/>
                    </a:gs>
                    <a:gs pos="100000">
                      <a:schemeClr val="accent5">
                        <a:lumMod val="60000"/>
                        <a:lumOff val="40000"/>
                      </a:schemeClr>
                    </a:gs>
                  </a:gsLst>
                  <a:lin ang="5400000"/>
                </a:gradFill>
                <a:effectLst>
                  <a:reflection blurRad="6350" stA="53000" endA="300" endPos="35500" dir="5400000" sy="-90000" algn="bl" rotWithShape="0"/>
                </a:effectLst>
                <a:latin typeface="Khmer OS Battambang" panose="02000500000000020004" pitchFamily="2" charset="77"/>
                <a:cs typeface="Khmer OS Battambang" panose="02000500000000020004" pitchFamily="2" charset="77"/>
              </a:rPr>
              <a:t>សម្រាប់អ្នកចាប់ផ្តើមដំបូង</a:t>
            </a:r>
            <a:br>
              <a:rPr lang="en-KH" sz="60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</a:br>
            <a:br>
              <a:rPr lang="en-KH" sz="60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</a:br>
            <a:br>
              <a:rPr lang="en-KH" sz="60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</a:br>
            <a:endParaRPr lang="en-KH" sz="6000" dirty="0">
              <a:solidFill>
                <a:srgbClr val="00206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0EBDD3B2-F42D-358F-CBF2-3B58D1169800}"/>
              </a:ext>
            </a:extLst>
          </p:cNvPr>
          <p:cNvSpPr txBox="1">
            <a:spLocks/>
          </p:cNvSpPr>
          <p:nvPr/>
        </p:nvSpPr>
        <p:spPr>
          <a:xfrm>
            <a:off x="539750" y="5858956"/>
            <a:ext cx="4895850" cy="761999"/>
          </a:xfrm>
          <a:prstGeom prst="rect">
            <a:avLst/>
          </a:prstGeom>
          <a:effectLst>
            <a:outerShdw blurRad="50800" dist="50800" dir="5400000" sx="1000" sy="1000" algn="ctr" rotWithShape="0">
              <a:srgbClr val="000000">
                <a:alpha val="43137"/>
              </a:srgbClr>
            </a:outerShdw>
          </a:effectLst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KH" sz="2800" dirty="0">
                <a:solidFill>
                  <a:srgbClr val="002060"/>
                </a:solidFill>
                <a:effectLst>
                  <a:innerShdw blurRad="63500" dist="50800" dir="16200000">
                    <a:prstClr val="black">
                      <a:alpha val="50000"/>
                    </a:prstClr>
                  </a:innerShdw>
                </a:effectLst>
                <a:latin typeface="Khmer OS Battambang" panose="02000500000000020004" pitchFamily="2" charset="77"/>
                <a:cs typeface="Khmer OS Battambang" panose="02000500000000020004" pitchFamily="2" charset="77"/>
              </a:rPr>
              <a:t>បង្រៀនដោយ៖ លោក ងួន ឆេងហ៊ី</a:t>
            </a:r>
            <a:endParaRPr lang="en-KH" sz="2800" dirty="0">
              <a:solidFill>
                <a:srgbClr val="00206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131243788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1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7" dur="2000"/>
                                        <p:tgtEl>
                                          <p:spTgt spid="10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000"/>
                            </p:stCondLst>
                            <p:childTnLst>
                              <p:par>
                                <p:cTn id="9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1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2500"/>
                            </p:stCondLst>
                            <p:childTnLst>
                              <p:par>
                                <p:cTn id="15" presetID="41" presetClass="entr" presetSubtype="0" fill="hold" grpId="0" nodeType="afterEffect">
                                  <p:stCondLst>
                                    <p:cond delay="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7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50000">
                                          <p:val>
                                            <p:strVal val="#ppt_x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8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/10"/>
                                          </p:val>
                                        </p:tav>
                                        <p:tav tm="50000">
                                          <p:val>
                                            <p:strVal val="#ppt_h+.01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/10"/>
                                          </p:val>
                                        </p:tav>
                                        <p:tav tm="50000">
                                          <p:val>
                                            <p:strVal val="#ppt_w+.01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1" dur="500" tmFilter="0,0; .5, 1; 1, 1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47E3D8-2A3E-05E8-5FD6-6DB6F5BEB45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701800" y="119781"/>
            <a:ext cx="9144000" cy="789373"/>
          </a:xfrm>
        </p:spPr>
        <p:txBody>
          <a:bodyPr>
            <a:normAutofit/>
          </a:bodyPr>
          <a:lstStyle/>
          <a:p>
            <a:pPr algn="l"/>
            <a:r>
              <a:rPr lang="en-KH" sz="3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មាតិកា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2AAAA15-100F-2D87-E3A6-1E413672A8D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931938" y="1417637"/>
            <a:ext cx="10472662" cy="5125659"/>
          </a:xfrm>
        </p:spPr>
        <p:txBody>
          <a:bodyPr numCol="2">
            <a:normAutofit fontScale="70000" lnSpcReduction="20000"/>
          </a:bodyPr>
          <a:lstStyle/>
          <a:p>
            <a:pPr marL="457200" indent="-457200" algn="l">
              <a:lnSpc>
                <a:spcPct val="150000"/>
              </a:lnSpc>
              <a:buFont typeface="Wingdings" pitchFamily="2" charset="2"/>
              <a:buChar char="v"/>
            </a:pPr>
            <a:r>
              <a:rPr lang="en-KH" sz="32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លក្ខណៈទូរទៅ និងការដំឡើង JDK</a:t>
            </a:r>
          </a:p>
          <a:p>
            <a:pPr marL="457200" indent="-457200" algn="l">
              <a:lnSpc>
                <a:spcPct val="150000"/>
              </a:lnSpc>
              <a:buFont typeface="Wingdings" pitchFamily="2" charset="2"/>
              <a:buChar char="v"/>
            </a:pPr>
            <a:r>
              <a:rPr lang="en-KH" sz="32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ប្រភេទទិន្នន័យ</a:t>
            </a:r>
          </a:p>
          <a:p>
            <a:pPr marL="457200" indent="-457200" algn="l">
              <a:lnSpc>
                <a:spcPct val="150000"/>
              </a:lnSpc>
              <a:buFont typeface="Wingdings" pitchFamily="2" charset="2"/>
              <a:buChar char="v"/>
            </a:pPr>
            <a:r>
              <a:rPr lang="en-KH" sz="32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Variable</a:t>
            </a:r>
          </a:p>
          <a:p>
            <a:pPr marL="457200" indent="-457200" algn="l">
              <a:lnSpc>
                <a:spcPct val="150000"/>
              </a:lnSpc>
              <a:buFont typeface="Wingdings" pitchFamily="2" charset="2"/>
              <a:buChar char="v"/>
            </a:pPr>
            <a:r>
              <a:rPr lang="en-KH" sz="32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ប្រតិបត្តិករ (Operators)</a:t>
            </a:r>
          </a:p>
          <a:p>
            <a:pPr marL="457200" indent="-457200" algn="l">
              <a:lnSpc>
                <a:spcPct val="150000"/>
              </a:lnSpc>
              <a:buFont typeface="Wingdings" pitchFamily="2" charset="2"/>
              <a:buChar char="v"/>
            </a:pPr>
            <a:r>
              <a:rPr lang="en-KH" sz="32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Control Flow</a:t>
            </a:r>
          </a:p>
          <a:p>
            <a:pPr marL="457200" indent="-457200" algn="l">
              <a:lnSpc>
                <a:spcPct val="150000"/>
              </a:lnSpc>
              <a:buFont typeface="Wingdings" pitchFamily="2" charset="2"/>
              <a:buChar char="v"/>
            </a:pPr>
            <a:r>
              <a:rPr lang="en-KH" sz="32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Method និងParameter</a:t>
            </a:r>
          </a:p>
          <a:p>
            <a:pPr marL="457200" indent="-457200" algn="l">
              <a:lnSpc>
                <a:spcPct val="150000"/>
              </a:lnSpc>
              <a:buFont typeface="Wingdings" pitchFamily="2" charset="2"/>
              <a:buChar char="v"/>
            </a:pPr>
            <a:r>
              <a:rPr lang="en-KH" sz="32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Arrays និងមូលដ្ឋាននៃការប្រមូល</a:t>
            </a:r>
          </a:p>
          <a:p>
            <a:pPr marL="457200" indent="-457200" algn="l">
              <a:lnSpc>
                <a:spcPct val="150000"/>
              </a:lnSpc>
              <a:buFont typeface="Wingdings" pitchFamily="2" charset="2"/>
              <a:buChar char="v"/>
            </a:pPr>
            <a:r>
              <a:rPr lang="en-KH" sz="32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OOP Concepts</a:t>
            </a:r>
          </a:p>
          <a:p>
            <a:pPr marL="457200" indent="-457200" algn="l">
              <a:lnSpc>
                <a:spcPct val="150000"/>
              </a:lnSpc>
              <a:buFont typeface="Wingdings" pitchFamily="2" charset="2"/>
              <a:buChar char="v"/>
            </a:pPr>
            <a:r>
              <a:rPr lang="en-KH" sz="32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class និង object</a:t>
            </a:r>
          </a:p>
          <a:p>
            <a:pPr marL="457200" indent="-457200" algn="l">
              <a:lnSpc>
                <a:spcPct val="150000"/>
              </a:lnSpc>
              <a:buFont typeface="Wingdings" pitchFamily="2" charset="2"/>
              <a:buChar char="v"/>
            </a:pPr>
            <a:r>
              <a:rPr lang="en-KH" sz="32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Inheritance</a:t>
            </a:r>
          </a:p>
          <a:p>
            <a:pPr marL="457200" indent="-457200" algn="l">
              <a:lnSpc>
                <a:spcPct val="150000"/>
              </a:lnSpc>
              <a:buFont typeface="Wingdings" pitchFamily="2" charset="2"/>
              <a:buChar char="v"/>
            </a:pPr>
            <a:r>
              <a:rPr lang="en-KH" sz="32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Polymorphism</a:t>
            </a:r>
          </a:p>
          <a:p>
            <a:pPr marL="457200" indent="-457200" algn="l">
              <a:lnSpc>
                <a:spcPct val="150000"/>
              </a:lnSpc>
              <a:buFont typeface="Wingdings" pitchFamily="2" charset="2"/>
              <a:buChar char="v"/>
            </a:pPr>
            <a:r>
              <a:rPr lang="en-KH" sz="32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Abstraction</a:t>
            </a:r>
          </a:p>
          <a:p>
            <a:pPr marL="457200" indent="-457200" algn="l">
              <a:lnSpc>
                <a:spcPct val="150000"/>
              </a:lnSpc>
              <a:buFont typeface="Wingdings" pitchFamily="2" charset="2"/>
              <a:buChar char="v"/>
            </a:pPr>
            <a:r>
              <a:rPr lang="en-KH" sz="32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ការកាន់កាប់ Exception</a:t>
            </a:r>
          </a:p>
          <a:p>
            <a:pPr marL="457200" indent="-457200" algn="l">
              <a:lnSpc>
                <a:spcPct val="150000"/>
              </a:lnSpc>
              <a:buFont typeface="Wingdings" pitchFamily="2" charset="2"/>
              <a:buChar char="v"/>
            </a:pPr>
            <a:r>
              <a:rPr lang="en-KH" sz="32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មូលដ្ឋាននៃ I/O</a:t>
            </a:r>
          </a:p>
          <a:p>
            <a:pPr marL="457200" indent="-457200" algn="l">
              <a:lnSpc>
                <a:spcPct val="150000"/>
              </a:lnSpc>
              <a:buFont typeface="Wingdings" pitchFamily="2" charset="2"/>
              <a:buChar char="v"/>
            </a:pPr>
            <a:r>
              <a:rPr lang="en-KH" sz="32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ការណែនាំអំពី Java Package </a:t>
            </a:r>
          </a:p>
          <a:p>
            <a:pPr marL="457200" indent="-457200" algn="l">
              <a:lnSpc>
                <a:spcPct val="150000"/>
              </a:lnSpc>
              <a:buFont typeface="Wingdings" pitchFamily="2" charset="2"/>
              <a:buChar char="v"/>
            </a:pPr>
            <a:r>
              <a:rPr lang="en-KH" sz="32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ការអនុវត្តន៍ Java Project</a:t>
            </a:r>
          </a:p>
          <a:p>
            <a:pPr marL="457200" indent="-457200" algn="l">
              <a:lnSpc>
                <a:spcPct val="150000"/>
              </a:lnSpc>
              <a:buFont typeface="Wingdings" pitchFamily="2" charset="2"/>
              <a:buChar char="v"/>
            </a:pPr>
            <a:endParaRPr lang="en-KH" sz="3200" dirty="0">
              <a:solidFill>
                <a:srgbClr val="00206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  <a:p>
            <a:pPr marL="457200" indent="-457200" algn="l">
              <a:lnSpc>
                <a:spcPct val="150000"/>
              </a:lnSpc>
              <a:buFont typeface="Wingdings" pitchFamily="2" charset="2"/>
              <a:buChar char="v"/>
            </a:pPr>
            <a:endParaRPr lang="en-KH" sz="3200" dirty="0">
              <a:solidFill>
                <a:srgbClr val="0070C0"/>
              </a:solidFill>
              <a:latin typeface="Kh Battambang" panose="02000500000000020004" pitchFamily="2" charset="77"/>
              <a:cs typeface="Kh Battambang" panose="02000500000000020004" pitchFamily="2" charset="77"/>
            </a:endParaRP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84ED8EBF-9896-23AD-8846-2B72B1837D16}"/>
              </a:ext>
            </a:extLst>
          </p:cNvPr>
          <p:cNvCxnSpPr/>
          <p:nvPr/>
        </p:nvCxnSpPr>
        <p:spPr>
          <a:xfrm>
            <a:off x="0" y="1050468"/>
            <a:ext cx="12192000" cy="0"/>
          </a:xfrm>
          <a:prstGeom prst="line">
            <a:avLst/>
          </a:prstGeom>
          <a:ln w="57150">
            <a:solidFill>
              <a:srgbClr val="D49B0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062F01DB-C154-4658-5F7F-C4B6AD82BFD8}"/>
              </a:ext>
            </a:extLst>
          </p:cNvPr>
          <p:cNvCxnSpPr>
            <a:cxnSpLocks/>
          </p:cNvCxnSpPr>
          <p:nvPr/>
        </p:nvCxnSpPr>
        <p:spPr>
          <a:xfrm>
            <a:off x="0" y="979812"/>
            <a:ext cx="12192000" cy="0"/>
          </a:xfrm>
          <a:prstGeom prst="line">
            <a:avLst/>
          </a:prstGeom>
          <a:ln w="57150">
            <a:solidFill>
              <a:srgbClr val="1C27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7" name="Picture 46" descr="A blue circle with a yellow and white bird in it&#10;&#10;AI-generated content may be incorrect.">
            <a:extLst>
              <a:ext uri="{FF2B5EF4-FFF2-40B4-BE49-F238E27FC236}">
                <a16:creationId xmlns:a16="http://schemas.microsoft.com/office/drawing/2014/main" id="{3609D81B-335C-FBB0-B76B-6DDCD80E223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5438" y="219712"/>
            <a:ext cx="606500" cy="606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9745051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47E3D8-2A3E-05E8-5FD6-6DB6F5BEB45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701800" y="119781"/>
            <a:ext cx="9144000" cy="789373"/>
          </a:xfrm>
        </p:spPr>
        <p:txBody>
          <a:bodyPr>
            <a:normAutofit/>
          </a:bodyPr>
          <a:lstStyle/>
          <a:p>
            <a:pPr algn="l"/>
            <a:r>
              <a:rPr lang="en-KH" sz="3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អ្វីទៅជា Java?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2AAAA15-100F-2D87-E3A6-1E413672A8D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931938" y="1417638"/>
            <a:ext cx="10472662" cy="4389894"/>
          </a:xfrm>
        </p:spPr>
        <p:txBody>
          <a:bodyPr>
            <a:normAutofit fontScale="92500"/>
          </a:bodyPr>
          <a:lstStyle/>
          <a:p>
            <a:pPr algn="l"/>
            <a:endParaRPr lang="en-KH" dirty="0"/>
          </a:p>
          <a:p>
            <a:pPr algn="l">
              <a:lnSpc>
                <a:spcPct val="150000"/>
              </a:lnSpc>
            </a:pPr>
            <a:r>
              <a:rPr lang="en-KH" dirty="0"/>
              <a:t>	</a:t>
            </a:r>
            <a:r>
              <a:rPr lang="en-KH" sz="32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Java </a:t>
            </a:r>
            <a:r>
              <a:rPr lang="en-KH" sz="3200" dirty="0">
                <a:solidFill>
                  <a:srgbClr val="0070C0"/>
                </a:solidFill>
                <a:latin typeface="Kh Battambang" panose="02000500000000020004" pitchFamily="2" charset="77"/>
                <a:cs typeface="Kh Battambang" panose="02000500000000020004" pitchFamily="2" charset="77"/>
              </a:rPr>
              <a:t>គឺជាភាសាសរសេរកម្មវីធីដ៍ពេញនិយម និងតម្រង់ទិសវត្ថុ(</a:t>
            </a:r>
            <a:r>
              <a:rPr lang="en-US" sz="3200" dirty="0">
                <a:solidFill>
                  <a:srgbClr val="0070C0"/>
                </a:solidFill>
                <a:latin typeface="Kh Battambang" panose="02000500000000020004" pitchFamily="2" charset="77"/>
                <a:cs typeface="Kh Battambang" panose="02000500000000020004" pitchFamily="2" charset="77"/>
              </a:rPr>
              <a:t>Object-Oriented Programing)​ </a:t>
            </a:r>
            <a:r>
              <a:rPr lang="en-US" sz="3200" dirty="0" err="1">
                <a:solidFill>
                  <a:srgbClr val="0070C0"/>
                </a:solidFill>
                <a:latin typeface="Kh Battambang" panose="02000500000000020004" pitchFamily="2" charset="77"/>
                <a:cs typeface="Kh Battambang" panose="02000500000000020004" pitchFamily="2" charset="77"/>
              </a:rPr>
              <a:t>ដែលត្រូវបានបង្កើតឡើងដោយក្រុមហ៊ុន</a:t>
            </a:r>
            <a:r>
              <a:rPr lang="en-US" sz="3200" dirty="0">
                <a:solidFill>
                  <a:srgbClr val="0070C0"/>
                </a:solidFill>
                <a:latin typeface="Kh Battambang" panose="02000500000000020004" pitchFamily="2" charset="77"/>
                <a:cs typeface="Kh Battambang" panose="02000500000000020004" pitchFamily="2" charset="77"/>
              </a:rPr>
              <a:t> Sun Microsystems </a:t>
            </a:r>
            <a:r>
              <a:rPr lang="en-US" sz="3200" dirty="0" err="1">
                <a:solidFill>
                  <a:srgbClr val="0070C0"/>
                </a:solidFill>
                <a:latin typeface="Kh Battambang" panose="02000500000000020004" pitchFamily="2" charset="77"/>
                <a:cs typeface="Kh Battambang" panose="02000500000000020004" pitchFamily="2" charset="77"/>
              </a:rPr>
              <a:t>ដែលបច្ចុប្បន្នត្រូវបានគ្រប់គ្រងដោយក្រុមហ៊ុន</a:t>
            </a:r>
            <a:r>
              <a:rPr lang="en-US" sz="3200" dirty="0">
                <a:solidFill>
                  <a:srgbClr val="0070C0"/>
                </a:solidFill>
                <a:latin typeface="Kh Battambang" panose="02000500000000020004" pitchFamily="2" charset="77"/>
                <a:cs typeface="Kh Battambang" panose="02000500000000020004" pitchFamily="2" charset="77"/>
              </a:rPr>
              <a:t> Oracle។ </a:t>
            </a:r>
            <a:r>
              <a:rPr lang="en-US" sz="3200" dirty="0" err="1">
                <a:solidFill>
                  <a:srgbClr val="0070C0"/>
                </a:solidFill>
                <a:latin typeface="Kh Battambang" panose="02000500000000020004" pitchFamily="2" charset="77"/>
                <a:cs typeface="Kh Battambang" panose="02000500000000020004" pitchFamily="2" charset="77"/>
              </a:rPr>
              <a:t>កម្មវីធីដែលសរសេរដោយភាសា</a:t>
            </a:r>
            <a:r>
              <a:rPr lang="en-US" sz="3200" dirty="0">
                <a:solidFill>
                  <a:srgbClr val="0070C0"/>
                </a:solidFill>
                <a:latin typeface="Kh Battambang" panose="02000500000000020004" pitchFamily="2" charset="77"/>
                <a:cs typeface="Kh Battambang" panose="02000500000000020004" pitchFamily="2" charset="77"/>
              </a:rPr>
              <a:t> Java </a:t>
            </a:r>
            <a:r>
              <a:rPr lang="en-US" sz="3200" dirty="0" err="1">
                <a:solidFill>
                  <a:srgbClr val="0070C0"/>
                </a:solidFill>
                <a:latin typeface="Kh Battambang" panose="02000500000000020004" pitchFamily="2" charset="77"/>
                <a:cs typeface="Kh Battambang" panose="02000500000000020004" pitchFamily="2" charset="77"/>
              </a:rPr>
              <a:t>អាចដំណើរការលើគ្រប់ឧបករណ៍ណាដែលមាន</a:t>
            </a:r>
            <a:r>
              <a:rPr lang="en-US" sz="3200" dirty="0">
                <a:solidFill>
                  <a:srgbClr val="0070C0"/>
                </a:solidFill>
                <a:latin typeface="Kh Battambang" panose="02000500000000020004" pitchFamily="2" charset="77"/>
                <a:cs typeface="Kh Battambang" panose="02000500000000020004" pitchFamily="2" charset="77"/>
              </a:rPr>
              <a:t> Java Virtual Machine (JVM)។</a:t>
            </a:r>
            <a:endParaRPr lang="en-KH" sz="3200" dirty="0">
              <a:solidFill>
                <a:srgbClr val="0070C0"/>
              </a:solidFill>
              <a:latin typeface="Kh Battambang" panose="02000500000000020004" pitchFamily="2" charset="77"/>
              <a:cs typeface="Kh Battambang" panose="02000500000000020004" pitchFamily="2" charset="77"/>
            </a:endParaRP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84ED8EBF-9896-23AD-8846-2B72B1837D16}"/>
              </a:ext>
            </a:extLst>
          </p:cNvPr>
          <p:cNvCxnSpPr/>
          <p:nvPr/>
        </p:nvCxnSpPr>
        <p:spPr>
          <a:xfrm>
            <a:off x="0" y="1050468"/>
            <a:ext cx="12192000" cy="0"/>
          </a:xfrm>
          <a:prstGeom prst="line">
            <a:avLst/>
          </a:prstGeom>
          <a:ln w="57150">
            <a:solidFill>
              <a:srgbClr val="D49B0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062F01DB-C154-4658-5F7F-C4B6AD82BFD8}"/>
              </a:ext>
            </a:extLst>
          </p:cNvPr>
          <p:cNvCxnSpPr>
            <a:cxnSpLocks/>
          </p:cNvCxnSpPr>
          <p:nvPr/>
        </p:nvCxnSpPr>
        <p:spPr>
          <a:xfrm>
            <a:off x="0" y="979812"/>
            <a:ext cx="12192000" cy="0"/>
          </a:xfrm>
          <a:prstGeom prst="line">
            <a:avLst/>
          </a:prstGeom>
          <a:ln w="57150">
            <a:solidFill>
              <a:srgbClr val="1C27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7" name="Picture 46" descr="A blue circle with a yellow and white bird in it&#10;&#10;AI-generated content may be incorrect.">
            <a:extLst>
              <a:ext uri="{FF2B5EF4-FFF2-40B4-BE49-F238E27FC236}">
                <a16:creationId xmlns:a16="http://schemas.microsoft.com/office/drawing/2014/main" id="{3609D81B-335C-FBB0-B76B-6DDCD80E223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5438" y="219712"/>
            <a:ext cx="606500" cy="606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70410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C3E2073-4B55-5AB1-4A05-4BFA987B50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D053E6-4CA8-AD7E-AC0C-3B2CE38F9C8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701800" y="119781"/>
            <a:ext cx="9144000" cy="789373"/>
          </a:xfrm>
        </p:spPr>
        <p:txBody>
          <a:bodyPr>
            <a:normAutofit/>
          </a:bodyPr>
          <a:lstStyle/>
          <a:p>
            <a:pPr algn="l"/>
            <a:r>
              <a:rPr lang="en-KH" sz="3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ប្រវត្តិនៃ Java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CB93D69-B108-5836-CD61-38CCB64F06E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931938" y="1195957"/>
            <a:ext cx="10472662" cy="5320581"/>
          </a:xfrm>
        </p:spPr>
        <p:txBody>
          <a:bodyPr>
            <a:normAutofit fontScale="32500" lnSpcReduction="20000"/>
          </a:bodyPr>
          <a:lstStyle/>
          <a:p>
            <a:pPr algn="l">
              <a:lnSpc>
                <a:spcPct val="150000"/>
              </a:lnSpc>
            </a:pPr>
            <a:r>
              <a:rPr lang="en-KH" sz="32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    </a:t>
            </a:r>
            <a:r>
              <a:rPr lang="en-KH" sz="44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KH" sz="74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Java </a:t>
            </a:r>
            <a:r>
              <a:rPr lang="en-KH" sz="74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ត្រូវាបានអភិវឌ្ឍជាភាសាថ្មីមួយ(ផ្អែកលើ C++) ចាប់ពីឆ្នាំ 1991 ដល់ 1994 ​ដោយលោក </a:t>
            </a:r>
            <a:r>
              <a:rPr lang="en-US" sz="74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James Gosling​, </a:t>
            </a:r>
            <a:r>
              <a:rPr lang="en-US" sz="74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លោក</a:t>
            </a:r>
            <a:r>
              <a:rPr lang="en-US" sz="74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Mike Sheridan </a:t>
            </a:r>
            <a:r>
              <a:rPr lang="en-US" sz="74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និងលោក</a:t>
            </a:r>
            <a:r>
              <a:rPr lang="en-US" sz="74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Patrick Naughton និងដាក់ឲ្យប្រើប្រាស់ជាផ្លូវការនៅឆ្នាំ1995។</a:t>
            </a:r>
            <a:br>
              <a:rPr lang="en-US" sz="74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</a:br>
            <a:r>
              <a:rPr lang="en-US" sz="74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    Sun Microsystems </a:t>
            </a:r>
            <a:r>
              <a:rPr lang="en-US" sz="74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បានដាក់ឲ្យប្រើប្រាស់ជាផ្លូវការនូវ</a:t>
            </a:r>
            <a:r>
              <a:rPr lang="en-US" sz="74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 Java 1.0 </a:t>
            </a:r>
            <a:r>
              <a:rPr lang="en-US" sz="74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ក្នុងឆ្នាំ</a:t>
            </a:r>
            <a:r>
              <a:rPr lang="en-US" sz="74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1996 </a:t>
            </a:r>
            <a:r>
              <a:rPr lang="en-US" sz="74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ជាមួយ</a:t>
            </a:r>
            <a:r>
              <a:rPr lang="en-US" sz="74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Web Applets </a:t>
            </a:r>
            <a:r>
              <a:rPr lang="en-US" sz="74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ដែលធ្វើឲ្យ</a:t>
            </a:r>
            <a:r>
              <a:rPr lang="en-US" sz="74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Java </a:t>
            </a:r>
            <a:r>
              <a:rPr lang="en-US" sz="74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កាន់តែមានភាពពេញនិយមសម្រាប</a:t>
            </a:r>
            <a:r>
              <a:rPr lang="en-US" sz="74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់ Dynamic Web Content។ </a:t>
            </a:r>
            <a:r>
              <a:rPr lang="en-US" sz="74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ក្រោយមកទៀត</a:t>
            </a:r>
            <a:r>
              <a:rPr lang="en-US" sz="74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Java 2(J2SE 1.2) </a:t>
            </a:r>
            <a:r>
              <a:rPr lang="en-US" sz="74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ដែលមាន</a:t>
            </a:r>
            <a:r>
              <a:rPr lang="en-US" sz="74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J2EE </a:t>
            </a:r>
            <a:r>
              <a:rPr lang="en-US" sz="74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សម្រាប់សហគ្រាស</a:t>
            </a:r>
            <a:r>
              <a:rPr lang="en-US" sz="74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sz="74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និង</a:t>
            </a:r>
            <a:r>
              <a:rPr lang="en-US" sz="74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J2ME </a:t>
            </a:r>
            <a:r>
              <a:rPr lang="en-US" sz="74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សម្រាប</a:t>
            </a:r>
            <a:r>
              <a:rPr lang="en-US" sz="74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់ Mobile </a:t>
            </a:r>
            <a:r>
              <a:rPr lang="en-US" sz="74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ត្រូវបានដាក់ឲ្យប្រើប្រាស់ជាផ្លូវការនៅឆ្នាំ</a:t>
            </a:r>
            <a:r>
              <a:rPr lang="en-US" sz="74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1998 </a:t>
            </a:r>
            <a:r>
              <a:rPr lang="en-US" sz="74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និង</a:t>
            </a:r>
            <a:r>
              <a:rPr lang="en-US" sz="74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1999។ </a:t>
            </a:r>
            <a:r>
              <a:rPr lang="en-US" sz="74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បន្ទាប់មក</a:t>
            </a:r>
            <a:r>
              <a:rPr lang="en-US" sz="74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KH" sz="74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Core JVM ត្រូវបាន Sun ដាក់ឲ្យប្រើប្រាស់ជា          open-source នៅឆ្នាំ 2006។ </a:t>
            </a:r>
            <a:br>
              <a:rPr lang="en-KH" sz="74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</a:br>
            <a:r>
              <a:rPr lang="en-KH" sz="74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    Oracle </a:t>
            </a:r>
            <a:r>
              <a:rPr lang="en-KH" sz="74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ទទួលបាន </a:t>
            </a:r>
            <a:r>
              <a:rPr lang="en-US" sz="74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Sun Microsystems</a:t>
            </a:r>
            <a:r>
              <a:rPr lang="en-KH" sz="74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នៅឆ្នាំ 2010 និងធ្វើការអភិវឌ្ឍបន្តរហូតមកដល់សព្វថ្ងៃ។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37214E84-2D5A-6F5E-323D-C9F0C90D3114}"/>
              </a:ext>
            </a:extLst>
          </p:cNvPr>
          <p:cNvCxnSpPr/>
          <p:nvPr/>
        </p:nvCxnSpPr>
        <p:spPr>
          <a:xfrm>
            <a:off x="0" y="1050468"/>
            <a:ext cx="12192000" cy="0"/>
          </a:xfrm>
          <a:prstGeom prst="line">
            <a:avLst/>
          </a:prstGeom>
          <a:ln w="57150">
            <a:solidFill>
              <a:srgbClr val="D49B0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4001CFDD-0ABE-8639-99B6-F95E039B4B82}"/>
              </a:ext>
            </a:extLst>
          </p:cNvPr>
          <p:cNvCxnSpPr>
            <a:cxnSpLocks/>
          </p:cNvCxnSpPr>
          <p:nvPr/>
        </p:nvCxnSpPr>
        <p:spPr>
          <a:xfrm>
            <a:off x="0" y="979812"/>
            <a:ext cx="12192000" cy="0"/>
          </a:xfrm>
          <a:prstGeom prst="line">
            <a:avLst/>
          </a:prstGeom>
          <a:ln w="57150">
            <a:solidFill>
              <a:srgbClr val="1C27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7" name="Picture 46" descr="A blue circle with a yellow and white bird in it&#10;&#10;AI-generated content may be incorrect.">
            <a:extLst>
              <a:ext uri="{FF2B5EF4-FFF2-40B4-BE49-F238E27FC236}">
                <a16:creationId xmlns:a16="http://schemas.microsoft.com/office/drawing/2014/main" id="{59A56B10-D991-86D0-48A8-19105FF7773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5438" y="219712"/>
            <a:ext cx="606500" cy="606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2930177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" presetClass="entr" presetSubtype="1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79970FC-2686-5948-92DD-9BA217F128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8F2CCB-F663-B3FD-0118-5471DF0336D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701800" y="119781"/>
            <a:ext cx="9144000" cy="789373"/>
          </a:xfrm>
        </p:spPr>
        <p:txBody>
          <a:bodyPr>
            <a:normAutofit/>
          </a:bodyPr>
          <a:lstStyle/>
          <a:p>
            <a:pPr algn="l"/>
            <a:r>
              <a:rPr lang="en-US" sz="3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Java Virtual Machine (JVM)</a:t>
            </a:r>
            <a:endParaRPr lang="en-KH" sz="3600" dirty="0">
              <a:solidFill>
                <a:srgbClr val="00206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D6DD334-F88C-C46A-BF62-4993741289E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931938" y="1417638"/>
            <a:ext cx="10472662" cy="4389894"/>
          </a:xfrm>
        </p:spPr>
        <p:txBody>
          <a:bodyPr>
            <a:normAutofit/>
          </a:bodyPr>
          <a:lstStyle/>
          <a:p>
            <a:pPr algn="l"/>
            <a:endParaRPr lang="en-KH" dirty="0"/>
          </a:p>
          <a:p>
            <a:pPr algn="l">
              <a:lnSpc>
                <a:spcPct val="150000"/>
              </a:lnSpc>
            </a:pPr>
            <a:r>
              <a:rPr lang="en-KH" dirty="0"/>
              <a:t>	</a:t>
            </a:r>
            <a:r>
              <a:rPr lang="en-US" sz="32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Java Virtual Machine</a:t>
            </a:r>
            <a:r>
              <a:rPr lang="en-KH" sz="32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KH" sz="32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គឺជាម៉ាស៊ីននិម្មិតដែលបើកប្រតិបត្តិការនៃ Java bytecode។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E8301863-0496-1ED0-C49B-37DA6F1C8D28}"/>
              </a:ext>
            </a:extLst>
          </p:cNvPr>
          <p:cNvCxnSpPr/>
          <p:nvPr/>
        </p:nvCxnSpPr>
        <p:spPr>
          <a:xfrm>
            <a:off x="0" y="1050468"/>
            <a:ext cx="12192000" cy="0"/>
          </a:xfrm>
          <a:prstGeom prst="line">
            <a:avLst/>
          </a:prstGeom>
          <a:ln w="57150">
            <a:solidFill>
              <a:srgbClr val="D49B0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3A8143A4-7B3D-B78B-F996-3E97CC2772A6}"/>
              </a:ext>
            </a:extLst>
          </p:cNvPr>
          <p:cNvCxnSpPr>
            <a:cxnSpLocks/>
          </p:cNvCxnSpPr>
          <p:nvPr/>
        </p:nvCxnSpPr>
        <p:spPr>
          <a:xfrm>
            <a:off x="0" y="979812"/>
            <a:ext cx="12192000" cy="0"/>
          </a:xfrm>
          <a:prstGeom prst="line">
            <a:avLst/>
          </a:prstGeom>
          <a:ln w="57150">
            <a:solidFill>
              <a:srgbClr val="1C27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7" name="Picture 46" descr="A blue circle with a yellow and white bird in it&#10;&#10;AI-generated content may be incorrect.">
            <a:extLst>
              <a:ext uri="{FF2B5EF4-FFF2-40B4-BE49-F238E27FC236}">
                <a16:creationId xmlns:a16="http://schemas.microsoft.com/office/drawing/2014/main" id="{E3E03E46-4FD8-44E6-FAE1-79578F9BC9F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5438" y="219712"/>
            <a:ext cx="606500" cy="606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708396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F92DCB6-D9F1-4FAD-25FF-81DB7D7650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3F03AD-6B62-D56F-E81C-5ED3F88800A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701800" y="119781"/>
            <a:ext cx="9144000" cy="789373"/>
          </a:xfrm>
        </p:spPr>
        <p:txBody>
          <a:bodyPr>
            <a:normAutofit/>
          </a:bodyPr>
          <a:lstStyle/>
          <a:p>
            <a:pPr algn="l"/>
            <a:r>
              <a:rPr lang="en-US" sz="3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Java Development Kit(JDK)</a:t>
            </a:r>
            <a:endParaRPr lang="en-KH" sz="3600" dirty="0">
              <a:solidFill>
                <a:srgbClr val="00206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840E7FA-EF96-D6C7-2EE7-AFF92DB6F25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931938" y="1417638"/>
            <a:ext cx="10472662" cy="4389894"/>
          </a:xfrm>
        </p:spPr>
        <p:txBody>
          <a:bodyPr>
            <a:normAutofit/>
          </a:bodyPr>
          <a:lstStyle/>
          <a:p>
            <a:pPr algn="l"/>
            <a:endParaRPr lang="en-KH" dirty="0"/>
          </a:p>
          <a:p>
            <a:pPr algn="l">
              <a:lnSpc>
                <a:spcPct val="150000"/>
              </a:lnSpc>
            </a:pPr>
            <a:r>
              <a:rPr lang="en-KH" dirty="0"/>
              <a:t>	</a:t>
            </a:r>
            <a:r>
              <a:rPr lang="en-US" sz="32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Java Development Kit</a:t>
            </a:r>
            <a:r>
              <a:rPr lang="en-KH" sz="32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KH" sz="32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គឺកញ្ចប់អភិវឌ្ឍន៍ Software     សម្រាប់ធ្វើការអភិវឌ្ឍកម្មវិធីនៃ Java Platform។</a:t>
            </a:r>
            <a:br>
              <a:rPr lang="en-KH" sz="32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</a:br>
            <a:br>
              <a:rPr lang="en-KH" sz="32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</a:br>
            <a:r>
              <a:rPr lang="en-US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  <a:hlinkClick r:id="rId2"/>
              </a:rPr>
              <a:t>https://www.oracle.com/java/technologies/downloads/</a:t>
            </a:r>
            <a:endParaRPr lang="en-KH" dirty="0">
              <a:solidFill>
                <a:srgbClr val="00206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8A0096CF-C180-9609-12F9-A147ABC5056D}"/>
              </a:ext>
            </a:extLst>
          </p:cNvPr>
          <p:cNvCxnSpPr/>
          <p:nvPr/>
        </p:nvCxnSpPr>
        <p:spPr>
          <a:xfrm>
            <a:off x="0" y="1050468"/>
            <a:ext cx="12192000" cy="0"/>
          </a:xfrm>
          <a:prstGeom prst="line">
            <a:avLst/>
          </a:prstGeom>
          <a:ln w="57150">
            <a:solidFill>
              <a:srgbClr val="D49B0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520D06D9-01C3-1C77-8DB7-D6FB9E0554B1}"/>
              </a:ext>
            </a:extLst>
          </p:cNvPr>
          <p:cNvCxnSpPr>
            <a:cxnSpLocks/>
          </p:cNvCxnSpPr>
          <p:nvPr/>
        </p:nvCxnSpPr>
        <p:spPr>
          <a:xfrm>
            <a:off x="0" y="979812"/>
            <a:ext cx="12192000" cy="0"/>
          </a:xfrm>
          <a:prstGeom prst="line">
            <a:avLst/>
          </a:prstGeom>
          <a:ln w="57150">
            <a:solidFill>
              <a:srgbClr val="1C27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7" name="Picture 46" descr="A blue circle with a yellow and white bird in it&#10;&#10;AI-generated content may be incorrect.">
            <a:extLst>
              <a:ext uri="{FF2B5EF4-FFF2-40B4-BE49-F238E27FC236}">
                <a16:creationId xmlns:a16="http://schemas.microsoft.com/office/drawing/2014/main" id="{1E409CEC-9E14-AAFE-A778-FA0540CDD0F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5438" y="219712"/>
            <a:ext cx="606500" cy="606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7210039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6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8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822" tmFilter="0,0; 0.14,0.36; 0.43,0.73; 0.71,0.91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0.25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664" tmFilter="0.0,0.0; 0.25,0.07; 0.50,0.2; 0.75,0.467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3">
                                          <p:val>
                                            <p:fltVal val="0.5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" dur="664" tmFilter="0, 0; 0.125,0.2665; 0.25,0.4; 0.375,0.465; 0.5,0.5;  0.625,0.535; 0.75,0.6; 0.875,0.7335; 1,1">
                                          <p:stCondLst>
                                            <p:cond delay="664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9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" dur="332" tmFilter="0, 0; 0.125,0.2665; 0.25,0.4; 0.375,0.465; 0.5,0.5;  0.625,0.535; 0.75,0.6; 0.875,0.7335; 1,1">
                                          <p:stCondLst>
                                            <p:cond delay="1324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27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164" tmFilter="0, 0; 0.125,0.2665; 0.25,0.4; 0.375,0.465; 0.5,0.5;  0.625,0.535; 0.75,0.6; 0.875,0.7335; 1,1">
                                          <p:stCondLst>
                                            <p:cond delay="1656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81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Scale>
                                      <p:cBhvr>
                                        <p:cTn id="13" dur="26">
                                          <p:stCondLst>
                                            <p:cond delay="65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  <p:to x="100000" y="60000"/>
                                    </p:animScale>
                                    <p:animScale>
                                      <p:cBhvr>
                                        <p:cTn id="14" dur="166" decel="50000">
                                          <p:stCondLst>
                                            <p:cond delay="676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5" dur="26">
                                          <p:stCondLst>
                                            <p:cond delay="1312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  <p:to x="100000" y="80000"/>
                                    </p:animScale>
                                    <p:animScale>
                                      <p:cBhvr>
                                        <p:cTn id="16" dur="166" decel="50000">
                                          <p:stCondLst>
                                            <p:cond delay="1338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7" dur="26">
                                          <p:stCondLst>
                                            <p:cond delay="1642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  <p:to x="100000" y="90000"/>
                                    </p:animScale>
                                    <p:animScale>
                                      <p:cBhvr>
                                        <p:cTn id="18" dur="166" decel="50000">
                                          <p:stCondLst>
                                            <p:cond delay="1668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9" dur="26">
                                          <p:stCondLst>
                                            <p:cond delay="1808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  <p:to x="100000" y="95000"/>
                                    </p:animScale>
                                    <p:animScale>
                                      <p:cBhvr>
                                        <p:cTn id="20" dur="166" decel="50000">
                                          <p:stCondLst>
                                            <p:cond delay="1834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  <p:to x="100000" y="10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E470267-BC5D-F5B7-8088-7B39986250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83D7BC-0AF3-BD90-363A-D39CCEE06E5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701800" y="119781"/>
            <a:ext cx="9144000" cy="789373"/>
          </a:xfrm>
        </p:spPr>
        <p:txBody>
          <a:bodyPr>
            <a:normAutofit/>
          </a:bodyPr>
          <a:lstStyle/>
          <a:p>
            <a:pPr algn="l"/>
            <a:r>
              <a:rPr lang="en-US" sz="3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Java Compiler</a:t>
            </a:r>
            <a:endParaRPr lang="en-KH" sz="3600" dirty="0">
              <a:solidFill>
                <a:srgbClr val="00206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8F406E4-2A28-3FC0-3194-2CAC9D517AD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931938" y="1200666"/>
            <a:ext cx="10472662" cy="2332945"/>
          </a:xfrm>
        </p:spPr>
        <p:txBody>
          <a:bodyPr>
            <a:normAutofit fontScale="92500" lnSpcReduction="20000"/>
          </a:bodyPr>
          <a:lstStyle/>
          <a:p>
            <a:pPr algn="l"/>
            <a:endParaRPr lang="en-KH" dirty="0"/>
          </a:p>
          <a:p>
            <a:pPr algn="l">
              <a:lnSpc>
                <a:spcPct val="150000"/>
              </a:lnSpc>
            </a:pPr>
            <a:r>
              <a:rPr lang="en-KH" sz="32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   </a:t>
            </a:r>
            <a:r>
              <a:rPr lang="en-US" sz="32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Java Compiler(</a:t>
            </a:r>
            <a:r>
              <a:rPr lang="en-US" sz="3200" dirty="0" err="1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javac</a:t>
            </a:r>
            <a:r>
              <a:rPr lang="en-US" sz="32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) </a:t>
            </a:r>
            <a:r>
              <a:rPr lang="en-KH" sz="32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គឺ</a:t>
            </a:r>
            <a:r>
              <a:rPr lang="en-US" sz="32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ជាឧបករណ៍ដែលមាននៅក្នុង</a:t>
            </a:r>
            <a:r>
              <a:rPr lang="en-US" sz="32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sz="32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JDK។វាមានមុខងារក្នុងការបម្លែង</a:t>
            </a:r>
            <a:r>
              <a:rPr lang="en-US" sz="32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Java code </a:t>
            </a:r>
            <a:r>
              <a:rPr lang="en-US" sz="32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ដែលមនុស្សអានបាន</a:t>
            </a:r>
            <a:r>
              <a:rPr lang="en-US" sz="32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(.java) </a:t>
            </a:r>
            <a:r>
              <a:rPr lang="en-US" sz="32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ទៅជា</a:t>
            </a:r>
            <a:r>
              <a:rPr lang="en-US" sz="32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Java bytecode (.class)។</a:t>
            </a:r>
            <a:endParaRPr lang="en-KH" dirty="0">
              <a:solidFill>
                <a:srgbClr val="0070C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8D678946-27DF-BB33-F5AA-19516701EDC1}"/>
              </a:ext>
            </a:extLst>
          </p:cNvPr>
          <p:cNvCxnSpPr/>
          <p:nvPr/>
        </p:nvCxnSpPr>
        <p:spPr>
          <a:xfrm>
            <a:off x="0" y="1050468"/>
            <a:ext cx="12192000" cy="0"/>
          </a:xfrm>
          <a:prstGeom prst="line">
            <a:avLst/>
          </a:prstGeom>
          <a:ln w="57150">
            <a:solidFill>
              <a:srgbClr val="D49B0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B21D83C8-8AEE-468B-F0DE-8C946E49CEFB}"/>
              </a:ext>
            </a:extLst>
          </p:cNvPr>
          <p:cNvCxnSpPr>
            <a:cxnSpLocks/>
          </p:cNvCxnSpPr>
          <p:nvPr/>
        </p:nvCxnSpPr>
        <p:spPr>
          <a:xfrm>
            <a:off x="0" y="979812"/>
            <a:ext cx="12192000" cy="0"/>
          </a:xfrm>
          <a:prstGeom prst="line">
            <a:avLst/>
          </a:prstGeom>
          <a:ln w="57150">
            <a:solidFill>
              <a:srgbClr val="1C27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7" name="Picture 46" descr="A blue circle with a yellow and white bird in it&#10;&#10;AI-generated content may be incorrect.">
            <a:extLst>
              <a:ext uri="{FF2B5EF4-FFF2-40B4-BE49-F238E27FC236}">
                <a16:creationId xmlns:a16="http://schemas.microsoft.com/office/drawing/2014/main" id="{BC44DE54-83E8-2B95-E1A5-8AED2C14288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5438" y="219712"/>
            <a:ext cx="606500" cy="606500"/>
          </a:xfrm>
          <a:prstGeom prst="rect">
            <a:avLst/>
          </a:prstGeom>
        </p:spPr>
      </p:pic>
      <p:sp>
        <p:nvSpPr>
          <p:cNvPr id="4" name="Subtitle 2">
            <a:extLst>
              <a:ext uri="{FF2B5EF4-FFF2-40B4-BE49-F238E27FC236}">
                <a16:creationId xmlns:a16="http://schemas.microsoft.com/office/drawing/2014/main" id="{4778E8FC-43F6-52F0-BF36-7C68C1CC498B}"/>
              </a:ext>
            </a:extLst>
          </p:cNvPr>
          <p:cNvSpPr txBox="1">
            <a:spLocks/>
          </p:cNvSpPr>
          <p:nvPr/>
        </p:nvSpPr>
        <p:spPr>
          <a:xfrm>
            <a:off x="1701799" y="3482335"/>
            <a:ext cx="9630531" cy="578226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lnSpc>
                <a:spcPct val="150000"/>
              </a:lnSpc>
            </a:pPr>
            <a:r>
              <a:rPr lang="en-US" sz="2800" dirty="0" err="1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ឧទាហរណ</a:t>
            </a:r>
            <a:r>
              <a:rPr lang="en-US" sz="28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៍៖ </a:t>
            </a:r>
            <a:r>
              <a:rPr lang="en-US" sz="2800" dirty="0" err="1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javac</a:t>
            </a:r>
            <a:r>
              <a:rPr lang="en-US" sz="28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sz="28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Main.java</a:t>
            </a:r>
            <a:endParaRPr lang="en-KH" sz="2800" dirty="0">
              <a:solidFill>
                <a:srgbClr val="0070C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</p:txBody>
      </p:sp>
      <p:sp>
        <p:nvSpPr>
          <p:cNvPr id="6" name="Subtitle 2">
            <a:extLst>
              <a:ext uri="{FF2B5EF4-FFF2-40B4-BE49-F238E27FC236}">
                <a16:creationId xmlns:a16="http://schemas.microsoft.com/office/drawing/2014/main" id="{0E710ACA-43C3-52A0-4043-0E5371753F24}"/>
              </a:ext>
            </a:extLst>
          </p:cNvPr>
          <p:cNvSpPr txBox="1">
            <a:spLocks/>
          </p:cNvSpPr>
          <p:nvPr/>
        </p:nvSpPr>
        <p:spPr>
          <a:xfrm>
            <a:off x="931938" y="4393385"/>
            <a:ext cx="10472662" cy="149641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lnSpc>
                <a:spcPct val="150000"/>
              </a:lnSpc>
            </a:pPr>
            <a:r>
              <a:rPr lang="en-KH" dirty="0"/>
              <a:t>👉 </a:t>
            </a:r>
            <a:r>
              <a:rPr lang="en-US" sz="28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ដើម្បី</a:t>
            </a:r>
            <a:r>
              <a:rPr lang="en-US" sz="2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run java bytecode(.class) </a:t>
            </a:r>
            <a:r>
              <a:rPr lang="en-US" sz="28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យើងត្រូវប្រើពាក្យបញ្ជា</a:t>
            </a:r>
            <a:r>
              <a:rPr lang="en-US" sz="2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“java”។</a:t>
            </a:r>
            <a:br>
              <a:rPr lang="en-US" sz="28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</a:br>
            <a:r>
              <a:rPr lang="en-US" sz="28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​        </a:t>
            </a:r>
            <a:r>
              <a:rPr lang="en-US" sz="2800" dirty="0" err="1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ឧទាហរណ</a:t>
            </a:r>
            <a:r>
              <a:rPr lang="en-US" sz="28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៍៖ </a:t>
            </a:r>
            <a:r>
              <a:rPr lang="en-US" sz="28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java</a:t>
            </a:r>
            <a:r>
              <a:rPr lang="en-US" sz="28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sz="2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Main</a:t>
            </a:r>
            <a:endParaRPr lang="en-KH" sz="2800" dirty="0">
              <a:solidFill>
                <a:srgbClr val="0070C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154249636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8" presetClass="entr" presetSubtype="1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trips(down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1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37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1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90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-.03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100" accel="100000" fill="hold">
                                          <p:stCondLst>
                                            <p:cond delay="90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/>
      <p:bldP spid="6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42BE615-A731-8777-9FCE-37E39787EE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B1A286-29D9-32B1-0B71-BDF86776A6D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701800" y="119781"/>
            <a:ext cx="9144000" cy="789373"/>
          </a:xfrm>
        </p:spPr>
        <p:txBody>
          <a:bodyPr>
            <a:normAutofit/>
          </a:bodyPr>
          <a:lstStyle/>
          <a:p>
            <a:pPr algn="l"/>
            <a:r>
              <a:rPr lang="en-US" sz="3600" dirty="0" err="1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ឧបករណ៍សម្រាប់សរសេរភាសា</a:t>
            </a:r>
            <a:r>
              <a:rPr lang="en-US" sz="3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Java(IDE)</a:t>
            </a:r>
            <a:endParaRPr lang="en-KH" sz="3600" dirty="0">
              <a:solidFill>
                <a:srgbClr val="00206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4BB3F26-ED51-A7CE-7F26-9BA6464972E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931938" y="1417638"/>
            <a:ext cx="10472662" cy="4389894"/>
          </a:xfrm>
        </p:spPr>
        <p:txBody>
          <a:bodyPr>
            <a:normAutofit fontScale="85000" lnSpcReduction="20000"/>
          </a:bodyPr>
          <a:lstStyle/>
          <a:p>
            <a:pPr algn="l"/>
            <a:endParaRPr lang="en-KH" dirty="0"/>
          </a:p>
          <a:p>
            <a:pPr marL="342900" indent="-342900" algn="l">
              <a:lnSpc>
                <a:spcPct val="150000"/>
              </a:lnSpc>
              <a:buFontTx/>
              <a:buChar char="-"/>
            </a:pPr>
            <a:r>
              <a:rPr lang="en-US" sz="28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Command line: </a:t>
            </a:r>
            <a:r>
              <a:rPr lang="en-US" sz="28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បង្កើត</a:t>
            </a:r>
            <a:r>
              <a:rPr lang="en-US" sz="2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.java file </a:t>
            </a:r>
            <a:r>
              <a:rPr lang="en-US" sz="28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ដោយប្រើ</a:t>
            </a:r>
            <a:r>
              <a:rPr lang="en-US" sz="2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OS command =&gt; </a:t>
            </a:r>
            <a:r>
              <a:rPr lang="en-US" sz="28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javac</a:t>
            </a:r>
            <a:r>
              <a:rPr lang="en-US" sz="2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sz="28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Filename.java</a:t>
            </a:r>
            <a:r>
              <a:rPr lang="en-US" sz="2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=&gt; java Filename។</a:t>
            </a:r>
          </a:p>
          <a:p>
            <a:pPr marL="342900" indent="-342900" algn="l">
              <a:lnSpc>
                <a:spcPct val="150000"/>
              </a:lnSpc>
              <a:buFontTx/>
              <a:buChar char="-"/>
            </a:pPr>
            <a:r>
              <a:rPr lang="en-US" sz="28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Eclipse: </a:t>
            </a:r>
            <a:r>
              <a:rPr lang="en-US" sz="28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  <a:hlinkClick r:id="rId2"/>
              </a:rPr>
              <a:t>https://spring.io/tools - eclipse</a:t>
            </a:r>
            <a:endParaRPr lang="en-US" sz="2800" dirty="0">
              <a:solidFill>
                <a:srgbClr val="00206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  <a:p>
            <a:pPr marL="342900" indent="-342900" algn="l">
              <a:lnSpc>
                <a:spcPct val="150000"/>
              </a:lnSpc>
              <a:buFontTx/>
              <a:buChar char="-"/>
            </a:pPr>
            <a:r>
              <a:rPr lang="en-US" sz="28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NetBeans: </a:t>
            </a:r>
            <a:r>
              <a:rPr lang="en-US" sz="28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  <a:hlinkClick r:id="rId3"/>
              </a:rPr>
              <a:t>https://netbeans.apache.org/front/main/download</a:t>
            </a:r>
            <a:endParaRPr lang="en-US" sz="2800" dirty="0">
              <a:solidFill>
                <a:srgbClr val="00206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  <a:p>
            <a:pPr marL="342900" indent="-342900" algn="l">
              <a:lnSpc>
                <a:spcPct val="150000"/>
              </a:lnSpc>
              <a:buFontTx/>
              <a:buChar char="-"/>
            </a:pPr>
            <a:r>
              <a:rPr lang="en-US" sz="28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Visual Studio Code (VS Code): </a:t>
            </a:r>
            <a:r>
              <a:rPr lang="en-US" sz="28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  <a:hlinkClick r:id="rId4"/>
              </a:rPr>
              <a:t>https://code.visualstudio.com/download</a:t>
            </a:r>
            <a:endParaRPr lang="en-US" sz="2800" dirty="0">
              <a:solidFill>
                <a:srgbClr val="00206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  <a:p>
            <a:pPr marL="342900" indent="-342900" algn="l">
              <a:lnSpc>
                <a:spcPct val="150000"/>
              </a:lnSpc>
              <a:buFontTx/>
              <a:buChar char="-"/>
            </a:pPr>
            <a:r>
              <a:rPr lang="en-US" sz="28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IntelliJ IDEA: </a:t>
            </a:r>
            <a:r>
              <a:rPr lang="en-US" sz="28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  <a:hlinkClick r:id="rId5"/>
              </a:rPr>
              <a:t>https://www.jetbrains.com/idea/download</a:t>
            </a:r>
            <a:endParaRPr lang="en-US" sz="2800" dirty="0">
              <a:solidFill>
                <a:srgbClr val="00206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  <a:p>
            <a:pPr algn="l">
              <a:lnSpc>
                <a:spcPct val="150000"/>
              </a:lnSpc>
            </a:pPr>
            <a:r>
              <a:rPr lang="en-US" sz="28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…</a:t>
            </a:r>
            <a:endParaRPr lang="en-KH" sz="2800" dirty="0">
              <a:solidFill>
                <a:srgbClr val="00206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84600895-8F39-287A-A8DF-9382D51F114A}"/>
              </a:ext>
            </a:extLst>
          </p:cNvPr>
          <p:cNvCxnSpPr/>
          <p:nvPr/>
        </p:nvCxnSpPr>
        <p:spPr>
          <a:xfrm>
            <a:off x="0" y="1050468"/>
            <a:ext cx="12192000" cy="0"/>
          </a:xfrm>
          <a:prstGeom prst="line">
            <a:avLst/>
          </a:prstGeom>
          <a:ln w="57150">
            <a:solidFill>
              <a:srgbClr val="D49B0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68020AEF-BA18-9478-D0FA-55E7EA5525AF}"/>
              </a:ext>
            </a:extLst>
          </p:cNvPr>
          <p:cNvCxnSpPr>
            <a:cxnSpLocks/>
          </p:cNvCxnSpPr>
          <p:nvPr/>
        </p:nvCxnSpPr>
        <p:spPr>
          <a:xfrm>
            <a:off x="0" y="979812"/>
            <a:ext cx="12192000" cy="0"/>
          </a:xfrm>
          <a:prstGeom prst="line">
            <a:avLst/>
          </a:prstGeom>
          <a:ln w="57150">
            <a:solidFill>
              <a:srgbClr val="1C27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7" name="Picture 46" descr="A blue circle with a yellow and white bird in it&#10;&#10;AI-generated content may be incorrect.">
            <a:extLst>
              <a:ext uri="{FF2B5EF4-FFF2-40B4-BE49-F238E27FC236}">
                <a16:creationId xmlns:a16="http://schemas.microsoft.com/office/drawing/2014/main" id="{06ADD998-39A3-093E-7875-65D68201EEB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25438" y="219712"/>
            <a:ext cx="606500" cy="606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2476009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2DC70C4-0758-C1ED-AD3E-E9B3CA398F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6375A3-49E6-5330-B5B5-6163C17AAC8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701800" y="119781"/>
            <a:ext cx="9144000" cy="789373"/>
          </a:xfrm>
        </p:spPr>
        <p:txBody>
          <a:bodyPr>
            <a:normAutofit/>
          </a:bodyPr>
          <a:lstStyle/>
          <a:p>
            <a:pPr algn="l"/>
            <a:r>
              <a:rPr lang="en-US" sz="3600" dirty="0" err="1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ប្រយោគនៃភាសា</a:t>
            </a:r>
            <a:r>
              <a:rPr lang="en-US" sz="3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Java (Java statements)</a:t>
            </a:r>
            <a:endParaRPr lang="en-KH" sz="3600" dirty="0">
              <a:solidFill>
                <a:srgbClr val="00206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3B9FD26-3259-C683-4DBE-BDA87FAE5D8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24192" y="1417637"/>
            <a:ext cx="10954536" cy="4188030"/>
          </a:xfrm>
        </p:spPr>
        <p:txBody>
          <a:bodyPr>
            <a:normAutofit/>
          </a:bodyPr>
          <a:lstStyle/>
          <a:p>
            <a:pPr algn="l">
              <a:lnSpc>
                <a:spcPct val="150000"/>
              </a:lnSpc>
            </a:pPr>
            <a:r>
              <a:rPr lang="en-KH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	</a:t>
            </a:r>
            <a:r>
              <a:rPr lang="en-KH" sz="2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ប្រយោគ (Statement) នៃភាសា Java សំដៅដល់ប្រយោគដែលសរសេរដើម្បីប្រាប់ទៅ Compiler ក្នុងការអនុវត្តនូវអ្វីមួយ ហើយប្រយោគនីមួយៗត្រូវបានខណ្ឌដោយសញ្ញា​ ”;” ។</a:t>
            </a:r>
          </a:p>
          <a:p>
            <a:pPr algn="l">
              <a:lnSpc>
                <a:spcPct val="150000"/>
              </a:lnSpc>
            </a:pPr>
            <a:r>
              <a:rPr lang="en-KH" sz="28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ឧទាហរណ៍៖ </a:t>
            </a:r>
            <a:r>
              <a:rPr lang="en-KH" sz="28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System.out.println(“Welcome to Java Learning”);</a:t>
            </a:r>
            <a:br>
              <a:rPr lang="en-KH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</a:br>
            <a:endParaRPr lang="en-KH" sz="2600" dirty="0">
              <a:solidFill>
                <a:srgbClr val="00206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73ABD5D0-20BB-FC05-51D4-05DFD4160E89}"/>
              </a:ext>
            </a:extLst>
          </p:cNvPr>
          <p:cNvCxnSpPr/>
          <p:nvPr/>
        </p:nvCxnSpPr>
        <p:spPr>
          <a:xfrm>
            <a:off x="0" y="1050468"/>
            <a:ext cx="12192000" cy="0"/>
          </a:xfrm>
          <a:prstGeom prst="line">
            <a:avLst/>
          </a:prstGeom>
          <a:ln w="57150">
            <a:solidFill>
              <a:srgbClr val="D49B0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FB4109B1-51A3-89A6-0EBC-F5BC97AFE06F}"/>
              </a:ext>
            </a:extLst>
          </p:cNvPr>
          <p:cNvCxnSpPr>
            <a:cxnSpLocks/>
          </p:cNvCxnSpPr>
          <p:nvPr/>
        </p:nvCxnSpPr>
        <p:spPr>
          <a:xfrm>
            <a:off x="0" y="979812"/>
            <a:ext cx="12192000" cy="0"/>
          </a:xfrm>
          <a:prstGeom prst="line">
            <a:avLst/>
          </a:prstGeom>
          <a:ln w="57150">
            <a:solidFill>
              <a:srgbClr val="1C27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7" name="Picture 46" descr="A blue circle with a yellow and white bird in it&#10;&#10;AI-generated content may be incorrect.">
            <a:extLst>
              <a:ext uri="{FF2B5EF4-FFF2-40B4-BE49-F238E27FC236}">
                <a16:creationId xmlns:a16="http://schemas.microsoft.com/office/drawing/2014/main" id="{41CBA71E-B120-6EEF-D945-B20BBC50FE0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5438" y="219712"/>
            <a:ext cx="606500" cy="606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7486696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72D1F00-4E6D-ED97-029E-FA893F5154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92A7D4-2322-3630-5E70-631739880E1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701800" y="119781"/>
            <a:ext cx="9144000" cy="789373"/>
          </a:xfrm>
        </p:spPr>
        <p:txBody>
          <a:bodyPr>
            <a:normAutofit/>
          </a:bodyPr>
          <a:lstStyle/>
          <a:p>
            <a:pPr algn="l"/>
            <a:r>
              <a:rPr lang="en-US" sz="3600" dirty="0" err="1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ប្រភេទទិន្នន័យ</a:t>
            </a:r>
            <a:r>
              <a:rPr lang="en-US" sz="3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(Data Type)</a:t>
            </a:r>
            <a:endParaRPr lang="en-KH" sz="3600" dirty="0">
              <a:solidFill>
                <a:srgbClr val="00206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E3DB125-D4AE-9D32-6851-1697C760EA2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24192" y="1265233"/>
            <a:ext cx="10954536" cy="4389894"/>
          </a:xfrm>
        </p:spPr>
        <p:txBody>
          <a:bodyPr>
            <a:normAutofit/>
          </a:bodyPr>
          <a:lstStyle/>
          <a:p>
            <a:pPr algn="l"/>
            <a:r>
              <a:rPr lang="en-KH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- ប្រភេទទិន្នន័យបឋម(</a:t>
            </a:r>
            <a:r>
              <a:rPr lang="en-US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Primitive Data Types</a:t>
            </a:r>
            <a:r>
              <a:rPr lang="en-KH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):</a:t>
            </a:r>
            <a:br>
              <a:rPr lang="en-KH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</a:br>
            <a:endParaRPr lang="en-KH" sz="2600" dirty="0">
              <a:solidFill>
                <a:srgbClr val="00206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EAEE3454-DEED-59E6-772F-7ECFC3DF378B}"/>
              </a:ext>
            </a:extLst>
          </p:cNvPr>
          <p:cNvCxnSpPr/>
          <p:nvPr/>
        </p:nvCxnSpPr>
        <p:spPr>
          <a:xfrm>
            <a:off x="0" y="1050468"/>
            <a:ext cx="12192000" cy="0"/>
          </a:xfrm>
          <a:prstGeom prst="line">
            <a:avLst/>
          </a:prstGeom>
          <a:ln w="57150">
            <a:solidFill>
              <a:srgbClr val="D49B0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71664515-6477-3CE8-871A-4A6592D6A767}"/>
              </a:ext>
            </a:extLst>
          </p:cNvPr>
          <p:cNvCxnSpPr>
            <a:cxnSpLocks/>
          </p:cNvCxnSpPr>
          <p:nvPr/>
        </p:nvCxnSpPr>
        <p:spPr>
          <a:xfrm>
            <a:off x="0" y="979812"/>
            <a:ext cx="12192000" cy="0"/>
          </a:xfrm>
          <a:prstGeom prst="line">
            <a:avLst/>
          </a:prstGeom>
          <a:ln w="57150">
            <a:solidFill>
              <a:srgbClr val="1C27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7" name="Picture 46" descr="A blue circle with a yellow and white bird in it&#10;&#10;AI-generated content may be incorrect.">
            <a:extLst>
              <a:ext uri="{FF2B5EF4-FFF2-40B4-BE49-F238E27FC236}">
                <a16:creationId xmlns:a16="http://schemas.microsoft.com/office/drawing/2014/main" id="{8C1B088F-3A97-86E8-DBD8-C38A46A3FDE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5438" y="219712"/>
            <a:ext cx="606500" cy="606500"/>
          </a:xfrm>
          <a:prstGeom prst="rect">
            <a:avLst/>
          </a:prstGeom>
        </p:spPr>
      </p:pic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099D84DA-C95B-FB22-D93C-574A9C14CAE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86060528"/>
              </p:ext>
            </p:extLst>
          </p:nvPr>
        </p:nvGraphicFramePr>
        <p:xfrm>
          <a:off x="624192" y="1730100"/>
          <a:ext cx="10954537" cy="4823123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755451">
                  <a:extLst>
                    <a:ext uri="{9D8B030D-6E8A-4147-A177-3AD203B41FA5}">
                      <a16:colId xmlns:a16="http://schemas.microsoft.com/office/drawing/2014/main" val="4047497681"/>
                    </a:ext>
                  </a:extLst>
                </a:gridCol>
                <a:gridCol w="2842352">
                  <a:extLst>
                    <a:ext uri="{9D8B030D-6E8A-4147-A177-3AD203B41FA5}">
                      <a16:colId xmlns:a16="http://schemas.microsoft.com/office/drawing/2014/main" val="821048884"/>
                    </a:ext>
                  </a:extLst>
                </a:gridCol>
                <a:gridCol w="1134738">
                  <a:extLst>
                    <a:ext uri="{9D8B030D-6E8A-4147-A177-3AD203B41FA5}">
                      <a16:colId xmlns:a16="http://schemas.microsoft.com/office/drawing/2014/main" val="1256672291"/>
                    </a:ext>
                  </a:extLst>
                </a:gridCol>
                <a:gridCol w="1244906">
                  <a:extLst>
                    <a:ext uri="{9D8B030D-6E8A-4147-A177-3AD203B41FA5}">
                      <a16:colId xmlns:a16="http://schemas.microsoft.com/office/drawing/2014/main" val="3921409523"/>
                    </a:ext>
                  </a:extLst>
                </a:gridCol>
                <a:gridCol w="3977090">
                  <a:extLst>
                    <a:ext uri="{9D8B030D-6E8A-4147-A177-3AD203B41FA5}">
                      <a16:colId xmlns:a16="http://schemas.microsoft.com/office/drawing/2014/main" val="3370400522"/>
                    </a:ext>
                  </a:extLst>
                </a:gridCol>
              </a:tblGrid>
              <a:tr h="434003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lang="en-KH" sz="2000" kern="1200" dirty="0">
                          <a:solidFill>
                            <a:srgbClr val="0070C0"/>
                          </a:solidFill>
                          <a:latin typeface="Khmer OS Battambang" panose="02000500000000020004" pitchFamily="2" charset="77"/>
                          <a:cs typeface="Khmer OS Battambang" panose="02000500000000020004" pitchFamily="2" charset="77"/>
                        </a:rPr>
                        <a:t>ប្រភេទទិន្នន័យ</a:t>
                      </a:r>
                      <a:endParaRPr lang="en-KH" sz="2000" kern="1200" dirty="0">
                        <a:solidFill>
                          <a:srgbClr val="0070C0"/>
                        </a:solidFill>
                        <a:latin typeface="Khmer OS Battambang" panose="02000500000000020004" pitchFamily="2" charset="77"/>
                        <a:ea typeface="+mn-ea"/>
                        <a:cs typeface="Khmer OS Battambang" panose="02000500000000020004" pitchFamily="2" charset="77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lang="en-KH" sz="2000" kern="1200" dirty="0">
                          <a:solidFill>
                            <a:srgbClr val="0070C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បរិយាយ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lang="en-KH" sz="2000" kern="1200" dirty="0">
                          <a:solidFill>
                            <a:srgbClr val="0070C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ទំហំ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lang="en-KH" sz="2000" kern="1200" dirty="0">
                          <a:solidFill>
                            <a:srgbClr val="0070C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តម្លៃដើម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lang="en-KH" sz="2000" kern="1200" dirty="0">
                          <a:solidFill>
                            <a:srgbClr val="0070C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ដែនកំណត់នៃតម្លៃ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9723881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/>
                      <a:r>
                        <a:rPr lang="en-US" sz="2000" kern="1200" dirty="0">
                          <a:solidFill>
                            <a:srgbClr val="D49B06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byte</a:t>
                      </a:r>
                      <a:endParaRPr lang="en-KH" sz="2000" kern="1200" dirty="0">
                        <a:solidFill>
                          <a:srgbClr val="D49B06"/>
                        </a:solidFill>
                        <a:latin typeface="Khmer OS Battambang" panose="02000500000000020004" pitchFamily="2" charset="77"/>
                        <a:ea typeface="+mn-ea"/>
                        <a:cs typeface="Khmer OS Battambang" panose="02000500000000020004" pitchFamily="2" charset="77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KH" sz="2000" kern="1200" dirty="0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ចំនួនគត់ 8-bit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KH" sz="2000" kern="1200" dirty="0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1 byte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KH" sz="2000" kern="1200" dirty="0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0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KH" sz="2000" kern="1200" dirty="0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-128 ដល់ 127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6469979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/>
                      <a:r>
                        <a:rPr lang="en-US" sz="2000" kern="1200" dirty="0">
                          <a:solidFill>
                            <a:srgbClr val="D49B06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short</a:t>
                      </a:r>
                      <a:endParaRPr lang="en-KH" sz="2000" kern="1200" dirty="0">
                        <a:solidFill>
                          <a:srgbClr val="D49B06"/>
                        </a:solidFill>
                        <a:latin typeface="Khmer OS Battambang" panose="02000500000000020004" pitchFamily="2" charset="77"/>
                        <a:ea typeface="+mn-ea"/>
                        <a:cs typeface="Khmer OS Battambang" panose="02000500000000020004" pitchFamily="2" charset="77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KH" sz="2000" kern="1200" dirty="0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ចំនួនគត់ 16-bit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KH" sz="2000" kern="1200" dirty="0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2 bytes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KH" sz="2000" kern="1200" dirty="0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0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2000" kern="1200" dirty="0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-32,768 </a:t>
                      </a:r>
                      <a:r>
                        <a:rPr lang="en-US" sz="2000" kern="1200" dirty="0" err="1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ដល</a:t>
                      </a:r>
                      <a:r>
                        <a:rPr lang="en-US" sz="2000" kern="1200" dirty="0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់ 32,767</a:t>
                      </a:r>
                      <a:endParaRPr lang="en-KH" sz="2000" kern="1200" dirty="0">
                        <a:solidFill>
                          <a:srgbClr val="7030A0"/>
                        </a:solidFill>
                        <a:latin typeface="Khmer OS Battambang" panose="02000500000000020004" pitchFamily="2" charset="77"/>
                        <a:ea typeface="+mn-ea"/>
                        <a:cs typeface="Khmer OS Battambang" panose="02000500000000020004" pitchFamily="2" charset="77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13500643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/>
                      <a:r>
                        <a:rPr lang="en-US" sz="2000" kern="1200" dirty="0">
                          <a:solidFill>
                            <a:srgbClr val="D49B06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int</a:t>
                      </a:r>
                      <a:endParaRPr lang="en-KH" sz="2000" kern="1200" dirty="0">
                        <a:solidFill>
                          <a:srgbClr val="D49B06"/>
                        </a:solidFill>
                        <a:latin typeface="Khmer OS Battambang" panose="02000500000000020004" pitchFamily="2" charset="77"/>
                        <a:ea typeface="+mn-ea"/>
                        <a:cs typeface="Khmer OS Battambang" panose="02000500000000020004" pitchFamily="2" charset="77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KH" sz="2000" kern="1200" dirty="0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ចំនួនគត់ 32-bit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KH" sz="2000" kern="1200" dirty="0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4 bytes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KH" sz="2000" kern="1200" dirty="0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0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2000" kern="1200" dirty="0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-2,147,483,648 </a:t>
                      </a:r>
                      <a:r>
                        <a:rPr lang="en-US" sz="2000" kern="1200" dirty="0" err="1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ដល</a:t>
                      </a:r>
                      <a:r>
                        <a:rPr lang="en-US" sz="2000" kern="1200" dirty="0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់ 2,147,483,647</a:t>
                      </a:r>
                      <a:endParaRPr lang="en-KH" sz="2000" kern="1200" dirty="0">
                        <a:solidFill>
                          <a:srgbClr val="7030A0"/>
                        </a:solidFill>
                        <a:latin typeface="Khmer OS Battambang" panose="02000500000000020004" pitchFamily="2" charset="77"/>
                        <a:ea typeface="+mn-ea"/>
                        <a:cs typeface="Khmer OS Battambang" panose="02000500000000020004" pitchFamily="2" charset="77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55070855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/>
                      <a:r>
                        <a:rPr lang="en-US" sz="2000" kern="1200" dirty="0">
                          <a:solidFill>
                            <a:srgbClr val="D49B06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long</a:t>
                      </a:r>
                      <a:endParaRPr lang="en-KH" sz="2000" kern="1200" dirty="0">
                        <a:solidFill>
                          <a:srgbClr val="D49B06"/>
                        </a:solidFill>
                        <a:latin typeface="Khmer OS Battambang" panose="02000500000000020004" pitchFamily="2" charset="77"/>
                        <a:ea typeface="+mn-ea"/>
                        <a:cs typeface="Khmer OS Battambang" panose="02000500000000020004" pitchFamily="2" charset="77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KH" sz="2000" kern="1200" dirty="0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ចំនួនគត់ 64-bit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KH" sz="2000" kern="1200" dirty="0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8 bytes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KH" sz="2000" kern="1200" dirty="0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0L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2000" kern="1200" dirty="0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-9,223,372,036,854,775,808 </a:t>
                      </a:r>
                      <a:r>
                        <a:rPr lang="en-US" sz="2000" kern="1200" dirty="0" err="1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ដល</a:t>
                      </a:r>
                      <a:r>
                        <a:rPr lang="en-US" sz="2000" kern="1200" dirty="0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់ 9,223,372,036,854,775,807</a:t>
                      </a:r>
                      <a:endParaRPr lang="en-KH" sz="2000" kern="1200" dirty="0">
                        <a:solidFill>
                          <a:srgbClr val="7030A0"/>
                        </a:solidFill>
                        <a:latin typeface="Khmer OS Battambang" panose="02000500000000020004" pitchFamily="2" charset="77"/>
                        <a:ea typeface="+mn-ea"/>
                        <a:cs typeface="Khmer OS Battambang" panose="02000500000000020004" pitchFamily="2" charset="77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31183211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/>
                      <a:r>
                        <a:rPr lang="en-US" sz="2000" kern="1200" dirty="0">
                          <a:solidFill>
                            <a:srgbClr val="D49B06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float</a:t>
                      </a:r>
                      <a:endParaRPr lang="en-KH" sz="2000" kern="1200" dirty="0">
                        <a:solidFill>
                          <a:srgbClr val="D49B06"/>
                        </a:solidFill>
                        <a:latin typeface="Khmer OS Battambang" panose="02000500000000020004" pitchFamily="2" charset="77"/>
                        <a:ea typeface="+mn-ea"/>
                        <a:cs typeface="Khmer OS Battambang" panose="02000500000000020004" pitchFamily="2" charset="77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KH" sz="2000" kern="1200" dirty="0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ចំនួនទសភាគ </a:t>
                      </a:r>
                      <a:r>
                        <a:rPr lang="km-KH" sz="2000" kern="1200" dirty="0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6 ទៅ</a:t>
                      </a:r>
                      <a:r>
                        <a:rPr lang="en-US" sz="2000" kern="1200" dirty="0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 </a:t>
                      </a:r>
                      <a:r>
                        <a:rPr lang="km-KH" sz="2000" kern="1200" dirty="0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7</a:t>
                      </a:r>
                      <a:r>
                        <a:rPr lang="en-US" sz="2000" kern="1200" dirty="0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 </a:t>
                      </a:r>
                      <a:r>
                        <a:rPr lang="km-KH" sz="2000" kern="1200" dirty="0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ខ្ទង់</a:t>
                      </a:r>
                      <a:r>
                        <a:rPr lang="en-KH" sz="2000" kern="1200" dirty="0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 32-bit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KH" sz="2000" kern="1200" dirty="0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4 bytes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KH" sz="2000" kern="1200" dirty="0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0.0f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m-KH" sz="2000" kern="1200" dirty="0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ប្រែប្រួល ប្រើសម្រាប់រក្សាទុកអង្គចងចាំ </a:t>
                      </a:r>
                      <a:r>
                        <a:rPr lang="en-US" sz="2000" kern="1200" dirty="0" err="1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និង</a:t>
                      </a:r>
                      <a:r>
                        <a:rPr lang="km-KH" sz="2000" kern="1200" dirty="0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មិនមែនភាពជាក់លាក់ទេ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75458776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/>
                      <a:r>
                        <a:rPr lang="en-US" sz="2000" kern="1200" dirty="0">
                          <a:solidFill>
                            <a:srgbClr val="D49B06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double</a:t>
                      </a:r>
                      <a:endParaRPr lang="en-KH" sz="2000" kern="1200" dirty="0">
                        <a:solidFill>
                          <a:srgbClr val="D49B06"/>
                        </a:solidFill>
                        <a:latin typeface="Khmer OS Battambang" panose="02000500000000020004" pitchFamily="2" charset="77"/>
                        <a:ea typeface="+mn-ea"/>
                        <a:cs typeface="Khmer OS Battambang" panose="02000500000000020004" pitchFamily="2" charset="77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KH" sz="2000" kern="1200" dirty="0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ចំនួនទសភាគ </a:t>
                      </a:r>
                      <a:r>
                        <a:rPr lang="en-US" sz="2000" kern="1200" dirty="0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15</a:t>
                      </a:r>
                      <a:r>
                        <a:rPr lang="km-KH" sz="2000" kern="1200" dirty="0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 ទៅ</a:t>
                      </a:r>
                      <a:r>
                        <a:rPr lang="en-US" sz="2000" kern="1200" dirty="0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 16 </a:t>
                      </a:r>
                      <a:r>
                        <a:rPr lang="km-KH" sz="2000" kern="1200" dirty="0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ខ្ទង់</a:t>
                      </a:r>
                      <a:r>
                        <a:rPr lang="en-KH" sz="2000" kern="1200" dirty="0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 32-bit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KH" sz="2000" kern="1200" dirty="0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8 bytes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KH" sz="2000" kern="1200" dirty="0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0.0d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m-KH" sz="2000" kern="1200" dirty="0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ប្រែប្រួល ប្រើសម្រាប់រក្សាទុកអង្គចងចាំ </a:t>
                      </a:r>
                      <a:r>
                        <a:rPr lang="en-US" sz="2000" kern="1200" dirty="0" err="1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និង</a:t>
                      </a:r>
                      <a:r>
                        <a:rPr lang="km-KH" sz="2000" kern="1200" dirty="0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មិនមែនភាពជាក់លាក់ទេ</a:t>
                      </a:r>
                      <a:endParaRPr lang="en-KH" sz="2000" kern="1200" dirty="0">
                        <a:solidFill>
                          <a:srgbClr val="7030A0"/>
                        </a:solidFill>
                        <a:latin typeface="Khmer OS Battambang" panose="02000500000000020004" pitchFamily="2" charset="77"/>
                        <a:ea typeface="+mn-ea"/>
                        <a:cs typeface="Khmer OS Battambang" panose="02000500000000020004" pitchFamily="2" charset="77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69138072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/>
                      <a:r>
                        <a:rPr lang="en-US" sz="2000" kern="1200" dirty="0" err="1">
                          <a:solidFill>
                            <a:srgbClr val="D49B06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boolean</a:t>
                      </a:r>
                      <a:endParaRPr lang="en-KH" sz="2000" kern="1200" dirty="0">
                        <a:solidFill>
                          <a:srgbClr val="D49B06"/>
                        </a:solidFill>
                        <a:latin typeface="Khmer OS Battambang" panose="02000500000000020004" pitchFamily="2" charset="77"/>
                        <a:ea typeface="+mn-ea"/>
                        <a:cs typeface="Khmer OS Battambang" panose="02000500000000020004" pitchFamily="2" charset="77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m-KH" sz="2000" kern="1200" dirty="0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ឡូជីខល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2000" kern="1200" dirty="0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~1 bit</a:t>
                      </a:r>
                      <a:endParaRPr lang="en-KH" sz="2000" kern="1200" dirty="0">
                        <a:solidFill>
                          <a:srgbClr val="7030A0"/>
                        </a:solidFill>
                        <a:latin typeface="Khmer OS Battambang" panose="02000500000000020004" pitchFamily="2" charset="77"/>
                        <a:ea typeface="+mn-ea"/>
                        <a:cs typeface="Khmer OS Battambang" panose="02000500000000020004" pitchFamily="2" charset="77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2000" kern="1200" dirty="0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false</a:t>
                      </a:r>
                      <a:endParaRPr lang="en-KH" sz="2000" kern="1200" dirty="0">
                        <a:solidFill>
                          <a:srgbClr val="7030A0"/>
                        </a:solidFill>
                        <a:latin typeface="Khmer OS Battambang" panose="02000500000000020004" pitchFamily="2" charset="77"/>
                        <a:ea typeface="+mn-ea"/>
                        <a:cs typeface="Khmer OS Battambang" panose="02000500000000020004" pitchFamily="2" charset="77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2000" kern="1200" dirty="0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true </a:t>
                      </a:r>
                      <a:r>
                        <a:rPr lang="en-US" sz="2000" kern="1200" dirty="0" err="1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ឫ</a:t>
                      </a:r>
                      <a:r>
                        <a:rPr lang="en-US" sz="2000" kern="1200" dirty="0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 false</a:t>
                      </a:r>
                      <a:endParaRPr lang="en-KH" sz="2000" kern="1200" dirty="0">
                        <a:solidFill>
                          <a:srgbClr val="7030A0"/>
                        </a:solidFill>
                        <a:latin typeface="Khmer OS Battambang" panose="02000500000000020004" pitchFamily="2" charset="77"/>
                        <a:ea typeface="+mn-ea"/>
                        <a:cs typeface="Khmer OS Battambang" panose="02000500000000020004" pitchFamily="2" charset="77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90418830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/>
                      <a:r>
                        <a:rPr lang="en-US" sz="2000" kern="1200" dirty="0">
                          <a:solidFill>
                            <a:srgbClr val="D49B06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char</a:t>
                      </a:r>
                      <a:endParaRPr lang="en-KH" sz="2000" kern="1200" dirty="0">
                        <a:solidFill>
                          <a:srgbClr val="D49B06"/>
                        </a:solidFill>
                        <a:latin typeface="Khmer OS Battambang" panose="02000500000000020004" pitchFamily="2" charset="77"/>
                        <a:ea typeface="+mn-ea"/>
                        <a:cs typeface="Khmer OS Battambang" panose="02000500000000020004" pitchFamily="2" charset="77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m-KH" sz="2000" kern="1200" dirty="0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តួអក្សរ</a:t>
                      </a:r>
                      <a:r>
                        <a:rPr lang="en-US" sz="2000" kern="1200" dirty="0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 ​Unicode​16-bit</a:t>
                      </a:r>
                      <a:endParaRPr lang="en-KH" sz="2000" kern="1200" dirty="0">
                        <a:solidFill>
                          <a:srgbClr val="7030A0"/>
                        </a:solidFill>
                        <a:latin typeface="Khmer OS Battambang" panose="02000500000000020004" pitchFamily="2" charset="77"/>
                        <a:ea typeface="+mn-ea"/>
                        <a:cs typeface="Khmer OS Battambang" panose="02000500000000020004" pitchFamily="2" charset="77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KH" sz="2000" kern="1200" dirty="0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2 bytes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KH" sz="2000" kern="1200" dirty="0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\u0000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KH" sz="2000" kern="1200" dirty="0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\u000 (0) ដល់ \uffff (65,535)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75060749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97913461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77D0DB0-653A-910E-BE01-F7FC6BB804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64523A-087C-1965-07C8-A952DC28D19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701800" y="119781"/>
            <a:ext cx="9144000" cy="789373"/>
          </a:xfrm>
        </p:spPr>
        <p:txBody>
          <a:bodyPr>
            <a:normAutofit/>
          </a:bodyPr>
          <a:lstStyle/>
          <a:p>
            <a:pPr algn="l"/>
            <a:r>
              <a:rPr lang="en-US" sz="3600" dirty="0" err="1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ប្រភេទទិន្នន័យ</a:t>
            </a:r>
            <a:r>
              <a:rPr lang="en-US" sz="3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(Data Type) (</a:t>
            </a:r>
            <a:r>
              <a:rPr lang="en-US" sz="3600" dirty="0" err="1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ត</a:t>
            </a:r>
            <a:r>
              <a:rPr lang="en-US" sz="3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)</a:t>
            </a:r>
            <a:endParaRPr lang="en-KH" sz="3600" dirty="0">
              <a:solidFill>
                <a:srgbClr val="00206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3254FD7-03BD-95F6-D76F-E3D044573F2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24192" y="1417638"/>
            <a:ext cx="10954536" cy="4389894"/>
          </a:xfrm>
        </p:spPr>
        <p:txBody>
          <a:bodyPr>
            <a:normAutofit/>
          </a:bodyPr>
          <a:lstStyle/>
          <a:p>
            <a:pPr algn="l"/>
            <a:r>
              <a:rPr lang="en-KH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- ប្រភេទទិន្នន័យមិនបឋម(Non-</a:t>
            </a:r>
            <a:r>
              <a:rPr lang="en-US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Primitive Data Types</a:t>
            </a:r>
            <a:r>
              <a:rPr lang="en-KH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):</a:t>
            </a:r>
            <a:br>
              <a:rPr lang="en-KH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</a:br>
            <a:endParaRPr lang="en-KH" sz="2600" dirty="0">
              <a:solidFill>
                <a:srgbClr val="00206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6442C9F3-7DD8-9D27-A1C8-2D0C2A20F373}"/>
              </a:ext>
            </a:extLst>
          </p:cNvPr>
          <p:cNvCxnSpPr/>
          <p:nvPr/>
        </p:nvCxnSpPr>
        <p:spPr>
          <a:xfrm>
            <a:off x="0" y="1050468"/>
            <a:ext cx="12192000" cy="0"/>
          </a:xfrm>
          <a:prstGeom prst="line">
            <a:avLst/>
          </a:prstGeom>
          <a:ln w="57150">
            <a:solidFill>
              <a:srgbClr val="D49B0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E9915AFF-DFBC-C611-D4D7-A7156B776064}"/>
              </a:ext>
            </a:extLst>
          </p:cNvPr>
          <p:cNvCxnSpPr>
            <a:cxnSpLocks/>
          </p:cNvCxnSpPr>
          <p:nvPr/>
        </p:nvCxnSpPr>
        <p:spPr>
          <a:xfrm>
            <a:off x="0" y="979812"/>
            <a:ext cx="12192000" cy="0"/>
          </a:xfrm>
          <a:prstGeom prst="line">
            <a:avLst/>
          </a:prstGeom>
          <a:ln w="57150">
            <a:solidFill>
              <a:srgbClr val="1C27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7" name="Picture 46" descr="A blue circle with a yellow and white bird in it&#10;&#10;AI-generated content may be incorrect.">
            <a:extLst>
              <a:ext uri="{FF2B5EF4-FFF2-40B4-BE49-F238E27FC236}">
                <a16:creationId xmlns:a16="http://schemas.microsoft.com/office/drawing/2014/main" id="{BA2C05A5-6797-4B99-57B9-C2CA77291FC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5438" y="219712"/>
            <a:ext cx="606500" cy="606500"/>
          </a:xfrm>
          <a:prstGeom prst="rect">
            <a:avLst/>
          </a:prstGeom>
        </p:spPr>
      </p:pic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8D8BA7A4-7565-5AE3-4D68-EAB47880496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16081018"/>
              </p:ext>
            </p:extLst>
          </p:nvPr>
        </p:nvGraphicFramePr>
        <p:xfrm>
          <a:off x="624192" y="2123382"/>
          <a:ext cx="10557928" cy="3787437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656262">
                  <a:extLst>
                    <a:ext uri="{9D8B030D-6E8A-4147-A177-3AD203B41FA5}">
                      <a16:colId xmlns:a16="http://schemas.microsoft.com/office/drawing/2014/main" val="4047497681"/>
                    </a:ext>
                  </a:extLst>
                </a:gridCol>
                <a:gridCol w="4300907">
                  <a:extLst>
                    <a:ext uri="{9D8B030D-6E8A-4147-A177-3AD203B41FA5}">
                      <a16:colId xmlns:a16="http://schemas.microsoft.com/office/drawing/2014/main" val="821048884"/>
                    </a:ext>
                  </a:extLst>
                </a:gridCol>
                <a:gridCol w="1909003">
                  <a:extLst>
                    <a:ext uri="{9D8B030D-6E8A-4147-A177-3AD203B41FA5}">
                      <a16:colId xmlns:a16="http://schemas.microsoft.com/office/drawing/2014/main" val="1256672291"/>
                    </a:ext>
                  </a:extLst>
                </a:gridCol>
                <a:gridCol w="1691756">
                  <a:extLst>
                    <a:ext uri="{9D8B030D-6E8A-4147-A177-3AD203B41FA5}">
                      <a16:colId xmlns:a16="http://schemas.microsoft.com/office/drawing/2014/main" val="3921409523"/>
                    </a:ext>
                  </a:extLst>
                </a:gridCol>
              </a:tblGrid>
              <a:tr h="359595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lang="en-KH" sz="2000" kern="1200" dirty="0">
                          <a:solidFill>
                            <a:srgbClr val="0070C0"/>
                          </a:solidFill>
                          <a:latin typeface="Khmer OS Battambang" panose="02000500000000020004" pitchFamily="2" charset="77"/>
                          <a:cs typeface="Khmer OS Battambang" panose="02000500000000020004" pitchFamily="2" charset="77"/>
                        </a:rPr>
                        <a:t>ប្រភេទទិន្នន័យ</a:t>
                      </a:r>
                      <a:endParaRPr lang="en-KH" sz="2000" kern="1200" dirty="0">
                        <a:solidFill>
                          <a:srgbClr val="0070C0"/>
                        </a:solidFill>
                        <a:latin typeface="Khmer OS Battambang" panose="02000500000000020004" pitchFamily="2" charset="77"/>
                        <a:ea typeface="+mn-ea"/>
                        <a:cs typeface="Khmer OS Battambang" panose="02000500000000020004" pitchFamily="2" charset="77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lang="en-KH" sz="2000" kern="1200" dirty="0">
                          <a:solidFill>
                            <a:srgbClr val="0070C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បរិយាយ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lang="en-KH" sz="2000" kern="1200" dirty="0">
                          <a:solidFill>
                            <a:srgbClr val="0070C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ទំហំ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lang="en-KH" sz="2000" kern="1200" dirty="0">
                          <a:solidFill>
                            <a:srgbClr val="0070C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តម្លៃដើម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972388122"/>
                  </a:ext>
                </a:extLst>
              </a:tr>
              <a:tr h="1327736">
                <a:tc>
                  <a:txBody>
                    <a:bodyPr/>
                    <a:lstStyle/>
                    <a:p>
                      <a:pPr algn="l"/>
                      <a:r>
                        <a:rPr lang="en-US" sz="2000" kern="1200" dirty="0">
                          <a:solidFill>
                            <a:srgbClr val="D49B06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Classes</a:t>
                      </a:r>
                      <a:endParaRPr lang="en-KH" sz="2000" kern="1200" dirty="0">
                        <a:solidFill>
                          <a:srgbClr val="D49B06"/>
                        </a:solidFill>
                        <a:latin typeface="Khmer OS Battambang" panose="02000500000000020004" pitchFamily="2" charset="77"/>
                        <a:ea typeface="+mn-ea"/>
                        <a:cs typeface="Khmer OS Battambang" panose="02000500000000020004" pitchFamily="2" charset="77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KH" sz="2000" kern="1200" dirty="0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  គឺជាការកំណត់របស់អ្នកប្រើប្រាស់ ពី object ដែលត្រូវបានបង្កើត ដោយពួកគេធ្វើការ </a:t>
                      </a:r>
                      <a:r>
                        <a:rPr lang="en-US" sz="2000" kern="1200" dirty="0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encapsulate data (fields) </a:t>
                      </a:r>
                      <a:r>
                        <a:rPr lang="en-US" sz="2000" kern="1200" dirty="0" err="1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និង</a:t>
                      </a:r>
                      <a:r>
                        <a:rPr lang="en-US" sz="2000" kern="1200" dirty="0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  behavior (methods)។</a:t>
                      </a:r>
                      <a:endParaRPr lang="en-KH" sz="2000" kern="1200" dirty="0">
                        <a:solidFill>
                          <a:srgbClr val="7030A0"/>
                        </a:solidFill>
                        <a:latin typeface="Khmer OS Battambang" panose="02000500000000020004" pitchFamily="2" charset="77"/>
                        <a:ea typeface="+mn-ea"/>
                        <a:cs typeface="Khmer OS Battambang" panose="02000500000000020004" pitchFamily="2" charset="77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rowSpan="4"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</a:pPr>
                      <a:endParaRPr lang="en-KH" sz="2000" kern="1200" dirty="0">
                        <a:solidFill>
                          <a:srgbClr val="7030A0"/>
                        </a:solidFill>
                        <a:latin typeface="Khmer OS Battambang" panose="02000500000000020004" pitchFamily="2" charset="77"/>
                        <a:ea typeface="+mn-ea"/>
                        <a:cs typeface="Khmer OS Battambang" panose="02000500000000020004" pitchFamily="2" charset="77"/>
                      </a:endParaRPr>
                    </a:p>
                    <a:p>
                      <a:pPr algn="l">
                        <a:lnSpc>
                          <a:spcPct val="150000"/>
                        </a:lnSpc>
                      </a:pPr>
                      <a:endParaRPr lang="en-KH" sz="2000" kern="1200" dirty="0">
                        <a:solidFill>
                          <a:srgbClr val="7030A0"/>
                        </a:solidFill>
                        <a:latin typeface="Khmer OS Battambang" panose="02000500000000020004" pitchFamily="2" charset="77"/>
                        <a:ea typeface="+mn-ea"/>
                        <a:cs typeface="Khmer OS Battambang" panose="02000500000000020004" pitchFamily="2" charset="77"/>
                      </a:endParaRPr>
                    </a:p>
                    <a:p>
                      <a:pPr algn="l">
                        <a:lnSpc>
                          <a:spcPct val="150000"/>
                        </a:lnSpc>
                      </a:pPr>
                      <a:r>
                        <a:rPr lang="en-KH" sz="2000" kern="1200" dirty="0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ផ្ទុកតម្លៃជាក់ស្តែងដោយផ្ទាល់ក្នុង memory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KH" sz="2000" kern="1200" dirty="0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null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646997984"/>
                  </a:ext>
                </a:extLst>
              </a:tr>
              <a:tr h="944981">
                <a:tc>
                  <a:txBody>
                    <a:bodyPr/>
                    <a:lstStyle/>
                    <a:p>
                      <a:pPr algn="l"/>
                      <a:r>
                        <a:rPr lang="en-US" sz="2000" kern="1200" dirty="0">
                          <a:solidFill>
                            <a:srgbClr val="D49B06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Strings</a:t>
                      </a:r>
                      <a:endParaRPr lang="en-KH" sz="2000" kern="1200" dirty="0">
                        <a:solidFill>
                          <a:srgbClr val="D49B06"/>
                        </a:solidFill>
                        <a:latin typeface="Khmer OS Battambang" panose="02000500000000020004" pitchFamily="2" charset="77"/>
                        <a:ea typeface="+mn-ea"/>
                        <a:cs typeface="Khmer OS Battambang" panose="02000500000000020004" pitchFamily="2" charset="77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kern="1200" dirty="0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  </a:t>
                      </a:r>
                      <a:r>
                        <a:rPr lang="km-KH" sz="2000" kern="1200" dirty="0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ជាប្រភេទដែលបានកំណត់ជាមុននៅក្នុង </a:t>
                      </a:r>
                      <a:r>
                        <a:rPr lang="en-US" sz="2000" kern="1200" dirty="0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Java។ </a:t>
                      </a:r>
                      <a:r>
                        <a:rPr lang="en-US" sz="2000" kern="1200" dirty="0" err="1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វាគឺជា</a:t>
                      </a:r>
                      <a:r>
                        <a:rPr lang="en-US" sz="2000" kern="1200" dirty="0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 object </a:t>
                      </a:r>
                      <a:r>
                        <a:rPr lang="km-KH" sz="2000" kern="1200" dirty="0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នៃ</a:t>
                      </a:r>
                      <a:r>
                        <a:rPr lang="en-US" sz="2000" kern="1200" dirty="0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 class String </a:t>
                      </a:r>
                      <a:r>
                        <a:rPr lang="km-KH" sz="2000" kern="1200" dirty="0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ដែលតំណាងឱ្យលំដាប់នៃតួអក្សរ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vMerge="1">
                  <a:txBody>
                    <a:bodyPr/>
                    <a:lstStyle/>
                    <a:p>
                      <a:pPr algn="l"/>
                      <a:endParaRPr lang="en-KH" sz="1800" kern="1200" dirty="0">
                        <a:solidFill>
                          <a:srgbClr val="7030A0"/>
                        </a:solidFill>
                        <a:latin typeface="Khmer OS Battambang" panose="02000500000000020004" pitchFamily="2" charset="77"/>
                        <a:ea typeface="+mn-ea"/>
                        <a:cs typeface="Khmer OS Battambang" panose="02000500000000020004" pitchFamily="2" charset="77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rowSpan="2">
                  <a:txBody>
                    <a:bodyPr/>
                    <a:lstStyle/>
                    <a:p>
                      <a:pPr algn="l"/>
                      <a:r>
                        <a:rPr lang="en-KH" sz="2000" kern="1200" dirty="0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null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135006438"/>
                  </a:ext>
                </a:extLst>
              </a:tr>
              <a:tr h="133805">
                <a:tc rowSpan="2">
                  <a:txBody>
                    <a:bodyPr/>
                    <a:lstStyle/>
                    <a:p>
                      <a:pPr algn="l"/>
                      <a:r>
                        <a:rPr lang="en-US" sz="2000" kern="1200">
                          <a:solidFill>
                            <a:srgbClr val="D49B06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Arrays</a:t>
                      </a:r>
                      <a:endParaRPr lang="en-KH" sz="2000" kern="1200" dirty="0">
                        <a:solidFill>
                          <a:srgbClr val="D49B06"/>
                        </a:solidFill>
                        <a:latin typeface="Khmer OS Battambang" panose="02000500000000020004" pitchFamily="2" charset="77"/>
                        <a:ea typeface="+mn-ea"/>
                        <a:cs typeface="Khmer OS Battambang" panose="02000500000000020004" pitchFamily="2" charset="77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rowSpan="2"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KH" sz="2000" kern="1200" dirty="0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  ជាវត្ថុសម្រាប់ផ្ទុកនូវធាតុជាច្រើនដែលមានប្រភេទទិន្នន័យដូចគ្នា និងនៅក្នុង</a:t>
                      </a:r>
                      <a:r>
                        <a:rPr lang="km-KH" sz="2000" kern="1200" dirty="0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ទីតាំងចងចាំជាប់គ្នា</a:t>
                      </a:r>
                      <a:r>
                        <a:rPr lang="en-US" sz="2000" kern="1200" dirty="0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។</a:t>
                      </a:r>
                      <a:endParaRPr lang="km-KH" sz="2000" kern="1200" dirty="0">
                        <a:solidFill>
                          <a:srgbClr val="7030A0"/>
                        </a:solidFill>
                        <a:latin typeface="Khmer OS Battambang" panose="02000500000000020004" pitchFamily="2" charset="77"/>
                        <a:ea typeface="+mn-ea"/>
                        <a:cs typeface="Khmer OS Battambang" panose="02000500000000020004" pitchFamily="2" charset="77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vMerge="1">
                  <a:txBody>
                    <a:bodyPr/>
                    <a:lstStyle/>
                    <a:p>
                      <a:endParaRPr lang="en-KH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algn="l"/>
                      <a:endParaRPr lang="en-KH" sz="1800" kern="1200" dirty="0">
                        <a:solidFill>
                          <a:srgbClr val="7030A0"/>
                        </a:solidFill>
                        <a:latin typeface="Khmer OS Battambang" panose="02000500000000020004" pitchFamily="2" charset="77"/>
                        <a:ea typeface="+mn-ea"/>
                        <a:cs typeface="Khmer OS Battambang" panose="02000500000000020004" pitchFamily="2" charset="77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7308684"/>
                  </a:ext>
                </a:extLst>
              </a:tr>
              <a:tr h="923816">
                <a:tc vMerge="1">
                  <a:txBody>
                    <a:bodyPr/>
                    <a:lstStyle/>
                    <a:p>
                      <a:pPr algn="l"/>
                      <a:r>
                        <a:rPr lang="en-US" sz="1800" kern="1200" dirty="0">
                          <a:solidFill>
                            <a:srgbClr val="D49B06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Arrays</a:t>
                      </a:r>
                      <a:endParaRPr lang="en-KH" sz="1800" kern="1200" dirty="0">
                        <a:solidFill>
                          <a:srgbClr val="D49B06"/>
                        </a:solidFill>
                        <a:latin typeface="Khmer OS Battambang" panose="02000500000000020004" pitchFamily="2" charset="77"/>
                        <a:ea typeface="+mn-ea"/>
                        <a:cs typeface="Khmer OS Battambang" panose="02000500000000020004" pitchFamily="2" charset="77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vMerge="1"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KH" sz="1800" kern="1200" dirty="0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  ជាវត្ថុសម្រាប់ផ្ទុកនូវធាតុជាច្រើនដែលមានប្រភេទទិន្នន័យដូចគ្នា និងនៅក្នុង</a:t>
                      </a:r>
                      <a:r>
                        <a:rPr lang="km-KH" sz="1800" kern="1200" dirty="0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ទីតាំងចងចាំជាប់គ្នា</a:t>
                      </a:r>
                      <a:r>
                        <a:rPr lang="en-US" sz="1800" kern="1200" dirty="0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។</a:t>
                      </a:r>
                      <a:endParaRPr lang="km-KH" sz="1800" kern="1200" dirty="0">
                        <a:solidFill>
                          <a:srgbClr val="7030A0"/>
                        </a:solidFill>
                        <a:latin typeface="Khmer OS Battambang" panose="02000500000000020004" pitchFamily="2" charset="77"/>
                        <a:ea typeface="+mn-ea"/>
                        <a:cs typeface="Khmer OS Battambang" panose="02000500000000020004" pitchFamily="2" charset="77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vMerge="1">
                  <a:txBody>
                    <a:bodyPr/>
                    <a:lstStyle/>
                    <a:p>
                      <a:pPr algn="l"/>
                      <a:endParaRPr lang="en-KH" sz="1800" kern="1200" dirty="0">
                        <a:solidFill>
                          <a:srgbClr val="7030A0"/>
                        </a:solidFill>
                        <a:latin typeface="Khmer OS Battambang" panose="02000500000000020004" pitchFamily="2" charset="77"/>
                        <a:ea typeface="+mn-ea"/>
                        <a:cs typeface="Khmer OS Battambang" panose="02000500000000020004" pitchFamily="2" charset="77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KH" sz="2000" kern="1200" dirty="0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null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55070855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33692834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1B2A585-4685-99A1-BF62-DCEA433DFC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15ECB1-8548-4BC9-FA3F-200A902B208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701800" y="119781"/>
            <a:ext cx="9144000" cy="789373"/>
          </a:xfrm>
        </p:spPr>
        <p:txBody>
          <a:bodyPr>
            <a:normAutofit/>
          </a:bodyPr>
          <a:lstStyle/>
          <a:p>
            <a:pPr algn="l"/>
            <a:r>
              <a:rPr lang="en-US" sz="3600" dirty="0" err="1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ប្រភេទទិន្នន័យ</a:t>
            </a:r>
            <a:r>
              <a:rPr lang="en-US" sz="3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(Data Type) (</a:t>
            </a:r>
            <a:r>
              <a:rPr lang="en-US" sz="3600" dirty="0" err="1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ត</a:t>
            </a:r>
            <a:r>
              <a:rPr lang="en-US" sz="3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)</a:t>
            </a:r>
            <a:endParaRPr lang="en-KH" sz="3600" dirty="0">
              <a:solidFill>
                <a:srgbClr val="00206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3E06D49-8DFA-0277-09AA-064AC8C84E0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24192" y="1417638"/>
            <a:ext cx="10954536" cy="4389894"/>
          </a:xfrm>
        </p:spPr>
        <p:txBody>
          <a:bodyPr>
            <a:normAutofit/>
          </a:bodyPr>
          <a:lstStyle/>
          <a:p>
            <a:pPr algn="l"/>
            <a:r>
              <a:rPr lang="en-KH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- ប្រភេទទិន្នន័យមិនបឋម(Non-</a:t>
            </a:r>
            <a:r>
              <a:rPr lang="en-US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Primitive Data Types</a:t>
            </a:r>
            <a:r>
              <a:rPr lang="en-KH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)(ត):</a:t>
            </a:r>
            <a:br>
              <a:rPr lang="en-KH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</a:br>
            <a:endParaRPr lang="en-KH" sz="2600" dirty="0">
              <a:solidFill>
                <a:srgbClr val="00206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1E01AF43-AC4B-A90A-9209-36C24C7A41A8}"/>
              </a:ext>
            </a:extLst>
          </p:cNvPr>
          <p:cNvCxnSpPr/>
          <p:nvPr/>
        </p:nvCxnSpPr>
        <p:spPr>
          <a:xfrm>
            <a:off x="0" y="1050468"/>
            <a:ext cx="12192000" cy="0"/>
          </a:xfrm>
          <a:prstGeom prst="line">
            <a:avLst/>
          </a:prstGeom>
          <a:ln w="57150">
            <a:solidFill>
              <a:srgbClr val="D49B0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4F3B681B-FD27-D455-40F1-4337AFE73D3B}"/>
              </a:ext>
            </a:extLst>
          </p:cNvPr>
          <p:cNvCxnSpPr>
            <a:cxnSpLocks/>
          </p:cNvCxnSpPr>
          <p:nvPr/>
        </p:nvCxnSpPr>
        <p:spPr>
          <a:xfrm>
            <a:off x="0" y="979812"/>
            <a:ext cx="12192000" cy="0"/>
          </a:xfrm>
          <a:prstGeom prst="line">
            <a:avLst/>
          </a:prstGeom>
          <a:ln w="57150">
            <a:solidFill>
              <a:srgbClr val="1C27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7" name="Picture 46" descr="A blue circle with a yellow and white bird in it&#10;&#10;AI-generated content may be incorrect.">
            <a:extLst>
              <a:ext uri="{FF2B5EF4-FFF2-40B4-BE49-F238E27FC236}">
                <a16:creationId xmlns:a16="http://schemas.microsoft.com/office/drawing/2014/main" id="{AB88E863-0DD6-F706-1467-95D547E65C8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5438" y="219712"/>
            <a:ext cx="606500" cy="606500"/>
          </a:xfrm>
          <a:prstGeom prst="rect">
            <a:avLst/>
          </a:prstGeom>
        </p:spPr>
      </p:pic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A66CFB58-18CC-9C8C-2D79-B2B6261E6EB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88265468"/>
              </p:ext>
            </p:extLst>
          </p:nvPr>
        </p:nvGraphicFramePr>
        <p:xfrm>
          <a:off x="624192" y="2090331"/>
          <a:ext cx="10789283" cy="1848874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714468">
                  <a:extLst>
                    <a:ext uri="{9D8B030D-6E8A-4147-A177-3AD203B41FA5}">
                      <a16:colId xmlns:a16="http://schemas.microsoft.com/office/drawing/2014/main" val="4047497681"/>
                    </a:ext>
                  </a:extLst>
                </a:gridCol>
                <a:gridCol w="4395152">
                  <a:extLst>
                    <a:ext uri="{9D8B030D-6E8A-4147-A177-3AD203B41FA5}">
                      <a16:colId xmlns:a16="http://schemas.microsoft.com/office/drawing/2014/main" val="821048884"/>
                    </a:ext>
                  </a:extLst>
                </a:gridCol>
                <a:gridCol w="1770406">
                  <a:extLst>
                    <a:ext uri="{9D8B030D-6E8A-4147-A177-3AD203B41FA5}">
                      <a16:colId xmlns:a16="http://schemas.microsoft.com/office/drawing/2014/main" val="1256672291"/>
                    </a:ext>
                  </a:extLst>
                </a:gridCol>
                <a:gridCol w="1909257">
                  <a:extLst>
                    <a:ext uri="{9D8B030D-6E8A-4147-A177-3AD203B41FA5}">
                      <a16:colId xmlns:a16="http://schemas.microsoft.com/office/drawing/2014/main" val="3921409523"/>
                    </a:ext>
                  </a:extLst>
                </a:gridCol>
              </a:tblGrid>
              <a:tr h="359595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lang="en-KH" sz="2000" kern="1200" dirty="0">
                          <a:solidFill>
                            <a:srgbClr val="0070C0"/>
                          </a:solidFill>
                          <a:latin typeface="Khmer OS Content" panose="02000500000000020004" pitchFamily="2" charset="77"/>
                          <a:cs typeface="Khmer OS Content" panose="02000500000000020004" pitchFamily="2" charset="77"/>
                        </a:rPr>
                        <a:t>ប្រភេទទិន្នន័យ</a:t>
                      </a:r>
                      <a:endParaRPr lang="en-KH" sz="2000" kern="1200" dirty="0">
                        <a:solidFill>
                          <a:srgbClr val="0070C0"/>
                        </a:solidFill>
                        <a:latin typeface="Khmer OS Content" panose="02000500000000020004" pitchFamily="2" charset="77"/>
                        <a:ea typeface="+mn-ea"/>
                        <a:cs typeface="Khmer OS Content" panose="02000500000000020004" pitchFamily="2" charset="77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lang="en-KH" sz="2000" kern="1200" dirty="0">
                          <a:solidFill>
                            <a:srgbClr val="0070C0"/>
                          </a:solidFill>
                          <a:latin typeface="Khmer OS Content" panose="02000500000000020004" pitchFamily="2" charset="77"/>
                          <a:ea typeface="+mn-ea"/>
                          <a:cs typeface="Khmer OS Content" panose="02000500000000020004" pitchFamily="2" charset="77"/>
                        </a:rPr>
                        <a:t>បរិយាយ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lang="en-KH" sz="2000" kern="1200" dirty="0">
                          <a:solidFill>
                            <a:srgbClr val="0070C0"/>
                          </a:solidFill>
                          <a:latin typeface="Khmer OS Content" panose="02000500000000020004" pitchFamily="2" charset="77"/>
                          <a:ea typeface="+mn-ea"/>
                          <a:cs typeface="Khmer OS Content" panose="02000500000000020004" pitchFamily="2" charset="77"/>
                        </a:rPr>
                        <a:t>ទំហំ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lang="en-KH" sz="2000" kern="1200" dirty="0">
                          <a:solidFill>
                            <a:srgbClr val="0070C0"/>
                          </a:solidFill>
                          <a:latin typeface="Khmer OS Content" panose="02000500000000020004" pitchFamily="2" charset="77"/>
                          <a:ea typeface="+mn-ea"/>
                          <a:cs typeface="Khmer OS Content" panose="02000500000000020004" pitchFamily="2" charset="77"/>
                        </a:rPr>
                        <a:t>លំនាំដើម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972388122"/>
                  </a:ext>
                </a:extLst>
              </a:tr>
              <a:tr h="154970">
                <a:tc rowSpan="2">
                  <a:txBody>
                    <a:bodyPr/>
                    <a:lstStyle/>
                    <a:p>
                      <a:pPr algn="l"/>
                      <a:r>
                        <a:rPr lang="en-US" sz="2000" kern="1200" dirty="0">
                          <a:solidFill>
                            <a:srgbClr val="D49B06"/>
                          </a:solidFill>
                          <a:latin typeface="Khmer OS Content" panose="02000500000000020004" pitchFamily="2" charset="77"/>
                          <a:ea typeface="+mn-ea"/>
                          <a:cs typeface="Khmer OS Content" panose="02000500000000020004" pitchFamily="2" charset="77"/>
                        </a:rPr>
                        <a:t>Interfaces</a:t>
                      </a:r>
                      <a:endParaRPr lang="en-KH" sz="2000" kern="1200" dirty="0">
                        <a:solidFill>
                          <a:srgbClr val="D49B06"/>
                        </a:solidFill>
                        <a:latin typeface="Khmer OS Content" panose="02000500000000020004" pitchFamily="2" charset="77"/>
                        <a:ea typeface="+mn-ea"/>
                        <a:cs typeface="Khmer OS Content" panose="02000500000000020004" pitchFamily="2" charset="77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rowSpan="2"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kern="1200" dirty="0">
                          <a:solidFill>
                            <a:srgbClr val="7030A0"/>
                          </a:solidFill>
                          <a:latin typeface="Khmer OS Content" panose="02000500000000020004" pitchFamily="2" charset="77"/>
                          <a:ea typeface="+mn-ea"/>
                          <a:cs typeface="Khmer OS Content" panose="02000500000000020004" pitchFamily="2" charset="77"/>
                        </a:rPr>
                        <a:t> </a:t>
                      </a:r>
                      <a:r>
                        <a:rPr lang="en-US" sz="2000" kern="1200" dirty="0" err="1">
                          <a:solidFill>
                            <a:srgbClr val="7030A0"/>
                          </a:solidFill>
                          <a:latin typeface="Khmer OS Content" panose="02000500000000020004" pitchFamily="2" charset="77"/>
                          <a:ea typeface="+mn-ea"/>
                          <a:cs typeface="Khmer OS Content" panose="02000500000000020004" pitchFamily="2" charset="77"/>
                        </a:rPr>
                        <a:t>ជា</a:t>
                      </a:r>
                      <a:r>
                        <a:rPr lang="km-KH" sz="2000" kern="1200" dirty="0">
                          <a:solidFill>
                            <a:srgbClr val="7030A0"/>
                          </a:solidFill>
                          <a:latin typeface="Khmer OS Content" panose="02000500000000020004" pitchFamily="2" charset="77"/>
                          <a:ea typeface="+mn-ea"/>
                          <a:cs typeface="Khmer OS Content" panose="02000500000000020004" pitchFamily="2" charset="77"/>
                        </a:rPr>
                        <a:t>ប្រភេទអរូបីដែលកំណត់កិច្ចសន្យានៃវិធីសាស្រ្តដែលថ្នាក់ត្រូវអនុវត្ត</a:t>
                      </a:r>
                      <a:r>
                        <a:rPr lang="en-US" sz="2000" kern="1200" dirty="0">
                          <a:solidFill>
                            <a:srgbClr val="7030A0"/>
                          </a:solidFill>
                          <a:latin typeface="Khmer OS Content" panose="02000500000000020004" pitchFamily="2" charset="77"/>
                          <a:ea typeface="+mn-ea"/>
                          <a:cs typeface="Khmer OS Content" panose="02000500000000020004" pitchFamily="2" charset="77"/>
                        </a:rPr>
                        <a:t>។</a:t>
                      </a:r>
                      <a:endParaRPr lang="km-KH" sz="2000" kern="1200" dirty="0">
                        <a:solidFill>
                          <a:srgbClr val="7030A0"/>
                        </a:solidFill>
                        <a:latin typeface="Khmer OS Content" panose="02000500000000020004" pitchFamily="2" charset="77"/>
                        <a:ea typeface="+mn-ea"/>
                        <a:cs typeface="Khmer OS Content" panose="02000500000000020004" pitchFamily="2" charset="77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rowSpan="4">
                  <a:txBody>
                    <a:bodyPr/>
                    <a:lstStyle/>
                    <a:p>
                      <a:endParaRPr lang="en-KH" sz="2000" dirty="0">
                        <a:latin typeface="Khmer OS Content" panose="02000500000000020004" pitchFamily="2" charset="77"/>
                        <a:cs typeface="Khmer OS Content" panose="02000500000000020004" pitchFamily="2" charset="77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KH" sz="2000" kern="1200" dirty="0">
                          <a:solidFill>
                            <a:srgbClr val="7030A0"/>
                          </a:solidFill>
                          <a:latin typeface="Khmer OS Content" panose="02000500000000020004" pitchFamily="2" charset="77"/>
                          <a:ea typeface="+mn-ea"/>
                          <a:cs typeface="Khmer OS Content" panose="02000500000000020004" pitchFamily="2" charset="77"/>
                        </a:rPr>
                        <a:t>null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153679604"/>
                  </a:ext>
                </a:extLst>
              </a:tr>
              <a:tr h="355354">
                <a:tc vMerge="1">
                  <a:txBody>
                    <a:bodyPr/>
                    <a:lstStyle/>
                    <a:p>
                      <a:pPr algn="l"/>
                      <a:r>
                        <a:rPr lang="en-US" sz="1800" kern="1200" dirty="0">
                          <a:solidFill>
                            <a:srgbClr val="D49B06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Interfaces</a:t>
                      </a:r>
                      <a:endParaRPr lang="en-KH" sz="1800" kern="1200" dirty="0">
                        <a:solidFill>
                          <a:srgbClr val="D49B06"/>
                        </a:solidFill>
                        <a:latin typeface="Khmer OS Battambang" panose="02000500000000020004" pitchFamily="2" charset="77"/>
                        <a:ea typeface="+mn-ea"/>
                        <a:cs typeface="Khmer OS Battambang" panose="02000500000000020004" pitchFamily="2" charset="77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vMerge="1">
                  <a:txBody>
                    <a:bodyPr/>
                    <a:lstStyle/>
                    <a:p>
                      <a:pPr algn="l"/>
                      <a:endParaRPr lang="en-KH" sz="1800" kern="1200" dirty="0">
                        <a:solidFill>
                          <a:srgbClr val="7030A0"/>
                        </a:solidFill>
                        <a:latin typeface="Khmer OS Battambang" panose="02000500000000020004" pitchFamily="2" charset="77"/>
                        <a:ea typeface="+mn-ea"/>
                        <a:cs typeface="Khmer OS Battambang" panose="02000500000000020004" pitchFamily="2" charset="77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vMerge="1">
                  <a:txBody>
                    <a:bodyPr/>
                    <a:lstStyle/>
                    <a:p>
                      <a:pPr algn="l"/>
                      <a:endParaRPr lang="en-KH" sz="1800" kern="1200" dirty="0">
                        <a:solidFill>
                          <a:srgbClr val="7030A0"/>
                        </a:solidFill>
                        <a:latin typeface="Khmer OS Battambang" panose="02000500000000020004" pitchFamily="2" charset="77"/>
                        <a:ea typeface="+mn-ea"/>
                        <a:cs typeface="Khmer OS Battambang" panose="02000500000000020004" pitchFamily="2" charset="77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rowSpan="2">
                  <a:txBody>
                    <a:bodyPr/>
                    <a:lstStyle/>
                    <a:p>
                      <a:pPr algn="l"/>
                      <a:endParaRPr lang="en-KH" sz="2000" kern="1200" dirty="0">
                        <a:solidFill>
                          <a:srgbClr val="7030A0"/>
                        </a:solidFill>
                        <a:latin typeface="Khmer OS Content" panose="02000500000000020004" pitchFamily="2" charset="77"/>
                        <a:ea typeface="+mn-ea"/>
                        <a:cs typeface="Khmer OS Content" panose="02000500000000020004" pitchFamily="2" charset="77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311832117"/>
                  </a:ext>
                </a:extLst>
              </a:tr>
              <a:tr h="207546">
                <a:tc rowSpan="2">
                  <a:txBody>
                    <a:bodyPr/>
                    <a:lstStyle/>
                    <a:p>
                      <a:pPr algn="l"/>
                      <a:r>
                        <a:rPr lang="en-US" sz="2000" kern="1200">
                          <a:solidFill>
                            <a:srgbClr val="D49B06"/>
                          </a:solidFill>
                          <a:latin typeface="Khmer OS Content" panose="02000500000000020004" pitchFamily="2" charset="77"/>
                          <a:ea typeface="+mn-ea"/>
                          <a:cs typeface="Khmer OS Content" panose="02000500000000020004" pitchFamily="2" charset="77"/>
                        </a:rPr>
                        <a:t>Enums</a:t>
                      </a:r>
                      <a:endParaRPr lang="en-KH" sz="2000" kern="1200" dirty="0">
                        <a:solidFill>
                          <a:srgbClr val="D49B06"/>
                        </a:solidFill>
                        <a:latin typeface="Khmer OS Content" panose="02000500000000020004" pitchFamily="2" charset="77"/>
                        <a:ea typeface="+mn-ea"/>
                        <a:cs typeface="Khmer OS Content" panose="02000500000000020004" pitchFamily="2" charset="77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rowSpan="2"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KH" sz="2000" kern="1200" dirty="0">
                          <a:solidFill>
                            <a:srgbClr val="7030A0"/>
                          </a:solidFill>
                          <a:latin typeface="Khmer OS Content" panose="02000500000000020004" pitchFamily="2" charset="77"/>
                          <a:ea typeface="+mn-ea"/>
                          <a:cs typeface="Khmer OS Content" panose="02000500000000020004" pitchFamily="2" charset="77"/>
                        </a:rPr>
                        <a:t> ជាប្រភេទពិសេសដែលប្រើដើម្បីកំណត់តម្លៃអថេដែលមិនប្រែប្រួល។</a:t>
                      </a:r>
                      <a:endParaRPr lang="km-KH" sz="2000" kern="1200" dirty="0">
                        <a:solidFill>
                          <a:srgbClr val="7030A0"/>
                        </a:solidFill>
                        <a:latin typeface="Khmer OS Content" panose="02000500000000020004" pitchFamily="2" charset="77"/>
                        <a:ea typeface="+mn-ea"/>
                        <a:cs typeface="Khmer OS Content" panose="02000500000000020004" pitchFamily="2" charset="77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vMerge="1">
                  <a:txBody>
                    <a:bodyPr/>
                    <a:lstStyle/>
                    <a:p>
                      <a:endParaRPr lang="en-KH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algn="l"/>
                      <a:endParaRPr lang="en-KH" sz="1800" kern="1200" dirty="0">
                        <a:solidFill>
                          <a:srgbClr val="7030A0"/>
                        </a:solidFill>
                        <a:latin typeface="Khmer OS Battambang" panose="02000500000000020004" pitchFamily="2" charset="77"/>
                        <a:ea typeface="+mn-ea"/>
                        <a:cs typeface="Khmer OS Battambang" panose="02000500000000020004" pitchFamily="2" charset="77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3548077"/>
                  </a:ext>
                </a:extLst>
              </a:tr>
              <a:tr h="331934">
                <a:tc vMerge="1">
                  <a:txBody>
                    <a:bodyPr/>
                    <a:lstStyle/>
                    <a:p>
                      <a:pPr algn="l"/>
                      <a:r>
                        <a:rPr lang="en-US" sz="1800" kern="1200" dirty="0">
                          <a:solidFill>
                            <a:srgbClr val="D49B06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Enums</a:t>
                      </a:r>
                      <a:endParaRPr lang="en-KH" sz="1800" kern="1200" dirty="0">
                        <a:solidFill>
                          <a:srgbClr val="D49B06"/>
                        </a:solidFill>
                        <a:latin typeface="Khmer OS Battambang" panose="02000500000000020004" pitchFamily="2" charset="77"/>
                        <a:ea typeface="+mn-ea"/>
                        <a:cs typeface="Khmer OS Battambang" panose="02000500000000020004" pitchFamily="2" charset="77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vMerge="1">
                  <a:txBody>
                    <a:bodyPr/>
                    <a:lstStyle/>
                    <a:p>
                      <a:pPr algn="l"/>
                      <a:r>
                        <a:rPr lang="en-KH" sz="1800" kern="1200" dirty="0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 ជាប្រភេទពិសេសដែលប្រើដើម្បីកំណត់តម្លៃអថេដែលមិនប្រែប្រួល។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vMerge="1">
                  <a:txBody>
                    <a:bodyPr/>
                    <a:lstStyle/>
                    <a:p>
                      <a:pPr algn="l"/>
                      <a:endParaRPr lang="en-KH" sz="1800" kern="1200" dirty="0">
                        <a:solidFill>
                          <a:srgbClr val="7030A0"/>
                        </a:solidFill>
                        <a:latin typeface="Khmer OS Battambang" panose="02000500000000020004" pitchFamily="2" charset="77"/>
                        <a:ea typeface="+mn-ea"/>
                        <a:cs typeface="Khmer OS Battambang" panose="02000500000000020004" pitchFamily="2" charset="77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KH" sz="2000" kern="1200" dirty="0">
                          <a:solidFill>
                            <a:srgbClr val="7030A0"/>
                          </a:solidFill>
                          <a:latin typeface="Khmer OS Content" panose="02000500000000020004" pitchFamily="2" charset="77"/>
                          <a:ea typeface="+mn-ea"/>
                          <a:cs typeface="Khmer OS Content" panose="02000500000000020004" pitchFamily="2" charset="77"/>
                        </a:rPr>
                        <a:t>null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75458776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52128768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E805DA8-021B-CDEE-1DA3-6333145A74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64613E-EAA9-BE10-0DAE-850A6B9468F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701800" y="119781"/>
            <a:ext cx="9144000" cy="789373"/>
          </a:xfrm>
        </p:spPr>
        <p:txBody>
          <a:bodyPr>
            <a:normAutofit/>
          </a:bodyPr>
          <a:lstStyle/>
          <a:p>
            <a:pPr algn="l"/>
            <a:r>
              <a:rPr lang="en-US" sz="3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Variable</a:t>
            </a:r>
            <a:endParaRPr lang="en-KH" sz="3600" dirty="0">
              <a:solidFill>
                <a:srgbClr val="00206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D5DB14E-0CC1-544D-90F8-9962D934614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24192" y="1417637"/>
            <a:ext cx="10954536" cy="4836403"/>
          </a:xfrm>
        </p:spPr>
        <p:txBody>
          <a:bodyPr>
            <a:normAutofit fontScale="77500" lnSpcReduction="20000"/>
          </a:bodyPr>
          <a:lstStyle/>
          <a:p>
            <a:pPr algn="l">
              <a:lnSpc>
                <a:spcPct val="150000"/>
              </a:lnSpc>
            </a:pPr>
            <a:r>
              <a:rPr lang="en-KH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 Variable </a:t>
            </a:r>
            <a:r>
              <a:rPr lang="en-KH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គឺជាឈ្មោះអថេរមួយសម្រាប់រក្សាទុកតម្លៃរបស់ទិន្នន័យកំឡុងពេលដំណើរការកម្មវិធី។</a:t>
            </a:r>
          </a:p>
          <a:p>
            <a:pPr marL="457200" indent="-457200" algn="l">
              <a:lnSpc>
                <a:spcPct val="150000"/>
              </a:lnSpc>
              <a:buFontTx/>
              <a:buChar char="-"/>
            </a:pPr>
            <a:r>
              <a:rPr lang="en-KH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ការប្រកាស​ Variable ៖ </a:t>
            </a:r>
            <a:r>
              <a:rPr lang="en-KH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(</a:t>
            </a:r>
            <a:r>
              <a:rPr lang="en-KH" sz="26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ប្រភេទទិន្នន័យ</a:t>
            </a:r>
            <a:r>
              <a:rPr lang="en-KH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)</a:t>
            </a:r>
            <a:r>
              <a:rPr lang="en-KH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KH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(ឈ្មោះ Variable)</a:t>
            </a:r>
            <a:r>
              <a:rPr lang="en-KH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;</a:t>
            </a:r>
            <a:br>
              <a:rPr lang="en-KH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</a:br>
            <a:r>
              <a:rPr lang="en-KH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​​	ឧទាហរណ៍​៖ </a:t>
            </a:r>
            <a:r>
              <a:rPr lang="en-KH" sz="2600" dirty="0">
                <a:solidFill>
                  <a:srgbClr val="D49B06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double</a:t>
            </a:r>
            <a:r>
              <a:rPr lang="en-KH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amount;</a:t>
            </a:r>
          </a:p>
          <a:p>
            <a:pPr marL="457200" indent="-457200" algn="l">
              <a:lnSpc>
                <a:spcPct val="150000"/>
              </a:lnSpc>
              <a:buFontTx/>
              <a:buChar char="-"/>
            </a:pPr>
            <a:r>
              <a:rPr lang="en-KH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ការបញ្ចូលតម្លៃទៅឲ្យ Variable៖ </a:t>
            </a:r>
            <a:r>
              <a:rPr lang="en-KH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(ឈ្មោះ Variable) = (</a:t>
            </a:r>
            <a:r>
              <a:rPr lang="en-KH" sz="2600" dirty="0">
                <a:solidFill>
                  <a:srgbClr val="D49B06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តម្លៃ</a:t>
            </a:r>
            <a:r>
              <a:rPr lang="en-KH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);</a:t>
            </a:r>
            <a:br>
              <a:rPr lang="en-KH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</a:br>
            <a:r>
              <a:rPr lang="en-KH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	ឧទាហរណ៍៖ </a:t>
            </a:r>
            <a:r>
              <a:rPr lang="en-KH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amount = </a:t>
            </a:r>
            <a:r>
              <a:rPr lang="en-KH" sz="2600" dirty="0">
                <a:solidFill>
                  <a:srgbClr val="D49B06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200</a:t>
            </a:r>
            <a:r>
              <a:rPr lang="en-KH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;</a:t>
            </a:r>
          </a:p>
          <a:p>
            <a:pPr marL="457200" indent="-457200" algn="l">
              <a:lnSpc>
                <a:spcPct val="150000"/>
              </a:lnSpc>
              <a:buFontTx/>
              <a:buChar char="-"/>
            </a:pPr>
            <a:r>
              <a:rPr lang="en-KH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ការប្រកាស Variable និង​កំណត់តម្លៃដំបូង(Initialization)៖ </a:t>
            </a:r>
            <a:r>
              <a:rPr lang="en-KH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(</a:t>
            </a:r>
            <a:r>
              <a:rPr lang="en-KH" sz="26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ប្រភេទទិន្នន័យ</a:t>
            </a:r>
            <a:r>
              <a:rPr lang="en-KH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) (ឈ្មោះ Variable) = (</a:t>
            </a:r>
            <a:r>
              <a:rPr lang="en-KH" sz="2600" dirty="0">
                <a:solidFill>
                  <a:srgbClr val="D49B06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តម្លៃ</a:t>
            </a:r>
            <a:r>
              <a:rPr lang="en-KH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);     </a:t>
            </a:r>
          </a:p>
          <a:p>
            <a:pPr algn="l">
              <a:lnSpc>
                <a:spcPct val="150000"/>
              </a:lnSpc>
            </a:pPr>
            <a:r>
              <a:rPr lang="en-KH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           </a:t>
            </a:r>
            <a:r>
              <a:rPr lang="en-KH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ឧទាហរណ៍៖ </a:t>
            </a:r>
            <a:r>
              <a:rPr lang="en-KH" sz="2600" dirty="0">
                <a:solidFill>
                  <a:srgbClr val="D49B06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double </a:t>
            </a:r>
            <a:r>
              <a:rPr lang="en-KH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amount = </a:t>
            </a:r>
            <a:r>
              <a:rPr lang="en-KH" sz="2600" dirty="0">
                <a:solidFill>
                  <a:srgbClr val="D49B06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200</a:t>
            </a:r>
            <a:r>
              <a:rPr lang="en-KH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;</a:t>
            </a:r>
          </a:p>
          <a:p>
            <a:pPr algn="l">
              <a:lnSpc>
                <a:spcPct val="150000"/>
              </a:lnSpc>
            </a:pPr>
            <a:r>
              <a:rPr lang="en-KH" dirty="0"/>
              <a:t>✍️ </a:t>
            </a:r>
            <a:r>
              <a:rPr lang="en-KH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ចំណាំ៖ </a:t>
            </a:r>
            <a:r>
              <a:rPr lang="en-KH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ការប្រកាស Vairable ច្រើនដែលមានប្រភេទទិន្នន័យដូចគ្នា អាចដាក់បន្តបន្ទាប់គ្នាដោយប្រើប្រភេទទិន្នន័យតែមួយ ដោយមានសញ្ញា (</a:t>
            </a:r>
            <a:r>
              <a:rPr lang="en-KH" sz="26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,</a:t>
            </a:r>
            <a:r>
              <a:rPr lang="en-KH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)</a:t>
            </a:r>
            <a:r>
              <a:rPr lang="en-KH" sz="22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នៅចន្លោះកណ្តាល។ ឧទាហរណ៍៖</a:t>
            </a:r>
            <a:r>
              <a:rPr lang="en-KH" sz="22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KH" sz="22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double</a:t>
            </a:r>
            <a:r>
              <a:rPr lang="en-KH" sz="22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KH" sz="22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amount1</a:t>
            </a:r>
            <a:r>
              <a:rPr lang="en-KH" sz="22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,</a:t>
            </a:r>
            <a:r>
              <a:rPr lang="en-KH" sz="22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KH" sz="22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amount2;</a:t>
            </a:r>
            <a:endParaRPr lang="en-KH" sz="2600" dirty="0">
              <a:solidFill>
                <a:srgbClr val="0070C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CD30AB15-09DD-66A0-2489-BF7C7FBDDF0C}"/>
              </a:ext>
            </a:extLst>
          </p:cNvPr>
          <p:cNvCxnSpPr/>
          <p:nvPr/>
        </p:nvCxnSpPr>
        <p:spPr>
          <a:xfrm>
            <a:off x="0" y="1050468"/>
            <a:ext cx="12192000" cy="0"/>
          </a:xfrm>
          <a:prstGeom prst="line">
            <a:avLst/>
          </a:prstGeom>
          <a:ln w="57150">
            <a:solidFill>
              <a:srgbClr val="D49B0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9EC37A7C-F4E2-179B-F923-AC9DA76C1D5A}"/>
              </a:ext>
            </a:extLst>
          </p:cNvPr>
          <p:cNvCxnSpPr>
            <a:cxnSpLocks/>
          </p:cNvCxnSpPr>
          <p:nvPr/>
        </p:nvCxnSpPr>
        <p:spPr>
          <a:xfrm>
            <a:off x="0" y="979812"/>
            <a:ext cx="12192000" cy="0"/>
          </a:xfrm>
          <a:prstGeom prst="line">
            <a:avLst/>
          </a:prstGeom>
          <a:ln w="57150">
            <a:solidFill>
              <a:srgbClr val="1C27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7" name="Picture 46" descr="A blue circle with a yellow and white bird in it&#10;&#10;AI-generated content may be incorrect.">
            <a:extLst>
              <a:ext uri="{FF2B5EF4-FFF2-40B4-BE49-F238E27FC236}">
                <a16:creationId xmlns:a16="http://schemas.microsoft.com/office/drawing/2014/main" id="{78826D76-722A-8F7A-494F-581F5574219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5438" y="219712"/>
            <a:ext cx="606500" cy="606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8058545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" dur="10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9" dur="10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" dur="10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1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4" dur="10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5" dur="10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1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1" dur="1000" fill="hold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2" dur="1000" fill="hold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697DD55-2040-90F1-B111-BBB17E5429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A26EFC-C41F-7D36-29D5-DB1F67F5D26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701800" y="119781"/>
            <a:ext cx="9144000" cy="789373"/>
          </a:xfrm>
        </p:spPr>
        <p:txBody>
          <a:bodyPr>
            <a:normAutofit/>
          </a:bodyPr>
          <a:lstStyle/>
          <a:p>
            <a:pPr algn="l"/>
            <a:r>
              <a:rPr lang="en-US" sz="3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Operator</a:t>
            </a:r>
            <a:endParaRPr lang="en-KH" sz="3600" dirty="0">
              <a:solidFill>
                <a:srgbClr val="00206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25243BE-5AE1-3116-A871-8C7DA04EB78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24192" y="1219212"/>
            <a:ext cx="10954536" cy="5519003"/>
          </a:xfrm>
        </p:spPr>
        <p:txBody>
          <a:bodyPr>
            <a:normAutofit fontScale="85000" lnSpcReduction="20000"/>
          </a:bodyPr>
          <a:lstStyle/>
          <a:p>
            <a:pPr algn="l">
              <a:lnSpc>
                <a:spcPct val="150000"/>
              </a:lnSpc>
            </a:pPr>
            <a:r>
              <a:rPr lang="en-KH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	Operator </a:t>
            </a:r>
            <a:r>
              <a:rPr lang="en-KH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គឺជាសញ្ញាពិសេសដែលប្រាប់ compiler  ដើម្បីអនុវត្តនូវភាពជាក់លាក់ក្នុងការគណនាគណិតវិទ្យា ការប្រៀបធៀប ឫប្រតិបត្តិការតក្កវិទ្យា ចំពោះតម្លៃ ឫ Variable។ </a:t>
            </a:r>
          </a:p>
          <a:p>
            <a:pPr algn="l">
              <a:lnSpc>
                <a:spcPct val="150000"/>
              </a:lnSpc>
            </a:pPr>
            <a:r>
              <a:rPr lang="en-KH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​​</a:t>
            </a:r>
            <a:r>
              <a:rPr lang="en-KH" sz="2800" dirty="0"/>
              <a:t> 👉 </a:t>
            </a:r>
            <a:r>
              <a:rPr lang="en-KH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Operator មានដូចជា៖</a:t>
            </a:r>
          </a:p>
          <a:p>
            <a:pPr algn="l">
              <a:lnSpc>
                <a:spcPct val="150000"/>
              </a:lnSpc>
            </a:pPr>
            <a:r>
              <a:rPr lang="en-US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	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- Arithmetic Operators</a:t>
            </a:r>
          </a:p>
          <a:p>
            <a:pPr algn="l">
              <a:lnSpc>
                <a:spcPct val="150000"/>
              </a:lnSpc>
            </a:pP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	- Assignment Operators</a:t>
            </a:r>
          </a:p>
          <a:p>
            <a:pPr algn="l">
              <a:lnSpc>
                <a:spcPct val="150000"/>
              </a:lnSpc>
            </a:pP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	- Relational (Comparison) Operators</a:t>
            </a:r>
          </a:p>
          <a:p>
            <a:pPr algn="l">
              <a:lnSpc>
                <a:spcPct val="150000"/>
              </a:lnSpc>
            </a:pP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	- Logical Operators</a:t>
            </a:r>
          </a:p>
          <a:p>
            <a:pPr algn="l">
              <a:lnSpc>
                <a:spcPct val="150000"/>
              </a:lnSpc>
            </a:pP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	- Unary Operators</a:t>
            </a:r>
          </a:p>
          <a:p>
            <a:pPr algn="l">
              <a:lnSpc>
                <a:spcPct val="150000"/>
              </a:lnSpc>
            </a:pP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	- </a:t>
            </a:r>
            <a:r>
              <a:rPr lang="en-US" sz="2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Ternary (Conditional) Operator</a:t>
            </a:r>
            <a:br>
              <a:rPr lang="en-US" sz="2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</a:br>
            <a:r>
              <a:rPr lang="en-US" sz="2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	- </a:t>
            </a:r>
            <a:r>
              <a:rPr lang="en-US" sz="26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instanceof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 Operator</a:t>
            </a:r>
            <a:endParaRPr lang="en-KH" sz="2600" dirty="0">
              <a:solidFill>
                <a:srgbClr val="0070C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EEEF10A7-DC44-D475-5E65-1BCB2C7A41BB}"/>
              </a:ext>
            </a:extLst>
          </p:cNvPr>
          <p:cNvCxnSpPr/>
          <p:nvPr/>
        </p:nvCxnSpPr>
        <p:spPr>
          <a:xfrm>
            <a:off x="0" y="1050468"/>
            <a:ext cx="12192000" cy="0"/>
          </a:xfrm>
          <a:prstGeom prst="line">
            <a:avLst/>
          </a:prstGeom>
          <a:ln w="57150">
            <a:solidFill>
              <a:srgbClr val="D49B0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83C59F8A-84CC-D8C7-B0FF-7A7276FDBBDC}"/>
              </a:ext>
            </a:extLst>
          </p:cNvPr>
          <p:cNvCxnSpPr>
            <a:cxnSpLocks/>
          </p:cNvCxnSpPr>
          <p:nvPr/>
        </p:nvCxnSpPr>
        <p:spPr>
          <a:xfrm>
            <a:off x="0" y="979812"/>
            <a:ext cx="12192000" cy="0"/>
          </a:xfrm>
          <a:prstGeom prst="line">
            <a:avLst/>
          </a:prstGeom>
          <a:ln w="57150">
            <a:solidFill>
              <a:srgbClr val="1C27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7" name="Picture 46" descr="A blue circle with a yellow and white bird in it&#10;&#10;AI-generated content may be incorrect.">
            <a:extLst>
              <a:ext uri="{FF2B5EF4-FFF2-40B4-BE49-F238E27FC236}">
                <a16:creationId xmlns:a16="http://schemas.microsoft.com/office/drawing/2014/main" id="{11B44003-47F7-E62E-C082-70FE2BD8F19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5438" y="219712"/>
            <a:ext cx="606500" cy="606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4690006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098FFB8-76A0-FD2E-37C3-7E80E3BB4D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CEB3D2-153C-C607-6AA5-4AED67C500E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701800" y="119781"/>
            <a:ext cx="9144000" cy="789373"/>
          </a:xfrm>
        </p:spPr>
        <p:txBody>
          <a:bodyPr>
            <a:normAutofit/>
          </a:bodyPr>
          <a:lstStyle/>
          <a:p>
            <a:pPr algn="l"/>
            <a:r>
              <a:rPr lang="en-US" sz="3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Arithmetic Operators</a:t>
            </a:r>
            <a:endParaRPr lang="en-KH" sz="3600" dirty="0">
              <a:solidFill>
                <a:srgbClr val="00206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E782AFA-A663-692F-FA12-403D7CB0B2A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24192" y="1219212"/>
            <a:ext cx="10954536" cy="5519003"/>
          </a:xfrm>
        </p:spPr>
        <p:txBody>
          <a:bodyPr>
            <a:normAutofit lnSpcReduction="10000"/>
          </a:bodyPr>
          <a:lstStyle/>
          <a:p>
            <a:pPr algn="l">
              <a:lnSpc>
                <a:spcPct val="150000"/>
              </a:lnSpc>
            </a:pPr>
            <a:r>
              <a:rPr lang="en-KH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	</a:t>
            </a:r>
            <a:r>
              <a:rPr lang="en-US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Arithmetic Operators</a:t>
            </a:r>
            <a:r>
              <a:rPr lang="en-KH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KH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គឺជា Operator ប្រើប្រាស់សម្រាប់អនុវត្តប្រតិបត្តិការ គណិតវិទ្យាធម្មតាដូចជា បូក(</a:t>
            </a:r>
            <a:r>
              <a:rPr lang="en-KH" sz="26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+</a:t>
            </a:r>
            <a:r>
              <a:rPr lang="en-KH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) ដក(</a:t>
            </a:r>
            <a:r>
              <a:rPr lang="en-KH" sz="26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-</a:t>
            </a:r>
            <a:r>
              <a:rPr lang="en-KH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) គុណ(</a:t>
            </a:r>
            <a:r>
              <a:rPr lang="en-KH" sz="26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*</a:t>
            </a:r>
            <a:r>
              <a:rPr lang="en-KH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) ចែក(</a:t>
            </a:r>
            <a:r>
              <a:rPr lang="en-KH" sz="26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/</a:t>
            </a:r>
            <a:r>
              <a:rPr lang="en-KH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)​ និងចែករកសំណល់(</a:t>
            </a:r>
            <a:r>
              <a:rPr lang="en-KH" sz="26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%</a:t>
            </a:r>
            <a:r>
              <a:rPr lang="en-KH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)។</a:t>
            </a:r>
            <a:br>
              <a:rPr lang="en-KH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</a:br>
            <a:r>
              <a:rPr lang="en-KH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ឧទាហរណ៍៖</a:t>
            </a:r>
          </a:p>
          <a:p>
            <a:pPr algn="l">
              <a:lnSpc>
                <a:spcPct val="120000"/>
              </a:lnSpc>
            </a:pPr>
            <a:r>
              <a:rPr lang="en-KH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	</a:t>
            </a:r>
            <a:r>
              <a:rPr lang="en-KH" sz="26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double</a:t>
            </a:r>
            <a:r>
              <a:rPr lang="en-KH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KH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amount1= </a:t>
            </a:r>
            <a:r>
              <a:rPr lang="en-KH" sz="26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200</a:t>
            </a:r>
            <a:r>
              <a:rPr lang="en-KH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, amount2= </a:t>
            </a:r>
            <a:r>
              <a:rPr lang="en-KH" sz="26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100</a:t>
            </a:r>
            <a:r>
              <a:rPr lang="en-KH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;</a:t>
            </a:r>
          </a:p>
          <a:p>
            <a:pPr algn="l">
              <a:lnSpc>
                <a:spcPct val="120000"/>
              </a:lnSpc>
            </a:pPr>
            <a:r>
              <a:rPr lang="en-US" b="1" dirty="0"/>
              <a:t>	</a:t>
            </a:r>
            <a:r>
              <a:rPr lang="en-US" sz="26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double</a:t>
            </a:r>
            <a:r>
              <a:rPr lang="en-US" dirty="0"/>
              <a:t> </a:t>
            </a:r>
            <a:r>
              <a:rPr lang="en-US" sz="26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resultAdd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= amount1</a:t>
            </a:r>
            <a:r>
              <a:rPr lang="en-US" dirty="0"/>
              <a:t> </a:t>
            </a:r>
            <a:r>
              <a:rPr lang="en-US" sz="26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+</a:t>
            </a:r>
            <a:r>
              <a:rPr lang="en-US" dirty="0"/>
              <a:t> 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amount2;</a:t>
            </a:r>
          </a:p>
          <a:p>
            <a:pPr algn="l">
              <a:lnSpc>
                <a:spcPct val="120000"/>
              </a:lnSpc>
            </a:pPr>
            <a:r>
              <a:rPr lang="en-US" sz="26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	double</a:t>
            </a:r>
            <a:r>
              <a:rPr lang="en-US" sz="2800" dirty="0"/>
              <a:t> </a:t>
            </a:r>
            <a:r>
              <a:rPr lang="en-US" sz="26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resultSubtraction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= amount1</a:t>
            </a:r>
            <a:r>
              <a:rPr lang="en-US" sz="2800" dirty="0"/>
              <a:t> </a:t>
            </a:r>
            <a:r>
              <a:rPr lang="en-US" sz="26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-</a:t>
            </a:r>
            <a:r>
              <a:rPr lang="en-US" sz="2800" dirty="0"/>
              <a:t> 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amount2;</a:t>
            </a:r>
          </a:p>
          <a:p>
            <a:pPr algn="l">
              <a:lnSpc>
                <a:spcPct val="120000"/>
              </a:lnSpc>
            </a:pPr>
            <a:r>
              <a:rPr lang="en-US" sz="26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	double</a:t>
            </a:r>
            <a:r>
              <a:rPr lang="en-US" sz="2800" dirty="0"/>
              <a:t> </a:t>
            </a:r>
            <a:r>
              <a:rPr lang="en-US" sz="26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resultMultiplication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= amount1</a:t>
            </a:r>
            <a:r>
              <a:rPr lang="en-US" sz="2800" dirty="0"/>
              <a:t> </a:t>
            </a:r>
            <a:r>
              <a:rPr lang="en-US" sz="26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*</a:t>
            </a:r>
            <a:r>
              <a:rPr lang="en-US" sz="2800" dirty="0"/>
              <a:t> 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amount2;</a:t>
            </a:r>
          </a:p>
          <a:p>
            <a:pPr algn="l">
              <a:lnSpc>
                <a:spcPct val="120000"/>
              </a:lnSpc>
            </a:pPr>
            <a:r>
              <a:rPr lang="en-US" sz="26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	double</a:t>
            </a:r>
            <a:r>
              <a:rPr lang="en-US" sz="2800" dirty="0"/>
              <a:t> </a:t>
            </a:r>
            <a:r>
              <a:rPr lang="en-US" sz="26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resultDivision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= amount1 </a:t>
            </a:r>
            <a:r>
              <a:rPr lang="en-US" sz="26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/</a:t>
            </a:r>
            <a:r>
              <a:rPr lang="en-US" sz="2800" dirty="0"/>
              <a:t> 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amount2;</a:t>
            </a:r>
          </a:p>
          <a:p>
            <a:pPr algn="l">
              <a:lnSpc>
                <a:spcPct val="120000"/>
              </a:lnSpc>
            </a:pPr>
            <a:r>
              <a:rPr lang="en-US" sz="26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	double</a:t>
            </a:r>
            <a:r>
              <a:rPr lang="en-US" sz="2800" dirty="0"/>
              <a:t> </a:t>
            </a:r>
            <a:r>
              <a:rPr lang="en-US" sz="26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resultModulus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= amount1 </a:t>
            </a:r>
            <a:r>
              <a:rPr lang="en-US" sz="26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%</a:t>
            </a:r>
            <a:r>
              <a:rPr lang="en-US" sz="2800" dirty="0"/>
              <a:t> 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amount2;</a:t>
            </a:r>
            <a:endParaRPr lang="en-KH" sz="2600" dirty="0">
              <a:solidFill>
                <a:srgbClr val="0070C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A7A8C777-7494-5788-8C5D-4D4BAD6C7654}"/>
              </a:ext>
            </a:extLst>
          </p:cNvPr>
          <p:cNvCxnSpPr/>
          <p:nvPr/>
        </p:nvCxnSpPr>
        <p:spPr>
          <a:xfrm>
            <a:off x="0" y="1050468"/>
            <a:ext cx="12192000" cy="0"/>
          </a:xfrm>
          <a:prstGeom prst="line">
            <a:avLst/>
          </a:prstGeom>
          <a:ln w="57150">
            <a:solidFill>
              <a:srgbClr val="D49B0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B2BF5ECF-3B50-A128-6BAE-ADF21B214E37}"/>
              </a:ext>
            </a:extLst>
          </p:cNvPr>
          <p:cNvCxnSpPr>
            <a:cxnSpLocks/>
          </p:cNvCxnSpPr>
          <p:nvPr/>
        </p:nvCxnSpPr>
        <p:spPr>
          <a:xfrm>
            <a:off x="0" y="979812"/>
            <a:ext cx="12192000" cy="0"/>
          </a:xfrm>
          <a:prstGeom prst="line">
            <a:avLst/>
          </a:prstGeom>
          <a:ln w="57150">
            <a:solidFill>
              <a:srgbClr val="1C27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7" name="Picture 46" descr="A blue circle with a yellow and white bird in it&#10;&#10;AI-generated content may be incorrect.">
            <a:extLst>
              <a:ext uri="{FF2B5EF4-FFF2-40B4-BE49-F238E27FC236}">
                <a16:creationId xmlns:a16="http://schemas.microsoft.com/office/drawing/2014/main" id="{50461559-F173-1E9F-2C7B-65D4E4F5112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5438" y="219712"/>
            <a:ext cx="606500" cy="606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6996338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4561C95-8981-940C-146E-E05773C0A5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368098-E636-12DC-15A5-16C997F1BD5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701800" y="119781"/>
            <a:ext cx="9144000" cy="789373"/>
          </a:xfrm>
        </p:spPr>
        <p:txBody>
          <a:bodyPr>
            <a:normAutofit/>
          </a:bodyPr>
          <a:lstStyle/>
          <a:p>
            <a:pPr algn="l"/>
            <a:r>
              <a:rPr lang="en-US" sz="3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Assignment Operators</a:t>
            </a:r>
            <a:endParaRPr lang="en-KH" sz="3600" dirty="0">
              <a:solidFill>
                <a:srgbClr val="00206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4DE7CA9-4F08-E131-8F73-5766F23F5F9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24192" y="1219212"/>
            <a:ext cx="10954536" cy="5419075"/>
          </a:xfrm>
        </p:spPr>
        <p:txBody>
          <a:bodyPr>
            <a:normAutofit fontScale="40000" lnSpcReduction="20000"/>
          </a:bodyPr>
          <a:lstStyle/>
          <a:p>
            <a:pPr algn="l">
              <a:lnSpc>
                <a:spcPct val="150000"/>
              </a:lnSpc>
            </a:pPr>
            <a:r>
              <a:rPr lang="en-US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	</a:t>
            </a:r>
            <a:r>
              <a:rPr lang="en-US" sz="50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Assignment Operators</a:t>
            </a:r>
            <a:r>
              <a:rPr lang="en-KH" sz="50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KH" sz="50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គឺជា Operators ប្រើប្រាស់សម្រាប់ចាត់តាំតម្លៃទៅកាន់Variable រួមទាំងការចាត់តាំងសមាសធាតុដែលផ្គួបផ្សំប្រតិបត្តិការជាមួយការចាត់តាំងមួយ។</a:t>
            </a:r>
            <a:r>
              <a:rPr lang="en-KH" sz="50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</a:p>
          <a:p>
            <a:pPr algn="l">
              <a:lnSpc>
                <a:spcPct val="150000"/>
              </a:lnSpc>
            </a:pPr>
            <a:r>
              <a:rPr lang="en-KH" sz="5000" dirty="0">
                <a:latin typeface="Khmer OS Content" panose="02000500000000020004" pitchFamily="2" charset="77"/>
                <a:cs typeface="Khmer OS Content" panose="02000500000000020004" pitchFamily="2" charset="77"/>
              </a:rPr>
              <a:t>👉 </a:t>
            </a:r>
            <a:r>
              <a:rPr lang="en-US" sz="50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Assignment Operators​ </a:t>
            </a:r>
            <a:r>
              <a:rPr lang="en-US" sz="5000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មានដូចជា</a:t>
            </a:r>
            <a:r>
              <a:rPr lang="en-US" sz="50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៖ </a:t>
            </a:r>
          </a:p>
          <a:p>
            <a:pPr marL="914400" lvl="1" indent="-457200" algn="l">
              <a:lnSpc>
                <a:spcPct val="150000"/>
              </a:lnSpc>
              <a:buFont typeface="Wingdings" pitchFamily="2" charset="2"/>
              <a:buChar char="Ø"/>
            </a:pPr>
            <a:r>
              <a:rPr lang="en-US" sz="42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​</a:t>
            </a:r>
            <a:r>
              <a:rPr lang="en-US" sz="4200" dirty="0" err="1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ការចាត់តាំងតម្លៃធម្មតា</a:t>
            </a:r>
            <a:r>
              <a:rPr lang="en-US" sz="42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(</a:t>
            </a:r>
            <a:r>
              <a:rPr lang="en-US" sz="42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=</a:t>
            </a:r>
            <a:r>
              <a:rPr lang="en-US" sz="42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) </a:t>
            </a:r>
          </a:p>
          <a:p>
            <a:pPr lvl="1" algn="l">
              <a:lnSpc>
                <a:spcPct val="150000"/>
              </a:lnSpc>
            </a:pPr>
            <a:r>
              <a:rPr lang="en-US" sz="42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	</a:t>
            </a:r>
            <a:r>
              <a:rPr lang="en-KH" sz="42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ឧទាហរណ៍៖ </a:t>
            </a:r>
            <a:r>
              <a:rPr lang="en-KH" sz="42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double</a:t>
            </a:r>
            <a:r>
              <a:rPr lang="en-KH" sz="42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KH" sz="42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amount1</a:t>
            </a:r>
            <a:r>
              <a:rPr lang="en-KH" sz="42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=</a:t>
            </a:r>
            <a:r>
              <a:rPr lang="en-KH" sz="42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KH" sz="42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200;</a:t>
            </a:r>
            <a:endParaRPr lang="en-US" sz="4200" dirty="0">
              <a:solidFill>
                <a:srgbClr val="0070C0"/>
              </a:solidFill>
              <a:latin typeface="Khmer OS Content" panose="02000500000000020004" pitchFamily="2" charset="77"/>
              <a:cs typeface="Khmer OS Content" panose="02000500000000020004" pitchFamily="2" charset="77"/>
            </a:endParaRPr>
          </a:p>
          <a:p>
            <a:pPr marL="914400" lvl="1" indent="-457200" algn="l">
              <a:lnSpc>
                <a:spcPct val="150000"/>
              </a:lnSpc>
              <a:buFont typeface="Wingdings" pitchFamily="2" charset="2"/>
              <a:buChar char="Ø"/>
            </a:pPr>
            <a:r>
              <a:rPr lang="en-US" sz="4200" dirty="0" err="1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ការចាត់តាំងតម្លៃសមាសធាតុ</a:t>
            </a:r>
            <a:r>
              <a:rPr lang="en-US" sz="42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(</a:t>
            </a:r>
            <a:r>
              <a:rPr lang="en-KH" sz="42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+=,</a:t>
            </a:r>
            <a:r>
              <a:rPr lang="en-KH" sz="42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KH" sz="42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-=,</a:t>
            </a:r>
            <a:r>
              <a:rPr lang="en-KH" sz="42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KH" sz="42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*=,</a:t>
            </a:r>
            <a:r>
              <a:rPr lang="en-KH" sz="42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KH" sz="42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/=,</a:t>
            </a:r>
            <a:r>
              <a:rPr lang="en-KH" sz="42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KH" sz="42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%=,</a:t>
            </a:r>
            <a:r>
              <a:rPr lang="en-KH" sz="42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42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…</a:t>
            </a:r>
            <a:r>
              <a:rPr lang="en-US" sz="42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)</a:t>
            </a:r>
            <a:br>
              <a:rPr lang="en-KH" sz="42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</a:br>
            <a:r>
              <a:rPr lang="en-KH" sz="42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ឧទាហរណ៍៖</a:t>
            </a:r>
          </a:p>
          <a:p>
            <a:pPr algn="l">
              <a:lnSpc>
                <a:spcPct val="120000"/>
              </a:lnSpc>
            </a:pPr>
            <a:r>
              <a:rPr lang="en-KH" sz="42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	 </a:t>
            </a:r>
            <a:r>
              <a:rPr lang="en-KH" sz="42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double</a:t>
            </a:r>
            <a:r>
              <a:rPr lang="en-KH" sz="42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KH" sz="42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amount= </a:t>
            </a:r>
            <a:r>
              <a:rPr lang="en-KH" sz="42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0</a:t>
            </a:r>
            <a:r>
              <a:rPr lang="en-KH" sz="42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;</a:t>
            </a:r>
          </a:p>
          <a:p>
            <a:pPr algn="l">
              <a:lnSpc>
                <a:spcPct val="120000"/>
              </a:lnSpc>
            </a:pPr>
            <a:r>
              <a:rPr lang="en-US" sz="4200" b="1" dirty="0">
                <a:latin typeface="Khmer OS Content" panose="02000500000000020004" pitchFamily="2" charset="77"/>
                <a:cs typeface="Khmer OS Content" panose="02000500000000020004" pitchFamily="2" charset="77"/>
              </a:rPr>
              <a:t>	</a:t>
            </a:r>
            <a:r>
              <a:rPr lang="en-KH" sz="42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KH" sz="42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amount</a:t>
            </a:r>
            <a:r>
              <a:rPr lang="en-US" sz="42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42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+=</a:t>
            </a:r>
            <a:r>
              <a:rPr lang="en-US" sz="4200" dirty="0"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42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100;</a:t>
            </a:r>
          </a:p>
          <a:p>
            <a:pPr algn="l">
              <a:lnSpc>
                <a:spcPct val="120000"/>
              </a:lnSpc>
            </a:pPr>
            <a:r>
              <a:rPr lang="en-US" sz="42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	</a:t>
            </a:r>
            <a:r>
              <a:rPr lang="en-KH" sz="42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KH" sz="42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amount</a:t>
            </a:r>
            <a:r>
              <a:rPr lang="en-US" sz="4200" dirty="0"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42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-= </a:t>
            </a:r>
            <a:r>
              <a:rPr lang="en-US" sz="42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100;</a:t>
            </a:r>
          </a:p>
          <a:p>
            <a:pPr algn="l">
              <a:lnSpc>
                <a:spcPct val="120000"/>
              </a:lnSpc>
            </a:pPr>
            <a:r>
              <a:rPr lang="en-US" sz="42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	</a:t>
            </a:r>
            <a:r>
              <a:rPr lang="en-KH" sz="42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KH" sz="42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amount</a:t>
            </a:r>
            <a:r>
              <a:rPr lang="en-US" sz="4200" dirty="0"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KH" sz="42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*=</a:t>
            </a:r>
            <a:r>
              <a:rPr lang="en-US" sz="4200" dirty="0"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42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5;</a:t>
            </a:r>
          </a:p>
          <a:p>
            <a:pPr algn="l">
              <a:lnSpc>
                <a:spcPct val="120000"/>
              </a:lnSpc>
            </a:pPr>
            <a:r>
              <a:rPr lang="en-US" sz="42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	</a:t>
            </a:r>
            <a:r>
              <a:rPr lang="en-KH" sz="42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KH" sz="42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amount</a:t>
            </a:r>
            <a:r>
              <a:rPr lang="en-US" sz="4200" dirty="0"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42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/=</a:t>
            </a:r>
            <a:r>
              <a:rPr lang="en-US" sz="4200" dirty="0"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42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2;</a:t>
            </a:r>
          </a:p>
          <a:p>
            <a:pPr algn="l">
              <a:lnSpc>
                <a:spcPct val="120000"/>
              </a:lnSpc>
            </a:pPr>
            <a:r>
              <a:rPr lang="en-US" sz="42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	</a:t>
            </a:r>
            <a:r>
              <a:rPr lang="en-KH" sz="42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KH" sz="42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amount</a:t>
            </a:r>
            <a:r>
              <a:rPr lang="en-US" sz="42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42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%=</a:t>
            </a:r>
            <a:r>
              <a:rPr lang="en-US" sz="42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42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3;</a:t>
            </a:r>
            <a:endParaRPr lang="en-KH" sz="4200" dirty="0">
              <a:solidFill>
                <a:srgbClr val="0070C0"/>
              </a:solidFill>
              <a:latin typeface="Khmer OS Content" panose="02000500000000020004" pitchFamily="2" charset="77"/>
              <a:cs typeface="Khmer OS Content" panose="02000500000000020004" pitchFamily="2" charset="77"/>
            </a:endParaRP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0D6C1350-F877-571D-C5AE-49818C3DD17D}"/>
              </a:ext>
            </a:extLst>
          </p:cNvPr>
          <p:cNvCxnSpPr/>
          <p:nvPr/>
        </p:nvCxnSpPr>
        <p:spPr>
          <a:xfrm>
            <a:off x="0" y="1050468"/>
            <a:ext cx="12192000" cy="0"/>
          </a:xfrm>
          <a:prstGeom prst="line">
            <a:avLst/>
          </a:prstGeom>
          <a:ln w="57150">
            <a:solidFill>
              <a:srgbClr val="D49B0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CC7A785B-E998-B9D7-7AF8-DCEAA860D79D}"/>
              </a:ext>
            </a:extLst>
          </p:cNvPr>
          <p:cNvCxnSpPr>
            <a:cxnSpLocks/>
          </p:cNvCxnSpPr>
          <p:nvPr/>
        </p:nvCxnSpPr>
        <p:spPr>
          <a:xfrm>
            <a:off x="0" y="979812"/>
            <a:ext cx="12192000" cy="0"/>
          </a:xfrm>
          <a:prstGeom prst="line">
            <a:avLst/>
          </a:prstGeom>
          <a:ln w="57150">
            <a:solidFill>
              <a:srgbClr val="1C27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7" name="Picture 46" descr="A blue circle with a yellow and white bird in it&#10;&#10;AI-generated content may be incorrect.">
            <a:extLst>
              <a:ext uri="{FF2B5EF4-FFF2-40B4-BE49-F238E27FC236}">
                <a16:creationId xmlns:a16="http://schemas.microsoft.com/office/drawing/2014/main" id="{B38B1998-E022-F2CA-BA63-0DD3C635906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5438" y="219712"/>
            <a:ext cx="606500" cy="606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5784084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FC63D7B-6701-CE63-F9B3-0E0B3BC63A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9A0FD1-4D01-EA10-9B8E-EAFC327CBF2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701800" y="119781"/>
            <a:ext cx="9144000" cy="789373"/>
          </a:xfrm>
        </p:spPr>
        <p:txBody>
          <a:bodyPr>
            <a:normAutofit/>
          </a:bodyPr>
          <a:lstStyle/>
          <a:p>
            <a:pPr algn="l"/>
            <a:r>
              <a:rPr lang="en-US" sz="3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Relational Operators</a:t>
            </a:r>
            <a:endParaRPr lang="en-KH" sz="3600" dirty="0">
              <a:solidFill>
                <a:srgbClr val="00206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A0BF7FB-543C-1A6B-CF21-49151AC53DC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24192" y="1219213"/>
            <a:ext cx="10954536" cy="5076080"/>
          </a:xfrm>
        </p:spPr>
        <p:txBody>
          <a:bodyPr>
            <a:normAutofit fontScale="85000" lnSpcReduction="20000"/>
          </a:bodyPr>
          <a:lstStyle/>
          <a:p>
            <a:pPr algn="l">
              <a:lnSpc>
                <a:spcPct val="150000"/>
              </a:lnSpc>
            </a:pPr>
            <a:r>
              <a:rPr lang="en-US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	Relational (Comparison) Operators</a:t>
            </a:r>
            <a:r>
              <a:rPr lang="en-KH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KH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គឺជា Operators ប្រើប្រាស់សម្រាប់ប្រៀបធៀបតម្លៃពីរនិងផ្តល់លទ្ធផលជា boolean(</a:t>
            </a:r>
            <a:r>
              <a:rPr lang="en-KH" sz="26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true</a:t>
            </a:r>
            <a:r>
              <a:rPr lang="en-KH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KH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ឫ</a:t>
            </a:r>
            <a:r>
              <a:rPr lang="en-KH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KH" sz="26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false</a:t>
            </a:r>
            <a:r>
              <a:rPr lang="en-KH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)។</a:t>
            </a:r>
            <a:r>
              <a:rPr lang="en-KH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Relational Operators </a:t>
            </a:r>
            <a:r>
              <a:rPr lang="en-US" sz="26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មានដូចជា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៖</a:t>
            </a:r>
            <a:r>
              <a:rPr lang="en-US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sz="26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ស្មើ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(</a:t>
            </a:r>
            <a:r>
              <a:rPr lang="en-US" sz="26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==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) </a:t>
            </a:r>
            <a:r>
              <a:rPr lang="en-US" sz="26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មិនស្មើ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(</a:t>
            </a:r>
            <a:r>
              <a:rPr lang="en-US" sz="26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!=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) </a:t>
            </a:r>
            <a:r>
              <a:rPr lang="en-US" sz="26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ធំជាង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(</a:t>
            </a:r>
            <a:r>
              <a:rPr lang="en-US" sz="26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&gt;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) </a:t>
            </a:r>
            <a:r>
              <a:rPr lang="en-US" sz="26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តូចជាង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(</a:t>
            </a:r>
            <a:r>
              <a:rPr lang="en-US" sz="26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&lt;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) </a:t>
            </a:r>
            <a:r>
              <a:rPr lang="en-US" sz="26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ធំជាងឫស្មើ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(</a:t>
            </a:r>
            <a:r>
              <a:rPr lang="en-US" sz="26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&gt;=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) </a:t>
            </a:r>
            <a:r>
              <a:rPr lang="en-US" sz="26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តូចជាងឫស្មើ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(</a:t>
            </a:r>
            <a:r>
              <a:rPr lang="en-US" sz="26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&lt;=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)។</a:t>
            </a:r>
            <a:br>
              <a:rPr lang="en-KH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</a:br>
            <a:r>
              <a:rPr lang="en-KH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ឧទាហរណ៍៖</a:t>
            </a:r>
          </a:p>
          <a:p>
            <a:pPr algn="l">
              <a:lnSpc>
                <a:spcPct val="120000"/>
              </a:lnSpc>
            </a:pPr>
            <a:r>
              <a:rPr lang="en-KH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	 </a:t>
            </a:r>
            <a:r>
              <a:rPr lang="en-KH" sz="26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boolean</a:t>
            </a:r>
            <a:r>
              <a:rPr lang="en-KH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KH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compare= </a:t>
            </a:r>
            <a:r>
              <a:rPr lang="en-KH" sz="26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false</a:t>
            </a:r>
            <a:r>
              <a:rPr lang="en-KH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;</a:t>
            </a:r>
          </a:p>
          <a:p>
            <a:pPr algn="l">
              <a:lnSpc>
                <a:spcPct val="120000"/>
              </a:lnSpc>
            </a:pPr>
            <a:r>
              <a:rPr lang="en-US" b="1" dirty="0">
                <a:latin typeface="Khmer OS Battambang" panose="02000500000000020004" pitchFamily="2" charset="77"/>
                <a:cs typeface="Khmer OS Battambang" panose="02000500000000020004" pitchFamily="2" charset="77"/>
              </a:rPr>
              <a:t>	</a:t>
            </a:r>
            <a:r>
              <a:rPr lang="en-KH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KH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compare</a:t>
            </a:r>
            <a:r>
              <a:rPr lang="en-US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=</a:t>
            </a:r>
            <a:r>
              <a:rPr lang="en-US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100</a:t>
            </a:r>
            <a:r>
              <a:rPr lang="en-US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sz="26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==</a:t>
            </a:r>
            <a:r>
              <a:rPr lang="en-US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100</a:t>
            </a:r>
            <a:r>
              <a:rPr lang="en-US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;</a:t>
            </a:r>
          </a:p>
          <a:p>
            <a:pPr algn="l">
              <a:lnSpc>
                <a:spcPct val="120000"/>
              </a:lnSpc>
            </a:pPr>
            <a:r>
              <a:rPr lang="en-US" sz="26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	</a:t>
            </a:r>
            <a:r>
              <a:rPr lang="en-KH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KH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compare</a:t>
            </a:r>
            <a:r>
              <a:rPr lang="en-US" sz="2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= 10</a:t>
            </a:r>
            <a:r>
              <a:rPr lang="en-US" sz="28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sz="28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!=</a:t>
            </a:r>
            <a:r>
              <a:rPr lang="en-US" sz="28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sz="2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9;</a:t>
            </a:r>
          </a:p>
          <a:p>
            <a:pPr algn="l">
              <a:lnSpc>
                <a:spcPct val="120000"/>
              </a:lnSpc>
            </a:pPr>
            <a:r>
              <a:rPr lang="en-US" sz="26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	</a:t>
            </a:r>
            <a:r>
              <a:rPr lang="en-KH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KH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compare</a:t>
            </a:r>
            <a:r>
              <a:rPr lang="en-US" sz="2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KH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=</a:t>
            </a:r>
            <a:r>
              <a:rPr lang="en-US" sz="2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5</a:t>
            </a:r>
            <a:r>
              <a:rPr lang="en-US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sz="26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&gt;</a:t>
            </a:r>
            <a:r>
              <a:rPr lang="en-US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2</a:t>
            </a:r>
            <a:r>
              <a:rPr lang="en-US" sz="2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;</a:t>
            </a:r>
          </a:p>
          <a:p>
            <a:pPr algn="l">
              <a:lnSpc>
                <a:spcPct val="120000"/>
              </a:lnSpc>
            </a:pPr>
            <a:r>
              <a:rPr lang="en-US" sz="26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	</a:t>
            </a:r>
            <a:r>
              <a:rPr lang="en-KH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KH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compare</a:t>
            </a:r>
            <a:r>
              <a:rPr lang="en-US" sz="2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=</a:t>
            </a:r>
            <a:r>
              <a:rPr lang="en-US" sz="2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2</a:t>
            </a:r>
            <a:r>
              <a:rPr lang="en-US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sz="26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&lt;</a:t>
            </a:r>
            <a:r>
              <a:rPr lang="en-US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5</a:t>
            </a:r>
            <a:r>
              <a:rPr lang="en-US" sz="2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;</a:t>
            </a:r>
          </a:p>
          <a:p>
            <a:pPr algn="l">
              <a:lnSpc>
                <a:spcPct val="120000"/>
              </a:lnSpc>
            </a:pPr>
            <a:r>
              <a:rPr lang="en-US" sz="26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	</a:t>
            </a:r>
            <a:r>
              <a:rPr lang="en-KH" sz="28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KH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compare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= 3</a:t>
            </a:r>
            <a:r>
              <a:rPr lang="en-US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sz="26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&gt;=</a:t>
            </a:r>
            <a:r>
              <a:rPr lang="en-US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3;</a:t>
            </a:r>
            <a:br>
              <a:rPr lang="en-US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</a:br>
            <a:r>
              <a:rPr lang="en-US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	</a:t>
            </a:r>
            <a:r>
              <a:rPr lang="en-KH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KH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compare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= 5</a:t>
            </a:r>
            <a:r>
              <a:rPr lang="en-US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sz="26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&lt;=</a:t>
            </a:r>
            <a:r>
              <a:rPr lang="en-US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5;</a:t>
            </a:r>
            <a:endParaRPr lang="en-KH" sz="2600" dirty="0">
              <a:solidFill>
                <a:srgbClr val="0070C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0893152C-7129-32C6-FCEB-E2852A2F3671}"/>
              </a:ext>
            </a:extLst>
          </p:cNvPr>
          <p:cNvCxnSpPr/>
          <p:nvPr/>
        </p:nvCxnSpPr>
        <p:spPr>
          <a:xfrm>
            <a:off x="0" y="1050468"/>
            <a:ext cx="12192000" cy="0"/>
          </a:xfrm>
          <a:prstGeom prst="line">
            <a:avLst/>
          </a:prstGeom>
          <a:ln w="57150">
            <a:solidFill>
              <a:srgbClr val="D49B0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6F838701-69F8-F32A-305D-F33281DDA028}"/>
              </a:ext>
            </a:extLst>
          </p:cNvPr>
          <p:cNvCxnSpPr>
            <a:cxnSpLocks/>
          </p:cNvCxnSpPr>
          <p:nvPr/>
        </p:nvCxnSpPr>
        <p:spPr>
          <a:xfrm>
            <a:off x="0" y="979812"/>
            <a:ext cx="12192000" cy="0"/>
          </a:xfrm>
          <a:prstGeom prst="line">
            <a:avLst/>
          </a:prstGeom>
          <a:ln w="57150">
            <a:solidFill>
              <a:srgbClr val="1C27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7" name="Picture 46" descr="A blue circle with a yellow and white bird in it&#10;&#10;AI-generated content may be incorrect.">
            <a:extLst>
              <a:ext uri="{FF2B5EF4-FFF2-40B4-BE49-F238E27FC236}">
                <a16:creationId xmlns:a16="http://schemas.microsoft.com/office/drawing/2014/main" id="{8A2ADB71-0106-C980-6FB5-C2DF524D17F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5438" y="219712"/>
            <a:ext cx="606500" cy="606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4380330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16F4F00-8471-11A5-275A-24CC256318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91013D-B9F5-9757-C9E1-01AE898DDB4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701800" y="119781"/>
            <a:ext cx="9144000" cy="789373"/>
          </a:xfrm>
        </p:spPr>
        <p:txBody>
          <a:bodyPr>
            <a:normAutofit/>
          </a:bodyPr>
          <a:lstStyle/>
          <a:p>
            <a:pPr algn="l"/>
            <a:r>
              <a:rPr lang="en-US" sz="3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Logical Operators</a:t>
            </a:r>
            <a:endParaRPr lang="en-KH" sz="3600" dirty="0">
              <a:solidFill>
                <a:srgbClr val="00206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23CB0B4-9C30-4C8A-92F2-B949865EA43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24192" y="1219213"/>
            <a:ext cx="10954536" cy="5076080"/>
          </a:xfrm>
        </p:spPr>
        <p:txBody>
          <a:bodyPr>
            <a:normAutofit/>
          </a:bodyPr>
          <a:lstStyle/>
          <a:p>
            <a:pPr algn="l">
              <a:lnSpc>
                <a:spcPct val="150000"/>
              </a:lnSpc>
            </a:pPr>
            <a:r>
              <a:rPr lang="en-US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	Logical Operators </a:t>
            </a:r>
            <a:r>
              <a:rPr lang="en-KH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គឺជា Operators ប្រើប្រាស់សម្រាប់ផ្សំកន្សោម boolean ទៅកាន់លក្ខណដែលមានទំរង់ស្មុកស្មាញ។</a:t>
            </a:r>
            <a:r>
              <a:rPr lang="en-KH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Logical Operators </a:t>
            </a:r>
            <a:r>
              <a:rPr lang="en-US" sz="26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មានដូចជា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៖ </a:t>
            </a:r>
            <a:r>
              <a:rPr lang="en-US" sz="26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និង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(</a:t>
            </a:r>
            <a:r>
              <a:rPr lang="en-US" sz="26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&amp;&amp;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) </a:t>
            </a:r>
            <a:r>
              <a:rPr lang="en-US" sz="26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ឫ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(</a:t>
            </a:r>
            <a:r>
              <a:rPr lang="en-US" sz="26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||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) </a:t>
            </a:r>
            <a:r>
              <a:rPr lang="en-US" sz="26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មិន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(</a:t>
            </a:r>
            <a:r>
              <a:rPr lang="en-US" sz="26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!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)។</a:t>
            </a:r>
            <a:br>
              <a:rPr lang="en-KH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</a:br>
            <a:r>
              <a:rPr lang="en-KH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ឧទាហរណ៍៖</a:t>
            </a:r>
          </a:p>
          <a:p>
            <a:pPr algn="l">
              <a:lnSpc>
                <a:spcPct val="120000"/>
              </a:lnSpc>
            </a:pPr>
            <a:r>
              <a:rPr lang="en-KH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	 </a:t>
            </a:r>
            <a:r>
              <a:rPr lang="en-KH" sz="26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boolean</a:t>
            </a:r>
            <a:r>
              <a:rPr lang="en-KH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KH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compare= </a:t>
            </a:r>
            <a:r>
              <a:rPr lang="en-KH" sz="26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false</a:t>
            </a:r>
            <a:r>
              <a:rPr lang="en-KH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;</a:t>
            </a:r>
          </a:p>
          <a:p>
            <a:pPr algn="l">
              <a:lnSpc>
                <a:spcPct val="120000"/>
              </a:lnSpc>
            </a:pPr>
            <a:r>
              <a:rPr lang="en-US" b="1" dirty="0">
                <a:latin typeface="Khmer OS Battambang" panose="02000500000000020004" pitchFamily="2" charset="77"/>
                <a:cs typeface="Khmer OS Battambang" panose="02000500000000020004" pitchFamily="2" charset="77"/>
              </a:rPr>
              <a:t>	</a:t>
            </a:r>
            <a:r>
              <a:rPr lang="en-KH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KH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compare</a:t>
            </a:r>
            <a:r>
              <a:rPr lang="en-US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=</a:t>
            </a:r>
            <a:r>
              <a:rPr lang="en-US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100 == 100</a:t>
            </a:r>
            <a:r>
              <a:rPr lang="en-US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sz="26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||</a:t>
            </a:r>
            <a:r>
              <a:rPr lang="en-US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2==2</a:t>
            </a:r>
            <a:r>
              <a:rPr lang="en-US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;</a:t>
            </a:r>
          </a:p>
          <a:p>
            <a:pPr algn="l">
              <a:lnSpc>
                <a:spcPct val="120000"/>
              </a:lnSpc>
            </a:pPr>
            <a:r>
              <a:rPr lang="en-US" sz="26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	</a:t>
            </a:r>
            <a:r>
              <a:rPr lang="en-KH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compare</a:t>
            </a:r>
            <a:r>
              <a:rPr lang="en-US" sz="2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= 10</a:t>
            </a:r>
            <a:r>
              <a:rPr lang="en-US" sz="2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&gt;</a:t>
            </a:r>
            <a:r>
              <a:rPr lang="en-US" sz="2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9 </a:t>
            </a:r>
            <a:r>
              <a:rPr lang="en-US" sz="2800" dirty="0">
                <a:solidFill>
                  <a:srgbClr val="D49B06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&amp;&amp;</a:t>
            </a:r>
            <a:r>
              <a:rPr lang="en-US" sz="2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5 &lt; 6;</a:t>
            </a:r>
          </a:p>
          <a:p>
            <a:pPr algn="l">
              <a:lnSpc>
                <a:spcPct val="120000"/>
              </a:lnSpc>
            </a:pPr>
            <a:r>
              <a:rPr lang="en-US" sz="26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	</a:t>
            </a:r>
            <a:r>
              <a:rPr lang="en-KH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KH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compare</a:t>
            </a:r>
            <a:r>
              <a:rPr lang="en-US" sz="2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KH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=</a:t>
            </a:r>
            <a:r>
              <a:rPr lang="en-US" sz="2800" dirty="0"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sz="28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!(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5 &lt; 2</a:t>
            </a:r>
            <a:r>
              <a:rPr lang="en-US" sz="26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)</a:t>
            </a:r>
            <a:r>
              <a:rPr lang="en-US" sz="2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;</a:t>
            </a:r>
            <a:endParaRPr lang="en-KH" sz="2600" dirty="0">
              <a:solidFill>
                <a:srgbClr val="0070C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CCA6477C-FD8E-E2D9-D54A-3E2D2AE36BC2}"/>
              </a:ext>
            </a:extLst>
          </p:cNvPr>
          <p:cNvCxnSpPr/>
          <p:nvPr/>
        </p:nvCxnSpPr>
        <p:spPr>
          <a:xfrm>
            <a:off x="0" y="1050468"/>
            <a:ext cx="12192000" cy="0"/>
          </a:xfrm>
          <a:prstGeom prst="line">
            <a:avLst/>
          </a:prstGeom>
          <a:ln w="57150">
            <a:solidFill>
              <a:srgbClr val="D49B0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14282677-83E0-B9BC-7370-A5B9704C8A81}"/>
              </a:ext>
            </a:extLst>
          </p:cNvPr>
          <p:cNvCxnSpPr>
            <a:cxnSpLocks/>
          </p:cNvCxnSpPr>
          <p:nvPr/>
        </p:nvCxnSpPr>
        <p:spPr>
          <a:xfrm>
            <a:off x="0" y="979812"/>
            <a:ext cx="12192000" cy="0"/>
          </a:xfrm>
          <a:prstGeom prst="line">
            <a:avLst/>
          </a:prstGeom>
          <a:ln w="57150">
            <a:solidFill>
              <a:srgbClr val="1C27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7" name="Picture 46" descr="A blue circle with a yellow and white bird in it&#10;&#10;AI-generated content may be incorrect.">
            <a:extLst>
              <a:ext uri="{FF2B5EF4-FFF2-40B4-BE49-F238E27FC236}">
                <a16:creationId xmlns:a16="http://schemas.microsoft.com/office/drawing/2014/main" id="{92DC21F0-C8F8-CA00-E62D-82750A50177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5438" y="219712"/>
            <a:ext cx="606500" cy="606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4002694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7426059-6FDD-61AA-0E80-A1DC991558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255A9C-6CAF-FA6A-BB9B-296FACA6D96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701800" y="119781"/>
            <a:ext cx="9144000" cy="789373"/>
          </a:xfrm>
        </p:spPr>
        <p:txBody>
          <a:bodyPr>
            <a:normAutofit/>
          </a:bodyPr>
          <a:lstStyle/>
          <a:p>
            <a:pPr algn="l"/>
            <a:r>
              <a:rPr lang="en-US" sz="3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Unary Operators</a:t>
            </a:r>
            <a:endParaRPr lang="en-KH" sz="3600" dirty="0">
              <a:solidFill>
                <a:srgbClr val="00206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13AEB4B-C127-FBF0-DC87-89AFAD293DB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24192" y="1219213"/>
            <a:ext cx="10954536" cy="5076080"/>
          </a:xfrm>
        </p:spPr>
        <p:txBody>
          <a:bodyPr>
            <a:normAutofit fontScale="92500" lnSpcReduction="20000"/>
          </a:bodyPr>
          <a:lstStyle/>
          <a:p>
            <a:pPr algn="l">
              <a:lnSpc>
                <a:spcPct val="150000"/>
              </a:lnSpc>
            </a:pPr>
            <a:r>
              <a:rPr lang="en-US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	Unary Operators</a:t>
            </a:r>
            <a:r>
              <a:rPr lang="en-KH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KH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គឺជា Operators ប្រើប្រាស់សម្រាប់ធ្វើការជាមួយប្រតិបត្តិករតែមួយដើម្បីបង្កើន បន្ថែម </a:t>
            </a:r>
            <a:r>
              <a:rPr lang="en-KH" sz="260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ឫបដិសេធ ស្ថានភា</a:t>
            </a:r>
            <a:r>
              <a:rPr lang="en-KH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ពតម្លៃ។</a:t>
            </a:r>
            <a:r>
              <a:rPr lang="en-KH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Unary Operators </a:t>
            </a:r>
            <a:r>
              <a:rPr lang="en-US" sz="26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មានដូចជា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៖</a:t>
            </a:r>
            <a:r>
              <a:rPr lang="en-US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KH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បង្កើន (</a:t>
            </a:r>
            <a:r>
              <a:rPr lang="en-KH" sz="26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++</a:t>
            </a:r>
            <a:r>
              <a:rPr lang="en-KH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), បន្ថយ (</a:t>
            </a:r>
            <a:r>
              <a:rPr lang="en-KH" sz="26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--</a:t>
            </a:r>
            <a:r>
              <a:rPr lang="en-KH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), តក្កវិទ្យាបំពេញបន្តែម(</a:t>
            </a:r>
            <a:r>
              <a:rPr lang="en-KH" sz="26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!</a:t>
            </a:r>
            <a:r>
              <a:rPr lang="en-KH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)។ល។</a:t>
            </a:r>
          </a:p>
          <a:p>
            <a:pPr algn="l">
              <a:lnSpc>
                <a:spcPct val="150000"/>
              </a:lnSpc>
            </a:pPr>
            <a:r>
              <a:rPr lang="en-KH" sz="22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ឧទាហរណ៍៖</a:t>
            </a:r>
          </a:p>
          <a:p>
            <a:pPr lvl="1" algn="l">
              <a:lnSpc>
                <a:spcPct val="150000"/>
              </a:lnSpc>
            </a:pPr>
            <a:r>
              <a:rPr lang="en-US" sz="22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	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int a = 1;</a:t>
            </a:r>
            <a:br>
              <a:rPr lang="en-US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</a:br>
            <a:r>
              <a:rPr lang="en-US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	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a</a:t>
            </a:r>
            <a:r>
              <a:rPr lang="en-US" sz="26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++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;</a:t>
            </a:r>
            <a:br>
              <a:rPr lang="en-US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</a:br>
            <a:r>
              <a:rPr lang="en-US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	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a</a:t>
            </a:r>
            <a:r>
              <a:rPr lang="en-US" sz="26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--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;</a:t>
            </a:r>
            <a:br>
              <a:rPr lang="en-US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</a:br>
            <a:r>
              <a:rPr lang="en-US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	</a:t>
            </a:r>
            <a:r>
              <a:rPr lang="en-US" sz="26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boolean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sz="26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isIncorrect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= false;</a:t>
            </a:r>
          </a:p>
          <a:p>
            <a:pPr lvl="1" algn="l">
              <a:lnSpc>
                <a:spcPct val="150000"/>
              </a:lnSpc>
            </a:pPr>
            <a:r>
              <a:rPr lang="en-KH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	</a:t>
            </a:r>
            <a:r>
              <a:rPr lang="en-KH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boolean isCorrect =</a:t>
            </a:r>
            <a:r>
              <a:rPr lang="en-KH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KH" sz="26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! </a:t>
            </a:r>
            <a:r>
              <a:rPr lang="en-KH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isIncorrect;</a:t>
            </a:r>
          </a:p>
          <a:p>
            <a:pPr lvl="1" algn="l">
              <a:lnSpc>
                <a:spcPct val="150000"/>
              </a:lnSpc>
            </a:pPr>
            <a:r>
              <a:rPr lang="en-KH" sz="22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​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505C94F6-E5D6-3AD6-F7F7-931FC0C0EA31}"/>
              </a:ext>
            </a:extLst>
          </p:cNvPr>
          <p:cNvCxnSpPr/>
          <p:nvPr/>
        </p:nvCxnSpPr>
        <p:spPr>
          <a:xfrm>
            <a:off x="0" y="1050468"/>
            <a:ext cx="12192000" cy="0"/>
          </a:xfrm>
          <a:prstGeom prst="line">
            <a:avLst/>
          </a:prstGeom>
          <a:ln w="57150">
            <a:solidFill>
              <a:srgbClr val="D49B0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2BCE5EB0-1680-C545-AA2F-95EFB80D8B73}"/>
              </a:ext>
            </a:extLst>
          </p:cNvPr>
          <p:cNvCxnSpPr>
            <a:cxnSpLocks/>
          </p:cNvCxnSpPr>
          <p:nvPr/>
        </p:nvCxnSpPr>
        <p:spPr>
          <a:xfrm>
            <a:off x="0" y="979812"/>
            <a:ext cx="12192000" cy="0"/>
          </a:xfrm>
          <a:prstGeom prst="line">
            <a:avLst/>
          </a:prstGeom>
          <a:ln w="57150">
            <a:solidFill>
              <a:srgbClr val="1C27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7" name="Picture 46" descr="A blue circle with a yellow and white bird in it&#10;&#10;AI-generated content may be incorrect.">
            <a:extLst>
              <a:ext uri="{FF2B5EF4-FFF2-40B4-BE49-F238E27FC236}">
                <a16:creationId xmlns:a16="http://schemas.microsoft.com/office/drawing/2014/main" id="{4A2510FF-1669-CBFC-DC74-DE64F619214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5438" y="219712"/>
            <a:ext cx="606500" cy="606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963381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CE724B9-C62D-B7EC-D411-9B865866D0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434A87-B323-C03F-D0EB-3E59F30C3FA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701800" y="119781"/>
            <a:ext cx="9144000" cy="789373"/>
          </a:xfrm>
        </p:spPr>
        <p:txBody>
          <a:bodyPr>
            <a:normAutofit/>
          </a:bodyPr>
          <a:lstStyle/>
          <a:p>
            <a:pPr algn="l"/>
            <a:r>
              <a:rPr lang="en-US" sz="3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Ternary Operator</a:t>
            </a:r>
            <a:endParaRPr lang="en-KH" sz="3600" dirty="0">
              <a:solidFill>
                <a:srgbClr val="00206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EE706DA-5B28-31B8-A5B5-C5187DDBACD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24192" y="1219213"/>
            <a:ext cx="10954536" cy="5098458"/>
          </a:xfrm>
        </p:spPr>
        <p:txBody>
          <a:bodyPr>
            <a:noAutofit/>
          </a:bodyPr>
          <a:lstStyle/>
          <a:p>
            <a:pPr algn="l">
              <a:lnSpc>
                <a:spcPct val="150000"/>
              </a:lnSpc>
            </a:pPr>
            <a:r>
              <a:rPr lang="en-US" sz="20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	</a:t>
            </a:r>
            <a:r>
              <a:rPr lang="en-US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Ternary (Conditional) Operator </a:t>
            </a:r>
            <a:r>
              <a:rPr lang="en-KH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គឺជាការ</a:t>
            </a:r>
            <a:r>
              <a:rPr lang="en-US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សរសេកាត់នៅក្នុងប្រយោគតែមួយសម្រាប</a:t>
            </a:r>
            <a:r>
              <a:rPr lang="en-US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់ if-else statement ដោយវាយតម្លៃលើលក្ខណនិងកំណត់តម្លៃដែលផ្តល់ត្រឡប់មកវិញដោយផ្អែកលើលទ្ធផល</a:t>
            </a:r>
            <a:r>
              <a:rPr lang="en-US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true</a:t>
            </a:r>
            <a:r>
              <a:rPr lang="en-US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ឫ</a:t>
            </a:r>
            <a:r>
              <a:rPr lang="en-US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false</a:t>
            </a:r>
            <a:r>
              <a:rPr lang="en-KH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។ </a:t>
            </a:r>
          </a:p>
          <a:p>
            <a:pPr algn="l">
              <a:lnSpc>
                <a:spcPct val="150000"/>
              </a:lnSpc>
            </a:pPr>
            <a:r>
              <a:rPr lang="en-KH" dirty="0">
                <a:latin typeface="Khmer OS Content" panose="02000500000000020004" pitchFamily="2" charset="77"/>
                <a:cs typeface="Khmer OS Content" panose="02000500000000020004" pitchFamily="2" charset="77"/>
              </a:rPr>
              <a:t>👉 </a:t>
            </a:r>
            <a:r>
              <a:rPr lang="en-US" dirty="0" err="1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ទម្រង់នៃការប្រើប្រាស</a:t>
            </a:r>
            <a:r>
              <a:rPr lang="en-US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់(Syntax)៖ </a:t>
            </a:r>
            <a:r>
              <a:rPr lang="en-US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(</a:t>
            </a:r>
            <a:r>
              <a:rPr lang="en-US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លក្ខណ</a:t>
            </a:r>
            <a:r>
              <a:rPr lang="en-US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)</a:t>
            </a:r>
            <a:r>
              <a:rPr lang="en-US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?</a:t>
            </a:r>
            <a:r>
              <a:rPr lang="en-US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(</a:t>
            </a:r>
            <a:r>
              <a:rPr lang="en-US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តម្លៃនៅពេលលទ្ធផល</a:t>
            </a:r>
            <a:r>
              <a:rPr lang="en-US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 </a:t>
            </a:r>
            <a:r>
              <a:rPr lang="en-US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true</a:t>
            </a:r>
            <a:r>
              <a:rPr lang="en-US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)</a:t>
            </a:r>
            <a:r>
              <a:rPr lang="en-US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:</a:t>
            </a:r>
            <a:r>
              <a:rPr lang="en-US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(</a:t>
            </a:r>
            <a:r>
              <a:rPr lang="en-US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តម្លៃនៅពេលលទ្ធផល</a:t>
            </a:r>
            <a:r>
              <a:rPr lang="en-US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 </a:t>
            </a:r>
            <a:r>
              <a:rPr lang="en-US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false</a:t>
            </a:r>
            <a:r>
              <a:rPr lang="en-US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);</a:t>
            </a:r>
          </a:p>
          <a:p>
            <a:pPr algn="l">
              <a:lnSpc>
                <a:spcPct val="150000"/>
              </a:lnSpc>
            </a:pPr>
            <a:r>
              <a:rPr lang="en-KH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     ឧទាហរណ៍៖ </a:t>
            </a:r>
          </a:p>
          <a:p>
            <a:pPr lvl="1" algn="l">
              <a:lnSpc>
                <a:spcPct val="150000"/>
              </a:lnSpc>
            </a:pPr>
            <a:r>
              <a:rPr lang="en-US" sz="24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i</a:t>
            </a:r>
            <a:r>
              <a:rPr lang="en-KH" sz="24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nt a = 1, b = 2;</a:t>
            </a:r>
          </a:p>
          <a:p>
            <a:pPr lvl="1" algn="l">
              <a:lnSpc>
                <a:spcPct val="150000"/>
              </a:lnSpc>
            </a:pPr>
            <a:r>
              <a:rPr lang="en-KH" sz="24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int amount =</a:t>
            </a:r>
            <a:r>
              <a:rPr lang="en-KH" sz="24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KH" sz="24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a &lt; b ?</a:t>
            </a:r>
            <a:r>
              <a:rPr lang="en-KH" sz="24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KH" sz="24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100</a:t>
            </a:r>
            <a:r>
              <a:rPr lang="en-KH" sz="24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KH" sz="24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:</a:t>
            </a:r>
            <a:r>
              <a:rPr lang="en-KH" sz="24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KH" sz="24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0 ;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65886F14-88C5-E50F-9699-1CD52578237C}"/>
              </a:ext>
            </a:extLst>
          </p:cNvPr>
          <p:cNvCxnSpPr/>
          <p:nvPr/>
        </p:nvCxnSpPr>
        <p:spPr>
          <a:xfrm>
            <a:off x="0" y="1050468"/>
            <a:ext cx="12192000" cy="0"/>
          </a:xfrm>
          <a:prstGeom prst="line">
            <a:avLst/>
          </a:prstGeom>
          <a:ln w="57150">
            <a:solidFill>
              <a:srgbClr val="D49B0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760D7CC2-CC97-3383-3C93-9FF34B6ABC87}"/>
              </a:ext>
            </a:extLst>
          </p:cNvPr>
          <p:cNvCxnSpPr>
            <a:cxnSpLocks/>
          </p:cNvCxnSpPr>
          <p:nvPr/>
        </p:nvCxnSpPr>
        <p:spPr>
          <a:xfrm>
            <a:off x="0" y="979812"/>
            <a:ext cx="12192000" cy="0"/>
          </a:xfrm>
          <a:prstGeom prst="line">
            <a:avLst/>
          </a:prstGeom>
          <a:ln w="57150">
            <a:solidFill>
              <a:srgbClr val="1C27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7" name="Picture 46" descr="A blue circle with a yellow and white bird in it&#10;&#10;AI-generated content may be incorrect.">
            <a:extLst>
              <a:ext uri="{FF2B5EF4-FFF2-40B4-BE49-F238E27FC236}">
                <a16:creationId xmlns:a16="http://schemas.microsoft.com/office/drawing/2014/main" id="{5194BB0A-A3D5-612D-EFAB-F830C137204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5438" y="219712"/>
            <a:ext cx="606500" cy="606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9204013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77DF9B2-578B-86BE-AC30-8562F0F0CA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1E6D06-CC66-B24C-9B7C-C600010B57F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701800" y="119781"/>
            <a:ext cx="9144000" cy="789373"/>
          </a:xfrm>
        </p:spPr>
        <p:txBody>
          <a:bodyPr>
            <a:normAutofit/>
          </a:bodyPr>
          <a:lstStyle/>
          <a:p>
            <a:pPr algn="l"/>
            <a:r>
              <a:rPr lang="en-US" sz="3600" dirty="0" err="1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instanceof</a:t>
            </a:r>
            <a:r>
              <a:rPr lang="en-US" sz="3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 Operator</a:t>
            </a:r>
            <a:endParaRPr lang="en-KH" sz="3600" dirty="0">
              <a:solidFill>
                <a:srgbClr val="00206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D65973B-B0E8-B941-5DA9-5479ACD2F8C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24192" y="1219212"/>
            <a:ext cx="10954536" cy="5419075"/>
          </a:xfrm>
        </p:spPr>
        <p:txBody>
          <a:bodyPr>
            <a:normAutofit fontScale="25000" lnSpcReduction="20000"/>
          </a:bodyPr>
          <a:lstStyle/>
          <a:p>
            <a:pPr algn="l">
              <a:lnSpc>
                <a:spcPct val="150000"/>
              </a:lnSpc>
            </a:pPr>
            <a:r>
              <a:rPr lang="en-US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	</a:t>
            </a:r>
            <a:r>
              <a:rPr lang="en-US" sz="8000" dirty="0" err="1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instanceof</a:t>
            </a:r>
            <a:r>
              <a:rPr lang="en-US" sz="80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 Operator </a:t>
            </a:r>
            <a:r>
              <a:rPr lang="en-KH" sz="80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គឺជា Operator សម្រាប់ធ្វើការត្រួតពិនិត្យប្រភេទទិន្នន័យដើម្បីសាកល្បងថាតើវត្ថុមួយគឺជា instance នៃ class ឫ </a:t>
            </a:r>
            <a:r>
              <a:rPr lang="en-US" sz="80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interface </a:t>
            </a:r>
            <a:r>
              <a:rPr lang="en-US" sz="8000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ជាក់លាក់មួយឬទេ</a:t>
            </a:r>
            <a:r>
              <a:rPr lang="en-KH" sz="80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។ </a:t>
            </a:r>
          </a:p>
          <a:p>
            <a:pPr algn="l">
              <a:lnSpc>
                <a:spcPct val="150000"/>
              </a:lnSpc>
            </a:pPr>
            <a:r>
              <a:rPr lang="en-KH" sz="8000" dirty="0">
                <a:latin typeface="Khmer OS Content" panose="02000500000000020004" pitchFamily="2" charset="77"/>
                <a:cs typeface="Khmer OS Content" panose="02000500000000020004" pitchFamily="2" charset="77"/>
              </a:rPr>
              <a:t>👉 </a:t>
            </a:r>
            <a:r>
              <a:rPr lang="en-US" sz="8000" dirty="0" err="1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ទម្រង់នៃការប្រើប្រាស</a:t>
            </a:r>
            <a:r>
              <a:rPr lang="en-US" sz="80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់(Syntax)៖ </a:t>
            </a:r>
            <a:r>
              <a:rPr lang="en-US" sz="8000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វត្ថុយោង</a:t>
            </a:r>
            <a:r>
              <a:rPr lang="en-US" sz="80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(object)</a:t>
            </a:r>
            <a:r>
              <a:rPr lang="en-US" sz="80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8000" dirty="0" err="1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instanceof</a:t>
            </a:r>
            <a:r>
              <a:rPr lang="en-US" sz="80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8000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ប្រភេទទិន្នន័យ</a:t>
            </a:r>
            <a:r>
              <a:rPr lang="en-US" sz="80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(Data type);</a:t>
            </a:r>
            <a:endParaRPr lang="en-KH" sz="8000" dirty="0">
              <a:solidFill>
                <a:srgbClr val="0070C0"/>
              </a:solidFill>
              <a:latin typeface="Khmer OS Content" panose="02000500000000020004" pitchFamily="2" charset="77"/>
              <a:cs typeface="Khmer OS Content" panose="02000500000000020004" pitchFamily="2" charset="77"/>
            </a:endParaRPr>
          </a:p>
          <a:p>
            <a:pPr algn="l">
              <a:lnSpc>
                <a:spcPct val="150000"/>
              </a:lnSpc>
            </a:pPr>
            <a:r>
              <a:rPr lang="en-KH" sz="80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    ឧទាហរណ៍៖</a:t>
            </a:r>
          </a:p>
          <a:p>
            <a:pPr lvl="1" algn="l">
              <a:lnSpc>
                <a:spcPct val="150000"/>
              </a:lnSpc>
            </a:pPr>
            <a:r>
              <a:rPr lang="en-KH" sz="72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class Car{}</a:t>
            </a:r>
          </a:p>
          <a:p>
            <a:pPr lvl="1" algn="l">
              <a:lnSpc>
                <a:spcPct val="150000"/>
              </a:lnSpc>
            </a:pPr>
            <a:r>
              <a:rPr lang="en-KH" sz="72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class Lexus extends Car{}</a:t>
            </a:r>
          </a:p>
          <a:p>
            <a:pPr lvl="1" algn="l">
              <a:lnSpc>
                <a:spcPct val="150000"/>
              </a:lnSpc>
            </a:pPr>
            <a:r>
              <a:rPr lang="en-KH" sz="72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Car mycar = new Lexus();</a:t>
            </a:r>
          </a:p>
          <a:p>
            <a:pPr lvl="1" algn="l">
              <a:lnSpc>
                <a:spcPct val="150000"/>
              </a:lnSpc>
            </a:pPr>
            <a:r>
              <a:rPr lang="en-US" sz="72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if (</a:t>
            </a:r>
            <a:r>
              <a:rPr lang="en-KH" sz="72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mycar</a:t>
            </a:r>
            <a:r>
              <a:rPr lang="en-US" sz="72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7200" dirty="0" err="1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instanceof</a:t>
            </a:r>
            <a:r>
              <a:rPr lang="en-US" sz="72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KH" sz="72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Lexus</a:t>
            </a:r>
            <a:r>
              <a:rPr lang="en-US" sz="72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) {</a:t>
            </a:r>
          </a:p>
          <a:p>
            <a:pPr lvl="1" algn="l">
              <a:lnSpc>
                <a:spcPct val="150000"/>
              </a:lnSpc>
            </a:pPr>
            <a:r>
              <a:rPr lang="en-US" sz="72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	…</a:t>
            </a:r>
          </a:p>
          <a:p>
            <a:pPr lvl="1" algn="l">
              <a:lnSpc>
                <a:spcPct val="150000"/>
              </a:lnSpc>
            </a:pPr>
            <a:r>
              <a:rPr lang="en-US" sz="72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} else {</a:t>
            </a:r>
            <a:br>
              <a:rPr lang="en-US" sz="72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</a:br>
            <a:r>
              <a:rPr lang="en-US" sz="72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	…</a:t>
            </a:r>
          </a:p>
          <a:p>
            <a:pPr lvl="1" algn="l">
              <a:lnSpc>
                <a:spcPct val="150000"/>
              </a:lnSpc>
            </a:pPr>
            <a:r>
              <a:rPr lang="en-US" sz="72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}</a:t>
            </a:r>
          </a:p>
          <a:p>
            <a:pPr lvl="1" algn="l">
              <a:lnSpc>
                <a:spcPct val="150000"/>
              </a:lnSpc>
            </a:pPr>
            <a:endParaRPr lang="en-KH" sz="2200" dirty="0">
              <a:solidFill>
                <a:srgbClr val="00206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0689E53A-3256-A5A7-AD3F-FB773D47B31E}"/>
              </a:ext>
            </a:extLst>
          </p:cNvPr>
          <p:cNvCxnSpPr/>
          <p:nvPr/>
        </p:nvCxnSpPr>
        <p:spPr>
          <a:xfrm>
            <a:off x="0" y="1050468"/>
            <a:ext cx="12192000" cy="0"/>
          </a:xfrm>
          <a:prstGeom prst="line">
            <a:avLst/>
          </a:prstGeom>
          <a:ln w="57150">
            <a:solidFill>
              <a:srgbClr val="D49B0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6B21BD3A-38D5-7266-AEA2-E6496E9E3F0E}"/>
              </a:ext>
            </a:extLst>
          </p:cNvPr>
          <p:cNvCxnSpPr>
            <a:cxnSpLocks/>
          </p:cNvCxnSpPr>
          <p:nvPr/>
        </p:nvCxnSpPr>
        <p:spPr>
          <a:xfrm>
            <a:off x="0" y="979812"/>
            <a:ext cx="12192000" cy="0"/>
          </a:xfrm>
          <a:prstGeom prst="line">
            <a:avLst/>
          </a:prstGeom>
          <a:ln w="57150">
            <a:solidFill>
              <a:srgbClr val="1C27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7" name="Picture 46" descr="A blue circle with a yellow and white bird in it&#10;&#10;AI-generated content may be incorrect.">
            <a:extLst>
              <a:ext uri="{FF2B5EF4-FFF2-40B4-BE49-F238E27FC236}">
                <a16:creationId xmlns:a16="http://schemas.microsoft.com/office/drawing/2014/main" id="{2FF01774-D685-00F4-0DB1-013C437FA7C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5438" y="219712"/>
            <a:ext cx="606500" cy="606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1261659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8C72877-4C83-F5A8-4403-ED24EE9806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6BFC23-F35E-C99C-358D-1414DA5B6B1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701800" y="119781"/>
            <a:ext cx="9144000" cy="789373"/>
          </a:xfrm>
        </p:spPr>
        <p:txBody>
          <a:bodyPr>
            <a:normAutofit/>
          </a:bodyPr>
          <a:lstStyle/>
          <a:p>
            <a:pPr algn="l"/>
            <a:r>
              <a:rPr lang="en-US" sz="3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Control Flow</a:t>
            </a:r>
            <a:endParaRPr lang="en-KH" sz="3600" dirty="0">
              <a:solidFill>
                <a:srgbClr val="00206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4C89C24-7C34-93FE-8F97-6B4446EAFA4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24192" y="1168413"/>
            <a:ext cx="10954536" cy="5146416"/>
          </a:xfrm>
        </p:spPr>
        <p:txBody>
          <a:bodyPr>
            <a:normAutofit fontScale="92500" lnSpcReduction="10000"/>
          </a:bodyPr>
          <a:lstStyle/>
          <a:p>
            <a:pPr algn="l">
              <a:lnSpc>
                <a:spcPct val="150000"/>
              </a:lnSpc>
            </a:pPr>
            <a:r>
              <a:rPr lang="en-US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    	</a:t>
            </a:r>
            <a:r>
              <a:rPr lang="en-US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Control Flow </a:t>
            </a:r>
            <a:r>
              <a:rPr lang="en-US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សំដៅលើការគ្រប់គ្រងលំហូដំណើរការនៃ</a:t>
            </a:r>
            <a:r>
              <a:rPr lang="en-US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Code </a:t>
            </a:r>
            <a:r>
              <a:rPr lang="en-US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នៅក្នុងកម្មវិធី</a:t>
            </a:r>
            <a:r>
              <a:rPr lang="en-US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។</a:t>
            </a:r>
            <a:r>
              <a:rPr lang="en-US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</a:p>
          <a:p>
            <a:pPr algn="l">
              <a:lnSpc>
                <a:spcPct val="150000"/>
              </a:lnSpc>
            </a:pPr>
            <a:r>
              <a:rPr lang="en-KH" dirty="0">
                <a:latin typeface="Khmer OS Content" panose="02000500000000020004" pitchFamily="2" charset="77"/>
                <a:cs typeface="Khmer OS Content" panose="02000500000000020004" pitchFamily="2" charset="77"/>
              </a:rPr>
              <a:t>👉 </a:t>
            </a:r>
            <a:r>
              <a:rPr lang="en-US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Control Flow </a:t>
            </a:r>
            <a:r>
              <a:rPr lang="en-US" dirty="0" err="1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មានដូចជា</a:t>
            </a:r>
            <a:r>
              <a:rPr lang="en-US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៖</a:t>
            </a:r>
          </a:p>
          <a:p>
            <a:pPr algn="l">
              <a:lnSpc>
                <a:spcPct val="170000"/>
              </a:lnSpc>
            </a:pPr>
            <a:r>
              <a:rPr lang="en-US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	</a:t>
            </a:r>
            <a:r>
              <a:rPr lang="en-US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- </a:t>
            </a:r>
            <a:r>
              <a:rPr lang="en-US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ប្រយោគបង្កើតការសម្រចចិត្ត</a:t>
            </a:r>
            <a:r>
              <a:rPr lang="en-US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(Decision-Making Statements)</a:t>
            </a:r>
            <a:br>
              <a:rPr lang="en-US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</a:br>
            <a:r>
              <a:rPr lang="en-US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	- </a:t>
            </a:r>
            <a:r>
              <a:rPr lang="en-US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ប្រយោគរង្វិលជុំ</a:t>
            </a:r>
            <a:r>
              <a:rPr lang="en-US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(Loop Statements)</a:t>
            </a:r>
          </a:p>
          <a:p>
            <a:pPr algn="l">
              <a:lnSpc>
                <a:spcPct val="170000"/>
              </a:lnSpc>
            </a:pPr>
            <a:r>
              <a:rPr lang="en-US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	- </a:t>
            </a:r>
            <a:r>
              <a:rPr lang="en-US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ប្រយោគផ្លោះ</a:t>
            </a:r>
            <a:r>
              <a:rPr lang="en-US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(Jump Statements)</a:t>
            </a:r>
          </a:p>
          <a:p>
            <a:pPr algn="l">
              <a:lnSpc>
                <a:spcPct val="170000"/>
              </a:lnSpc>
            </a:pPr>
            <a:r>
              <a:rPr lang="en-US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	- Exception Handling</a:t>
            </a:r>
          </a:p>
          <a:p>
            <a:pPr algn="l">
              <a:lnSpc>
                <a:spcPct val="170000"/>
              </a:lnSpc>
            </a:pPr>
            <a:r>
              <a:rPr lang="en-US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	- Static</a:t>
            </a:r>
          </a:p>
          <a:p>
            <a:pPr algn="l">
              <a:lnSpc>
                <a:spcPct val="170000"/>
              </a:lnSpc>
            </a:pPr>
            <a:r>
              <a:rPr lang="en-US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	- Instance</a:t>
            </a:r>
            <a:endParaRPr lang="km-KH" dirty="0">
              <a:solidFill>
                <a:srgbClr val="0070C0"/>
              </a:solidFill>
              <a:latin typeface="Khmer OS Content" panose="02000500000000020004" pitchFamily="2" charset="77"/>
              <a:cs typeface="Khmer OS Content" panose="02000500000000020004" pitchFamily="2" charset="77"/>
            </a:endParaRP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BDAFB8AC-A03C-54D9-6899-0B92EE99BB43}"/>
              </a:ext>
            </a:extLst>
          </p:cNvPr>
          <p:cNvCxnSpPr/>
          <p:nvPr/>
        </p:nvCxnSpPr>
        <p:spPr>
          <a:xfrm>
            <a:off x="0" y="1050468"/>
            <a:ext cx="12192000" cy="0"/>
          </a:xfrm>
          <a:prstGeom prst="line">
            <a:avLst/>
          </a:prstGeom>
          <a:ln w="57150">
            <a:solidFill>
              <a:srgbClr val="D49B0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EEFB60B7-6572-7DBB-7A44-B70309CDAB0B}"/>
              </a:ext>
            </a:extLst>
          </p:cNvPr>
          <p:cNvCxnSpPr>
            <a:cxnSpLocks/>
          </p:cNvCxnSpPr>
          <p:nvPr/>
        </p:nvCxnSpPr>
        <p:spPr>
          <a:xfrm>
            <a:off x="0" y="979812"/>
            <a:ext cx="12192000" cy="0"/>
          </a:xfrm>
          <a:prstGeom prst="line">
            <a:avLst/>
          </a:prstGeom>
          <a:ln w="57150">
            <a:solidFill>
              <a:srgbClr val="1C27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7" name="Picture 46" descr="A blue circle with a yellow and white bird in it&#10;&#10;AI-generated content may be incorrect.">
            <a:extLst>
              <a:ext uri="{FF2B5EF4-FFF2-40B4-BE49-F238E27FC236}">
                <a16:creationId xmlns:a16="http://schemas.microsoft.com/office/drawing/2014/main" id="{C03F132C-18C2-87DD-934B-6F84BA6CC86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5438" y="219712"/>
            <a:ext cx="606500" cy="606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33864709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55743BD-B0A3-0CF4-7FBC-E8FE4158A3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6C4D27-D040-C41B-D7DB-83008F10567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701800" y="119781"/>
            <a:ext cx="9144000" cy="789373"/>
          </a:xfrm>
        </p:spPr>
        <p:txBody>
          <a:bodyPr>
            <a:normAutofit/>
          </a:bodyPr>
          <a:lstStyle/>
          <a:p>
            <a:pPr algn="l"/>
            <a:r>
              <a:rPr lang="en-KH" sz="3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ប្រយោគបង្កើតការសម្រចចិត្ត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68B202E-1588-5961-61F4-AA9F6E6A353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24192" y="1168413"/>
            <a:ext cx="10954536" cy="5146416"/>
          </a:xfrm>
        </p:spPr>
        <p:txBody>
          <a:bodyPr>
            <a:normAutofit fontScale="25000" lnSpcReduction="20000"/>
          </a:bodyPr>
          <a:lstStyle/>
          <a:p>
            <a:pPr algn="l">
              <a:lnSpc>
                <a:spcPct val="150000"/>
              </a:lnSpc>
            </a:pPr>
            <a:r>
              <a:rPr lang="en-US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    	</a:t>
            </a:r>
            <a:r>
              <a:rPr lang="en-US" sz="96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ប្រយោគបង្កើតការសម្រេចចិត្តនៅក្នុងភាសា</a:t>
            </a:r>
            <a:r>
              <a:rPr lang="en-US" sz="9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Java </a:t>
            </a:r>
            <a:r>
              <a:rPr lang="en-US" sz="96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មានដូចជា</a:t>
            </a:r>
            <a:r>
              <a:rPr lang="en-US" sz="9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៖</a:t>
            </a:r>
            <a:r>
              <a:rPr lang="en-US" sz="9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​ </a:t>
            </a:r>
            <a:r>
              <a:rPr lang="en-US" sz="9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if, if-else, if-else-if </a:t>
            </a:r>
            <a:r>
              <a:rPr lang="en-US" sz="96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និង</a:t>
            </a:r>
            <a:r>
              <a:rPr lang="en-US" sz="9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switch។</a:t>
            </a:r>
          </a:p>
          <a:p>
            <a:pPr algn="l">
              <a:lnSpc>
                <a:spcPct val="170000"/>
              </a:lnSpc>
            </a:pPr>
            <a:r>
              <a:rPr lang="en-US" sz="9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- if: </a:t>
            </a:r>
            <a:r>
              <a:rPr lang="en-US" sz="96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គឺជា</a:t>
            </a:r>
            <a:r>
              <a:rPr lang="km-KH" sz="9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លំហូរ</a:t>
            </a:r>
            <a:r>
              <a:rPr lang="en-US" sz="96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នៃ</a:t>
            </a:r>
            <a:r>
              <a:rPr lang="km-KH" sz="9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ការត្រួតពិនិត្យជាមូលដ្ឋានដែលអនុញ្ញាតឱ្យកម្មវិធីធ្វើការសម្រេចចិត្ត</a:t>
            </a:r>
            <a:r>
              <a:rPr lang="en-US" sz="9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sz="96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និងប្រតិបត្តិ</a:t>
            </a:r>
            <a:r>
              <a:rPr lang="en-US" sz="9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(execute) </a:t>
            </a:r>
            <a:r>
              <a:rPr lang="en-US" sz="96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នូវប្លុក</a:t>
            </a:r>
            <a:r>
              <a:rPr lang="en-US" sz="9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code </a:t>
            </a:r>
            <a:r>
              <a:rPr lang="en-US" sz="96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ជាក់លាក់លុះត្រាតែការវាយតម្លៃលក្ខណដែលបានផ្តល់ឲ្យស្មើនិង</a:t>
            </a:r>
            <a:r>
              <a:rPr lang="en-US" sz="9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sz="96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true </a:t>
            </a:r>
            <a:r>
              <a:rPr lang="en-US" sz="96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តែប៉ុណ្ណោះ</a:t>
            </a:r>
            <a:r>
              <a:rPr lang="en-US" sz="9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។</a:t>
            </a:r>
            <a:br>
              <a:rPr lang="en-US" sz="9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</a:br>
            <a:r>
              <a:rPr lang="en-KH" sz="9600" dirty="0"/>
              <a:t>👉 </a:t>
            </a:r>
            <a:r>
              <a:rPr lang="en-US" sz="9600" dirty="0" err="1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ទម្រង់នៃការប្រើប្រាស</a:t>
            </a:r>
            <a:r>
              <a:rPr lang="en-US" sz="9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់(Syntax)៖</a:t>
            </a:r>
            <a:br>
              <a:rPr lang="en-US" sz="9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</a:br>
            <a:r>
              <a:rPr lang="en-US" sz="9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   	</a:t>
            </a:r>
            <a:r>
              <a:rPr lang="en-US" sz="9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if( </a:t>
            </a:r>
            <a:r>
              <a:rPr lang="en-US" sz="96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លក្ខណ</a:t>
            </a:r>
            <a:r>
              <a:rPr lang="en-US" sz="9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){</a:t>
            </a:r>
          </a:p>
          <a:p>
            <a:pPr algn="l">
              <a:lnSpc>
                <a:spcPct val="120000"/>
              </a:lnSpc>
            </a:pPr>
            <a:r>
              <a:rPr lang="en-US" sz="9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        		//Statement </a:t>
            </a:r>
            <a:r>
              <a:rPr lang="en-US" sz="96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ដែលត្រូវប្រតិបត្តិ</a:t>
            </a:r>
            <a:r>
              <a:rPr lang="en-US" sz="9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sz="96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ប្រសិនបើលក្ខណស្មើ</a:t>
            </a:r>
            <a:r>
              <a:rPr lang="en-US" sz="9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sz="96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true</a:t>
            </a:r>
          </a:p>
          <a:p>
            <a:pPr algn="l">
              <a:lnSpc>
                <a:spcPct val="120000"/>
              </a:lnSpc>
            </a:pPr>
            <a:r>
              <a:rPr lang="en-US" sz="9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   	</a:t>
            </a:r>
            <a:r>
              <a:rPr lang="en-US" sz="9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}</a:t>
            </a:r>
            <a:endParaRPr lang="km-KH" sz="9600" dirty="0">
              <a:solidFill>
                <a:srgbClr val="0070C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2D1986F8-F7DD-3AD0-6B74-5E89B685247F}"/>
              </a:ext>
            </a:extLst>
          </p:cNvPr>
          <p:cNvCxnSpPr/>
          <p:nvPr/>
        </p:nvCxnSpPr>
        <p:spPr>
          <a:xfrm>
            <a:off x="0" y="1050468"/>
            <a:ext cx="12192000" cy="0"/>
          </a:xfrm>
          <a:prstGeom prst="line">
            <a:avLst/>
          </a:prstGeom>
          <a:ln w="57150">
            <a:solidFill>
              <a:srgbClr val="D49B0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E9E51B28-085E-F607-6F39-D74B79BD1E5D}"/>
              </a:ext>
            </a:extLst>
          </p:cNvPr>
          <p:cNvCxnSpPr>
            <a:cxnSpLocks/>
          </p:cNvCxnSpPr>
          <p:nvPr/>
        </p:nvCxnSpPr>
        <p:spPr>
          <a:xfrm>
            <a:off x="0" y="979812"/>
            <a:ext cx="12192000" cy="0"/>
          </a:xfrm>
          <a:prstGeom prst="line">
            <a:avLst/>
          </a:prstGeom>
          <a:ln w="57150">
            <a:solidFill>
              <a:srgbClr val="1C27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7" name="Picture 46" descr="A blue circle with a yellow and white bird in it&#10;&#10;AI-generated content may be incorrect.">
            <a:extLst>
              <a:ext uri="{FF2B5EF4-FFF2-40B4-BE49-F238E27FC236}">
                <a16:creationId xmlns:a16="http://schemas.microsoft.com/office/drawing/2014/main" id="{BBA359F1-EA10-DA2A-52DC-6F408C31674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5438" y="219712"/>
            <a:ext cx="606500" cy="606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01314849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CD801F8-0D67-890F-57FD-B7A2B7539F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9F23A6-0081-E42C-E366-96AA111D1AE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701800" y="119781"/>
            <a:ext cx="9144000" cy="789373"/>
          </a:xfrm>
        </p:spPr>
        <p:txBody>
          <a:bodyPr>
            <a:normAutofit/>
          </a:bodyPr>
          <a:lstStyle/>
          <a:p>
            <a:pPr algn="l"/>
            <a:r>
              <a:rPr lang="en-KH" sz="3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ប្រយោគបង្កើតការសម្រចចិត្ត</a:t>
            </a:r>
            <a:r>
              <a:rPr lang="en-US" sz="3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(</a:t>
            </a:r>
            <a:r>
              <a:rPr lang="en-US" sz="3600" dirty="0" err="1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ត</a:t>
            </a:r>
            <a:r>
              <a:rPr lang="en-US" sz="3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)</a:t>
            </a:r>
            <a:endParaRPr lang="en-KH" sz="3600" dirty="0">
              <a:solidFill>
                <a:srgbClr val="00206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B612210-D8F8-B315-B381-8264F241753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24192" y="1219213"/>
            <a:ext cx="10954536" cy="5146416"/>
          </a:xfrm>
        </p:spPr>
        <p:txBody>
          <a:bodyPr>
            <a:normAutofit lnSpcReduction="10000"/>
          </a:bodyPr>
          <a:lstStyle/>
          <a:p>
            <a:pPr algn="l">
              <a:lnSpc>
                <a:spcPct val="150000"/>
              </a:lnSpc>
            </a:pPr>
            <a:r>
              <a:rPr lang="en-US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- if-else : </a:t>
            </a:r>
            <a:r>
              <a:rPr lang="en-US" sz="26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គឺជា</a:t>
            </a:r>
            <a:r>
              <a:rPr lang="km-KH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លំហូរ</a:t>
            </a:r>
            <a:r>
              <a:rPr lang="en-US" sz="26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នៃ</a:t>
            </a:r>
            <a:r>
              <a:rPr lang="km-KH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ការត្រួតពិនិត្យជាមូលដ្ឋានដែលអនុញ្ញាតឱ្យកម្មវិធីធ្វើការសម្រេចចិត្ត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sz="26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និងប្រតិបត្តិ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(execute) </a:t>
            </a:r>
            <a:r>
              <a:rPr lang="en-US" sz="26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នូវប្លុក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code ជាក់លាក់ក្នុងការវាយតម្លៃលក្ខណដែលបានផ្តល់ឲ្យស្មើ</a:t>
            </a:r>
            <a:r>
              <a:rPr lang="en-US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sz="26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true </a:t>
            </a:r>
            <a:r>
              <a:rPr lang="en-US" sz="26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និង</a:t>
            </a:r>
            <a:r>
              <a:rPr lang="en-US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sz="26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false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។</a:t>
            </a:r>
            <a:br>
              <a:rPr lang="en-US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</a:br>
            <a:r>
              <a:rPr lang="en-KH" sz="2800" dirty="0"/>
              <a:t>👉 </a:t>
            </a:r>
            <a:r>
              <a:rPr lang="en-US" sz="2600" dirty="0" err="1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ទម្រង់នៃការប្រើប្រាស</a:t>
            </a:r>
            <a:r>
              <a:rPr lang="en-US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់(Syntax)៖</a:t>
            </a:r>
            <a:br>
              <a:rPr lang="en-US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</a:br>
            <a:r>
              <a:rPr lang="en-US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   	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if( </a:t>
            </a:r>
            <a:r>
              <a:rPr lang="en-US" sz="26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លក្ខណ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){</a:t>
            </a:r>
          </a:p>
          <a:p>
            <a:pPr algn="l">
              <a:lnSpc>
                <a:spcPct val="100000"/>
              </a:lnSpc>
            </a:pP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        		//Statement </a:t>
            </a:r>
            <a:r>
              <a:rPr lang="en-US" sz="26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ដែលត្រូវប្រតិបត្តិ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sz="26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ប្រសិនបើលក្ខណស្មើ</a:t>
            </a:r>
            <a:r>
              <a:rPr lang="en-US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sz="26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true</a:t>
            </a:r>
          </a:p>
          <a:p>
            <a:pPr algn="l">
              <a:lnSpc>
                <a:spcPct val="100000"/>
              </a:lnSpc>
            </a:pPr>
            <a:r>
              <a:rPr lang="en-US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   	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} else {</a:t>
            </a:r>
          </a:p>
          <a:p>
            <a:pPr algn="l">
              <a:lnSpc>
                <a:spcPct val="100000"/>
              </a:lnSpc>
            </a:pP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		 //Statement </a:t>
            </a:r>
            <a:r>
              <a:rPr lang="en-US" sz="26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ដែលត្រូវប្រតិបត្តិ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sz="26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ប្រសិនបើលក្ខណស្មើ</a:t>
            </a:r>
            <a:r>
              <a:rPr lang="en-US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sz="26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false</a:t>
            </a:r>
            <a:endParaRPr lang="en-US" sz="2600" dirty="0">
              <a:solidFill>
                <a:srgbClr val="00206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  <a:p>
            <a:pPr algn="l">
              <a:lnSpc>
                <a:spcPct val="100000"/>
              </a:lnSpc>
            </a:pPr>
            <a:r>
              <a:rPr lang="en-US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	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}</a:t>
            </a:r>
            <a:endParaRPr lang="km-KH" sz="2600" dirty="0">
              <a:solidFill>
                <a:srgbClr val="0070C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F0EF3543-B7E8-52C4-BFFD-EEAF0F2AA2A6}"/>
              </a:ext>
            </a:extLst>
          </p:cNvPr>
          <p:cNvCxnSpPr/>
          <p:nvPr/>
        </p:nvCxnSpPr>
        <p:spPr>
          <a:xfrm>
            <a:off x="0" y="1050468"/>
            <a:ext cx="12192000" cy="0"/>
          </a:xfrm>
          <a:prstGeom prst="line">
            <a:avLst/>
          </a:prstGeom>
          <a:ln w="57150">
            <a:solidFill>
              <a:srgbClr val="D49B0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DCACC6F3-4951-1CCE-06B6-2ED8335B6D8E}"/>
              </a:ext>
            </a:extLst>
          </p:cNvPr>
          <p:cNvCxnSpPr>
            <a:cxnSpLocks/>
          </p:cNvCxnSpPr>
          <p:nvPr/>
        </p:nvCxnSpPr>
        <p:spPr>
          <a:xfrm>
            <a:off x="0" y="979812"/>
            <a:ext cx="12192000" cy="0"/>
          </a:xfrm>
          <a:prstGeom prst="line">
            <a:avLst/>
          </a:prstGeom>
          <a:ln w="57150">
            <a:solidFill>
              <a:srgbClr val="1C27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7" name="Picture 46" descr="A blue circle with a yellow and white bird in it&#10;&#10;AI-generated content may be incorrect.">
            <a:extLst>
              <a:ext uri="{FF2B5EF4-FFF2-40B4-BE49-F238E27FC236}">
                <a16:creationId xmlns:a16="http://schemas.microsoft.com/office/drawing/2014/main" id="{F6A33DCE-B7BA-A585-6C69-21B556FD4EA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5438" y="219712"/>
            <a:ext cx="606500" cy="606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26808300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3A5A418-D202-4E60-E032-9A809AF036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CE1114-7FC4-E1E5-0039-5FAAD7859DF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701800" y="119781"/>
            <a:ext cx="9144000" cy="789373"/>
          </a:xfrm>
        </p:spPr>
        <p:txBody>
          <a:bodyPr>
            <a:normAutofit/>
          </a:bodyPr>
          <a:lstStyle/>
          <a:p>
            <a:pPr algn="l"/>
            <a:r>
              <a:rPr lang="en-KH" sz="3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ប្រយោគបង្កើតការសម្រចចិត្ត</a:t>
            </a:r>
            <a:r>
              <a:rPr lang="en-US" sz="3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(</a:t>
            </a:r>
            <a:r>
              <a:rPr lang="en-US" sz="3600" dirty="0" err="1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ត</a:t>
            </a:r>
            <a:r>
              <a:rPr lang="en-US" sz="3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)</a:t>
            </a:r>
            <a:endParaRPr lang="en-KH" sz="3600" dirty="0">
              <a:solidFill>
                <a:srgbClr val="00206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C820791-D29E-F21E-0A2E-63E792DA235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24192" y="1219213"/>
            <a:ext cx="10954536" cy="5146416"/>
          </a:xfrm>
        </p:spPr>
        <p:txBody>
          <a:bodyPr>
            <a:normAutofit fontScale="77500" lnSpcReduction="20000"/>
          </a:bodyPr>
          <a:lstStyle/>
          <a:p>
            <a:pPr algn="l">
              <a:lnSpc>
                <a:spcPct val="170000"/>
              </a:lnSpc>
            </a:pPr>
            <a:r>
              <a:rPr lang="en-US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- if-else-if : </a:t>
            </a:r>
            <a:r>
              <a:rPr lang="en-US" sz="26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គឺជា</a:t>
            </a:r>
            <a:r>
              <a:rPr lang="km-KH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លំហូរ</a:t>
            </a:r>
            <a:r>
              <a:rPr lang="en-US" sz="26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នៃ</a:t>
            </a:r>
            <a:r>
              <a:rPr lang="km-KH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ការត្រួតពិនិត្យជាមូលដ្ឋានដែលអនុញ្ញាតឱ្យកម្មវិធីធ្វើការសម្រេចចិត្ត</a:t>
            </a:r>
            <a:r>
              <a:rPr lang="en-US" sz="26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នូវលក្ខណច្រើនបន្តបន្ទាប់គ្នា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sz="26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និងប្រតិបត្តិ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(execute) </a:t>
            </a:r>
            <a:r>
              <a:rPr lang="en-US" sz="26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នូវប្លុក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code ជាក់លាក់ក្នុងការវាយតម្លៃលក្ខណដែលបានផ្តល់ឲ្យស្មើ</a:t>
            </a:r>
            <a:r>
              <a:rPr lang="en-US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sz="26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true </a:t>
            </a:r>
            <a:r>
              <a:rPr lang="en-US" sz="26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និង</a:t>
            </a:r>
            <a:r>
              <a:rPr lang="en-US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sz="26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false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។</a:t>
            </a:r>
            <a:br>
              <a:rPr lang="en-US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</a:br>
            <a:r>
              <a:rPr lang="en-KH" sz="2800" dirty="0"/>
              <a:t>👉 </a:t>
            </a:r>
            <a:r>
              <a:rPr lang="en-US" sz="2600" dirty="0" err="1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ទម្រង់នៃការប្រើប្រាស</a:t>
            </a:r>
            <a:r>
              <a:rPr lang="en-US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់(Syntax)៖</a:t>
            </a:r>
            <a:br>
              <a:rPr lang="en-US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</a:br>
            <a:r>
              <a:rPr lang="en-US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   	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if( </a:t>
            </a:r>
            <a:r>
              <a:rPr lang="en-US" sz="26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លក្ខណ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){</a:t>
            </a:r>
          </a:p>
          <a:p>
            <a:pPr algn="l">
              <a:lnSpc>
                <a:spcPct val="110000"/>
              </a:lnSpc>
            </a:pP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        		//Statement </a:t>
            </a:r>
            <a:r>
              <a:rPr lang="en-US" sz="26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ដែលត្រូវប្រតិបត្តិ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sz="26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ប្រសិនបើលក្ខណស្មើ</a:t>
            </a:r>
            <a:r>
              <a:rPr lang="en-US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sz="26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true</a:t>
            </a:r>
          </a:p>
          <a:p>
            <a:pPr algn="l">
              <a:lnSpc>
                <a:spcPct val="150000"/>
              </a:lnSpc>
            </a:pPr>
            <a:r>
              <a:rPr lang="en-US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	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} else if( </a:t>
            </a:r>
            <a:r>
              <a:rPr lang="en-US" sz="26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លក្ខណ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){</a:t>
            </a:r>
          </a:p>
          <a:p>
            <a:pPr algn="l">
              <a:lnSpc>
                <a:spcPct val="110000"/>
              </a:lnSpc>
            </a:pP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        		//Statement </a:t>
            </a:r>
            <a:r>
              <a:rPr lang="en-US" sz="26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ដែលត្រូវប្រតិបត្តិ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sz="26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ប្រសិនបើលក្ខណស្មើ</a:t>
            </a:r>
            <a:r>
              <a:rPr lang="en-US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sz="26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true</a:t>
            </a:r>
          </a:p>
          <a:p>
            <a:pPr algn="l">
              <a:lnSpc>
                <a:spcPct val="110000"/>
              </a:lnSpc>
            </a:pPr>
            <a:r>
              <a:rPr lang="en-US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   	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} else {</a:t>
            </a:r>
          </a:p>
          <a:p>
            <a:pPr algn="l">
              <a:lnSpc>
                <a:spcPct val="110000"/>
              </a:lnSpc>
            </a:pP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		 //Statement </a:t>
            </a:r>
            <a:r>
              <a:rPr lang="en-US" sz="26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ដែលត្រូវប្រតិបត្តិ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sz="26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ប្រសិនបើលក្ខណស្មើ</a:t>
            </a:r>
            <a:r>
              <a:rPr lang="en-US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sz="26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false</a:t>
            </a:r>
            <a:endParaRPr lang="en-US" sz="2600" dirty="0">
              <a:solidFill>
                <a:srgbClr val="00206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  <a:p>
            <a:pPr algn="l">
              <a:lnSpc>
                <a:spcPct val="110000"/>
              </a:lnSpc>
            </a:pPr>
            <a:r>
              <a:rPr lang="en-US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	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}</a:t>
            </a:r>
            <a:endParaRPr lang="km-KH" sz="2600" dirty="0">
              <a:solidFill>
                <a:srgbClr val="0070C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6AAA2927-5748-B941-12D7-8004D5EB6222}"/>
              </a:ext>
            </a:extLst>
          </p:cNvPr>
          <p:cNvCxnSpPr/>
          <p:nvPr/>
        </p:nvCxnSpPr>
        <p:spPr>
          <a:xfrm>
            <a:off x="0" y="1050468"/>
            <a:ext cx="12192000" cy="0"/>
          </a:xfrm>
          <a:prstGeom prst="line">
            <a:avLst/>
          </a:prstGeom>
          <a:ln w="57150">
            <a:solidFill>
              <a:srgbClr val="D49B0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726DC0D0-F4F7-3D95-4655-64DF2A967587}"/>
              </a:ext>
            </a:extLst>
          </p:cNvPr>
          <p:cNvCxnSpPr>
            <a:cxnSpLocks/>
          </p:cNvCxnSpPr>
          <p:nvPr/>
        </p:nvCxnSpPr>
        <p:spPr>
          <a:xfrm>
            <a:off x="0" y="979812"/>
            <a:ext cx="12192000" cy="0"/>
          </a:xfrm>
          <a:prstGeom prst="line">
            <a:avLst/>
          </a:prstGeom>
          <a:ln w="57150">
            <a:solidFill>
              <a:srgbClr val="1C27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7" name="Picture 46" descr="A blue circle with a yellow and white bird in it&#10;&#10;AI-generated content may be incorrect.">
            <a:extLst>
              <a:ext uri="{FF2B5EF4-FFF2-40B4-BE49-F238E27FC236}">
                <a16:creationId xmlns:a16="http://schemas.microsoft.com/office/drawing/2014/main" id="{AE18E364-928A-175D-26DF-1AE8FF7F400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5438" y="219712"/>
            <a:ext cx="606500" cy="606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51714955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66858C7-0549-BB94-3C6C-A105F253AB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AAA7DE-9981-AE92-064F-1C07C2C537A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701800" y="119781"/>
            <a:ext cx="9144000" cy="789373"/>
          </a:xfrm>
        </p:spPr>
        <p:txBody>
          <a:bodyPr>
            <a:normAutofit/>
          </a:bodyPr>
          <a:lstStyle/>
          <a:p>
            <a:pPr algn="l"/>
            <a:r>
              <a:rPr lang="en-KH" sz="3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ប្រយោគបង្កើតការសម្រចចិត្ត</a:t>
            </a:r>
            <a:r>
              <a:rPr lang="en-US" sz="3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(</a:t>
            </a:r>
            <a:r>
              <a:rPr lang="en-US" sz="3600" dirty="0" err="1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ត</a:t>
            </a:r>
            <a:r>
              <a:rPr lang="en-US" sz="3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)</a:t>
            </a:r>
            <a:endParaRPr lang="en-KH" sz="3600" dirty="0">
              <a:solidFill>
                <a:srgbClr val="00206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CDE12E3-CC1D-842D-A20C-AD692334D1C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24192" y="1219212"/>
            <a:ext cx="10954536" cy="5419065"/>
          </a:xfrm>
        </p:spPr>
        <p:txBody>
          <a:bodyPr>
            <a:noAutofit/>
          </a:bodyPr>
          <a:lstStyle/>
          <a:p>
            <a:pPr marL="457200" indent="-457200" algn="l">
              <a:lnSpc>
                <a:spcPct val="160000"/>
              </a:lnSpc>
              <a:buFontTx/>
              <a:buChar char="-"/>
            </a:pPr>
            <a:r>
              <a:rPr lang="en-US" sz="18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switch : </a:t>
            </a:r>
            <a:r>
              <a:rPr lang="en-US" sz="18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គឺជាប្រយោគ</a:t>
            </a:r>
            <a:r>
              <a:rPr lang="en-US" sz="1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Control Flow </a:t>
            </a:r>
            <a:r>
              <a:rPr lang="en-US" sz="18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មួយដែលអនុញ្ញាតឲ្យកម្មវិធីធ្វើការប្រតិបត្តិ</a:t>
            </a:r>
            <a:r>
              <a:rPr lang="en-US" sz="1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(execute) </a:t>
            </a:r>
            <a:r>
              <a:rPr lang="en-US" sz="18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នូវប្លុក</a:t>
            </a:r>
            <a:r>
              <a:rPr lang="en-US" sz="1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code </a:t>
            </a:r>
            <a:r>
              <a:rPr lang="en-US" sz="18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នៅក្នុងចំណោមករណី</a:t>
            </a:r>
            <a:r>
              <a:rPr lang="en-US" sz="1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(Case) </a:t>
            </a:r>
            <a:r>
              <a:rPr lang="en-US" sz="18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ដែលបានកំណត់ទុកដោយផ្អែកទៅលើការផ្គូរផ្គងតម្លៃជាមួយតម្លៃបញ្ជាក</a:t>
            </a:r>
            <a:r>
              <a:rPr lang="en-US" sz="1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់(Expression)</a:t>
            </a:r>
            <a:r>
              <a:rPr lang="en-US" sz="18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មួយ</a:t>
            </a:r>
            <a:r>
              <a:rPr lang="en-US" sz="1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។</a:t>
            </a:r>
          </a:p>
          <a:p>
            <a:pPr algn="l">
              <a:lnSpc>
                <a:spcPct val="150000"/>
              </a:lnSpc>
            </a:pPr>
            <a:r>
              <a:rPr lang="en-US" sz="18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KH" sz="1800" dirty="0"/>
              <a:t>👉 </a:t>
            </a:r>
            <a:r>
              <a:rPr lang="en-US" sz="1800" dirty="0" err="1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ទម្រង់នៃការប្រើប្រាស</a:t>
            </a:r>
            <a:r>
              <a:rPr lang="en-US" sz="18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់(Syntax)៖</a:t>
            </a:r>
            <a:br>
              <a:rPr lang="en-US" sz="18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</a:br>
            <a:r>
              <a:rPr lang="en-US" sz="18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      </a:t>
            </a:r>
            <a:r>
              <a:rPr lang="en-US" sz="1800" dirty="0">
                <a:solidFill>
                  <a:srgbClr val="FF0000"/>
                </a:solidFill>
              </a:rPr>
              <a:t>switch</a:t>
            </a:r>
            <a:r>
              <a:rPr lang="en-US" sz="1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( </a:t>
            </a:r>
            <a:r>
              <a:rPr lang="en-US" sz="18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តម្លៃបញ្ជាក</a:t>
            </a:r>
            <a:r>
              <a:rPr lang="en-US" sz="1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់ ){</a:t>
            </a:r>
          </a:p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	</a:t>
            </a:r>
            <a:r>
              <a:rPr lang="en-US" sz="18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case </a:t>
            </a:r>
            <a:r>
              <a:rPr lang="en-US" sz="1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តម្លៃផ្គូផ្គងទី1 : </a:t>
            </a:r>
          </a:p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	    </a:t>
            </a:r>
            <a:r>
              <a:rPr lang="en-US" sz="1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//</a:t>
            </a:r>
            <a:r>
              <a:rPr lang="en-US" sz="18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ប្លុក</a:t>
            </a:r>
            <a:r>
              <a:rPr lang="en-US" sz="1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code </a:t>
            </a:r>
            <a:r>
              <a:rPr lang="en-US" sz="18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ដើម្បីប្រតិបត្តិ</a:t>
            </a:r>
            <a:r>
              <a:rPr lang="en-US" sz="1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(execute) </a:t>
            </a:r>
            <a:r>
              <a:rPr lang="en-US" sz="18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ប្រសិនបើតម្លៃបញ្ជាក់ស្មើនិងតម្លៃផ្គូផ្គង</a:t>
            </a:r>
            <a:endParaRPr lang="en-US" sz="1800" dirty="0">
              <a:solidFill>
                <a:srgbClr val="0070C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	    </a:t>
            </a:r>
            <a:r>
              <a:rPr lang="en-US" sz="18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break;</a:t>
            </a:r>
          </a:p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	case </a:t>
            </a:r>
            <a:r>
              <a:rPr lang="en-US" sz="1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តម្លៃផ្គូផ្គងទី2 : </a:t>
            </a:r>
            <a:r>
              <a:rPr lang="en-US" sz="18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	</a:t>
            </a:r>
          </a:p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	    </a:t>
            </a:r>
            <a:r>
              <a:rPr lang="en-US" sz="1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//</a:t>
            </a:r>
            <a:r>
              <a:rPr lang="en-US" sz="18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ប្លុក</a:t>
            </a:r>
            <a:r>
              <a:rPr lang="en-US" sz="1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code </a:t>
            </a:r>
            <a:r>
              <a:rPr lang="en-US" sz="18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ដើម្បីប្រតិបត្តិ</a:t>
            </a:r>
            <a:r>
              <a:rPr lang="en-US" sz="1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(execute) </a:t>
            </a:r>
            <a:r>
              <a:rPr lang="en-US" sz="18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ប្រសិនបើតម្លៃបញ្ជាក់ស្មើនិងតម្លៃផ្គូផ្គង</a:t>
            </a:r>
            <a:endParaRPr lang="en-US" sz="1800" dirty="0">
              <a:solidFill>
                <a:srgbClr val="0070C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	    </a:t>
            </a:r>
            <a:r>
              <a:rPr lang="en-US" sz="18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break;</a:t>
            </a:r>
          </a:p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	default</a:t>
            </a:r>
            <a:r>
              <a:rPr lang="en-US" sz="18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:</a:t>
            </a:r>
          </a:p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	     </a:t>
            </a:r>
            <a:r>
              <a:rPr lang="en-US" sz="1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//</a:t>
            </a:r>
            <a:r>
              <a:rPr lang="en-US" sz="18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ប្លុក</a:t>
            </a:r>
            <a:r>
              <a:rPr lang="en-US" sz="1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code </a:t>
            </a:r>
            <a:r>
              <a:rPr lang="en-US" sz="18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ដើម្បីប្រតិបត្តិ</a:t>
            </a:r>
            <a:r>
              <a:rPr lang="en-US" sz="1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(execute) </a:t>
            </a:r>
            <a:r>
              <a:rPr lang="en-US" sz="18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ប្រសិនបើតម្លៃបញ្ជាក់មិនស្មើនិងតម្លៃផ្គូផ្គងណាមួយ</a:t>
            </a:r>
            <a:endParaRPr lang="en-US" sz="1800" dirty="0">
              <a:solidFill>
                <a:srgbClr val="0070C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      </a:t>
            </a:r>
            <a:r>
              <a:rPr lang="en-US" sz="1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}</a:t>
            </a:r>
            <a:endParaRPr lang="en-US" sz="1800" dirty="0">
              <a:solidFill>
                <a:srgbClr val="0070C0"/>
              </a:solidFill>
            </a:endParaRP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EC9D5991-7328-266D-B7A0-1C4E7597D4AF}"/>
              </a:ext>
            </a:extLst>
          </p:cNvPr>
          <p:cNvCxnSpPr/>
          <p:nvPr/>
        </p:nvCxnSpPr>
        <p:spPr>
          <a:xfrm>
            <a:off x="0" y="1050468"/>
            <a:ext cx="12192000" cy="0"/>
          </a:xfrm>
          <a:prstGeom prst="line">
            <a:avLst/>
          </a:prstGeom>
          <a:ln w="57150">
            <a:solidFill>
              <a:srgbClr val="D49B0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FACAFB4A-56C2-003A-619A-4956E9A9BFCE}"/>
              </a:ext>
            </a:extLst>
          </p:cNvPr>
          <p:cNvCxnSpPr>
            <a:cxnSpLocks/>
          </p:cNvCxnSpPr>
          <p:nvPr/>
        </p:nvCxnSpPr>
        <p:spPr>
          <a:xfrm>
            <a:off x="0" y="979812"/>
            <a:ext cx="12192000" cy="0"/>
          </a:xfrm>
          <a:prstGeom prst="line">
            <a:avLst/>
          </a:prstGeom>
          <a:ln w="57150">
            <a:solidFill>
              <a:srgbClr val="1C27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7" name="Picture 46" descr="A blue circle with a yellow and white bird in it&#10;&#10;AI-generated content may be incorrect.">
            <a:extLst>
              <a:ext uri="{FF2B5EF4-FFF2-40B4-BE49-F238E27FC236}">
                <a16:creationId xmlns:a16="http://schemas.microsoft.com/office/drawing/2014/main" id="{ECF07541-8BD5-58D3-CE32-6C95DD9F537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5438" y="219712"/>
            <a:ext cx="606500" cy="606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85483157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A3AC115-38D3-BC41-0F3A-23169B6658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30A15D-D500-0380-360E-013C418391F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701800" y="119781"/>
            <a:ext cx="9144000" cy="789373"/>
          </a:xfrm>
        </p:spPr>
        <p:txBody>
          <a:bodyPr>
            <a:normAutofit/>
          </a:bodyPr>
          <a:lstStyle/>
          <a:p>
            <a:pPr algn="l"/>
            <a:r>
              <a:rPr lang="en-US" sz="3600" dirty="0" err="1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ប្រយោគរង្វិលជុំ</a:t>
            </a:r>
            <a:r>
              <a:rPr lang="en-US" sz="3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(Loop Statements)</a:t>
            </a:r>
            <a:endParaRPr lang="en-KH" sz="3600" dirty="0">
              <a:solidFill>
                <a:srgbClr val="00206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6A6D95A-711A-6AA4-BE85-A582C8F6BE7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24192" y="1219213"/>
            <a:ext cx="10954536" cy="4800588"/>
          </a:xfrm>
        </p:spPr>
        <p:txBody>
          <a:bodyPr>
            <a:noAutofit/>
          </a:bodyPr>
          <a:lstStyle/>
          <a:p>
            <a:pPr algn="l">
              <a:lnSpc>
                <a:spcPct val="160000"/>
              </a:lnSpc>
            </a:pPr>
            <a:r>
              <a:rPr lang="en-US" sz="18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	</a:t>
            </a:r>
            <a:r>
              <a:rPr lang="en-US" dirty="0" err="1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ប្រយោគរង្វិលជុំ</a:t>
            </a:r>
            <a:r>
              <a:rPr lang="en-US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(Loop Statements): </a:t>
            </a:r>
            <a:r>
              <a:rPr lang="en-US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គឺជារចនាសម្ព័ន្ធ</a:t>
            </a:r>
            <a:r>
              <a:rPr lang="en-US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Control Flow </a:t>
            </a:r>
            <a:r>
              <a:rPr lang="en-US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មួយដែលប្រតិបត្តិប្លុក</a:t>
            </a:r>
            <a:r>
              <a:rPr lang="en-US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code </a:t>
            </a:r>
            <a:r>
              <a:rPr lang="en-US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ម្តងហើយម្តងទៀតដរាបណាលក្ខណដែលបានបញ្ញាក់នៅតែពិត</a:t>
            </a:r>
            <a:r>
              <a:rPr lang="en-US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(</a:t>
            </a:r>
            <a:r>
              <a:rPr lang="en-US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true</a:t>
            </a:r>
            <a:r>
              <a:rPr lang="en-US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)។</a:t>
            </a:r>
            <a:r>
              <a:rPr lang="en-US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</a:p>
          <a:p>
            <a:pPr algn="l">
              <a:lnSpc>
                <a:spcPct val="160000"/>
              </a:lnSpc>
            </a:pPr>
            <a:r>
              <a:rPr lang="en-KH" dirty="0"/>
              <a:t>👉 </a:t>
            </a:r>
            <a:r>
              <a:rPr lang="en-US" dirty="0" err="1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ប្រយោគរង្វិលជុំនៅក្នុងភាសា</a:t>
            </a:r>
            <a:r>
              <a:rPr lang="en-US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Java </a:t>
            </a:r>
            <a:r>
              <a:rPr lang="en-US" dirty="0" err="1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មានដូចជា</a:t>
            </a:r>
            <a:r>
              <a:rPr lang="en-US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៖ </a:t>
            </a:r>
            <a:r>
              <a:rPr lang="en-US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for  loop, for-each loop, while loop,  do-while loop។ </a:t>
            </a:r>
            <a:br>
              <a:rPr lang="en-US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</a:br>
            <a:r>
              <a:rPr lang="en-KH" dirty="0"/>
              <a:t>👉 </a:t>
            </a:r>
            <a:r>
              <a:rPr lang="en-US" dirty="0" err="1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ពាក្យគន្លឹះនៃប្រយោគរង្វិលជុំ</a:t>
            </a:r>
            <a:r>
              <a:rPr lang="en-US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៖</a:t>
            </a:r>
          </a:p>
          <a:p>
            <a:pPr marL="742950" lvl="1" indent="-285750" algn="l">
              <a:lnSpc>
                <a:spcPct val="150000"/>
              </a:lnSpc>
              <a:buFont typeface="Wingdings" pitchFamily="2" charset="2"/>
              <a:buChar char="Ø"/>
            </a:pPr>
            <a:r>
              <a:rPr lang="en-US" sz="24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break: </a:t>
            </a:r>
            <a:r>
              <a:rPr lang="en-US" sz="24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គឺជាពាក្យគន្លឹះសម្រាប់ធ្វើការបញ្ចប់រង្វិលជុំ</a:t>
            </a:r>
            <a:r>
              <a:rPr lang="en-US" sz="24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(loop) </a:t>
            </a:r>
            <a:r>
              <a:rPr lang="en-US" sz="24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ទាំងស្រង</a:t>
            </a:r>
            <a:r>
              <a:rPr lang="en-US" sz="24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់។</a:t>
            </a:r>
          </a:p>
          <a:p>
            <a:pPr marL="742950" lvl="1" indent="-285750" algn="l">
              <a:lnSpc>
                <a:spcPct val="150000"/>
              </a:lnSpc>
              <a:buFont typeface="Wingdings" pitchFamily="2" charset="2"/>
              <a:buChar char="Ø"/>
            </a:pPr>
            <a:r>
              <a:rPr lang="en-US" sz="24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continue: </a:t>
            </a:r>
            <a:r>
              <a:rPr lang="en-US" sz="24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គឺជាពាក្យគន្លឹះសម្រាប់ធ្វើការរំលងទៅកាន់ជុំបន្ទាប</a:t>
            </a:r>
            <a:r>
              <a:rPr lang="en-US" sz="24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់។</a:t>
            </a:r>
          </a:p>
          <a:p>
            <a:pPr algn="l">
              <a:lnSpc>
                <a:spcPct val="160000"/>
              </a:lnSpc>
            </a:pPr>
            <a:endParaRPr lang="en-US" sz="1800" dirty="0">
              <a:solidFill>
                <a:srgbClr val="00206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522C6563-4CFD-E1B6-228B-31F55237B00E}"/>
              </a:ext>
            </a:extLst>
          </p:cNvPr>
          <p:cNvCxnSpPr/>
          <p:nvPr/>
        </p:nvCxnSpPr>
        <p:spPr>
          <a:xfrm>
            <a:off x="0" y="1050468"/>
            <a:ext cx="12192000" cy="0"/>
          </a:xfrm>
          <a:prstGeom prst="line">
            <a:avLst/>
          </a:prstGeom>
          <a:ln w="57150">
            <a:solidFill>
              <a:srgbClr val="D49B0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E10D0BA2-2050-3464-0797-C1CAF1C0C405}"/>
              </a:ext>
            </a:extLst>
          </p:cNvPr>
          <p:cNvCxnSpPr>
            <a:cxnSpLocks/>
          </p:cNvCxnSpPr>
          <p:nvPr/>
        </p:nvCxnSpPr>
        <p:spPr>
          <a:xfrm>
            <a:off x="0" y="979812"/>
            <a:ext cx="12192000" cy="0"/>
          </a:xfrm>
          <a:prstGeom prst="line">
            <a:avLst/>
          </a:prstGeom>
          <a:ln w="57150">
            <a:solidFill>
              <a:srgbClr val="1C27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7" name="Picture 46" descr="A blue circle with a yellow and white bird in it&#10;&#10;AI-generated content may be incorrect.">
            <a:extLst>
              <a:ext uri="{FF2B5EF4-FFF2-40B4-BE49-F238E27FC236}">
                <a16:creationId xmlns:a16="http://schemas.microsoft.com/office/drawing/2014/main" id="{CFC7601B-1037-B0C8-972F-B6444DC6FD1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5438" y="219712"/>
            <a:ext cx="606500" cy="606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26751904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E02887E-EACA-29C1-D05D-E7268B120D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7918ED-F7F4-676C-E5BF-800DC81D596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701800" y="119781"/>
            <a:ext cx="9144000" cy="789373"/>
          </a:xfrm>
        </p:spPr>
        <p:txBody>
          <a:bodyPr>
            <a:normAutofit/>
          </a:bodyPr>
          <a:lstStyle/>
          <a:p>
            <a:pPr algn="l"/>
            <a:r>
              <a:rPr lang="en-US" sz="3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for loop</a:t>
            </a:r>
            <a:endParaRPr lang="en-KH" sz="3600" dirty="0">
              <a:solidFill>
                <a:srgbClr val="00206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324FBB0-F1FC-0F44-9897-53044CD521B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24192" y="1219212"/>
            <a:ext cx="10954536" cy="5306275"/>
          </a:xfrm>
        </p:spPr>
        <p:txBody>
          <a:bodyPr>
            <a:noAutofit/>
          </a:bodyPr>
          <a:lstStyle/>
          <a:p>
            <a:pPr algn="l">
              <a:lnSpc>
                <a:spcPct val="160000"/>
              </a:lnSpc>
            </a:pPr>
            <a:r>
              <a:rPr lang="en-US" sz="18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	</a:t>
            </a:r>
            <a:r>
              <a:rPr lang="en-US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for loop: </a:t>
            </a:r>
            <a:r>
              <a:rPr lang="en-US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គឺជាប្រយោគ</a:t>
            </a:r>
            <a:r>
              <a:rPr lang="en-US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Control flow </a:t>
            </a:r>
            <a:r>
              <a:rPr lang="en-US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ដែលប្រើប្រាស់ដើម្បីប្រតិបត្តិ</a:t>
            </a:r>
            <a:r>
              <a:rPr lang="en-US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(execute) </a:t>
            </a:r>
            <a:r>
              <a:rPr lang="en-US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ប្លុក</a:t>
            </a:r>
            <a:r>
              <a:rPr lang="en-US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code </a:t>
            </a:r>
            <a:r>
              <a:rPr lang="en-US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ម្តងហើយម្តងទៀតទៅតាមចំនួនដងដែលបានកំណត់ទុកជាមុន</a:t>
            </a:r>
            <a:r>
              <a:rPr lang="en-US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។</a:t>
            </a:r>
            <a:br>
              <a:rPr lang="en-US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</a:br>
            <a:r>
              <a:rPr lang="en-KH" dirty="0"/>
              <a:t>👉 </a:t>
            </a:r>
            <a:r>
              <a:rPr lang="en-US" dirty="0" err="1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ទម្រង់នៃការប្រើប្រាស</a:t>
            </a:r>
            <a:r>
              <a:rPr lang="en-US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់(Syntax)៖</a:t>
            </a:r>
          </a:p>
          <a:p>
            <a:pPr algn="l">
              <a:lnSpc>
                <a:spcPct val="100000"/>
              </a:lnSpc>
            </a:pPr>
            <a:r>
              <a:rPr lang="en-US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    for (</a:t>
            </a:r>
            <a:r>
              <a:rPr lang="en-US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Initialization</a:t>
            </a:r>
            <a:r>
              <a:rPr lang="en-US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; </a:t>
            </a:r>
            <a:r>
              <a:rPr lang="en-US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Termination​ Condition</a:t>
            </a:r>
            <a:r>
              <a:rPr lang="en-US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; </a:t>
            </a:r>
            <a:r>
              <a:rPr lang="en-US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Update</a:t>
            </a:r>
            <a:r>
              <a:rPr lang="en-US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) {</a:t>
            </a:r>
          </a:p>
          <a:p>
            <a:pPr algn="l">
              <a:lnSpc>
                <a:spcPct val="100000"/>
              </a:lnSpc>
            </a:pPr>
            <a:r>
              <a:rPr lang="en-US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         // Code </a:t>
            </a:r>
            <a:r>
              <a:rPr lang="en-US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ដើម្បីប្រតិបត្តិ</a:t>
            </a:r>
            <a:r>
              <a:rPr lang="en-US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(execute) </a:t>
            </a:r>
            <a:r>
              <a:rPr lang="en-US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ការធ្វើឡើងវិញនីមួយ</a:t>
            </a:r>
            <a:r>
              <a:rPr lang="en-US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ៗ</a:t>
            </a:r>
          </a:p>
          <a:p>
            <a:pPr algn="l">
              <a:lnSpc>
                <a:spcPct val="100000"/>
              </a:lnSpc>
            </a:pPr>
            <a:r>
              <a:rPr lang="en-US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    }</a:t>
            </a:r>
          </a:p>
          <a:p>
            <a:pPr algn="l">
              <a:lnSpc>
                <a:spcPct val="100000"/>
              </a:lnSpc>
            </a:pPr>
            <a:endParaRPr lang="en-US" dirty="0">
              <a:solidFill>
                <a:srgbClr val="0070C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  <a:p>
            <a:pPr marL="800100" lvl="1" indent="-342900" algn="l">
              <a:lnSpc>
                <a:spcPct val="100000"/>
              </a:lnSpc>
              <a:buFont typeface="Wingdings" pitchFamily="2" charset="2"/>
              <a:buChar char="Ø"/>
            </a:pPr>
            <a:r>
              <a:rPr lang="en-US" sz="24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Initialization</a:t>
            </a:r>
            <a:r>
              <a:rPr lang="en-US" sz="24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sz="24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គឺជា</a:t>
            </a:r>
            <a:r>
              <a:rPr lang="en-US" sz="24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Variable </a:t>
            </a:r>
            <a:r>
              <a:rPr lang="en-US" sz="24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ដែលបានកំណត់តម្លៃចាប់ផ្តើម</a:t>
            </a:r>
            <a:r>
              <a:rPr lang="en-US" sz="24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។ </a:t>
            </a:r>
          </a:p>
          <a:p>
            <a:pPr marL="800100" lvl="1" indent="-342900" algn="l">
              <a:lnSpc>
                <a:spcPct val="100000"/>
              </a:lnSpc>
              <a:buFont typeface="Wingdings" pitchFamily="2" charset="2"/>
              <a:buChar char="Ø"/>
            </a:pPr>
            <a:r>
              <a:rPr lang="en-US" sz="2400" dirty="0" err="1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Temination</a:t>
            </a:r>
            <a:r>
              <a:rPr lang="en-US" sz="24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Condition</a:t>
            </a:r>
            <a:r>
              <a:rPr lang="en-US" sz="24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sz="24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គឺជាលក្ខណនៃការបញ្ជាប</a:t>
            </a:r>
            <a:r>
              <a:rPr lang="en-US" sz="24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់ loop។</a:t>
            </a:r>
          </a:p>
          <a:p>
            <a:pPr marL="800100" lvl="1" indent="-342900" algn="l">
              <a:lnSpc>
                <a:spcPct val="100000"/>
              </a:lnSpc>
              <a:buFont typeface="Wingdings" pitchFamily="2" charset="2"/>
              <a:buChar char="Ø"/>
            </a:pPr>
            <a:r>
              <a:rPr lang="en-US" sz="24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Update</a:t>
            </a:r>
            <a:r>
              <a:rPr lang="en-US" sz="24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sz="24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គឺជាប្រយោគដែលដំណើរការក្រោយពេលដែលការធ្វើឡើងវិញនីមួយ</a:t>
            </a:r>
            <a:r>
              <a:rPr lang="en-US" sz="24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ៗ        </a:t>
            </a:r>
            <a:r>
              <a:rPr lang="en-US" sz="24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រួចរាល</a:t>
            </a:r>
            <a:r>
              <a:rPr lang="en-US" sz="24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់។ </a:t>
            </a:r>
            <a:r>
              <a:rPr lang="en-US" sz="24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ជាធម្មតាវាត្រូវបានគេប្រើប្រាស់សម្រាប់បង្កើន</a:t>
            </a:r>
            <a:r>
              <a:rPr lang="en-US" sz="24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sz="24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ឫបន្ថយតម្លៃ</a:t>
            </a:r>
            <a:r>
              <a:rPr lang="en-US" sz="24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។</a:t>
            </a:r>
          </a:p>
          <a:p>
            <a:pPr algn="l">
              <a:lnSpc>
                <a:spcPct val="160000"/>
              </a:lnSpc>
            </a:pPr>
            <a:endParaRPr lang="en-US" sz="1800" dirty="0">
              <a:solidFill>
                <a:srgbClr val="00206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BD44D3E0-225F-5F6C-9F1D-D1882996682D}"/>
              </a:ext>
            </a:extLst>
          </p:cNvPr>
          <p:cNvCxnSpPr/>
          <p:nvPr/>
        </p:nvCxnSpPr>
        <p:spPr>
          <a:xfrm>
            <a:off x="0" y="1050468"/>
            <a:ext cx="12192000" cy="0"/>
          </a:xfrm>
          <a:prstGeom prst="line">
            <a:avLst/>
          </a:prstGeom>
          <a:ln w="57150">
            <a:solidFill>
              <a:srgbClr val="D49B0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A42BE5A4-33FE-17B9-7D30-4DDEA3993E6F}"/>
              </a:ext>
            </a:extLst>
          </p:cNvPr>
          <p:cNvCxnSpPr>
            <a:cxnSpLocks/>
          </p:cNvCxnSpPr>
          <p:nvPr/>
        </p:nvCxnSpPr>
        <p:spPr>
          <a:xfrm>
            <a:off x="0" y="979812"/>
            <a:ext cx="12192000" cy="0"/>
          </a:xfrm>
          <a:prstGeom prst="line">
            <a:avLst/>
          </a:prstGeom>
          <a:ln w="57150">
            <a:solidFill>
              <a:srgbClr val="1C27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7" name="Picture 46" descr="A blue circle with a yellow and white bird in it&#10;&#10;AI-generated content may be incorrect.">
            <a:extLst>
              <a:ext uri="{FF2B5EF4-FFF2-40B4-BE49-F238E27FC236}">
                <a16:creationId xmlns:a16="http://schemas.microsoft.com/office/drawing/2014/main" id="{BA0F232F-FD2E-5070-53C2-5B8C6AB873E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5438" y="219712"/>
            <a:ext cx="606500" cy="606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58315809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1B1D183-3D13-BA53-E03C-B87F4FCF0D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CDA8D2-047A-E767-74E9-8FDDC4E2671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701800" y="119781"/>
            <a:ext cx="9144000" cy="789373"/>
          </a:xfrm>
        </p:spPr>
        <p:txBody>
          <a:bodyPr>
            <a:normAutofit/>
          </a:bodyPr>
          <a:lstStyle/>
          <a:p>
            <a:pPr algn="l"/>
            <a:r>
              <a:rPr lang="en-US" sz="3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for loop(</a:t>
            </a:r>
            <a:r>
              <a:rPr lang="en-US" sz="3600" dirty="0" err="1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ត</a:t>
            </a:r>
            <a:r>
              <a:rPr lang="en-US" sz="3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)</a:t>
            </a:r>
            <a:endParaRPr lang="en-KH" sz="3600" dirty="0">
              <a:solidFill>
                <a:srgbClr val="00206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61D1290-4B38-6330-2B41-BAE05000847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24192" y="1219212"/>
            <a:ext cx="10954536" cy="5306275"/>
          </a:xfrm>
        </p:spPr>
        <p:txBody>
          <a:bodyPr>
            <a:noAutofit/>
          </a:bodyPr>
          <a:lstStyle/>
          <a:p>
            <a:pPr algn="l">
              <a:lnSpc>
                <a:spcPct val="160000"/>
              </a:lnSpc>
            </a:pPr>
            <a:r>
              <a:rPr lang="en-KH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ឧទាហរណ៍ទី១៖</a:t>
            </a:r>
          </a:p>
          <a:p>
            <a:pPr algn="l">
              <a:lnSpc>
                <a:spcPct val="100000"/>
              </a:lnSpc>
            </a:pPr>
            <a:r>
              <a:rPr lang="en-US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    for (</a:t>
            </a:r>
            <a:r>
              <a:rPr lang="en-US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int I = 1</a:t>
            </a:r>
            <a:r>
              <a:rPr lang="en-US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; </a:t>
            </a:r>
            <a:r>
              <a:rPr lang="en-US" dirty="0" err="1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i</a:t>
            </a:r>
            <a:r>
              <a:rPr lang="en-US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&lt;=3</a:t>
            </a:r>
            <a:r>
              <a:rPr lang="en-US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; </a:t>
            </a:r>
            <a:r>
              <a:rPr lang="en-US" dirty="0" err="1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i</a:t>
            </a:r>
            <a:r>
              <a:rPr lang="en-US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++</a:t>
            </a:r>
            <a:r>
              <a:rPr lang="en-US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) {</a:t>
            </a:r>
          </a:p>
          <a:p>
            <a:pPr algn="l">
              <a:lnSpc>
                <a:spcPct val="100000"/>
              </a:lnSpc>
            </a:pPr>
            <a:r>
              <a:rPr lang="en-US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        </a:t>
            </a:r>
            <a:r>
              <a:rPr lang="en-US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System.out.println</a:t>
            </a:r>
            <a:r>
              <a:rPr lang="en-US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(“</a:t>
            </a:r>
            <a:r>
              <a:rPr lang="en-US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ជុំទី</a:t>
            </a:r>
            <a:r>
              <a:rPr lang="en-US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” + </a:t>
            </a:r>
            <a:r>
              <a:rPr lang="en-US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i</a:t>
            </a:r>
            <a:r>
              <a:rPr lang="en-US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);</a:t>
            </a:r>
          </a:p>
          <a:p>
            <a:pPr algn="l">
              <a:lnSpc>
                <a:spcPct val="100000"/>
              </a:lnSpc>
            </a:pPr>
            <a:r>
              <a:rPr lang="en-US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    }</a:t>
            </a:r>
            <a:endParaRPr lang="en-KH" dirty="0">
              <a:solidFill>
                <a:srgbClr val="002060"/>
              </a:solidFill>
              <a:latin typeface="Khmer OS Content" panose="02000500000000020004" pitchFamily="2" charset="77"/>
              <a:cs typeface="Khmer OS Content" panose="02000500000000020004" pitchFamily="2" charset="77"/>
            </a:endParaRPr>
          </a:p>
          <a:p>
            <a:pPr algn="l">
              <a:lnSpc>
                <a:spcPct val="160000"/>
              </a:lnSpc>
            </a:pPr>
            <a:r>
              <a:rPr lang="en-KH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ឧទាហរណ៍ទី២៖</a:t>
            </a:r>
          </a:p>
          <a:p>
            <a:pPr algn="l">
              <a:lnSpc>
                <a:spcPct val="100000"/>
              </a:lnSpc>
            </a:pPr>
            <a:r>
              <a:rPr lang="en-KH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    int n = 0;</a:t>
            </a:r>
          </a:p>
          <a:p>
            <a:pPr algn="l">
              <a:lnSpc>
                <a:spcPct val="100000"/>
              </a:lnSpc>
            </a:pPr>
            <a:r>
              <a:rPr lang="en-US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    for (</a:t>
            </a:r>
            <a:r>
              <a:rPr lang="en-US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int I = 3</a:t>
            </a:r>
            <a:r>
              <a:rPr lang="en-US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; </a:t>
            </a:r>
            <a:r>
              <a:rPr lang="en-US" dirty="0" err="1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i</a:t>
            </a:r>
            <a:r>
              <a:rPr lang="en-US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&gt;=1</a:t>
            </a:r>
            <a:r>
              <a:rPr lang="en-US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; </a:t>
            </a:r>
            <a:r>
              <a:rPr lang="en-US" dirty="0" err="1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i</a:t>
            </a:r>
            <a:r>
              <a:rPr lang="en-US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--</a:t>
            </a:r>
            <a:r>
              <a:rPr lang="en-US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) {</a:t>
            </a:r>
            <a:br>
              <a:rPr lang="en-US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</a:br>
            <a:r>
              <a:rPr lang="en-US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        n++;</a:t>
            </a:r>
          </a:p>
          <a:p>
            <a:pPr algn="l">
              <a:lnSpc>
                <a:spcPct val="100000"/>
              </a:lnSpc>
            </a:pPr>
            <a:r>
              <a:rPr lang="en-US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        </a:t>
            </a:r>
            <a:r>
              <a:rPr lang="en-US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System.out.println</a:t>
            </a:r>
            <a:r>
              <a:rPr lang="en-US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(“</a:t>
            </a:r>
            <a:r>
              <a:rPr lang="en-US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ជុំទី</a:t>
            </a:r>
            <a:r>
              <a:rPr lang="en-US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” + n );</a:t>
            </a:r>
          </a:p>
          <a:p>
            <a:pPr algn="l">
              <a:lnSpc>
                <a:spcPct val="100000"/>
              </a:lnSpc>
            </a:pPr>
            <a:r>
              <a:rPr lang="en-US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    }</a:t>
            </a:r>
            <a:endParaRPr lang="en-US" sz="2400" dirty="0">
              <a:solidFill>
                <a:srgbClr val="0070C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4D444A4E-C5C2-056D-DC56-2293FDD7C13E}"/>
              </a:ext>
            </a:extLst>
          </p:cNvPr>
          <p:cNvCxnSpPr/>
          <p:nvPr/>
        </p:nvCxnSpPr>
        <p:spPr>
          <a:xfrm>
            <a:off x="0" y="1050468"/>
            <a:ext cx="12192000" cy="0"/>
          </a:xfrm>
          <a:prstGeom prst="line">
            <a:avLst/>
          </a:prstGeom>
          <a:ln w="57150">
            <a:solidFill>
              <a:srgbClr val="D49B0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56A7D91F-5792-E19C-0F6B-8DFE9701B27B}"/>
              </a:ext>
            </a:extLst>
          </p:cNvPr>
          <p:cNvCxnSpPr>
            <a:cxnSpLocks/>
          </p:cNvCxnSpPr>
          <p:nvPr/>
        </p:nvCxnSpPr>
        <p:spPr>
          <a:xfrm>
            <a:off x="0" y="979812"/>
            <a:ext cx="12192000" cy="0"/>
          </a:xfrm>
          <a:prstGeom prst="line">
            <a:avLst/>
          </a:prstGeom>
          <a:ln w="57150">
            <a:solidFill>
              <a:srgbClr val="1C27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7" name="Picture 46" descr="A blue circle with a yellow and white bird in it&#10;&#10;AI-generated content may be incorrect.">
            <a:extLst>
              <a:ext uri="{FF2B5EF4-FFF2-40B4-BE49-F238E27FC236}">
                <a16:creationId xmlns:a16="http://schemas.microsoft.com/office/drawing/2014/main" id="{0FC85008-EAFF-EF6D-4797-9E286BA0592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5438" y="219712"/>
            <a:ext cx="606500" cy="606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66496483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0589B37-8474-87E1-061A-F1BA6605B7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D66497-FDDF-B04B-BACA-2F5E183E68C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701800" y="119781"/>
            <a:ext cx="9144000" cy="789373"/>
          </a:xfrm>
        </p:spPr>
        <p:txBody>
          <a:bodyPr>
            <a:normAutofit/>
          </a:bodyPr>
          <a:lstStyle/>
          <a:p>
            <a:pPr algn="l"/>
            <a:r>
              <a:rPr lang="en-US" sz="3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for-each loop</a:t>
            </a:r>
            <a:endParaRPr lang="en-KH" sz="3600" dirty="0">
              <a:solidFill>
                <a:srgbClr val="00206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141CEE8E-9E00-D260-9E85-973C0D3516AB}"/>
              </a:ext>
            </a:extLst>
          </p:cNvPr>
          <p:cNvCxnSpPr/>
          <p:nvPr/>
        </p:nvCxnSpPr>
        <p:spPr>
          <a:xfrm>
            <a:off x="0" y="1050468"/>
            <a:ext cx="12192000" cy="0"/>
          </a:xfrm>
          <a:prstGeom prst="line">
            <a:avLst/>
          </a:prstGeom>
          <a:ln w="57150">
            <a:solidFill>
              <a:srgbClr val="D49B0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A4B1D4DB-8192-E865-D591-C0438B501157}"/>
              </a:ext>
            </a:extLst>
          </p:cNvPr>
          <p:cNvCxnSpPr>
            <a:cxnSpLocks/>
          </p:cNvCxnSpPr>
          <p:nvPr/>
        </p:nvCxnSpPr>
        <p:spPr>
          <a:xfrm>
            <a:off x="0" y="979812"/>
            <a:ext cx="12192000" cy="0"/>
          </a:xfrm>
          <a:prstGeom prst="line">
            <a:avLst/>
          </a:prstGeom>
          <a:ln w="57150">
            <a:solidFill>
              <a:srgbClr val="1C27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7" name="Picture 46" descr="A blue circle with a yellow and white bird in it&#10;&#10;AI-generated content may be incorrect.">
            <a:extLst>
              <a:ext uri="{FF2B5EF4-FFF2-40B4-BE49-F238E27FC236}">
                <a16:creationId xmlns:a16="http://schemas.microsoft.com/office/drawing/2014/main" id="{0700F2F2-840A-38D7-A702-B26BABF55D6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5438" y="219712"/>
            <a:ext cx="606500" cy="606500"/>
          </a:xfrm>
          <a:prstGeom prst="rect">
            <a:avLst/>
          </a:prstGeom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9E50E9FE-384C-0869-652E-2E2E928CC83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24192" y="1219212"/>
            <a:ext cx="10954536" cy="5306275"/>
          </a:xfrm>
        </p:spPr>
        <p:txBody>
          <a:bodyPr>
            <a:noAutofit/>
          </a:bodyPr>
          <a:lstStyle/>
          <a:p>
            <a:pPr algn="l">
              <a:lnSpc>
                <a:spcPct val="160000"/>
              </a:lnSpc>
            </a:pPr>
            <a:r>
              <a:rPr lang="en-US" sz="18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	</a:t>
            </a:r>
            <a:r>
              <a:rPr lang="en-US" sz="20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for-each loop: </a:t>
            </a:r>
            <a:r>
              <a:rPr lang="en-US" sz="20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គឺជាប្រយោគ</a:t>
            </a:r>
            <a:r>
              <a:rPr lang="en-US" sz="20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Control flow </a:t>
            </a:r>
            <a:r>
              <a:rPr lang="en-US" sz="20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ដែលប្រើប្រាស់ដើម្បីប្រតិបត្តិ</a:t>
            </a:r>
            <a:r>
              <a:rPr lang="en-US" sz="20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(execute) </a:t>
            </a:r>
            <a:r>
              <a:rPr lang="en-US" sz="20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ប្លុក</a:t>
            </a:r>
            <a:r>
              <a:rPr lang="en-US" sz="20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code </a:t>
            </a:r>
            <a:r>
              <a:rPr lang="en-US" sz="20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ម្តងហើយម្តងទៀតទៅតាមចំនួនធាតុនៃ</a:t>
            </a:r>
            <a:r>
              <a:rPr lang="en-US" sz="20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Arrays​ </a:t>
            </a:r>
            <a:r>
              <a:rPr lang="en-US" sz="20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និងត្រូវបានណែនាំឲ្យប្រើប្រាស់ចាប់ពី</a:t>
            </a:r>
            <a:r>
              <a:rPr lang="en-US" sz="20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Java 1.5 </a:t>
            </a:r>
            <a:r>
              <a:rPr lang="en-US" sz="20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មក</a:t>
            </a:r>
            <a:r>
              <a:rPr lang="en-US" sz="20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។</a:t>
            </a:r>
            <a:br>
              <a:rPr lang="en-US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</a:br>
            <a:r>
              <a:rPr lang="en-KH" dirty="0"/>
              <a:t>👉 </a:t>
            </a:r>
            <a:r>
              <a:rPr lang="en-US" sz="2000" dirty="0" err="1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ទម្រង់នៃការប្រើប្រាស</a:t>
            </a:r>
            <a:r>
              <a:rPr lang="en-US" sz="20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់(Syntax)៖</a:t>
            </a:r>
          </a:p>
          <a:p>
            <a:pPr algn="l">
              <a:lnSpc>
                <a:spcPct val="100000"/>
              </a:lnSpc>
            </a:pPr>
            <a:r>
              <a:rPr lang="en-US" sz="20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    for (</a:t>
            </a:r>
            <a:r>
              <a:rPr lang="en-US" sz="2000" dirty="0" err="1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ប្រភេទទិន្នន័យ</a:t>
            </a:r>
            <a:r>
              <a:rPr lang="en-US" sz="20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variable</a:t>
            </a:r>
            <a:r>
              <a:rPr lang="en-US" sz="20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; </a:t>
            </a:r>
            <a:r>
              <a:rPr lang="en-US" sz="20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arrays/collection</a:t>
            </a:r>
            <a:r>
              <a:rPr lang="en-US" sz="20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) {</a:t>
            </a:r>
          </a:p>
          <a:p>
            <a:pPr algn="l">
              <a:lnSpc>
                <a:spcPct val="100000"/>
              </a:lnSpc>
            </a:pPr>
            <a:r>
              <a:rPr lang="en-US" sz="20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         // Code </a:t>
            </a:r>
            <a:r>
              <a:rPr lang="en-US" sz="20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ដើម្បីប្រតិបត្តិ</a:t>
            </a:r>
            <a:r>
              <a:rPr lang="en-US" sz="20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(execute) </a:t>
            </a:r>
            <a:r>
              <a:rPr lang="en-US" sz="20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ការធ្វើឡើងវិញសម្រាប់ធាតុនីមួយ</a:t>
            </a:r>
            <a:r>
              <a:rPr lang="en-US" sz="20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ៗ</a:t>
            </a:r>
          </a:p>
          <a:p>
            <a:pPr algn="l">
              <a:lnSpc>
                <a:spcPct val="100000"/>
              </a:lnSpc>
            </a:pPr>
            <a:r>
              <a:rPr lang="en-US" sz="20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    }</a:t>
            </a:r>
          </a:p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    </a:t>
            </a:r>
            <a:r>
              <a:rPr lang="en-US" sz="2000" dirty="0" err="1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ឧទាហរណ</a:t>
            </a:r>
            <a:r>
              <a:rPr lang="en-US" sz="20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៍៖</a:t>
            </a:r>
          </a:p>
          <a:p>
            <a:pPr algn="l">
              <a:lnSpc>
                <a:spcPct val="100000"/>
              </a:lnSpc>
            </a:pPr>
            <a:r>
              <a:rPr lang="en-US" sz="20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	</a:t>
            </a:r>
            <a:r>
              <a:rPr lang="en-US" sz="20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String[] </a:t>
            </a:r>
            <a:r>
              <a:rPr lang="en-US" sz="2000" dirty="0" err="1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capitalLetters</a:t>
            </a:r>
            <a:r>
              <a:rPr lang="en-US" sz="20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= {“A”,”B”,”C”,”D”};</a:t>
            </a:r>
          </a:p>
          <a:p>
            <a:pPr algn="l">
              <a:lnSpc>
                <a:spcPct val="100000"/>
              </a:lnSpc>
            </a:pPr>
            <a:r>
              <a:rPr lang="en-US" sz="20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	</a:t>
            </a:r>
            <a:r>
              <a:rPr lang="en-US" sz="20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for(</a:t>
            </a:r>
            <a:r>
              <a:rPr lang="en-US" sz="20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String</a:t>
            </a:r>
            <a:r>
              <a:rPr lang="en-US" sz="20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sz="2000" dirty="0" err="1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capitalLetter</a:t>
            </a:r>
            <a:r>
              <a:rPr lang="en-US" sz="20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: </a:t>
            </a:r>
            <a:r>
              <a:rPr lang="en-US" sz="2000" dirty="0" err="1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capitalLetters</a:t>
            </a:r>
            <a:r>
              <a:rPr lang="en-US" sz="20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){</a:t>
            </a:r>
          </a:p>
          <a:p>
            <a:pPr algn="l">
              <a:lnSpc>
                <a:spcPct val="100000"/>
              </a:lnSpc>
            </a:pPr>
            <a:r>
              <a:rPr lang="en-US" sz="20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	    </a:t>
            </a:r>
            <a:r>
              <a:rPr lang="en-US" sz="20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System.out.println</a:t>
            </a:r>
            <a:r>
              <a:rPr lang="en-US" sz="20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(</a:t>
            </a:r>
            <a:r>
              <a:rPr lang="en-US" sz="2000" dirty="0" err="1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capitalLetter</a:t>
            </a:r>
            <a:r>
              <a:rPr lang="en-US" sz="20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);</a:t>
            </a:r>
          </a:p>
          <a:p>
            <a:pPr algn="l">
              <a:lnSpc>
                <a:spcPct val="100000"/>
              </a:lnSpc>
            </a:pPr>
            <a:r>
              <a:rPr lang="en-US" sz="20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	}</a:t>
            </a:r>
            <a:endParaRPr lang="en-US" sz="2000" dirty="0">
              <a:solidFill>
                <a:srgbClr val="00206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3483586226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A884F13-FC64-6529-5CE5-A9B0E6E979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C61723-A9CB-A3FF-85A9-0636A579A41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701800" y="119781"/>
            <a:ext cx="9144000" cy="789373"/>
          </a:xfrm>
        </p:spPr>
        <p:txBody>
          <a:bodyPr>
            <a:normAutofit/>
          </a:bodyPr>
          <a:lstStyle/>
          <a:p>
            <a:pPr algn="l"/>
            <a:r>
              <a:rPr lang="en-US" sz="3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while loop</a:t>
            </a:r>
            <a:endParaRPr lang="en-KH" sz="3600" dirty="0">
              <a:solidFill>
                <a:srgbClr val="00206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B5490DD6-2236-4F55-81F8-4CDB88987130}"/>
              </a:ext>
            </a:extLst>
          </p:cNvPr>
          <p:cNvCxnSpPr/>
          <p:nvPr/>
        </p:nvCxnSpPr>
        <p:spPr>
          <a:xfrm>
            <a:off x="0" y="1050468"/>
            <a:ext cx="12192000" cy="0"/>
          </a:xfrm>
          <a:prstGeom prst="line">
            <a:avLst/>
          </a:prstGeom>
          <a:ln w="57150">
            <a:solidFill>
              <a:srgbClr val="D49B0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5208C836-BC7F-09E4-8CF6-BD68EC7B87CE}"/>
              </a:ext>
            </a:extLst>
          </p:cNvPr>
          <p:cNvCxnSpPr>
            <a:cxnSpLocks/>
          </p:cNvCxnSpPr>
          <p:nvPr/>
        </p:nvCxnSpPr>
        <p:spPr>
          <a:xfrm>
            <a:off x="0" y="979812"/>
            <a:ext cx="12192000" cy="0"/>
          </a:xfrm>
          <a:prstGeom prst="line">
            <a:avLst/>
          </a:prstGeom>
          <a:ln w="57150">
            <a:solidFill>
              <a:srgbClr val="1C27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7" name="Picture 46" descr="A blue circle with a yellow and white bird in it&#10;&#10;AI-generated content may be incorrect.">
            <a:extLst>
              <a:ext uri="{FF2B5EF4-FFF2-40B4-BE49-F238E27FC236}">
                <a16:creationId xmlns:a16="http://schemas.microsoft.com/office/drawing/2014/main" id="{D2575535-57CB-314B-2440-9F4CEE26EC8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5438" y="219712"/>
            <a:ext cx="606500" cy="606500"/>
          </a:xfrm>
          <a:prstGeom prst="rect">
            <a:avLst/>
          </a:prstGeom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1334A7C8-D19D-B6E6-A1B8-FC782434A7F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24192" y="1219212"/>
            <a:ext cx="10954536" cy="5306275"/>
          </a:xfrm>
        </p:spPr>
        <p:txBody>
          <a:bodyPr>
            <a:noAutofit/>
          </a:bodyPr>
          <a:lstStyle/>
          <a:p>
            <a:pPr algn="l">
              <a:lnSpc>
                <a:spcPct val="160000"/>
              </a:lnSpc>
            </a:pPr>
            <a:r>
              <a:rPr lang="en-US" sz="18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	</a:t>
            </a:r>
            <a:r>
              <a:rPr lang="en-US" sz="20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while loop: </a:t>
            </a:r>
            <a:r>
              <a:rPr lang="en-US" sz="20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គឺជាប្រយោគ</a:t>
            </a:r>
            <a:r>
              <a:rPr lang="en-US" sz="20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Control flow </a:t>
            </a:r>
            <a:r>
              <a:rPr lang="en-US" sz="20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ដែលប្រើប្រាស់ដើម្បីប្រតិបត្តិ</a:t>
            </a:r>
            <a:r>
              <a:rPr lang="en-US" sz="20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(execute) </a:t>
            </a:r>
            <a:r>
              <a:rPr lang="en-US" sz="20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ប្លុក</a:t>
            </a:r>
            <a:r>
              <a:rPr lang="en-US" sz="20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code </a:t>
            </a:r>
            <a:r>
              <a:rPr lang="en-US" sz="20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ម្តងហើយម្តងទៀតដរាបណាលក្ខណ</a:t>
            </a:r>
            <a:r>
              <a:rPr lang="en-US" sz="20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Boolean </a:t>
            </a:r>
            <a:r>
              <a:rPr lang="en-US" sz="20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ដែលបានបញ្ជាក់នៅតែ</a:t>
            </a:r>
            <a:r>
              <a:rPr lang="en-US" sz="20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sz="20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true</a:t>
            </a:r>
            <a:r>
              <a:rPr lang="en-US" sz="20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។</a:t>
            </a:r>
            <a:br>
              <a:rPr lang="en-US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</a:br>
            <a:r>
              <a:rPr lang="en-KH" dirty="0"/>
              <a:t>👉 </a:t>
            </a:r>
            <a:r>
              <a:rPr lang="en-US" sz="2000" dirty="0" err="1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ទម្រង់នៃការប្រើប្រាស</a:t>
            </a:r>
            <a:r>
              <a:rPr lang="en-US" sz="20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់(Syntax)៖</a:t>
            </a:r>
          </a:p>
          <a:p>
            <a:pPr algn="l">
              <a:lnSpc>
                <a:spcPct val="100000"/>
              </a:lnSpc>
            </a:pPr>
            <a:r>
              <a:rPr lang="en-US" sz="20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    while (</a:t>
            </a:r>
            <a:r>
              <a:rPr lang="en-US" sz="2000" dirty="0" err="1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លក្ខណ</a:t>
            </a:r>
            <a:r>
              <a:rPr lang="en-US" sz="20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) {</a:t>
            </a:r>
          </a:p>
          <a:p>
            <a:pPr algn="l">
              <a:lnSpc>
                <a:spcPct val="100000"/>
              </a:lnSpc>
            </a:pPr>
            <a:r>
              <a:rPr lang="en-US" sz="20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         // Code </a:t>
            </a:r>
            <a:r>
              <a:rPr lang="en-US" sz="20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ដើម្បីប្រតិបត្តិ</a:t>
            </a:r>
            <a:r>
              <a:rPr lang="en-US" sz="20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(execute) </a:t>
            </a:r>
            <a:r>
              <a:rPr lang="en-US" sz="20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ការធ្វើឡើងវិញនៅពេលលក្ខណដែលបានបញ្ចាក់ស្មើ</a:t>
            </a:r>
            <a:r>
              <a:rPr lang="en-US" sz="20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sz="20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true</a:t>
            </a:r>
            <a:endParaRPr lang="en-US" sz="2000" dirty="0">
              <a:solidFill>
                <a:srgbClr val="0070C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  <a:p>
            <a:pPr algn="l">
              <a:lnSpc>
                <a:spcPct val="100000"/>
              </a:lnSpc>
            </a:pPr>
            <a:r>
              <a:rPr lang="en-US" sz="20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    }</a:t>
            </a:r>
          </a:p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    </a:t>
            </a:r>
            <a:r>
              <a:rPr lang="en-US" sz="2000" dirty="0" err="1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ឧទាហរណ</a:t>
            </a:r>
            <a:r>
              <a:rPr lang="en-US" sz="20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៍៖</a:t>
            </a:r>
          </a:p>
          <a:p>
            <a:pPr algn="l">
              <a:lnSpc>
                <a:spcPct val="100000"/>
              </a:lnSpc>
              <a:spcBef>
                <a:spcPts val="400"/>
              </a:spcBef>
            </a:pPr>
            <a:r>
              <a:rPr lang="en-US" sz="20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	</a:t>
            </a:r>
            <a:r>
              <a:rPr lang="en-US" sz="20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int </a:t>
            </a:r>
            <a:r>
              <a:rPr lang="en-US" sz="20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num</a:t>
            </a:r>
            <a:r>
              <a:rPr lang="en-US" sz="20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sz="20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=</a:t>
            </a:r>
            <a:r>
              <a:rPr lang="en-US" sz="20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0</a:t>
            </a:r>
            <a:r>
              <a:rPr lang="en-US" sz="20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;</a:t>
            </a:r>
          </a:p>
          <a:p>
            <a:pPr algn="l">
              <a:lnSpc>
                <a:spcPct val="100000"/>
              </a:lnSpc>
              <a:spcBef>
                <a:spcPts val="400"/>
              </a:spcBef>
            </a:pPr>
            <a:r>
              <a:rPr lang="en-US" sz="20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	</a:t>
            </a:r>
            <a:r>
              <a:rPr lang="en-US" sz="20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while( </a:t>
            </a:r>
            <a:r>
              <a:rPr lang="en-US" sz="20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num &lt;= 4 </a:t>
            </a:r>
            <a:r>
              <a:rPr lang="en-US" sz="20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){</a:t>
            </a:r>
          </a:p>
          <a:p>
            <a:pPr algn="l">
              <a:lnSpc>
                <a:spcPct val="100000"/>
              </a:lnSpc>
              <a:spcBef>
                <a:spcPts val="400"/>
              </a:spcBef>
            </a:pPr>
            <a:r>
              <a:rPr lang="en-US" sz="20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	    </a:t>
            </a:r>
            <a:r>
              <a:rPr lang="en-US" sz="20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System.out.println</a:t>
            </a:r>
            <a:r>
              <a:rPr lang="en-US" sz="20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( num );</a:t>
            </a:r>
          </a:p>
          <a:p>
            <a:pPr algn="l">
              <a:lnSpc>
                <a:spcPct val="100000"/>
              </a:lnSpc>
              <a:spcBef>
                <a:spcPts val="400"/>
              </a:spcBef>
            </a:pPr>
            <a:r>
              <a:rPr lang="en-US" sz="20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	    num++;</a:t>
            </a:r>
          </a:p>
          <a:p>
            <a:pPr algn="l">
              <a:lnSpc>
                <a:spcPct val="100000"/>
              </a:lnSpc>
              <a:spcBef>
                <a:spcPts val="400"/>
              </a:spcBef>
            </a:pPr>
            <a:r>
              <a:rPr lang="en-US" sz="20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	}</a:t>
            </a:r>
            <a:endParaRPr lang="en-US" sz="2000" dirty="0">
              <a:solidFill>
                <a:srgbClr val="00206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3120500104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F407F11-EE60-BBCD-6875-DA16DB776C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18E613-A35B-DEE8-6128-694735BDC2E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701800" y="119781"/>
            <a:ext cx="9144000" cy="789373"/>
          </a:xfrm>
        </p:spPr>
        <p:txBody>
          <a:bodyPr>
            <a:normAutofit/>
          </a:bodyPr>
          <a:lstStyle/>
          <a:p>
            <a:pPr algn="l"/>
            <a:r>
              <a:rPr lang="en-US" sz="3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do-while loop</a:t>
            </a:r>
            <a:endParaRPr lang="en-KH" sz="3600" dirty="0">
              <a:solidFill>
                <a:srgbClr val="00206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DA874F9B-A343-C7CA-2FB6-4F3FE4D323AD}"/>
              </a:ext>
            </a:extLst>
          </p:cNvPr>
          <p:cNvCxnSpPr/>
          <p:nvPr/>
        </p:nvCxnSpPr>
        <p:spPr>
          <a:xfrm>
            <a:off x="0" y="1050468"/>
            <a:ext cx="12192000" cy="0"/>
          </a:xfrm>
          <a:prstGeom prst="line">
            <a:avLst/>
          </a:prstGeom>
          <a:ln w="57150">
            <a:solidFill>
              <a:srgbClr val="D49B0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0EFDCAA6-0EB5-F27A-3ABA-BFCD7B9EE533}"/>
              </a:ext>
            </a:extLst>
          </p:cNvPr>
          <p:cNvCxnSpPr>
            <a:cxnSpLocks/>
          </p:cNvCxnSpPr>
          <p:nvPr/>
        </p:nvCxnSpPr>
        <p:spPr>
          <a:xfrm>
            <a:off x="0" y="979812"/>
            <a:ext cx="12192000" cy="0"/>
          </a:xfrm>
          <a:prstGeom prst="line">
            <a:avLst/>
          </a:prstGeom>
          <a:ln w="57150">
            <a:solidFill>
              <a:srgbClr val="1C27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7" name="Picture 46" descr="A blue circle with a yellow and white bird in it&#10;&#10;AI-generated content may be incorrect.">
            <a:extLst>
              <a:ext uri="{FF2B5EF4-FFF2-40B4-BE49-F238E27FC236}">
                <a16:creationId xmlns:a16="http://schemas.microsoft.com/office/drawing/2014/main" id="{7AD8F6A2-A773-AF89-CF53-D4EB4CAA31B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5438" y="219712"/>
            <a:ext cx="606500" cy="606500"/>
          </a:xfrm>
          <a:prstGeom prst="rect">
            <a:avLst/>
          </a:prstGeom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04885789-9522-B83C-93F5-30667095C69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24192" y="1219212"/>
            <a:ext cx="10954536" cy="5306275"/>
          </a:xfrm>
        </p:spPr>
        <p:txBody>
          <a:bodyPr>
            <a:noAutofit/>
          </a:bodyPr>
          <a:lstStyle/>
          <a:p>
            <a:pPr algn="l">
              <a:lnSpc>
                <a:spcPct val="150000"/>
              </a:lnSpc>
              <a:spcBef>
                <a:spcPts val="1500"/>
              </a:spcBef>
            </a:pPr>
            <a:r>
              <a:rPr lang="en-US" sz="18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	do-</a:t>
            </a:r>
            <a:r>
              <a:rPr lang="en-US" sz="20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while loop: </a:t>
            </a:r>
            <a:r>
              <a:rPr lang="en-US" sz="20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គឺជាប្រយោគ</a:t>
            </a:r>
            <a:r>
              <a:rPr lang="en-US" sz="20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Control flow </a:t>
            </a:r>
            <a:r>
              <a:rPr lang="en-US" sz="20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ដែលប្រើប្រាស់ដើម្បីប្រតិបត្តិ</a:t>
            </a:r>
            <a:r>
              <a:rPr lang="en-US" sz="20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(execute) </a:t>
            </a:r>
            <a:r>
              <a:rPr lang="en-US" sz="20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ប្លុក</a:t>
            </a:r>
            <a:r>
              <a:rPr lang="en-US" sz="20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code </a:t>
            </a:r>
            <a:r>
              <a:rPr lang="en-US" sz="20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យ៉ាងតិចម្តង</a:t>
            </a:r>
            <a:r>
              <a:rPr lang="en-US" sz="20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sz="20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និងបន្ទាប់មកវាបន្តការប្រតិបត្តិ</a:t>
            </a:r>
            <a:r>
              <a:rPr lang="en-US" sz="20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(execute) </a:t>
            </a:r>
            <a:r>
              <a:rPr lang="en-US" sz="20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ម្តងហើយម្តងទៀតដរាបណាលក្ខណ</a:t>
            </a:r>
            <a:r>
              <a:rPr lang="en-US" sz="20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Boolean </a:t>
            </a:r>
            <a:r>
              <a:rPr lang="en-US" sz="20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ដែលបានបញ្ជាក់នៅតែ</a:t>
            </a:r>
            <a:r>
              <a:rPr lang="en-US" sz="20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sz="20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true</a:t>
            </a:r>
            <a:r>
              <a:rPr lang="en-US" sz="20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។</a:t>
            </a:r>
            <a:br>
              <a:rPr lang="en-US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</a:br>
            <a:r>
              <a:rPr lang="en-KH" dirty="0"/>
              <a:t>👉 </a:t>
            </a:r>
            <a:r>
              <a:rPr lang="en-US" sz="2000" dirty="0" err="1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ទម្រង់នៃការប្រើប្រាស</a:t>
            </a:r>
            <a:r>
              <a:rPr lang="en-US" sz="20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់(Syntax)៖</a:t>
            </a:r>
          </a:p>
          <a:p>
            <a:pPr algn="l">
              <a:lnSpc>
                <a:spcPct val="100000"/>
              </a:lnSpc>
            </a:pPr>
            <a:r>
              <a:rPr lang="en-US" sz="20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    </a:t>
            </a:r>
            <a:r>
              <a:rPr lang="en-US" sz="1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do {</a:t>
            </a:r>
          </a:p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         // Code </a:t>
            </a:r>
            <a:r>
              <a:rPr lang="en-US" sz="18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ដើម្បីប្រតិបត្តិ</a:t>
            </a:r>
            <a:r>
              <a:rPr lang="en-US" sz="1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(execute) </a:t>
            </a:r>
            <a:r>
              <a:rPr lang="en-US" sz="18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ការធ្វើឡើងវិញនៅពេលលក្ខណដែលបានបញ្ចាក់ស្មើ</a:t>
            </a:r>
            <a:r>
              <a:rPr lang="en-US" sz="1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sz="18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true</a:t>
            </a:r>
            <a:endParaRPr lang="en-US" sz="1800" dirty="0">
              <a:solidFill>
                <a:srgbClr val="0070C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    }</a:t>
            </a:r>
            <a:r>
              <a:rPr lang="en-US" sz="18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sz="1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while (</a:t>
            </a:r>
            <a:r>
              <a:rPr lang="en-US" sz="1800" dirty="0" err="1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លក្ខណ</a:t>
            </a:r>
            <a:r>
              <a:rPr lang="en-US" sz="1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);</a:t>
            </a:r>
          </a:p>
          <a:p>
            <a:pPr algn="l">
              <a:lnSpc>
                <a:spcPct val="100000"/>
              </a:lnSpc>
            </a:pPr>
            <a:r>
              <a:rPr lang="en-US" sz="20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    </a:t>
            </a:r>
            <a:r>
              <a:rPr lang="en-US" sz="2000" dirty="0" err="1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ឧទាហរណ</a:t>
            </a:r>
            <a:r>
              <a:rPr lang="en-US" sz="20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៍៖</a:t>
            </a:r>
          </a:p>
          <a:p>
            <a:pPr algn="l">
              <a:lnSpc>
                <a:spcPct val="100000"/>
              </a:lnSpc>
              <a:spcBef>
                <a:spcPts val="400"/>
              </a:spcBef>
            </a:pPr>
            <a:r>
              <a:rPr lang="en-US" sz="20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	</a:t>
            </a:r>
            <a:r>
              <a:rPr lang="en-US" sz="18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int </a:t>
            </a:r>
            <a:r>
              <a:rPr lang="en-US" sz="1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num</a:t>
            </a:r>
            <a:r>
              <a:rPr lang="en-US" sz="18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sz="1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=</a:t>
            </a:r>
            <a:r>
              <a:rPr lang="en-US" sz="18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0</a:t>
            </a:r>
            <a:r>
              <a:rPr lang="en-US" sz="1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;</a:t>
            </a:r>
          </a:p>
          <a:p>
            <a:pPr algn="l">
              <a:lnSpc>
                <a:spcPct val="100000"/>
              </a:lnSpc>
              <a:spcBef>
                <a:spcPts val="400"/>
              </a:spcBef>
            </a:pPr>
            <a:r>
              <a:rPr lang="en-US" sz="1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	do {</a:t>
            </a:r>
          </a:p>
          <a:p>
            <a:pPr algn="l">
              <a:lnSpc>
                <a:spcPct val="100000"/>
              </a:lnSpc>
              <a:spcBef>
                <a:spcPts val="400"/>
              </a:spcBef>
            </a:pPr>
            <a:r>
              <a:rPr lang="en-US" sz="1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	    </a:t>
            </a:r>
            <a:r>
              <a:rPr lang="en-US" sz="18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System.out.println</a:t>
            </a:r>
            <a:r>
              <a:rPr lang="en-US" sz="1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( num );</a:t>
            </a:r>
          </a:p>
          <a:p>
            <a:pPr algn="l">
              <a:lnSpc>
                <a:spcPct val="100000"/>
              </a:lnSpc>
              <a:spcBef>
                <a:spcPts val="400"/>
              </a:spcBef>
            </a:pPr>
            <a:r>
              <a:rPr lang="en-US" sz="1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	    num++;</a:t>
            </a:r>
          </a:p>
          <a:p>
            <a:pPr algn="l">
              <a:lnSpc>
                <a:spcPct val="100000"/>
              </a:lnSpc>
              <a:spcBef>
                <a:spcPts val="400"/>
              </a:spcBef>
            </a:pPr>
            <a:r>
              <a:rPr lang="en-US" sz="1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	} while( </a:t>
            </a:r>
            <a:r>
              <a:rPr lang="en-US" sz="18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num &lt;= 4 </a:t>
            </a:r>
            <a:r>
              <a:rPr lang="en-US" sz="1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);</a:t>
            </a:r>
          </a:p>
        </p:txBody>
      </p:sp>
    </p:spTree>
    <p:extLst>
      <p:ext uri="{BB962C8B-B14F-4D97-AF65-F5344CB8AC3E}">
        <p14:creationId xmlns:p14="http://schemas.microsoft.com/office/powerpoint/2010/main" val="1728295525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96BEE96-D498-F934-3B06-2A6AC86C85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2A55AF-C5FD-4E3E-A0D0-4DAB2A767B3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701800" y="119781"/>
            <a:ext cx="9144000" cy="789373"/>
          </a:xfrm>
        </p:spPr>
        <p:txBody>
          <a:bodyPr>
            <a:normAutofit/>
          </a:bodyPr>
          <a:lstStyle/>
          <a:p>
            <a:pPr algn="l"/>
            <a:r>
              <a:rPr lang="en-US" sz="3600" dirty="0" err="1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ប្រយោគផ្លោះ</a:t>
            </a:r>
            <a:r>
              <a:rPr lang="en-US" sz="3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(Jump Statement)</a:t>
            </a:r>
            <a:endParaRPr lang="en-KH" sz="3600" dirty="0">
              <a:solidFill>
                <a:srgbClr val="00206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2C5CE460-F78D-AF09-F0F5-8466D2B25C32}"/>
              </a:ext>
            </a:extLst>
          </p:cNvPr>
          <p:cNvCxnSpPr/>
          <p:nvPr/>
        </p:nvCxnSpPr>
        <p:spPr>
          <a:xfrm>
            <a:off x="0" y="1050468"/>
            <a:ext cx="12192000" cy="0"/>
          </a:xfrm>
          <a:prstGeom prst="line">
            <a:avLst/>
          </a:prstGeom>
          <a:ln w="57150">
            <a:solidFill>
              <a:srgbClr val="D49B0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3BAC5608-E4A9-92E1-0FAC-36CF7087C30C}"/>
              </a:ext>
            </a:extLst>
          </p:cNvPr>
          <p:cNvCxnSpPr>
            <a:cxnSpLocks/>
          </p:cNvCxnSpPr>
          <p:nvPr/>
        </p:nvCxnSpPr>
        <p:spPr>
          <a:xfrm>
            <a:off x="0" y="979812"/>
            <a:ext cx="12192000" cy="0"/>
          </a:xfrm>
          <a:prstGeom prst="line">
            <a:avLst/>
          </a:prstGeom>
          <a:ln w="57150">
            <a:solidFill>
              <a:srgbClr val="1C27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7" name="Picture 46" descr="A blue circle with a yellow and white bird in it&#10;&#10;AI-generated content may be incorrect.">
            <a:extLst>
              <a:ext uri="{FF2B5EF4-FFF2-40B4-BE49-F238E27FC236}">
                <a16:creationId xmlns:a16="http://schemas.microsoft.com/office/drawing/2014/main" id="{07FD4DB3-93A9-D9AC-EB57-19D6796E8A9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5438" y="219712"/>
            <a:ext cx="606500" cy="606500"/>
          </a:xfrm>
          <a:prstGeom prst="rect">
            <a:avLst/>
          </a:prstGeom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E0C34949-ED45-38A2-58F5-BB5A9AF7921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24192" y="1219212"/>
            <a:ext cx="10954536" cy="5306275"/>
          </a:xfrm>
        </p:spPr>
        <p:txBody>
          <a:bodyPr>
            <a:noAutofit/>
          </a:bodyPr>
          <a:lstStyle/>
          <a:p>
            <a:pPr algn="l">
              <a:lnSpc>
                <a:spcPct val="150000"/>
              </a:lnSpc>
              <a:spcBef>
                <a:spcPts val="1500"/>
              </a:spcBef>
            </a:pPr>
            <a:r>
              <a:rPr lang="en-US" sz="18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​       </a:t>
            </a:r>
            <a:r>
              <a:rPr lang="en-US" sz="2000" dirty="0" err="1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ប្រយោគផ្លោះ</a:t>
            </a:r>
            <a:r>
              <a:rPr lang="en-US" sz="20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(Jump Statement) : </a:t>
            </a:r>
            <a:r>
              <a:rPr lang="en-US" sz="20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គឺជាប្រយោគ</a:t>
            </a:r>
            <a:r>
              <a:rPr lang="en-US" sz="20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Control flow </a:t>
            </a:r>
            <a:r>
              <a:rPr lang="en-US" sz="20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ដែលប្រើប្រាស់សម្រាប់កែប្រែលំហូរក្នុងការប្រតិបត្តិនៃប្លុក</a:t>
            </a:r>
            <a:r>
              <a:rPr lang="en-US" sz="20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code </a:t>
            </a:r>
            <a:r>
              <a:rPr lang="en-US" sz="20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ដោយធ្វើការផ្ទេរការគ្រប់គ្រងទៅកាន់ផ្នែកផ្សេងនៃកម្មវិធី</a:t>
            </a:r>
            <a:r>
              <a:rPr lang="en-US" sz="20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។ </a:t>
            </a:r>
            <a:r>
              <a:rPr lang="en-US" sz="20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វាអនុញ្ញាតប្រើប្រាស់សម្រាប់ចាកចេញពី</a:t>
            </a:r>
            <a:r>
              <a:rPr lang="en-US" sz="20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loop/method </a:t>
            </a:r>
            <a:r>
              <a:rPr lang="en-US" sz="20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ជាមុន</a:t>
            </a:r>
            <a:r>
              <a:rPr lang="en-US" sz="20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, </a:t>
            </a:r>
            <a:r>
              <a:rPr lang="en-US" sz="20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រំលងការធ្វើម្តងទៀតនៃ</a:t>
            </a:r>
            <a:r>
              <a:rPr lang="en-US" sz="20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loop, </a:t>
            </a:r>
            <a:r>
              <a:rPr lang="en-US" sz="20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ការផ្តល់តម្លៃត្រឡប់ទៅវិញ</a:t>
            </a:r>
            <a:r>
              <a:rPr lang="en-US" sz="20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sz="20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និងធ្វើឲ្យ</a:t>
            </a:r>
            <a:r>
              <a:rPr lang="en-US" sz="20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code </a:t>
            </a:r>
            <a:r>
              <a:rPr lang="en-US" sz="20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កាន់តែមានប្រសិទ្ធិភាព</a:t>
            </a:r>
            <a:r>
              <a:rPr lang="en-US" sz="20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។ </a:t>
            </a:r>
            <a:r>
              <a:rPr lang="en-US" sz="2000" dirty="0" err="1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ប្រយោគផ្លោះ</a:t>
            </a:r>
            <a:r>
              <a:rPr lang="en-US" sz="20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(Jump Statement)</a:t>
            </a:r>
            <a:r>
              <a:rPr lang="en-US" sz="18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sz="20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មានដូចជា</a:t>
            </a:r>
            <a:r>
              <a:rPr lang="en-US" sz="20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៖ </a:t>
            </a:r>
            <a:r>
              <a:rPr lang="en-US" sz="20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break</a:t>
            </a:r>
            <a:r>
              <a:rPr lang="en-US" sz="20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,</a:t>
            </a:r>
            <a:r>
              <a:rPr lang="en-US" sz="20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continue</a:t>
            </a:r>
            <a:r>
              <a:rPr lang="en-US" sz="20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,</a:t>
            </a:r>
            <a:r>
              <a:rPr lang="en-US" sz="20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return </a:t>
            </a:r>
            <a:r>
              <a:rPr lang="en-US" sz="20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។ </a:t>
            </a:r>
            <a:endParaRPr lang="en-US" sz="2000" dirty="0">
              <a:solidFill>
                <a:srgbClr val="00206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  <a:p>
            <a:pPr marL="800100" lvl="1" indent="-342900" algn="l">
              <a:lnSpc>
                <a:spcPct val="150000"/>
              </a:lnSpc>
              <a:spcBef>
                <a:spcPts val="1500"/>
              </a:spcBef>
              <a:buFont typeface="Wingdings" pitchFamily="2" charset="2"/>
              <a:buChar char="v"/>
            </a:pPr>
            <a:r>
              <a:rPr lang="en-US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break:</a:t>
            </a:r>
            <a:r>
              <a:rPr lang="en-US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គឺជាការចាក</a:t>
            </a:r>
            <a:r>
              <a:rPr lang="km-KH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ចេញពីរង្វិលជុំបច្ចុប្បន្នភ្លាមៗ</a:t>
            </a:r>
            <a:r>
              <a:rPr lang="en-US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(for, while, do-</a:t>
            </a:r>
            <a:r>
              <a:rPr lang="en-US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while,switch</a:t>
            </a:r>
            <a:r>
              <a:rPr lang="en-US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)។</a:t>
            </a:r>
          </a:p>
          <a:p>
            <a:pPr marL="800100" lvl="1" indent="-342900" algn="l">
              <a:lnSpc>
                <a:spcPct val="150000"/>
              </a:lnSpc>
              <a:spcBef>
                <a:spcPts val="1500"/>
              </a:spcBef>
              <a:buFont typeface="Wingdings" pitchFamily="2" charset="2"/>
              <a:buChar char="v"/>
            </a:pPr>
            <a:r>
              <a:rPr lang="en-US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continue: </a:t>
            </a:r>
            <a:r>
              <a:rPr lang="en-US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គឺជាការរំលងនូវការធ្វើឡើងវិញនៃ</a:t>
            </a:r>
            <a:r>
              <a:rPr lang="en-US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loop </a:t>
            </a:r>
            <a:r>
              <a:rPr lang="en-US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នាពេលបច្ចុប្បន្ន</a:t>
            </a:r>
            <a:r>
              <a:rPr lang="en-US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ហើយបន្តទៅការធ្វើឡើងវិញបន្ទាប</a:t>
            </a:r>
            <a:r>
              <a:rPr lang="en-US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់។</a:t>
            </a:r>
          </a:p>
          <a:p>
            <a:pPr marL="800100" lvl="1" indent="-342900" algn="l">
              <a:lnSpc>
                <a:spcPct val="150000"/>
              </a:lnSpc>
              <a:spcBef>
                <a:spcPts val="1500"/>
              </a:spcBef>
              <a:buFont typeface="Wingdings" pitchFamily="2" charset="2"/>
              <a:buChar char="v"/>
            </a:pPr>
            <a:r>
              <a:rPr lang="en-US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return: </a:t>
            </a:r>
            <a:r>
              <a:rPr lang="en-US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គឺជាការចាកចេញពី</a:t>
            </a:r>
            <a:r>
              <a:rPr lang="en-US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method </a:t>
            </a:r>
            <a:r>
              <a:rPr lang="en-US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ទាំងស្រុង</a:t>
            </a:r>
            <a:r>
              <a:rPr lang="en-US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ហើយផ្ទេរការគ្រប់គ្រងត្រឡប់ទៅ</a:t>
            </a:r>
            <a:r>
              <a:rPr lang="en-US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method </a:t>
            </a:r>
            <a:r>
              <a:rPr lang="en-US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ដែលបានហៅមក</a:t>
            </a:r>
            <a:r>
              <a:rPr lang="en-US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ឫផ្តល់តម្លៃត្រឡប់ទៅវិញ</a:t>
            </a:r>
            <a:r>
              <a:rPr lang="en-US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។</a:t>
            </a:r>
            <a:endParaRPr lang="km-KH" dirty="0">
              <a:solidFill>
                <a:srgbClr val="0070C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  <a:p>
            <a:pPr marL="800100" lvl="1" indent="-342900" algn="l">
              <a:lnSpc>
                <a:spcPct val="150000"/>
              </a:lnSpc>
              <a:spcBef>
                <a:spcPts val="1500"/>
              </a:spcBef>
              <a:buFont typeface="Wingdings" pitchFamily="2" charset="2"/>
              <a:buChar char="v"/>
            </a:pPr>
            <a:endParaRPr lang="en-US" dirty="0">
              <a:solidFill>
                <a:srgbClr val="0070C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  <a:p>
            <a:pPr algn="l">
              <a:lnSpc>
                <a:spcPct val="100000"/>
              </a:lnSpc>
              <a:spcBef>
                <a:spcPts val="400"/>
              </a:spcBef>
            </a:pPr>
            <a:r>
              <a:rPr lang="en-US" sz="20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	</a:t>
            </a:r>
            <a:endParaRPr lang="en-US" sz="1800" dirty="0">
              <a:solidFill>
                <a:srgbClr val="0070C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2293879003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93D9452-9F9A-DC4B-36BB-214450ADDA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5EB448-32EB-5468-5E07-480F5789139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701800" y="119781"/>
            <a:ext cx="9144000" cy="789373"/>
          </a:xfrm>
        </p:spPr>
        <p:txBody>
          <a:bodyPr>
            <a:normAutofit/>
          </a:bodyPr>
          <a:lstStyle/>
          <a:p>
            <a:pPr algn="l"/>
            <a:r>
              <a:rPr lang="en-US" sz="3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Exception Handling</a:t>
            </a:r>
            <a:endParaRPr lang="en-KH" sz="3600" dirty="0">
              <a:solidFill>
                <a:srgbClr val="00206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C0660190-D9DF-7E5F-6EDB-D13428B05469}"/>
              </a:ext>
            </a:extLst>
          </p:cNvPr>
          <p:cNvCxnSpPr/>
          <p:nvPr/>
        </p:nvCxnSpPr>
        <p:spPr>
          <a:xfrm>
            <a:off x="0" y="1050468"/>
            <a:ext cx="12192000" cy="0"/>
          </a:xfrm>
          <a:prstGeom prst="line">
            <a:avLst/>
          </a:prstGeom>
          <a:ln w="57150">
            <a:solidFill>
              <a:srgbClr val="D49B0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E07CE588-736C-5A5C-F8EE-10B6BD975E0A}"/>
              </a:ext>
            </a:extLst>
          </p:cNvPr>
          <p:cNvCxnSpPr>
            <a:cxnSpLocks/>
          </p:cNvCxnSpPr>
          <p:nvPr/>
        </p:nvCxnSpPr>
        <p:spPr>
          <a:xfrm>
            <a:off x="0" y="979812"/>
            <a:ext cx="12192000" cy="0"/>
          </a:xfrm>
          <a:prstGeom prst="line">
            <a:avLst/>
          </a:prstGeom>
          <a:ln w="57150">
            <a:solidFill>
              <a:srgbClr val="1C27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7" name="Picture 46" descr="A blue circle with a yellow and white bird in it&#10;&#10;AI-generated content may be incorrect.">
            <a:extLst>
              <a:ext uri="{FF2B5EF4-FFF2-40B4-BE49-F238E27FC236}">
                <a16:creationId xmlns:a16="http://schemas.microsoft.com/office/drawing/2014/main" id="{53BABEC3-2A4E-AFC2-4D04-6A15F080C17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5438" y="219712"/>
            <a:ext cx="606500" cy="606500"/>
          </a:xfrm>
          <a:prstGeom prst="rect">
            <a:avLst/>
          </a:prstGeom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682314D0-A1BD-8D85-1970-5F94021B248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24192" y="1219212"/>
            <a:ext cx="10954536" cy="5306275"/>
          </a:xfrm>
        </p:spPr>
        <p:txBody>
          <a:bodyPr>
            <a:noAutofit/>
          </a:bodyPr>
          <a:lstStyle/>
          <a:p>
            <a:pPr algn="l">
              <a:lnSpc>
                <a:spcPct val="150000"/>
              </a:lnSpc>
              <a:spcBef>
                <a:spcPts val="1500"/>
              </a:spcBef>
            </a:pPr>
            <a:r>
              <a:rPr lang="en-US" sz="18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​       </a:t>
            </a:r>
            <a:r>
              <a:rPr lang="en-US" sz="20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Exception Handling : </a:t>
            </a:r>
            <a:r>
              <a:rPr lang="en-US" sz="20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គឺជាប្រយោគ</a:t>
            </a:r>
            <a:r>
              <a:rPr lang="en-US" sz="20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Control flow </a:t>
            </a:r>
            <a:r>
              <a:rPr lang="en-US" sz="20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ដែលប្រើប្រាស់សម្រាប់កាន់កាប់ទៅលើ</a:t>
            </a:r>
            <a:r>
              <a:rPr lang="km-KH" sz="20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ព្រឹត្តិការណ៍ដែលមិនចង់បាន ឬមិននឹកស្មានដល់ដែលកើតឡើងកំឡុងពេលដំណើរការកម្មវិធី ហើយរំខានដល់លំហូរធម្មតារបស់វា</a:t>
            </a:r>
            <a:r>
              <a:rPr lang="en-US" sz="20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។ </a:t>
            </a:r>
            <a:r>
              <a:rPr lang="en-US" sz="20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Exception Handling</a:t>
            </a:r>
            <a:r>
              <a:rPr lang="en-US" sz="18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sz="20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មានដូចជា</a:t>
            </a:r>
            <a:r>
              <a:rPr lang="en-US" sz="20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៖ </a:t>
            </a:r>
            <a:r>
              <a:rPr lang="en-US" sz="20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try</a:t>
            </a:r>
            <a:r>
              <a:rPr lang="en-US" sz="20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,</a:t>
            </a:r>
            <a:r>
              <a:rPr lang="en-US" sz="20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catch</a:t>
            </a:r>
            <a:r>
              <a:rPr lang="en-US" sz="20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,</a:t>
            </a:r>
            <a:r>
              <a:rPr lang="en-US" sz="20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finally</a:t>
            </a:r>
            <a:r>
              <a:rPr lang="en-US" sz="20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, </a:t>
            </a:r>
            <a:r>
              <a:rPr lang="en-US" sz="20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throw</a:t>
            </a:r>
            <a:r>
              <a:rPr lang="en-US" sz="20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, </a:t>
            </a:r>
            <a:r>
              <a:rPr lang="en-US" sz="20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throws </a:t>
            </a:r>
            <a:r>
              <a:rPr lang="en-US" sz="20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។ </a:t>
            </a:r>
            <a:endParaRPr lang="en-US" sz="2000" dirty="0">
              <a:solidFill>
                <a:srgbClr val="00206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  <a:p>
            <a:pPr marL="800100" lvl="1" indent="-342900" algn="l">
              <a:lnSpc>
                <a:spcPct val="150000"/>
              </a:lnSpc>
              <a:spcBef>
                <a:spcPts val="1500"/>
              </a:spcBef>
              <a:buFont typeface="Wingdings" pitchFamily="2" charset="2"/>
              <a:buChar char="v"/>
            </a:pPr>
            <a:r>
              <a:rPr lang="en-US" sz="18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try :</a:t>
            </a:r>
            <a:r>
              <a:rPr lang="en-US" sz="1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sz="18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គឺជា</a:t>
            </a:r>
            <a:r>
              <a:rPr lang="km-KH" sz="1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ប្លុក</a:t>
            </a:r>
            <a:r>
              <a:rPr lang="en-US" sz="1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code </a:t>
            </a:r>
            <a:r>
              <a:rPr lang="km-KH" sz="1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ដែលត្រូវបានសាកល្បងសម្រាប់ការលើកលែងក្នុងអំឡុងពេលប្រតិបត្តិ។ ប្រសិនបើករណីលើកលែងកើតឡើង</a:t>
            </a:r>
            <a:r>
              <a:rPr lang="en-US" sz="1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 code </a:t>
            </a:r>
            <a:r>
              <a:rPr lang="km-KH" sz="1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ដែលនៅសល់ក្នុងប្លុកសាកល្បងត្រូវបានរំលង</a:t>
            </a:r>
            <a:r>
              <a:rPr lang="en-US" sz="1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។</a:t>
            </a:r>
          </a:p>
          <a:p>
            <a:pPr marL="800100" lvl="1" indent="-342900" algn="l">
              <a:lnSpc>
                <a:spcPct val="150000"/>
              </a:lnSpc>
              <a:spcBef>
                <a:spcPts val="1500"/>
              </a:spcBef>
              <a:buFont typeface="Wingdings" pitchFamily="2" charset="2"/>
              <a:buChar char="v"/>
            </a:pPr>
            <a:r>
              <a:rPr lang="en-US" sz="18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catch : </a:t>
            </a:r>
            <a:r>
              <a:rPr lang="en-US" sz="18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គឺជាប្លុក</a:t>
            </a:r>
            <a:r>
              <a:rPr lang="en-US" sz="1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code </a:t>
            </a:r>
            <a:r>
              <a:rPr lang="km-KH" sz="1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ដើម្បីដោះស្រាយប្រសិនបើមានករណីលើកលែងកើតឡើង</a:t>
            </a:r>
            <a:r>
              <a:rPr lang="en-US" sz="1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។</a:t>
            </a:r>
          </a:p>
          <a:p>
            <a:pPr marL="800100" lvl="1" indent="-342900" algn="l">
              <a:lnSpc>
                <a:spcPct val="150000"/>
              </a:lnSpc>
              <a:spcBef>
                <a:spcPts val="1500"/>
              </a:spcBef>
              <a:buFont typeface="Wingdings" pitchFamily="2" charset="2"/>
              <a:buChar char="v"/>
            </a:pPr>
            <a:r>
              <a:rPr lang="en-US" sz="18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finally : </a:t>
            </a:r>
            <a:r>
              <a:rPr lang="en-US" sz="18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គឺជាប្លុក</a:t>
            </a:r>
            <a:r>
              <a:rPr lang="en-US" sz="1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code </a:t>
            </a:r>
            <a:r>
              <a:rPr lang="km-KH" sz="1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តែងតែត្រូវបានប្រតិបត្តិបន្ទាប់</a:t>
            </a:r>
            <a:r>
              <a:rPr lang="en-US" sz="18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ពីការប្រតិបត្តិនៃប្លុក</a:t>
            </a:r>
            <a:r>
              <a:rPr lang="en-US" sz="1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code </a:t>
            </a:r>
            <a:r>
              <a:rPr lang="en-US" sz="18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របស</a:t>
            </a:r>
            <a:r>
              <a:rPr lang="en-US" sz="1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់ </a:t>
            </a:r>
            <a:r>
              <a:rPr lang="en-US" sz="18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try</a:t>
            </a:r>
            <a:r>
              <a:rPr lang="en-US" sz="1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sz="18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និង</a:t>
            </a:r>
            <a:r>
              <a:rPr lang="en-US" sz="1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sz="18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catch</a:t>
            </a:r>
            <a:r>
              <a:rPr lang="en-US" sz="1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។</a:t>
            </a:r>
          </a:p>
          <a:p>
            <a:pPr marL="800100" lvl="1" indent="-342900" algn="l">
              <a:lnSpc>
                <a:spcPct val="150000"/>
              </a:lnSpc>
              <a:spcBef>
                <a:spcPts val="1500"/>
              </a:spcBef>
              <a:buFont typeface="Wingdings" pitchFamily="2" charset="2"/>
              <a:buChar char="v"/>
            </a:pPr>
            <a:r>
              <a:rPr lang="en-US" sz="18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throw​: </a:t>
            </a:r>
            <a:r>
              <a:rPr lang="en-US" sz="18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គឺជាប្លុក</a:t>
            </a:r>
            <a:r>
              <a:rPr lang="en-US" sz="1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code </a:t>
            </a:r>
            <a:r>
              <a:rPr lang="km-KH" sz="1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ប្រើដើម្បីបោះ</a:t>
            </a:r>
            <a:r>
              <a:rPr lang="en-US" sz="18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ការកើតឡើងនូវ</a:t>
            </a:r>
            <a:r>
              <a:rPr lang="km-KH" sz="1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ករណីលើកលែងមួយយ៉ាងច្បាស់លាស់ពីក្នុង</a:t>
            </a:r>
            <a:r>
              <a:rPr lang="en-US" sz="1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  </a:t>
            </a:r>
            <a:r>
              <a:rPr lang="en-US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code។</a:t>
            </a:r>
          </a:p>
          <a:p>
            <a:pPr marL="800100" lvl="1" indent="-342900" algn="l">
              <a:lnSpc>
                <a:spcPct val="150000"/>
              </a:lnSpc>
              <a:spcBef>
                <a:spcPts val="1500"/>
              </a:spcBef>
              <a:buFont typeface="Wingdings" pitchFamily="2" charset="2"/>
              <a:buChar char="v"/>
            </a:pPr>
            <a:r>
              <a:rPr lang="en-US" sz="18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throws : </a:t>
            </a:r>
            <a:r>
              <a:rPr lang="en-US" sz="18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គឺជាប្លុក</a:t>
            </a:r>
            <a:r>
              <a:rPr lang="en-US" sz="1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code </a:t>
            </a:r>
            <a:r>
              <a:rPr lang="en-US" sz="18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ប្រើក្នុងការបញ្ជាក់លើ</a:t>
            </a:r>
            <a:r>
              <a:rPr lang="en-US" sz="1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method </a:t>
            </a:r>
            <a:r>
              <a:rPr lang="en-US" sz="18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ដើម្បីប្រកាសថា</a:t>
            </a:r>
            <a:r>
              <a:rPr lang="en-US" sz="1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method </a:t>
            </a:r>
            <a:r>
              <a:rPr lang="en-US" sz="18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អាចបណ្តាលឲ្យករណីលើកលែងជាក់លាក់មួយ</a:t>
            </a:r>
            <a:r>
              <a:rPr lang="en-US" sz="1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sz="18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ឫច្រើនកើតឡើងក្នុងពេលវាធ្វើប្រតិបត្តិការ</a:t>
            </a:r>
            <a:r>
              <a:rPr lang="en-US" sz="1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។</a:t>
            </a:r>
            <a:endParaRPr lang="km-KH" sz="1800" dirty="0">
              <a:solidFill>
                <a:srgbClr val="0070C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  <a:p>
            <a:pPr marL="800100" lvl="1" indent="-342900" algn="l">
              <a:lnSpc>
                <a:spcPct val="150000"/>
              </a:lnSpc>
              <a:spcBef>
                <a:spcPts val="1500"/>
              </a:spcBef>
              <a:buFont typeface="Wingdings" pitchFamily="2" charset="2"/>
              <a:buChar char="v"/>
            </a:pPr>
            <a:endParaRPr lang="en-US" dirty="0">
              <a:solidFill>
                <a:srgbClr val="0070C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  <a:p>
            <a:pPr algn="l">
              <a:lnSpc>
                <a:spcPct val="100000"/>
              </a:lnSpc>
              <a:spcBef>
                <a:spcPts val="400"/>
              </a:spcBef>
            </a:pPr>
            <a:r>
              <a:rPr lang="en-US" sz="20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	</a:t>
            </a:r>
            <a:endParaRPr lang="en-US" sz="1800" dirty="0">
              <a:solidFill>
                <a:srgbClr val="0070C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1722326992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3FD39B0-55A8-EF29-D0E7-12C81B2BC1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FB7C63-13F4-0968-3E42-E219D77CB15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701800" y="119781"/>
            <a:ext cx="9144000" cy="789373"/>
          </a:xfrm>
        </p:spPr>
        <p:txBody>
          <a:bodyPr>
            <a:normAutofit/>
          </a:bodyPr>
          <a:lstStyle/>
          <a:p>
            <a:pPr algn="l"/>
            <a:r>
              <a:rPr lang="en-US" sz="3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static</a:t>
            </a:r>
            <a:endParaRPr lang="en-KH" sz="3600" dirty="0">
              <a:solidFill>
                <a:srgbClr val="00206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93A601CB-85BF-18EB-C690-DE4B6D0292D7}"/>
              </a:ext>
            </a:extLst>
          </p:cNvPr>
          <p:cNvCxnSpPr/>
          <p:nvPr/>
        </p:nvCxnSpPr>
        <p:spPr>
          <a:xfrm>
            <a:off x="0" y="1050468"/>
            <a:ext cx="12192000" cy="0"/>
          </a:xfrm>
          <a:prstGeom prst="line">
            <a:avLst/>
          </a:prstGeom>
          <a:ln w="57150">
            <a:solidFill>
              <a:srgbClr val="D49B0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427FCE87-CC11-8CDF-4493-A31295726239}"/>
              </a:ext>
            </a:extLst>
          </p:cNvPr>
          <p:cNvCxnSpPr>
            <a:cxnSpLocks/>
          </p:cNvCxnSpPr>
          <p:nvPr/>
        </p:nvCxnSpPr>
        <p:spPr>
          <a:xfrm>
            <a:off x="0" y="979812"/>
            <a:ext cx="12192000" cy="0"/>
          </a:xfrm>
          <a:prstGeom prst="line">
            <a:avLst/>
          </a:prstGeom>
          <a:ln w="57150">
            <a:solidFill>
              <a:srgbClr val="1C27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7" name="Picture 46" descr="A blue circle with a yellow and white bird in it&#10;&#10;AI-generated content may be incorrect.">
            <a:extLst>
              <a:ext uri="{FF2B5EF4-FFF2-40B4-BE49-F238E27FC236}">
                <a16:creationId xmlns:a16="http://schemas.microsoft.com/office/drawing/2014/main" id="{AE6DF9C8-F40B-639D-ACCF-B99AE41DADD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5438" y="219712"/>
            <a:ext cx="606500" cy="606500"/>
          </a:xfrm>
          <a:prstGeom prst="rect">
            <a:avLst/>
          </a:prstGeom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08FCF2BE-DF88-72E5-135E-297DF666BB9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24192" y="1219212"/>
            <a:ext cx="10954536" cy="5306275"/>
          </a:xfrm>
        </p:spPr>
        <p:txBody>
          <a:bodyPr>
            <a:noAutofit/>
          </a:bodyPr>
          <a:lstStyle/>
          <a:p>
            <a:pPr algn="l">
              <a:lnSpc>
                <a:spcPct val="150000"/>
              </a:lnSpc>
              <a:spcBef>
                <a:spcPts val="1500"/>
              </a:spcBef>
            </a:pPr>
            <a:r>
              <a:rPr lang="en-US" sz="18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​    </a:t>
            </a:r>
            <a:r>
              <a:rPr lang="en-US" sz="20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static : </a:t>
            </a:r>
            <a:r>
              <a:rPr lang="en-US" sz="20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គឺជា</a:t>
            </a:r>
            <a:r>
              <a:rPr lang="en-US" sz="20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 Control flow </a:t>
            </a:r>
            <a:r>
              <a:rPr lang="en-US" sz="20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ដែលប្រើប្រាស់ក្នុងការកំណត់លំដាប់លំដោយនៃជំហាននីមួយ</a:t>
            </a:r>
            <a:r>
              <a:rPr lang="en-US" sz="20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ៗ​</a:t>
            </a:r>
            <a:r>
              <a:rPr lang="en-US" sz="20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សម្រាប់ការផ្ទុកទិន្នន័យតែម្តងគត</a:t>
            </a:r>
            <a:r>
              <a:rPr lang="en-US" sz="20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់ </a:t>
            </a:r>
            <a:r>
              <a:rPr lang="en-US" sz="20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និងការចាប់ផ្តើមនៃ</a:t>
            </a:r>
            <a:r>
              <a:rPr lang="en-US" sz="20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class </a:t>
            </a:r>
            <a:r>
              <a:rPr lang="en-US" sz="20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មួយដែលកើតឡើងនៅពេល</a:t>
            </a:r>
            <a:r>
              <a:rPr lang="en-US" sz="20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JVM </a:t>
            </a:r>
            <a:r>
              <a:rPr lang="en-US" sz="20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ត្រូវការប្រើប្រាស់វាដំបូង</a:t>
            </a:r>
            <a:r>
              <a:rPr lang="en-US" sz="20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។</a:t>
            </a:r>
          </a:p>
          <a:p>
            <a:pPr algn="l">
              <a:lnSpc>
                <a:spcPct val="150000"/>
              </a:lnSpc>
              <a:spcBef>
                <a:spcPts val="1500"/>
              </a:spcBef>
            </a:pPr>
            <a:r>
              <a:rPr lang="en-US" sz="20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   </a:t>
            </a:r>
            <a:r>
              <a:rPr lang="en-US" sz="2000" dirty="0" err="1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ជំហាននៃ</a:t>
            </a:r>
            <a:r>
              <a:rPr lang="en-US" sz="20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static Control Flow:</a:t>
            </a:r>
            <a:endParaRPr lang="km-KH" sz="2000" dirty="0">
              <a:solidFill>
                <a:srgbClr val="00206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  <a:p>
            <a:pPr marL="800100" lvl="1" indent="-342900" algn="l">
              <a:lnSpc>
                <a:spcPct val="150000"/>
              </a:lnSpc>
              <a:spcBef>
                <a:spcPts val="1500"/>
              </a:spcBef>
              <a:buFont typeface="Wingdings" pitchFamily="2" charset="2"/>
              <a:buChar char="Ø"/>
            </a:pPr>
            <a:r>
              <a:rPr lang="en-US" dirty="0" err="1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ការកំណត់អត្តសញ្ញាណ</a:t>
            </a:r>
            <a:r>
              <a:rPr lang="en-US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: JVM </a:t>
            </a:r>
            <a:r>
              <a:rPr lang="en-US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ធ្វើការស្កេន</a:t>
            </a:r>
            <a:r>
              <a:rPr lang="en-US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class </a:t>
            </a:r>
            <a:r>
              <a:rPr lang="en-US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ពីលើចុះក្រោម</a:t>
            </a:r>
            <a:r>
              <a:rPr lang="en-US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ហើយធ្វើការកំណត់នូវអត្តសញ្ញាណរាល</a:t>
            </a:r>
            <a:r>
              <a:rPr lang="en-US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់ static variables, static blocks </a:t>
            </a:r>
            <a:r>
              <a:rPr lang="en-US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និង</a:t>
            </a:r>
            <a:r>
              <a:rPr lang="en-US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static methods។</a:t>
            </a:r>
          </a:p>
          <a:p>
            <a:pPr marL="800100" lvl="1" indent="-342900" algn="l">
              <a:lnSpc>
                <a:spcPct val="150000"/>
              </a:lnSpc>
              <a:spcBef>
                <a:spcPts val="1500"/>
              </a:spcBef>
              <a:buFont typeface="Wingdings" pitchFamily="2" charset="2"/>
              <a:buChar char="Ø"/>
            </a:pPr>
            <a:r>
              <a:rPr lang="en-US" dirty="0" err="1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ការចាប់ផ្តើម</a:t>
            </a:r>
            <a:r>
              <a:rPr lang="en-US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:</a:t>
            </a:r>
          </a:p>
          <a:p>
            <a:pPr marL="1257300" lvl="2" indent="-342900" algn="l">
              <a:lnSpc>
                <a:spcPct val="100000"/>
              </a:lnSpc>
              <a:spcBef>
                <a:spcPts val="1500"/>
              </a:spcBef>
              <a:buFont typeface="+mj-lt"/>
              <a:buAutoNum type="arabicPeriod"/>
            </a:pPr>
            <a:r>
              <a:rPr lang="en-US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Static variables </a:t>
            </a:r>
            <a:r>
              <a:rPr lang="en-US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ត្រូវបានចាត់តាំងតម្លៃចាប់ផ្តើម</a:t>
            </a:r>
            <a:r>
              <a:rPr lang="en-US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។</a:t>
            </a:r>
          </a:p>
          <a:p>
            <a:pPr marL="1257300" lvl="2" indent="-342900" algn="l">
              <a:lnSpc>
                <a:spcPct val="100000"/>
              </a:lnSpc>
              <a:spcBef>
                <a:spcPts val="1500"/>
              </a:spcBef>
              <a:buFont typeface="+mj-lt"/>
              <a:buAutoNum type="arabicPeriod"/>
            </a:pPr>
            <a:r>
              <a:rPr lang="en-US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ប្លុក</a:t>
            </a:r>
            <a:r>
              <a:rPr lang="en-US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Static </a:t>
            </a:r>
            <a:r>
              <a:rPr lang="en-US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បានប្រតិបត្តិទៅតាមលំដាប់ដែលបានលិចឡើងពីប្រភព</a:t>
            </a:r>
            <a:r>
              <a:rPr lang="en-US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code។</a:t>
            </a:r>
          </a:p>
          <a:p>
            <a:pPr marL="742950" lvl="1" indent="-285750" algn="l">
              <a:lnSpc>
                <a:spcPct val="150000"/>
              </a:lnSpc>
              <a:spcBef>
                <a:spcPts val="1500"/>
              </a:spcBef>
              <a:buFont typeface="Wingdings" pitchFamily="2" charset="2"/>
              <a:buChar char="Ø"/>
            </a:pPr>
            <a:r>
              <a:rPr lang="en-US" dirty="0" err="1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ការប្រតិបត្តិ</a:t>
            </a:r>
            <a:r>
              <a:rPr lang="en-US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:​ </a:t>
            </a:r>
            <a:r>
              <a:rPr lang="en-US" sz="18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ចាប់ផ្តើមប្រតិបត្តិ</a:t>
            </a:r>
            <a:r>
              <a:rPr lang="en-US" sz="1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method public static void main(String[] </a:t>
            </a:r>
            <a:r>
              <a:rPr lang="en-US" sz="18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args</a:t>
            </a:r>
            <a:r>
              <a:rPr lang="en-US" sz="1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) </a:t>
            </a:r>
            <a:r>
              <a:rPr lang="en-US" sz="18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ដែលជាចំណុចចូលកម្មវិធី</a:t>
            </a:r>
            <a:r>
              <a:rPr lang="en-US" sz="1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។</a:t>
            </a:r>
            <a:endParaRPr lang="en-US" sz="1800" dirty="0">
              <a:solidFill>
                <a:srgbClr val="00206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2065087295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0D83A6A-539A-ADDB-D8E0-9D0E2FD5A3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E54139-28EB-EBFC-7407-F9177D28910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701800" y="119781"/>
            <a:ext cx="9144000" cy="789373"/>
          </a:xfrm>
        </p:spPr>
        <p:txBody>
          <a:bodyPr>
            <a:normAutofit/>
          </a:bodyPr>
          <a:lstStyle/>
          <a:p>
            <a:pPr algn="l"/>
            <a:r>
              <a:rPr lang="en-US" sz="3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Instance</a:t>
            </a:r>
            <a:endParaRPr lang="en-KH" sz="3600" dirty="0">
              <a:solidFill>
                <a:srgbClr val="00206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B59A6992-F556-F5B6-31B8-7C0B59BFA0C1}"/>
              </a:ext>
            </a:extLst>
          </p:cNvPr>
          <p:cNvCxnSpPr/>
          <p:nvPr/>
        </p:nvCxnSpPr>
        <p:spPr>
          <a:xfrm>
            <a:off x="0" y="1050468"/>
            <a:ext cx="12192000" cy="0"/>
          </a:xfrm>
          <a:prstGeom prst="line">
            <a:avLst/>
          </a:prstGeom>
          <a:ln w="57150">
            <a:solidFill>
              <a:srgbClr val="D49B0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C5698FBD-3CB5-D1FD-7203-611EFDA65D1E}"/>
              </a:ext>
            </a:extLst>
          </p:cNvPr>
          <p:cNvCxnSpPr>
            <a:cxnSpLocks/>
          </p:cNvCxnSpPr>
          <p:nvPr/>
        </p:nvCxnSpPr>
        <p:spPr>
          <a:xfrm>
            <a:off x="0" y="979812"/>
            <a:ext cx="12192000" cy="0"/>
          </a:xfrm>
          <a:prstGeom prst="line">
            <a:avLst/>
          </a:prstGeom>
          <a:ln w="57150">
            <a:solidFill>
              <a:srgbClr val="1C27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7" name="Picture 46" descr="A blue circle with a yellow and white bird in it&#10;&#10;AI-generated content may be incorrect.">
            <a:extLst>
              <a:ext uri="{FF2B5EF4-FFF2-40B4-BE49-F238E27FC236}">
                <a16:creationId xmlns:a16="http://schemas.microsoft.com/office/drawing/2014/main" id="{7A81B597-8102-C362-5D51-B2168AE349A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5438" y="219712"/>
            <a:ext cx="606500" cy="606500"/>
          </a:xfrm>
          <a:prstGeom prst="rect">
            <a:avLst/>
          </a:prstGeom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89C3E948-4D3B-CF13-506C-6C86FEAFC05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24192" y="1219212"/>
            <a:ext cx="10954536" cy="5306275"/>
          </a:xfrm>
        </p:spPr>
        <p:txBody>
          <a:bodyPr>
            <a:noAutofit/>
          </a:bodyPr>
          <a:lstStyle/>
          <a:p>
            <a:pPr algn="l">
              <a:lnSpc>
                <a:spcPct val="150000"/>
              </a:lnSpc>
              <a:spcBef>
                <a:spcPts val="1500"/>
              </a:spcBef>
            </a:pPr>
            <a:r>
              <a:rPr lang="en-US" sz="18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​     </a:t>
            </a:r>
            <a:r>
              <a:rPr lang="en-US" sz="20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Instance : </a:t>
            </a:r>
            <a:r>
              <a:rPr lang="en-US" sz="20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គឺជាជំហាននៃដំណើរការក្នុងការចាប់ផ្តើមរបស</a:t>
            </a:r>
            <a:r>
              <a:rPr lang="en-US" sz="20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់ object​ </a:t>
            </a:r>
            <a:r>
              <a:rPr lang="en-US" sz="20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មួយក្នុងកម្មវីធី</a:t>
            </a:r>
            <a:r>
              <a:rPr lang="en-US" sz="20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sz="20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នៅពេលដែលវាត្រូវបានបង្កើតឡើង</a:t>
            </a:r>
            <a:r>
              <a:rPr lang="en-US" sz="20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។</a:t>
            </a:r>
          </a:p>
          <a:p>
            <a:pPr algn="l">
              <a:lnSpc>
                <a:spcPct val="100000"/>
              </a:lnSpc>
              <a:spcBef>
                <a:spcPts val="1500"/>
              </a:spcBef>
            </a:pPr>
            <a:r>
              <a:rPr lang="en-US" sz="20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    </a:t>
            </a:r>
            <a:r>
              <a:rPr lang="en-US" sz="2000" dirty="0" err="1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លំដាប់លំដោយពេលដែលបង្កើត</a:t>
            </a:r>
            <a:r>
              <a:rPr lang="en-US" sz="20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object:</a:t>
            </a:r>
          </a:p>
          <a:p>
            <a:pPr marL="800100" lvl="1" indent="-342900" algn="l">
              <a:lnSpc>
                <a:spcPct val="150000"/>
              </a:lnSpc>
              <a:spcBef>
                <a:spcPts val="1500"/>
              </a:spcBef>
              <a:buFont typeface="+mj-lt"/>
              <a:buAutoNum type="arabicPeriod"/>
            </a:pPr>
            <a:r>
              <a:rPr lang="en-US" sz="1800" dirty="0" err="1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ការដំណើរការ</a:t>
            </a:r>
            <a:r>
              <a:rPr lang="en-US" sz="18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Static control flow </a:t>
            </a:r>
            <a:r>
              <a:rPr lang="en-US" sz="1800" dirty="0" err="1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មុនគេបង្អស</a:t>
            </a:r>
            <a:r>
              <a:rPr lang="en-US" sz="18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់</a:t>
            </a:r>
            <a:r>
              <a:rPr lang="en-US" sz="1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: JVM </a:t>
            </a:r>
            <a:r>
              <a:rPr lang="en-US" sz="18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ប្រតិបត្តិដំបូងគេបំផុតនូវ</a:t>
            </a:r>
            <a:r>
              <a:rPr lang="en-US" sz="1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Static control flow (static blocks, static variables) </a:t>
            </a:r>
            <a:r>
              <a:rPr lang="en-US" sz="18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សម្រាប</a:t>
            </a:r>
            <a:r>
              <a:rPr lang="en-US" sz="1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់ class​។ </a:t>
            </a:r>
            <a:r>
              <a:rPr lang="en-US" sz="18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ប៉ុន្តែវាប្រតិ</a:t>
            </a:r>
            <a:r>
              <a:rPr lang="en-US" sz="1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​</a:t>
            </a:r>
            <a:r>
              <a:rPr lang="en-US" sz="18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បត្តិតែម្តងប៉ុណ្ណោះ</a:t>
            </a:r>
            <a:r>
              <a:rPr lang="en-US" sz="1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។</a:t>
            </a:r>
          </a:p>
          <a:p>
            <a:pPr marL="800100" lvl="1" indent="-342900" algn="l">
              <a:lnSpc>
                <a:spcPct val="150000"/>
              </a:lnSpc>
              <a:spcBef>
                <a:spcPts val="1500"/>
              </a:spcBef>
              <a:buFont typeface="+mj-lt"/>
              <a:buAutoNum type="arabicPeriod"/>
            </a:pPr>
            <a:r>
              <a:rPr lang="en-US" sz="1800" dirty="0" err="1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ការកំណត់អត្តសញ្ញាណ</a:t>
            </a:r>
            <a:r>
              <a:rPr lang="en-US" sz="18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Instance Member</a:t>
            </a:r>
            <a:r>
              <a:rPr lang="en-US" sz="1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: JVM </a:t>
            </a:r>
            <a:r>
              <a:rPr lang="en-US" sz="18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ស្កេន</a:t>
            </a:r>
            <a:r>
              <a:rPr lang="en-US" sz="1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class </a:t>
            </a:r>
            <a:r>
              <a:rPr lang="en-US" sz="18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ពីលើចុះក្រោមដើម្បីកំណត់អត្តសញ្ញណនូវរាល</a:t>
            </a:r>
            <a:r>
              <a:rPr lang="en-US" sz="1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់ instance variables, instance initializer blocks </a:t>
            </a:r>
            <a:r>
              <a:rPr lang="en-US" sz="18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និង</a:t>
            </a:r>
            <a:r>
              <a:rPr lang="en-US" sz="1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sz="18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constuctors</a:t>
            </a:r>
            <a:r>
              <a:rPr lang="en-US" sz="1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។ </a:t>
            </a:r>
          </a:p>
          <a:p>
            <a:pPr marL="800100" lvl="1" indent="-342900" algn="l">
              <a:lnSpc>
                <a:spcPct val="150000"/>
              </a:lnSpc>
              <a:spcBef>
                <a:spcPts val="1500"/>
              </a:spcBef>
              <a:buFont typeface="+mj-lt"/>
              <a:buAutoNum type="arabicPeriod"/>
            </a:pPr>
            <a:r>
              <a:rPr lang="en-US" sz="1800" dirty="0" err="1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ប្លុកនៃ</a:t>
            </a:r>
            <a:r>
              <a:rPr lang="en-US" sz="18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Instance Variable </a:t>
            </a:r>
            <a:r>
              <a:rPr lang="en-US" sz="1800" dirty="0" err="1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និងការចាត់តាំងតម្លៃនៃ</a:t>
            </a:r>
            <a:r>
              <a:rPr lang="en-US" sz="18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Instance variable</a:t>
            </a:r>
            <a:r>
              <a:rPr lang="en-US" sz="1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: </a:t>
            </a:r>
            <a:r>
              <a:rPr lang="en-US" sz="18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ជាការប្រតិបត្តិពីលើចុះក្រោមនូវការចាត់តាំងតម្លៃ</a:t>
            </a:r>
            <a:r>
              <a:rPr lang="en-US" sz="1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​</a:t>
            </a:r>
            <a:r>
              <a:rPr lang="en-US" sz="18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ទៅឲ្យ</a:t>
            </a:r>
            <a:r>
              <a:rPr lang="en-US" sz="1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variable </a:t>
            </a:r>
            <a:r>
              <a:rPr lang="en-US" sz="18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ដែលបាន</a:t>
            </a:r>
            <a:r>
              <a:rPr lang="en-US" sz="1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Instance​ </a:t>
            </a:r>
            <a:r>
              <a:rPr lang="en-US" sz="18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រួច</a:t>
            </a:r>
            <a:r>
              <a:rPr lang="en-US" sz="1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​ </a:t>
            </a:r>
            <a:r>
              <a:rPr lang="en-US" sz="18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និងប្លុកកម្មវិធីចាប់ផ្តើម</a:t>
            </a:r>
            <a:r>
              <a:rPr lang="en-US" sz="1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Instance។</a:t>
            </a:r>
          </a:p>
          <a:p>
            <a:pPr marL="800100" lvl="1" indent="-342900" algn="l">
              <a:lnSpc>
                <a:spcPct val="150000"/>
              </a:lnSpc>
              <a:spcBef>
                <a:spcPts val="1500"/>
              </a:spcBef>
              <a:buFont typeface="+mj-lt"/>
              <a:buAutoNum type="arabicPeriod"/>
            </a:pPr>
            <a:r>
              <a:rPr lang="en-US" sz="1800" dirty="0" err="1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ការប្រតិបត្តិ</a:t>
            </a:r>
            <a:r>
              <a:rPr lang="en-US" sz="18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Constructor</a:t>
            </a:r>
            <a:r>
              <a:rPr lang="en-US" sz="1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: </a:t>
            </a:r>
            <a:r>
              <a:rPr lang="en-US" sz="18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ជាការប្រតិបត្តិចុងក្រោយបំផុតនូវ</a:t>
            </a:r>
            <a:r>
              <a:rPr lang="en-US" sz="1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Constructor </a:t>
            </a:r>
            <a:r>
              <a:rPr lang="en-US" sz="18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សម្រាប</a:t>
            </a:r>
            <a:r>
              <a:rPr lang="en-US" sz="1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់ object </a:t>
            </a:r>
            <a:r>
              <a:rPr lang="en-US" sz="18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ជាក់លាក់ដែលនឹងត្រូវបានបង្កើត</a:t>
            </a:r>
            <a:r>
              <a:rPr lang="en-US" sz="1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។</a:t>
            </a:r>
          </a:p>
        </p:txBody>
      </p:sp>
    </p:spTree>
    <p:extLst>
      <p:ext uri="{BB962C8B-B14F-4D97-AF65-F5344CB8AC3E}">
        <p14:creationId xmlns:p14="http://schemas.microsoft.com/office/powerpoint/2010/main" val="1220872530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773D5F2-0FC7-2AE7-5D2B-89C136AF0E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13FFBF-3562-896C-8F30-B482D11AACA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701800" y="119781"/>
            <a:ext cx="9144000" cy="789373"/>
          </a:xfrm>
        </p:spPr>
        <p:txBody>
          <a:bodyPr>
            <a:normAutofit/>
          </a:bodyPr>
          <a:lstStyle/>
          <a:p>
            <a:pPr algn="l"/>
            <a:r>
              <a:rPr lang="en-US" sz="3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Methods </a:t>
            </a:r>
            <a:r>
              <a:rPr lang="en-US" sz="3600" dirty="0" err="1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និងParameters</a:t>
            </a:r>
            <a:endParaRPr lang="en-KH" sz="3600" dirty="0">
              <a:solidFill>
                <a:srgbClr val="00206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4950AC72-125B-BDCF-3866-5CCD6EDD77BE}"/>
              </a:ext>
            </a:extLst>
          </p:cNvPr>
          <p:cNvCxnSpPr/>
          <p:nvPr/>
        </p:nvCxnSpPr>
        <p:spPr>
          <a:xfrm>
            <a:off x="0" y="1050468"/>
            <a:ext cx="12192000" cy="0"/>
          </a:xfrm>
          <a:prstGeom prst="line">
            <a:avLst/>
          </a:prstGeom>
          <a:ln w="57150">
            <a:solidFill>
              <a:srgbClr val="D49B0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67F4470E-C2C7-2086-84C0-775259A27041}"/>
              </a:ext>
            </a:extLst>
          </p:cNvPr>
          <p:cNvCxnSpPr>
            <a:cxnSpLocks/>
          </p:cNvCxnSpPr>
          <p:nvPr/>
        </p:nvCxnSpPr>
        <p:spPr>
          <a:xfrm>
            <a:off x="0" y="979812"/>
            <a:ext cx="12192000" cy="0"/>
          </a:xfrm>
          <a:prstGeom prst="line">
            <a:avLst/>
          </a:prstGeom>
          <a:ln w="57150">
            <a:solidFill>
              <a:srgbClr val="1C27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7" name="Picture 46" descr="A blue circle with a yellow and white bird in it&#10;&#10;AI-generated content may be incorrect.">
            <a:extLst>
              <a:ext uri="{FF2B5EF4-FFF2-40B4-BE49-F238E27FC236}">
                <a16:creationId xmlns:a16="http://schemas.microsoft.com/office/drawing/2014/main" id="{B7C41771-2614-1A15-D34A-DBD283168F7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5438" y="219712"/>
            <a:ext cx="606500" cy="606500"/>
          </a:xfrm>
          <a:prstGeom prst="rect">
            <a:avLst/>
          </a:prstGeom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371E7C86-87BB-E04B-ACF2-29A9CB612FF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24192" y="1507311"/>
            <a:ext cx="10954536" cy="3528152"/>
          </a:xfrm>
        </p:spPr>
        <p:txBody>
          <a:bodyPr>
            <a:noAutofit/>
          </a:bodyPr>
          <a:lstStyle/>
          <a:p>
            <a:pPr algn="l">
              <a:lnSpc>
                <a:spcPct val="150000"/>
              </a:lnSpc>
              <a:spcBef>
                <a:spcPts val="1500"/>
              </a:spcBef>
            </a:pPr>
            <a:r>
              <a:rPr lang="en-US" sz="18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​       </a:t>
            </a:r>
            <a:r>
              <a:rPr lang="en-US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Methods : </a:t>
            </a:r>
            <a:r>
              <a:rPr lang="en-US" sz="26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គឺជាប្លុក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code </a:t>
            </a:r>
            <a:r>
              <a:rPr lang="en-US" sz="26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ដែលអនុវត្តនូវការងារជាក់លាក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់ </a:t>
            </a:r>
            <a:r>
              <a:rPr lang="en-US" sz="26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ហើយវាដំណើរការតែពេលដែលត្រូវបានហៅមកប្រើតែប៉ុណ្ណោះ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។</a:t>
            </a:r>
          </a:p>
          <a:p>
            <a:pPr algn="l">
              <a:lnSpc>
                <a:spcPct val="150000"/>
              </a:lnSpc>
              <a:spcBef>
                <a:spcPts val="1500"/>
              </a:spcBef>
            </a:pPr>
            <a:r>
              <a:rPr lang="en-US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    Parameters : </a:t>
            </a:r>
            <a:r>
              <a:rPr lang="en-US" sz="26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គឺជា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Variable </a:t>
            </a:r>
            <a:r>
              <a:rPr lang="en-US" sz="26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មួយដែលបានកំណត់ឡើងនៅក្នុង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method </a:t>
            </a:r>
            <a:r>
              <a:rPr lang="en-US" sz="26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មួយ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 </a:t>
            </a:r>
            <a:r>
              <a:rPr lang="en-US" sz="26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ឫ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constructor </a:t>
            </a:r>
            <a:r>
              <a:rPr lang="en-US" sz="26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មួយ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sz="26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ដែលមានតួនាទីដាក់ទិន្នន័យសម្រាប់បញ្ជូនទៅឲ្យ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method </a:t>
            </a:r>
            <a:r>
              <a:rPr lang="en-US" sz="26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ឫ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constructor </a:t>
            </a:r>
            <a:r>
              <a:rPr lang="en-US" sz="26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នៅពេលដែល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method </a:t>
            </a:r>
            <a:r>
              <a:rPr lang="en-US" sz="26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ឫ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constructor </a:t>
            </a:r>
            <a:r>
              <a:rPr lang="en-US" sz="26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ត្រូវបានហៅ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។</a:t>
            </a:r>
          </a:p>
        </p:txBody>
      </p:sp>
    </p:spTree>
    <p:extLst>
      <p:ext uri="{BB962C8B-B14F-4D97-AF65-F5344CB8AC3E}">
        <p14:creationId xmlns:p14="http://schemas.microsoft.com/office/powerpoint/2010/main" val="3688718346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F2A4274-3CA8-67B9-E0D9-C1A4ABC4E1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41E16E-A524-A9BB-51BE-00D5D4BEE19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701800" y="119781"/>
            <a:ext cx="9144000" cy="789373"/>
          </a:xfrm>
        </p:spPr>
        <p:txBody>
          <a:bodyPr>
            <a:normAutofit/>
          </a:bodyPr>
          <a:lstStyle/>
          <a:p>
            <a:pPr algn="l"/>
            <a:r>
              <a:rPr lang="en-US" sz="3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Methods </a:t>
            </a:r>
            <a:r>
              <a:rPr lang="en-US" sz="3600" dirty="0" err="1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និងParameters</a:t>
            </a:r>
            <a:endParaRPr lang="en-KH" sz="3600" dirty="0">
              <a:solidFill>
                <a:srgbClr val="00206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945708D5-6384-2ABD-E349-AA28DA165368}"/>
              </a:ext>
            </a:extLst>
          </p:cNvPr>
          <p:cNvCxnSpPr/>
          <p:nvPr/>
        </p:nvCxnSpPr>
        <p:spPr>
          <a:xfrm>
            <a:off x="0" y="1050468"/>
            <a:ext cx="12192000" cy="0"/>
          </a:xfrm>
          <a:prstGeom prst="line">
            <a:avLst/>
          </a:prstGeom>
          <a:ln w="57150">
            <a:solidFill>
              <a:srgbClr val="D49B0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7C0D7CF6-B0F2-1885-9FC8-6EEFEDAA75D5}"/>
              </a:ext>
            </a:extLst>
          </p:cNvPr>
          <p:cNvCxnSpPr>
            <a:cxnSpLocks/>
          </p:cNvCxnSpPr>
          <p:nvPr/>
        </p:nvCxnSpPr>
        <p:spPr>
          <a:xfrm>
            <a:off x="0" y="979812"/>
            <a:ext cx="12192000" cy="0"/>
          </a:xfrm>
          <a:prstGeom prst="line">
            <a:avLst/>
          </a:prstGeom>
          <a:ln w="57150">
            <a:solidFill>
              <a:srgbClr val="1C27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7" name="Picture 46" descr="A blue circle with a yellow and white bird in it&#10;&#10;AI-generated content may be incorrect.">
            <a:extLst>
              <a:ext uri="{FF2B5EF4-FFF2-40B4-BE49-F238E27FC236}">
                <a16:creationId xmlns:a16="http://schemas.microsoft.com/office/drawing/2014/main" id="{161F6EEC-C875-0393-745F-C3D465561C8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5438" y="219712"/>
            <a:ext cx="606500" cy="606500"/>
          </a:xfrm>
          <a:prstGeom prst="rect">
            <a:avLst/>
          </a:prstGeom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8E877883-D334-D714-6BBD-6E1AEDB5369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24192" y="1156582"/>
            <a:ext cx="10954536" cy="5181579"/>
          </a:xfrm>
        </p:spPr>
        <p:txBody>
          <a:bodyPr>
            <a:noAutofit/>
          </a:bodyPr>
          <a:lstStyle/>
          <a:p>
            <a:pPr algn="l">
              <a:lnSpc>
                <a:spcPct val="150000"/>
              </a:lnSpc>
              <a:spcBef>
                <a:spcPts val="1500"/>
              </a:spcBef>
            </a:pPr>
            <a:r>
              <a:rPr lang="en-US" sz="18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​</a:t>
            </a:r>
            <a:r>
              <a:rPr lang="en-KH" sz="2800" dirty="0"/>
              <a:t> </a:t>
            </a:r>
            <a:r>
              <a:rPr lang="en-KH" sz="2000" dirty="0"/>
              <a:t>👉 </a:t>
            </a:r>
            <a:r>
              <a:rPr lang="en-US" sz="2000" dirty="0" err="1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ទម្រង់នៃការប្រើប្រាស</a:t>
            </a:r>
            <a:r>
              <a:rPr lang="en-US" sz="20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់(Syntax) </a:t>
            </a:r>
            <a:r>
              <a:rPr lang="en-US" sz="2000" dirty="0" err="1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នៃ</a:t>
            </a:r>
            <a:r>
              <a:rPr lang="en-US" sz="20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method </a:t>
            </a:r>
            <a:r>
              <a:rPr lang="en-US" sz="2000" dirty="0" err="1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ដែលផ្តល់តម្លៃត្រឡប់មកវិញ</a:t>
            </a:r>
            <a:r>
              <a:rPr lang="en-US" sz="20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(</a:t>
            </a:r>
            <a:r>
              <a:rPr lang="en-US" sz="20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Return value</a:t>
            </a:r>
            <a:r>
              <a:rPr lang="en-US" sz="20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)៖</a:t>
            </a:r>
          </a:p>
          <a:p>
            <a:pPr algn="l">
              <a:lnSpc>
                <a:spcPct val="100000"/>
              </a:lnSpc>
              <a:spcBef>
                <a:spcPts val="1500"/>
              </a:spcBef>
            </a:pPr>
            <a:r>
              <a:rPr lang="en-US" sz="28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  </a:t>
            </a:r>
            <a:r>
              <a:rPr lang="en-US" sz="2000" dirty="0" err="1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accessModifier</a:t>
            </a:r>
            <a:r>
              <a:rPr lang="en-US" sz="20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sz="2000" dirty="0" err="1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returnType</a:t>
            </a:r>
            <a:r>
              <a:rPr lang="en-US" sz="20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sz="2000" dirty="0" err="1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methodName</a:t>
            </a:r>
            <a:r>
              <a:rPr lang="en-US" sz="20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(</a:t>
            </a:r>
            <a:r>
              <a:rPr lang="en-US" sz="2000" dirty="0" err="1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dataType</a:t>
            </a:r>
            <a:r>
              <a:rPr lang="en-US" sz="20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sz="2000" dirty="0" err="1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parameterName</a:t>
            </a:r>
            <a:r>
              <a:rPr lang="en-US" sz="20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){</a:t>
            </a:r>
          </a:p>
          <a:p>
            <a:pPr algn="l">
              <a:lnSpc>
                <a:spcPct val="100000"/>
              </a:lnSpc>
              <a:spcBef>
                <a:spcPts val="1500"/>
              </a:spcBef>
            </a:pPr>
            <a:r>
              <a:rPr lang="en-US" sz="20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	</a:t>
            </a:r>
            <a:r>
              <a:rPr lang="en-US" sz="20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//</a:t>
            </a:r>
            <a:r>
              <a:rPr lang="en-US" sz="20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ប្លុក</a:t>
            </a:r>
            <a:r>
              <a:rPr lang="en-US" sz="20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sz="20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code </a:t>
            </a:r>
            <a:r>
              <a:rPr lang="en-US" sz="20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ដែលត្រូវប្រតិបត្តិ</a:t>
            </a:r>
            <a:r>
              <a:rPr lang="en-US" sz="20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(execute)</a:t>
            </a:r>
          </a:p>
          <a:p>
            <a:pPr algn="l">
              <a:lnSpc>
                <a:spcPct val="100000"/>
              </a:lnSpc>
              <a:spcBef>
                <a:spcPts val="1500"/>
              </a:spcBef>
            </a:pPr>
            <a:r>
              <a:rPr lang="en-US" sz="20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	</a:t>
            </a:r>
            <a:r>
              <a:rPr lang="en-US" sz="20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return</a:t>
            </a:r>
            <a:r>
              <a:rPr lang="en-US" sz="20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(</a:t>
            </a:r>
            <a:r>
              <a:rPr lang="en-US" sz="20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តម្លៃដែលត្រូវផ្តល់ត្រឡប់ទៅវិញ</a:t>
            </a:r>
            <a:r>
              <a:rPr lang="en-US" sz="20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​ </a:t>
            </a:r>
            <a:r>
              <a:rPr lang="en-US" sz="20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ដែលមានប្រភេទទិន្នន័ដូចនិង</a:t>
            </a:r>
            <a:r>
              <a:rPr lang="en-US" sz="20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sz="2000" dirty="0" err="1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returnType</a:t>
            </a:r>
            <a:r>
              <a:rPr lang="en-US" sz="20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);</a:t>
            </a:r>
          </a:p>
          <a:p>
            <a:pPr algn="l">
              <a:lnSpc>
                <a:spcPct val="100000"/>
              </a:lnSpc>
              <a:spcBef>
                <a:spcPts val="1500"/>
              </a:spcBef>
            </a:pPr>
            <a:r>
              <a:rPr lang="en-US" sz="20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    }</a:t>
            </a:r>
            <a:br>
              <a:rPr lang="en-US" sz="20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</a:br>
            <a:br>
              <a:rPr lang="en-US" sz="20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</a:br>
            <a:r>
              <a:rPr lang="en-US" sz="20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  - </a:t>
            </a:r>
            <a:r>
              <a:rPr lang="en-US" sz="2000" dirty="0" err="1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accessModifier</a:t>
            </a:r>
            <a:r>
              <a:rPr lang="en-US" sz="20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: </a:t>
            </a:r>
            <a:r>
              <a:rPr lang="en-US" sz="20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គឺជាពាក្យសម្រាប់បញ្ជាក់កម្រិតនៃការចូលទៅកាន</a:t>
            </a:r>
            <a:r>
              <a:rPr lang="en-US" sz="20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់ method </a:t>
            </a:r>
            <a:r>
              <a:rPr lang="en-US" sz="20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មានដូចជា</a:t>
            </a:r>
            <a:r>
              <a:rPr lang="en-US" sz="20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៖ </a:t>
            </a:r>
            <a:r>
              <a:rPr lang="en-US" sz="20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private</a:t>
            </a:r>
            <a:r>
              <a:rPr lang="en-US" sz="20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, </a:t>
            </a:r>
            <a:r>
              <a:rPr lang="en-US" sz="20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default(</a:t>
            </a:r>
            <a:r>
              <a:rPr lang="en-US" sz="2000" dirty="0" err="1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មិនបញ្ជាក</a:t>
            </a:r>
            <a:r>
              <a:rPr lang="en-US" sz="20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់) </a:t>
            </a:r>
            <a:r>
              <a:rPr lang="en-US" sz="20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, </a:t>
            </a:r>
            <a:r>
              <a:rPr lang="en-US" sz="20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protected</a:t>
            </a:r>
            <a:r>
              <a:rPr lang="en-US" sz="20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,</a:t>
            </a:r>
            <a:r>
              <a:rPr lang="en-US" sz="2000" b="1" dirty="0"/>
              <a:t> </a:t>
            </a:r>
            <a:r>
              <a:rPr lang="en-US" sz="20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public</a:t>
            </a:r>
            <a:r>
              <a:rPr lang="en-US" sz="20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។</a:t>
            </a:r>
          </a:p>
          <a:p>
            <a:pPr algn="l">
              <a:lnSpc>
                <a:spcPct val="100000"/>
              </a:lnSpc>
              <a:spcBef>
                <a:spcPts val="1500"/>
              </a:spcBef>
            </a:pPr>
            <a:r>
              <a:rPr lang="en-US" sz="20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  - </a:t>
            </a:r>
            <a:r>
              <a:rPr lang="en-US" sz="2000" dirty="0" err="1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returnType</a:t>
            </a:r>
            <a:r>
              <a:rPr lang="en-US" sz="20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: </a:t>
            </a:r>
            <a:r>
              <a:rPr lang="en-US" sz="20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ប្រភេទទិន្នន័យនៃតម្លៃដែលត្រូវផ្តល់ត្រឡប់មកវិញ</a:t>
            </a:r>
            <a:r>
              <a:rPr lang="en-US" sz="20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។</a:t>
            </a:r>
            <a:endParaRPr lang="en-US" sz="2000" dirty="0">
              <a:solidFill>
                <a:srgbClr val="00206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  <a:p>
            <a:pPr algn="l">
              <a:lnSpc>
                <a:spcPct val="100000"/>
              </a:lnSpc>
              <a:spcBef>
                <a:spcPts val="1500"/>
              </a:spcBef>
            </a:pPr>
            <a:r>
              <a:rPr lang="en-US" sz="20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  - </a:t>
            </a:r>
            <a:r>
              <a:rPr lang="en-US" sz="2000" dirty="0" err="1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methodName</a:t>
            </a:r>
            <a:r>
              <a:rPr lang="en-US" sz="20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: </a:t>
            </a:r>
            <a:r>
              <a:rPr lang="en-US" sz="20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ឈ្មោះ</a:t>
            </a:r>
            <a:r>
              <a:rPr lang="en-US" sz="200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method </a:t>
            </a:r>
            <a:r>
              <a:rPr lang="en-US" sz="20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សម្រាប់ហៅនៅពេលប្រើប្រាស</a:t>
            </a:r>
            <a:r>
              <a:rPr lang="en-US" sz="20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់។</a:t>
            </a:r>
          </a:p>
          <a:p>
            <a:pPr algn="l">
              <a:lnSpc>
                <a:spcPct val="100000"/>
              </a:lnSpc>
              <a:spcBef>
                <a:spcPts val="1500"/>
              </a:spcBef>
            </a:pPr>
            <a:r>
              <a:rPr lang="en-US" sz="20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  - </a:t>
            </a:r>
            <a:r>
              <a:rPr lang="en-US" sz="2000" dirty="0" err="1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parameterName</a:t>
            </a:r>
            <a:r>
              <a:rPr lang="en-US" sz="20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: </a:t>
            </a:r>
            <a:r>
              <a:rPr lang="en-US" sz="20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ឈ្មោះ</a:t>
            </a:r>
            <a:r>
              <a:rPr lang="en-US" sz="20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Parameter </a:t>
            </a:r>
            <a:r>
              <a:rPr lang="en-US" sz="20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សម្រាប់ប្រើប្រាស់ក្នុង</a:t>
            </a:r>
            <a:r>
              <a:rPr lang="en-US" sz="20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method </a:t>
            </a:r>
            <a:r>
              <a:rPr lang="en-US" sz="20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នៅពេលប្រតិបត្តិ</a:t>
            </a:r>
            <a:r>
              <a:rPr lang="en-US" sz="20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។</a:t>
            </a:r>
          </a:p>
        </p:txBody>
      </p:sp>
    </p:spTree>
    <p:extLst>
      <p:ext uri="{BB962C8B-B14F-4D97-AF65-F5344CB8AC3E}">
        <p14:creationId xmlns:p14="http://schemas.microsoft.com/office/powerpoint/2010/main" val="4148604527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7EEDD9A-9AB7-2D7D-2377-2293CEFB36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56451F-8670-735F-59B4-82D837025FF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701800" y="119781"/>
            <a:ext cx="9144000" cy="789373"/>
          </a:xfrm>
        </p:spPr>
        <p:txBody>
          <a:bodyPr>
            <a:normAutofit/>
          </a:bodyPr>
          <a:lstStyle/>
          <a:p>
            <a:pPr algn="l"/>
            <a:r>
              <a:rPr lang="en-US" sz="3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Methods </a:t>
            </a:r>
            <a:r>
              <a:rPr lang="en-US" sz="3600" dirty="0" err="1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និងParameters</a:t>
            </a:r>
            <a:endParaRPr lang="en-KH" sz="3600" dirty="0">
              <a:solidFill>
                <a:srgbClr val="00206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C378FE91-F0D1-8BB6-0BE5-BFAA3D2E21CA}"/>
              </a:ext>
            </a:extLst>
          </p:cNvPr>
          <p:cNvCxnSpPr/>
          <p:nvPr/>
        </p:nvCxnSpPr>
        <p:spPr>
          <a:xfrm>
            <a:off x="0" y="1050468"/>
            <a:ext cx="12192000" cy="0"/>
          </a:xfrm>
          <a:prstGeom prst="line">
            <a:avLst/>
          </a:prstGeom>
          <a:ln w="57150">
            <a:solidFill>
              <a:srgbClr val="D49B0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FFDBDDBD-BDFC-F5A9-A2F6-F6225499C745}"/>
              </a:ext>
            </a:extLst>
          </p:cNvPr>
          <p:cNvCxnSpPr>
            <a:cxnSpLocks/>
          </p:cNvCxnSpPr>
          <p:nvPr/>
        </p:nvCxnSpPr>
        <p:spPr>
          <a:xfrm>
            <a:off x="0" y="979812"/>
            <a:ext cx="12192000" cy="0"/>
          </a:xfrm>
          <a:prstGeom prst="line">
            <a:avLst/>
          </a:prstGeom>
          <a:ln w="57150">
            <a:solidFill>
              <a:srgbClr val="1C27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7" name="Picture 46" descr="A blue circle with a yellow and white bird in it&#10;&#10;AI-generated content may be incorrect.">
            <a:extLst>
              <a:ext uri="{FF2B5EF4-FFF2-40B4-BE49-F238E27FC236}">
                <a16:creationId xmlns:a16="http://schemas.microsoft.com/office/drawing/2014/main" id="{049E800C-B977-9320-EA12-0CD772F885D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5438" y="219712"/>
            <a:ext cx="606500" cy="606500"/>
          </a:xfrm>
          <a:prstGeom prst="rect">
            <a:avLst/>
          </a:prstGeom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AB5CD8C5-0758-8B3E-09F3-7F605119B70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51353" y="1156582"/>
            <a:ext cx="10459234" cy="5181579"/>
          </a:xfrm>
        </p:spPr>
        <p:txBody>
          <a:bodyPr>
            <a:noAutofit/>
          </a:bodyPr>
          <a:lstStyle/>
          <a:p>
            <a:pPr algn="l">
              <a:lnSpc>
                <a:spcPct val="150000"/>
              </a:lnSpc>
              <a:spcBef>
                <a:spcPts val="1500"/>
              </a:spcBef>
            </a:pPr>
            <a:r>
              <a:rPr lang="en-US" sz="18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​</a:t>
            </a:r>
            <a:r>
              <a:rPr lang="en-KH" dirty="0"/>
              <a:t>👉 </a:t>
            </a:r>
            <a:r>
              <a:rPr lang="en-US" dirty="0" err="1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ទម្រង់នៃការប្រើប្រាស</a:t>
            </a:r>
            <a:r>
              <a:rPr lang="en-US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់(Syntax) </a:t>
            </a:r>
            <a:r>
              <a:rPr lang="en-US" dirty="0" err="1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នៃ</a:t>
            </a:r>
            <a:r>
              <a:rPr lang="en-US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method </a:t>
            </a:r>
            <a:r>
              <a:rPr lang="en-US" dirty="0" err="1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ដែលមិនផ្តល់តម្លៃត្រឡប់មកវិញ</a:t>
            </a:r>
            <a:r>
              <a:rPr lang="en-US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       </a:t>
            </a:r>
            <a:r>
              <a:rPr lang="en-US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(No</a:t>
            </a:r>
            <a:r>
              <a:rPr lang="en-US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return value</a:t>
            </a:r>
            <a:r>
              <a:rPr lang="en-US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)៖</a:t>
            </a:r>
          </a:p>
          <a:p>
            <a:pPr algn="l">
              <a:lnSpc>
                <a:spcPct val="100000"/>
              </a:lnSpc>
              <a:spcBef>
                <a:spcPts val="1500"/>
              </a:spcBef>
            </a:pPr>
            <a:r>
              <a:rPr lang="en-US" sz="28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   </a:t>
            </a:r>
            <a:r>
              <a:rPr lang="en-US" sz="1800" dirty="0" err="1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accessModifier</a:t>
            </a:r>
            <a:r>
              <a:rPr lang="en-US" sz="18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void</a:t>
            </a:r>
            <a:r>
              <a:rPr lang="en-US" sz="18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sz="1800" dirty="0" err="1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methodName</a:t>
            </a:r>
            <a:r>
              <a:rPr lang="en-US" sz="18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(</a:t>
            </a:r>
            <a:r>
              <a:rPr lang="en-US" sz="1800" dirty="0" err="1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dataType</a:t>
            </a:r>
            <a:r>
              <a:rPr lang="en-US" sz="18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sz="1800" dirty="0" err="1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parameterName</a:t>
            </a:r>
            <a:r>
              <a:rPr lang="en-US" sz="18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){</a:t>
            </a:r>
          </a:p>
          <a:p>
            <a:pPr algn="l">
              <a:lnSpc>
                <a:spcPct val="100000"/>
              </a:lnSpc>
              <a:spcBef>
                <a:spcPts val="1500"/>
              </a:spcBef>
            </a:pPr>
            <a:r>
              <a:rPr lang="en-US" sz="18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	//</a:t>
            </a:r>
            <a:r>
              <a:rPr lang="en-US" sz="18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ប្លុក</a:t>
            </a:r>
            <a:r>
              <a:rPr lang="en-US" sz="18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sz="1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code </a:t>
            </a:r>
            <a:r>
              <a:rPr lang="en-US" sz="18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ដែលត្រូវប្រតិបត្តិ</a:t>
            </a:r>
            <a:r>
              <a:rPr lang="en-US" sz="1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(execute)</a:t>
            </a:r>
          </a:p>
          <a:p>
            <a:pPr algn="l">
              <a:lnSpc>
                <a:spcPct val="150000"/>
              </a:lnSpc>
              <a:spcBef>
                <a:spcPts val="1500"/>
              </a:spcBef>
            </a:pPr>
            <a:r>
              <a:rPr lang="en-US" sz="18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    }</a:t>
            </a:r>
            <a:br>
              <a:rPr lang="en-US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</a:br>
            <a:r>
              <a:rPr lang="en-KH" sz="2000" dirty="0"/>
              <a:t>✍️ </a:t>
            </a:r>
            <a:r>
              <a:rPr lang="en-KH" sz="20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ចំណាំ៖ </a:t>
            </a:r>
            <a:r>
              <a:rPr lang="en-KH" sz="20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ការបង្កើត </a:t>
            </a:r>
            <a:r>
              <a:rPr lang="en-KH" sz="20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method</a:t>
            </a:r>
            <a:r>
              <a:rPr lang="en-KH" sz="20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អាចធ្វើការដាក់ </a:t>
            </a:r>
            <a:r>
              <a:rPr lang="en-KH" sz="20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parameter</a:t>
            </a:r>
            <a:r>
              <a:rPr lang="en-KH" sz="20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ច្រើនបន្តបន្ទាប់គ្នាដោយប្រើសញ្ញា ”</a:t>
            </a:r>
            <a:r>
              <a:rPr lang="en-KH" sz="20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,</a:t>
            </a:r>
            <a:r>
              <a:rPr lang="en-KH" sz="20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” នៅចំកណ្តាលរវៀង parameter ពីរ ឫច្រើន ឫមិនដាក់ </a:t>
            </a:r>
            <a:r>
              <a:rPr lang="en-KH" sz="20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parameter</a:t>
            </a:r>
            <a:r>
              <a:rPr lang="en-KH" sz="20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ក៍បាន។</a:t>
            </a:r>
            <a:br>
              <a:rPr lang="en-KH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</a:br>
            <a:r>
              <a:rPr lang="en-KH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 ​</a:t>
            </a:r>
            <a:r>
              <a:rPr lang="en-KH" sz="20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ឧទាហរណ៍ទី១៖ </a:t>
            </a:r>
            <a:r>
              <a:rPr lang="en-US" sz="2000" dirty="0" err="1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methodName</a:t>
            </a:r>
            <a:r>
              <a:rPr lang="en-US" sz="20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(</a:t>
            </a:r>
            <a:r>
              <a:rPr lang="en-US" sz="2000" dirty="0" err="1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dataType</a:t>
            </a:r>
            <a:r>
              <a:rPr lang="en-US" sz="20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sz="2000" dirty="0" err="1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parameterName</a:t>
            </a:r>
            <a:r>
              <a:rPr lang="en-US" sz="20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, </a:t>
            </a:r>
            <a:r>
              <a:rPr lang="en-US" sz="2000" dirty="0" err="1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dataType</a:t>
            </a:r>
            <a:r>
              <a:rPr lang="en-US" sz="20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parameterName2){}</a:t>
            </a:r>
            <a:br>
              <a:rPr lang="en-US" sz="20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</a:br>
            <a:r>
              <a:rPr lang="en-US" sz="20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  </a:t>
            </a:r>
            <a:r>
              <a:rPr lang="en-KH" sz="20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ឧទាហរណ៍ទី២៖ </a:t>
            </a:r>
            <a:r>
              <a:rPr lang="en-US" sz="2000" dirty="0" err="1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methodName</a:t>
            </a:r>
            <a:r>
              <a:rPr lang="en-US" sz="20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(){}</a:t>
            </a:r>
            <a:br>
              <a:rPr lang="en-US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</a:br>
            <a:endParaRPr lang="en-US" dirty="0">
              <a:solidFill>
                <a:srgbClr val="00206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396997750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4D82939-474D-9AF5-7DA6-AE243BB31B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8D42D5-55CB-C1B8-BD47-3591EB2B22E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701800" y="119781"/>
            <a:ext cx="9144000" cy="789373"/>
          </a:xfrm>
        </p:spPr>
        <p:txBody>
          <a:bodyPr>
            <a:normAutofit/>
          </a:bodyPr>
          <a:lstStyle/>
          <a:p>
            <a:pPr algn="l"/>
            <a:r>
              <a:rPr lang="en-US" sz="3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Methods </a:t>
            </a:r>
            <a:r>
              <a:rPr lang="en-US" sz="3600" dirty="0" err="1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និងParameters</a:t>
            </a:r>
            <a:endParaRPr lang="en-KH" sz="3600" dirty="0">
              <a:solidFill>
                <a:srgbClr val="00206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BCB24296-590A-6AFB-B54C-F2E440627724}"/>
              </a:ext>
            </a:extLst>
          </p:cNvPr>
          <p:cNvCxnSpPr/>
          <p:nvPr/>
        </p:nvCxnSpPr>
        <p:spPr>
          <a:xfrm>
            <a:off x="0" y="1050468"/>
            <a:ext cx="12192000" cy="0"/>
          </a:xfrm>
          <a:prstGeom prst="line">
            <a:avLst/>
          </a:prstGeom>
          <a:ln w="57150">
            <a:solidFill>
              <a:srgbClr val="D49B0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55C66718-FBD5-D9C3-443D-C38CEA87EF0C}"/>
              </a:ext>
            </a:extLst>
          </p:cNvPr>
          <p:cNvCxnSpPr>
            <a:cxnSpLocks/>
          </p:cNvCxnSpPr>
          <p:nvPr/>
        </p:nvCxnSpPr>
        <p:spPr>
          <a:xfrm>
            <a:off x="0" y="979812"/>
            <a:ext cx="12192000" cy="0"/>
          </a:xfrm>
          <a:prstGeom prst="line">
            <a:avLst/>
          </a:prstGeom>
          <a:ln w="57150">
            <a:solidFill>
              <a:srgbClr val="1C27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7" name="Picture 46" descr="A blue circle with a yellow and white bird in it&#10;&#10;AI-generated content may be incorrect.">
            <a:extLst>
              <a:ext uri="{FF2B5EF4-FFF2-40B4-BE49-F238E27FC236}">
                <a16:creationId xmlns:a16="http://schemas.microsoft.com/office/drawing/2014/main" id="{CDA8D571-EA15-D167-F3E3-AA91075859B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5438" y="219712"/>
            <a:ext cx="606500" cy="606500"/>
          </a:xfrm>
          <a:prstGeom prst="rect">
            <a:avLst/>
          </a:prstGeom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4750D091-B569-4A1A-8380-9C4650A2F66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51353" y="1156582"/>
            <a:ext cx="10459234" cy="5181579"/>
          </a:xfrm>
        </p:spPr>
        <p:txBody>
          <a:bodyPr>
            <a:noAutofit/>
          </a:bodyPr>
          <a:lstStyle/>
          <a:p>
            <a:pPr algn="l">
              <a:lnSpc>
                <a:spcPct val="150000"/>
              </a:lnSpc>
              <a:spcBef>
                <a:spcPts val="1500"/>
              </a:spcBef>
            </a:pPr>
            <a:r>
              <a:rPr lang="en-US" sz="18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​</a:t>
            </a:r>
            <a:r>
              <a:rPr lang="en-KH" dirty="0"/>
              <a:t>👉</a:t>
            </a:r>
            <a:r>
              <a:rPr lang="en-KH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KH" sz="28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វិសាលភាព​នៃ Access Modifier</a:t>
            </a:r>
            <a:r>
              <a:rPr lang="en-US" sz="28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៖</a:t>
            </a:r>
          </a:p>
          <a:p>
            <a:pPr marL="914400" lvl="1" indent="-457200" algn="l">
              <a:lnSpc>
                <a:spcPct val="150000"/>
              </a:lnSpc>
              <a:spcBef>
                <a:spcPts val="1500"/>
              </a:spcBef>
              <a:buFont typeface="Wingdings" pitchFamily="2" charset="2"/>
              <a:buChar char="Ø"/>
            </a:pPr>
            <a:r>
              <a:rPr lang="en-US" sz="22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private</a:t>
            </a:r>
            <a:r>
              <a:rPr lang="en-US" sz="22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: </a:t>
            </a:r>
            <a:r>
              <a:rPr lang="en-US" sz="22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អាចហៅ</a:t>
            </a:r>
            <a:r>
              <a:rPr lang="en-US" sz="22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method​ </a:t>
            </a:r>
            <a:r>
              <a:rPr lang="en-US" sz="22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ឫ</a:t>
            </a:r>
            <a:r>
              <a:rPr lang="en-US" sz="22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member </a:t>
            </a:r>
            <a:r>
              <a:rPr lang="en-US" sz="22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បានតែនៅក្នុង</a:t>
            </a:r>
            <a:r>
              <a:rPr lang="en-US" sz="22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class </a:t>
            </a:r>
            <a:r>
              <a:rPr lang="en-US" sz="22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ជាមួយគ្នាប៉ុណ្ណោះ</a:t>
            </a:r>
            <a:r>
              <a:rPr lang="en-US" sz="22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។</a:t>
            </a:r>
          </a:p>
          <a:p>
            <a:pPr marL="914400" lvl="1" indent="-457200" algn="l">
              <a:lnSpc>
                <a:spcPct val="150000"/>
              </a:lnSpc>
              <a:spcBef>
                <a:spcPts val="1500"/>
              </a:spcBef>
              <a:buFont typeface="Wingdings" pitchFamily="2" charset="2"/>
              <a:buChar char="Ø"/>
            </a:pPr>
            <a:r>
              <a:rPr lang="en-US" sz="22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default</a:t>
            </a:r>
            <a:r>
              <a:rPr lang="en-US" sz="22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: </a:t>
            </a:r>
            <a:r>
              <a:rPr lang="en-US" sz="22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អាចហៅ</a:t>
            </a:r>
            <a:r>
              <a:rPr lang="en-US" sz="22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method​ </a:t>
            </a:r>
            <a:r>
              <a:rPr lang="en-US" sz="22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ឫ</a:t>
            </a:r>
            <a:r>
              <a:rPr lang="en-US" sz="22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member </a:t>
            </a:r>
            <a:r>
              <a:rPr lang="en-US" sz="22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បានតែនៅក្នុង</a:t>
            </a:r>
            <a:r>
              <a:rPr lang="en-US" sz="22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class </a:t>
            </a:r>
            <a:r>
              <a:rPr lang="en-US" sz="22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ឫ</a:t>
            </a:r>
            <a:r>
              <a:rPr lang="en-US" sz="22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package </a:t>
            </a:r>
            <a:r>
              <a:rPr lang="en-US" sz="22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ជាមួយគ្នាប៉ុណ្ណោះ</a:t>
            </a:r>
            <a:r>
              <a:rPr lang="en-US" sz="22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។</a:t>
            </a:r>
          </a:p>
          <a:p>
            <a:pPr marL="914400" lvl="1" indent="-457200" algn="l">
              <a:lnSpc>
                <a:spcPct val="150000"/>
              </a:lnSpc>
              <a:spcBef>
                <a:spcPts val="1500"/>
              </a:spcBef>
              <a:buFont typeface="Wingdings" pitchFamily="2" charset="2"/>
              <a:buChar char="Ø"/>
            </a:pPr>
            <a:r>
              <a:rPr lang="en-US" sz="22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protected</a:t>
            </a:r>
            <a:r>
              <a:rPr lang="en-US" sz="22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: </a:t>
            </a:r>
            <a:r>
              <a:rPr lang="en-US" sz="22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អាចហៅ</a:t>
            </a:r>
            <a:r>
              <a:rPr lang="en-US" sz="22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method​ </a:t>
            </a:r>
            <a:r>
              <a:rPr lang="en-US" sz="22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ឫmember</a:t>
            </a:r>
            <a:r>
              <a:rPr lang="en-US" sz="22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sz="22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បានតែនៅក្នុង</a:t>
            </a:r>
            <a:r>
              <a:rPr lang="en-US" sz="22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package </a:t>
            </a:r>
            <a:r>
              <a:rPr lang="en-US" sz="22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ជាមួយគ្នា</a:t>
            </a:r>
            <a:r>
              <a:rPr lang="en-US" sz="22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sz="22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និង</a:t>
            </a:r>
            <a:r>
              <a:rPr lang="en-US" sz="22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subclasses </a:t>
            </a:r>
            <a:r>
              <a:rPr lang="en-US" sz="22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ប៉ុណ្ណោះ</a:t>
            </a:r>
            <a:r>
              <a:rPr lang="en-US" sz="22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។</a:t>
            </a:r>
          </a:p>
          <a:p>
            <a:pPr marL="914400" lvl="1" indent="-457200" algn="l">
              <a:lnSpc>
                <a:spcPct val="150000"/>
              </a:lnSpc>
              <a:spcBef>
                <a:spcPts val="1500"/>
              </a:spcBef>
              <a:buFont typeface="Wingdings" pitchFamily="2" charset="2"/>
              <a:buChar char="Ø"/>
            </a:pPr>
            <a:r>
              <a:rPr lang="en-US" sz="22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public</a:t>
            </a:r>
            <a:r>
              <a:rPr lang="en-US" sz="22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: </a:t>
            </a:r>
            <a:r>
              <a:rPr lang="en-US" sz="22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អាចហៅ</a:t>
            </a:r>
            <a:r>
              <a:rPr lang="en-US" sz="22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method​ </a:t>
            </a:r>
            <a:r>
              <a:rPr lang="en-US" sz="22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ឫ</a:t>
            </a:r>
            <a:r>
              <a:rPr lang="en-US" sz="22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member </a:t>
            </a:r>
            <a:r>
              <a:rPr lang="en-US" sz="22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បានទាំងក្នុង</a:t>
            </a:r>
            <a:r>
              <a:rPr lang="en-US" sz="22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class  </a:t>
            </a:r>
            <a:r>
              <a:rPr lang="en-US" sz="22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ឫ</a:t>
            </a:r>
            <a:r>
              <a:rPr lang="en-US" sz="22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package </a:t>
            </a:r>
            <a:r>
              <a:rPr lang="en-US" sz="22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ជាមួយគ្នា</a:t>
            </a:r>
            <a:r>
              <a:rPr lang="en-US" sz="22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​ </a:t>
            </a:r>
            <a:r>
              <a:rPr lang="en-US" sz="22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និងpackage</a:t>
            </a:r>
            <a:r>
              <a:rPr lang="en-US" sz="22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sz="22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ផ្សេងគ្នា</a:t>
            </a:r>
            <a:r>
              <a:rPr lang="en-US" sz="22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។</a:t>
            </a:r>
            <a:br>
              <a:rPr lang="en-US" sz="24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</a:br>
            <a:endParaRPr lang="en-US" sz="2400" dirty="0">
              <a:solidFill>
                <a:srgbClr val="0070C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104116749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9136489-92E5-AA56-A601-E4FDCF7C0F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7269EF-0971-363A-37DD-DBE780D3C7A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701800" y="119781"/>
            <a:ext cx="9144000" cy="789373"/>
          </a:xfrm>
        </p:spPr>
        <p:txBody>
          <a:bodyPr>
            <a:normAutofit/>
          </a:bodyPr>
          <a:lstStyle/>
          <a:p>
            <a:pPr algn="l"/>
            <a:r>
              <a:rPr lang="en-US" sz="3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Arrays</a:t>
            </a:r>
            <a:endParaRPr lang="en-KH" sz="3600" dirty="0">
              <a:solidFill>
                <a:srgbClr val="00206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89B832F0-880A-10E2-3951-DF73C2C0ABD6}"/>
              </a:ext>
            </a:extLst>
          </p:cNvPr>
          <p:cNvCxnSpPr/>
          <p:nvPr/>
        </p:nvCxnSpPr>
        <p:spPr>
          <a:xfrm>
            <a:off x="0" y="1050468"/>
            <a:ext cx="12192000" cy="0"/>
          </a:xfrm>
          <a:prstGeom prst="line">
            <a:avLst/>
          </a:prstGeom>
          <a:ln w="57150">
            <a:solidFill>
              <a:srgbClr val="D49B0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285ACEAD-5F73-1745-9165-A23D73687CC7}"/>
              </a:ext>
            </a:extLst>
          </p:cNvPr>
          <p:cNvCxnSpPr>
            <a:cxnSpLocks/>
          </p:cNvCxnSpPr>
          <p:nvPr/>
        </p:nvCxnSpPr>
        <p:spPr>
          <a:xfrm>
            <a:off x="0" y="979812"/>
            <a:ext cx="12192000" cy="0"/>
          </a:xfrm>
          <a:prstGeom prst="line">
            <a:avLst/>
          </a:prstGeom>
          <a:ln w="57150">
            <a:solidFill>
              <a:srgbClr val="1C27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7" name="Picture 46" descr="A blue circle with a yellow and white bird in it&#10;&#10;AI-generated content may be incorrect.">
            <a:extLst>
              <a:ext uri="{FF2B5EF4-FFF2-40B4-BE49-F238E27FC236}">
                <a16:creationId xmlns:a16="http://schemas.microsoft.com/office/drawing/2014/main" id="{0538804B-BBE5-0539-7C77-C9772E79982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5438" y="219712"/>
            <a:ext cx="606500" cy="606500"/>
          </a:xfrm>
          <a:prstGeom prst="rect">
            <a:avLst/>
          </a:prstGeom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6B30923D-D914-BD8E-B0FB-9E5D1E20085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51353" y="1133413"/>
            <a:ext cx="10459234" cy="5204749"/>
          </a:xfrm>
        </p:spPr>
        <p:txBody>
          <a:bodyPr>
            <a:noAutofit/>
          </a:bodyPr>
          <a:lstStyle/>
          <a:p>
            <a:pPr algn="l">
              <a:lnSpc>
                <a:spcPct val="150000"/>
              </a:lnSpc>
              <a:spcBef>
                <a:spcPts val="1500"/>
              </a:spcBef>
            </a:pPr>
            <a:r>
              <a:rPr lang="en-US" sz="18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   </a:t>
            </a:r>
            <a:r>
              <a:rPr lang="en-US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Arrays</a:t>
            </a:r>
            <a:r>
              <a:rPr lang="en-US" sz="20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: </a:t>
            </a:r>
            <a:r>
              <a:rPr lang="en-US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គឺជាវត្ថុសម្រាប់ផ្ទុកសំណុំនៃតម្លៃដែលមានចំនួនថេរ</a:t>
            </a:r>
            <a:r>
              <a:rPr lang="en-US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និងប្រភេទទិន្នន័យដូចគ្នា</a:t>
            </a:r>
            <a:r>
              <a:rPr lang="en-US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ដែលតម្លៃនីមួយៗហៅថាធាតុ</a:t>
            </a:r>
            <a:r>
              <a:rPr lang="en-US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។</a:t>
            </a:r>
            <a:r>
              <a:rPr lang="en-US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Array​</a:t>
            </a:r>
            <a:r>
              <a:rPr lang="en-US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ត្រូវបានចែកជាពីរប្រភេទគឺ</a:t>
            </a:r>
            <a:r>
              <a:rPr lang="en-US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៖</a:t>
            </a:r>
          </a:p>
          <a:p>
            <a:pPr marL="800100" lvl="1" indent="-342900" algn="l">
              <a:lnSpc>
                <a:spcPct val="150000"/>
              </a:lnSpc>
              <a:spcBef>
                <a:spcPts val="1500"/>
              </a:spcBef>
              <a:buFont typeface="Wingdings" pitchFamily="2" charset="2"/>
              <a:buChar char="Ø"/>
            </a:pPr>
            <a:r>
              <a:rPr lang="en-US" sz="24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Array </a:t>
            </a:r>
            <a:r>
              <a:rPr lang="en-US" sz="2400" dirty="0" err="1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មួយវិមាត្រ</a:t>
            </a:r>
            <a:r>
              <a:rPr lang="en-US" sz="24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​(Single-Dimensional Array): </a:t>
            </a:r>
            <a:r>
              <a:rPr lang="en-US" sz="2400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គឺរចនាសម្ព័ន្ធទិន្នន័យមួយជួរ</a:t>
            </a:r>
            <a:r>
              <a:rPr lang="en-US" sz="24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2400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ដែលផ្ទុកតារាងនៃធាតុជាច្រើនមានប្រភេទទិន្នន័យដូចគ្នា</a:t>
            </a:r>
            <a:r>
              <a:rPr lang="en-US" sz="24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2400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ហើយធាតុនីមួយៗត្រូវបានចូលប្រើតាមរយៈ</a:t>
            </a:r>
            <a:r>
              <a:rPr lang="en-US" sz="24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index </a:t>
            </a:r>
            <a:r>
              <a:rPr lang="en-US" sz="2400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មួយ</a:t>
            </a:r>
            <a:r>
              <a:rPr lang="en-US" sz="24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។ </a:t>
            </a:r>
          </a:p>
          <a:p>
            <a:pPr lvl="1" algn="l">
              <a:lnSpc>
                <a:spcPct val="100000"/>
              </a:lnSpc>
              <a:spcBef>
                <a:spcPts val="1500"/>
              </a:spcBef>
            </a:pPr>
            <a:r>
              <a:rPr lang="en-US" sz="24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	</a:t>
            </a:r>
            <a:r>
              <a:rPr lang="en-US" sz="2400" dirty="0" err="1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ឧទាហរណ</a:t>
            </a:r>
            <a:r>
              <a:rPr lang="en-US" sz="24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៍៖</a:t>
            </a:r>
            <a:r>
              <a:rPr lang="en-US" sz="24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24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String[] </a:t>
            </a:r>
            <a:r>
              <a:rPr lang="en-US" sz="2400" dirty="0" err="1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capitalLetters</a:t>
            </a:r>
            <a:r>
              <a:rPr lang="en-US" sz="24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24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=</a:t>
            </a:r>
            <a:r>
              <a:rPr lang="en-US" sz="24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{"A", "B", "C"};</a:t>
            </a:r>
          </a:p>
          <a:p>
            <a:pPr marL="800100" lvl="1" indent="-342900" algn="l">
              <a:lnSpc>
                <a:spcPct val="150000"/>
              </a:lnSpc>
              <a:spcBef>
                <a:spcPts val="1500"/>
              </a:spcBef>
              <a:buFont typeface="Wingdings" pitchFamily="2" charset="2"/>
              <a:buChar char="Ø"/>
            </a:pPr>
            <a:r>
              <a:rPr lang="en-US" sz="24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Array </a:t>
            </a:r>
            <a:r>
              <a:rPr lang="en-US" sz="2400" dirty="0" err="1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ច្រើនវិមាត្រ</a:t>
            </a:r>
            <a:r>
              <a:rPr lang="en-US" sz="24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(Multi-Dimensional Array): </a:t>
            </a:r>
            <a:r>
              <a:rPr lang="en-US" sz="2400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គឺជា</a:t>
            </a:r>
            <a:r>
              <a:rPr lang="en-US" sz="24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24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Arrays</a:t>
            </a:r>
            <a:r>
              <a:rPr lang="en-US" sz="24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2400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នៃ</a:t>
            </a:r>
            <a:r>
              <a:rPr lang="en-US" sz="24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24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Arrays</a:t>
            </a:r>
            <a:r>
              <a:rPr lang="en-US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24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។ </a:t>
            </a:r>
            <a:r>
              <a:rPr lang="en-US" sz="2400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វាត្រូវបានគេប្រើដើម្បីផ្ទុកទិន្នន័យជាទម្រង</a:t>
            </a:r>
            <a:r>
              <a:rPr lang="en-US" sz="24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់ </a:t>
            </a:r>
            <a:r>
              <a:rPr lang="en-US" sz="24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grid</a:t>
            </a:r>
            <a:r>
              <a:rPr lang="en-US" sz="24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2400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ឫ</a:t>
            </a:r>
            <a:r>
              <a:rPr lang="en-US" sz="24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24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table </a:t>
            </a:r>
            <a:r>
              <a:rPr lang="en-US" sz="24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។ </a:t>
            </a:r>
          </a:p>
          <a:p>
            <a:pPr lvl="1" algn="l">
              <a:lnSpc>
                <a:spcPct val="100000"/>
              </a:lnSpc>
              <a:spcBef>
                <a:spcPts val="1500"/>
              </a:spcBef>
            </a:pPr>
            <a:r>
              <a:rPr lang="en-US" sz="24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    </a:t>
            </a:r>
            <a:r>
              <a:rPr lang="en-US" sz="2400" dirty="0" err="1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ឧទាហរណ</a:t>
            </a:r>
            <a:r>
              <a:rPr lang="en-US" sz="24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៍៖ </a:t>
            </a:r>
            <a:r>
              <a:rPr lang="en-US" sz="24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String[][] </a:t>
            </a:r>
            <a:r>
              <a:rPr lang="en-US" sz="24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letters =</a:t>
            </a:r>
            <a:r>
              <a:rPr lang="en-US" dirty="0"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24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{{"A", "B", "C"}, {"a", "b", "c"}};</a:t>
            </a:r>
            <a:br>
              <a:rPr lang="en-US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</a:br>
            <a:endParaRPr lang="en-US" dirty="0">
              <a:solidFill>
                <a:srgbClr val="0070C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1719729952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F9ECFA5-4EB5-AD29-7EA1-AB2428E28E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EE562F-DAD3-0719-E28D-45A980850BB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701800" y="119781"/>
            <a:ext cx="9144000" cy="789373"/>
          </a:xfrm>
        </p:spPr>
        <p:txBody>
          <a:bodyPr>
            <a:normAutofit/>
          </a:bodyPr>
          <a:lstStyle/>
          <a:p>
            <a:pPr algn="l"/>
            <a:r>
              <a:rPr lang="en-US" sz="3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Arrays (</a:t>
            </a:r>
            <a:r>
              <a:rPr lang="en-US" sz="3600" dirty="0" err="1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ត</a:t>
            </a:r>
            <a:r>
              <a:rPr lang="en-US" sz="3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)</a:t>
            </a:r>
            <a:endParaRPr lang="en-KH" sz="3600" dirty="0">
              <a:solidFill>
                <a:srgbClr val="00206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34BC4279-303C-3BA7-EDAF-236C3D36265A}"/>
              </a:ext>
            </a:extLst>
          </p:cNvPr>
          <p:cNvCxnSpPr/>
          <p:nvPr/>
        </p:nvCxnSpPr>
        <p:spPr>
          <a:xfrm>
            <a:off x="0" y="1050468"/>
            <a:ext cx="12192000" cy="0"/>
          </a:xfrm>
          <a:prstGeom prst="line">
            <a:avLst/>
          </a:prstGeom>
          <a:ln w="57150">
            <a:solidFill>
              <a:srgbClr val="D49B0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A1AF5D61-4872-E942-CBE0-5559FFB3C2CC}"/>
              </a:ext>
            </a:extLst>
          </p:cNvPr>
          <p:cNvCxnSpPr>
            <a:cxnSpLocks/>
          </p:cNvCxnSpPr>
          <p:nvPr/>
        </p:nvCxnSpPr>
        <p:spPr>
          <a:xfrm>
            <a:off x="0" y="979812"/>
            <a:ext cx="12192000" cy="0"/>
          </a:xfrm>
          <a:prstGeom prst="line">
            <a:avLst/>
          </a:prstGeom>
          <a:ln w="57150">
            <a:solidFill>
              <a:srgbClr val="1C27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7" name="Picture 46" descr="A blue circle with a yellow and white bird in it&#10;&#10;AI-generated content may be incorrect.">
            <a:extLst>
              <a:ext uri="{FF2B5EF4-FFF2-40B4-BE49-F238E27FC236}">
                <a16:creationId xmlns:a16="http://schemas.microsoft.com/office/drawing/2014/main" id="{EE987755-B07A-FC08-D17A-E7338F9C2B2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5438" y="219712"/>
            <a:ext cx="606500" cy="606500"/>
          </a:xfrm>
          <a:prstGeom prst="rect">
            <a:avLst/>
          </a:prstGeom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5455605F-748D-610D-528A-9F3AEAC6EF3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51353" y="1133413"/>
            <a:ext cx="10459234" cy="5204749"/>
          </a:xfrm>
        </p:spPr>
        <p:txBody>
          <a:bodyPr>
            <a:noAutofit/>
          </a:bodyPr>
          <a:lstStyle/>
          <a:p>
            <a:pPr algn="l">
              <a:lnSpc>
                <a:spcPct val="150000"/>
              </a:lnSpc>
              <a:spcBef>
                <a:spcPts val="1500"/>
              </a:spcBef>
            </a:pPr>
            <a:r>
              <a:rPr lang="en-US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KH" dirty="0"/>
              <a:t>👉 </a:t>
            </a:r>
            <a:r>
              <a:rPr lang="en-US" dirty="0" err="1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ការប្រកាស</a:t>
            </a:r>
            <a:r>
              <a:rPr lang="en-US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dirty="0" err="1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និងការកំណត់តម្លៃចាប់ផ្តើមនៅលើ</a:t>
            </a:r>
            <a:r>
              <a:rPr lang="en-US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Variable </a:t>
            </a:r>
            <a:r>
              <a:rPr lang="en-US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៖</a:t>
            </a:r>
          </a:p>
          <a:p>
            <a:pPr marL="800100" lvl="1" indent="-342900" algn="l">
              <a:lnSpc>
                <a:spcPct val="150000"/>
              </a:lnSpc>
              <a:spcBef>
                <a:spcPts val="1500"/>
              </a:spcBef>
              <a:buFont typeface="Wingdings" pitchFamily="2" charset="2"/>
              <a:buChar char="Ø"/>
            </a:pPr>
            <a:r>
              <a:rPr lang="en-US" sz="2400" dirty="0" err="1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ប្រកាស</a:t>
            </a:r>
            <a:r>
              <a:rPr lang="en-US" sz="24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sz="2400" dirty="0" err="1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ដោយកំណត់ចំនួនធាតុ</a:t>
            </a:r>
            <a:r>
              <a:rPr lang="en-US" sz="24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: </a:t>
            </a:r>
          </a:p>
          <a:p>
            <a:pPr lvl="1" algn="l">
              <a:lnSpc>
                <a:spcPct val="150000"/>
              </a:lnSpc>
              <a:spcBef>
                <a:spcPts val="1500"/>
              </a:spcBef>
            </a:pPr>
            <a:r>
              <a:rPr lang="en-US" sz="24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	</a:t>
            </a:r>
            <a:r>
              <a:rPr lang="en-US" sz="2400" dirty="0" err="1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ប្រភេទទិន្នន័យ</a:t>
            </a:r>
            <a:r>
              <a:rPr lang="en-US" sz="24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24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[ ]</a:t>
            </a:r>
            <a:r>
              <a:rPr lang="en-US" sz="24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2400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variableName</a:t>
            </a:r>
            <a:r>
              <a:rPr lang="en-US" sz="24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= </a:t>
            </a:r>
            <a:r>
              <a:rPr lang="en-US" sz="24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new</a:t>
            </a:r>
            <a:r>
              <a:rPr lang="en-US" sz="24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2400" dirty="0" err="1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ប្រភេទទិន្នន័យ</a:t>
            </a:r>
            <a:r>
              <a:rPr lang="en-US" sz="24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 </a:t>
            </a:r>
            <a:r>
              <a:rPr lang="en-US" sz="24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[ </a:t>
            </a:r>
            <a:r>
              <a:rPr lang="en-US" sz="2400" dirty="0" err="1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ចំនួនធាតុ</a:t>
            </a:r>
            <a:r>
              <a:rPr lang="en-US" sz="24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24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]</a:t>
            </a:r>
            <a:r>
              <a:rPr lang="en-US" sz="24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;</a:t>
            </a:r>
          </a:p>
          <a:p>
            <a:pPr lvl="1" algn="l">
              <a:lnSpc>
                <a:spcPct val="150000"/>
              </a:lnSpc>
              <a:spcBef>
                <a:spcPts val="1500"/>
              </a:spcBef>
            </a:pPr>
            <a:r>
              <a:rPr lang="en-US" sz="24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	</a:t>
            </a:r>
            <a:r>
              <a:rPr lang="en-US" sz="2400" dirty="0" err="1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ឧទាហរណ</a:t>
            </a:r>
            <a:r>
              <a:rPr lang="en-US" sz="24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៍៖</a:t>
            </a:r>
            <a:r>
              <a:rPr lang="en-US" sz="24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24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int[] </a:t>
            </a:r>
            <a:r>
              <a:rPr lang="en-US" sz="2400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studentIds</a:t>
            </a:r>
            <a:r>
              <a:rPr lang="en-US" sz="24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24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=</a:t>
            </a:r>
            <a:r>
              <a:rPr lang="en-US" sz="24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new int[10];</a:t>
            </a:r>
          </a:p>
          <a:p>
            <a:pPr marL="800100" lvl="1" indent="-342900" algn="l">
              <a:lnSpc>
                <a:spcPct val="150000"/>
              </a:lnSpc>
              <a:spcBef>
                <a:spcPts val="1500"/>
              </a:spcBef>
              <a:buFont typeface="Wingdings" pitchFamily="2" charset="2"/>
              <a:buChar char="Ø"/>
            </a:pPr>
            <a:r>
              <a:rPr lang="en-US" sz="2400" dirty="0" err="1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ប្រកាស</a:t>
            </a:r>
            <a:r>
              <a:rPr lang="en-US" sz="24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sz="2400" dirty="0" err="1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ដោយកំណត់តម្លៃជា</a:t>
            </a:r>
            <a:r>
              <a:rPr lang="en-US" sz="24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literal</a:t>
            </a:r>
            <a:r>
              <a:rPr lang="en-US" sz="24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:</a:t>
            </a:r>
          </a:p>
          <a:p>
            <a:pPr lvl="1" algn="l">
              <a:lnSpc>
                <a:spcPct val="150000"/>
              </a:lnSpc>
              <a:spcBef>
                <a:spcPts val="1500"/>
              </a:spcBef>
            </a:pPr>
            <a:r>
              <a:rPr lang="en-US" sz="24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	</a:t>
            </a:r>
            <a:r>
              <a:rPr lang="en-US" sz="2400" dirty="0" err="1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ប្រភេទទិន្នន័យ</a:t>
            </a:r>
            <a:r>
              <a:rPr lang="en-US" sz="24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24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[ ]</a:t>
            </a:r>
            <a:r>
              <a:rPr lang="en-US" sz="24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2400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variableName</a:t>
            </a:r>
            <a:r>
              <a:rPr lang="en-US" sz="24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= </a:t>
            </a:r>
            <a:r>
              <a:rPr lang="en-US" sz="24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{</a:t>
            </a:r>
            <a:r>
              <a:rPr lang="en-US" sz="2400" dirty="0" err="1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ធាតុ</a:t>
            </a:r>
            <a:r>
              <a:rPr lang="en-US" sz="24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,</a:t>
            </a:r>
            <a:r>
              <a:rPr lang="en-US" sz="24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2400" dirty="0" err="1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ធាតុ</a:t>
            </a:r>
            <a:r>
              <a:rPr lang="en-US" sz="24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, …}</a:t>
            </a:r>
            <a:r>
              <a:rPr lang="en-US" sz="24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;</a:t>
            </a:r>
            <a:endParaRPr lang="en-US" sz="2400" dirty="0">
              <a:solidFill>
                <a:srgbClr val="0070C0"/>
              </a:solidFill>
              <a:latin typeface="Khmer OS Content" panose="02000500000000020004" pitchFamily="2" charset="77"/>
              <a:cs typeface="Khmer OS Content" panose="02000500000000020004" pitchFamily="2" charset="77"/>
            </a:endParaRPr>
          </a:p>
          <a:p>
            <a:pPr lvl="1" algn="l">
              <a:lnSpc>
                <a:spcPct val="150000"/>
              </a:lnSpc>
              <a:spcBef>
                <a:spcPts val="1500"/>
              </a:spcBef>
            </a:pPr>
            <a:r>
              <a:rPr lang="en-US" sz="24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    </a:t>
            </a:r>
            <a:r>
              <a:rPr lang="en-US" sz="2400" dirty="0" err="1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ឧទាហរណ</a:t>
            </a:r>
            <a:r>
              <a:rPr lang="en-US" sz="24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៍៖ </a:t>
            </a:r>
            <a:r>
              <a:rPr lang="en-US" sz="24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String</a:t>
            </a:r>
            <a:r>
              <a:rPr lang="en-US" sz="24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[] </a:t>
            </a:r>
            <a:r>
              <a:rPr lang="en-US" sz="24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letters</a:t>
            </a:r>
            <a:r>
              <a:rPr lang="en-US" sz="24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24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=</a:t>
            </a:r>
            <a:r>
              <a:rPr lang="en-US" dirty="0"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24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{"A", "B", "C"};</a:t>
            </a:r>
            <a:br>
              <a:rPr lang="en-US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</a:br>
            <a:endParaRPr lang="en-US" dirty="0">
              <a:solidFill>
                <a:srgbClr val="0070C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4065258671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15A2EA9-4A5D-F977-B56B-7FC5A135FA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C34CB7-D26B-5B44-6588-540C5680ACB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701800" y="119781"/>
            <a:ext cx="9144000" cy="789373"/>
          </a:xfrm>
        </p:spPr>
        <p:txBody>
          <a:bodyPr>
            <a:normAutofit/>
          </a:bodyPr>
          <a:lstStyle/>
          <a:p>
            <a:pPr algn="l"/>
            <a:r>
              <a:rPr lang="en-US" sz="3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Arrays (</a:t>
            </a:r>
            <a:r>
              <a:rPr lang="en-US" sz="3600" dirty="0" err="1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ត</a:t>
            </a:r>
            <a:r>
              <a:rPr lang="en-US" sz="3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)</a:t>
            </a:r>
            <a:endParaRPr lang="en-KH" sz="3600" dirty="0">
              <a:solidFill>
                <a:srgbClr val="00206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1BC6EA60-B827-FB04-C401-76B8CA667A92}"/>
              </a:ext>
            </a:extLst>
          </p:cNvPr>
          <p:cNvCxnSpPr/>
          <p:nvPr/>
        </p:nvCxnSpPr>
        <p:spPr>
          <a:xfrm>
            <a:off x="0" y="1050468"/>
            <a:ext cx="12192000" cy="0"/>
          </a:xfrm>
          <a:prstGeom prst="line">
            <a:avLst/>
          </a:prstGeom>
          <a:ln w="57150">
            <a:solidFill>
              <a:srgbClr val="D49B0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3D914093-D2FD-8E99-476A-C18A7E74ED59}"/>
              </a:ext>
            </a:extLst>
          </p:cNvPr>
          <p:cNvCxnSpPr>
            <a:cxnSpLocks/>
          </p:cNvCxnSpPr>
          <p:nvPr/>
        </p:nvCxnSpPr>
        <p:spPr>
          <a:xfrm>
            <a:off x="0" y="979812"/>
            <a:ext cx="12192000" cy="0"/>
          </a:xfrm>
          <a:prstGeom prst="line">
            <a:avLst/>
          </a:prstGeom>
          <a:ln w="57150">
            <a:solidFill>
              <a:srgbClr val="1C27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7" name="Picture 46" descr="A blue circle with a yellow and white bird in it&#10;&#10;AI-generated content may be incorrect.">
            <a:extLst>
              <a:ext uri="{FF2B5EF4-FFF2-40B4-BE49-F238E27FC236}">
                <a16:creationId xmlns:a16="http://schemas.microsoft.com/office/drawing/2014/main" id="{A770A8F7-9B7B-6BA9-B205-2453EE4E654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5438" y="219712"/>
            <a:ext cx="606500" cy="606500"/>
          </a:xfrm>
          <a:prstGeom prst="rect">
            <a:avLst/>
          </a:prstGeom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31E856E0-2C67-432D-334C-A32FBD8EDB0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51353" y="1133413"/>
            <a:ext cx="10459234" cy="5204749"/>
          </a:xfrm>
        </p:spPr>
        <p:txBody>
          <a:bodyPr>
            <a:noAutofit/>
          </a:bodyPr>
          <a:lstStyle/>
          <a:p>
            <a:pPr algn="l">
              <a:lnSpc>
                <a:spcPct val="150000"/>
              </a:lnSpc>
              <a:spcBef>
                <a:spcPts val="1500"/>
              </a:spcBef>
            </a:pPr>
            <a:r>
              <a:rPr lang="en-US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   </a:t>
            </a:r>
            <a:r>
              <a:rPr lang="en-KH" dirty="0"/>
              <a:t>👉 </a:t>
            </a:r>
            <a:r>
              <a:rPr lang="en-US" dirty="0" err="1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ការចូលប្រើ</a:t>
            </a:r>
            <a:r>
              <a:rPr lang="en-US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dirty="0" err="1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និងការកែប្រែតម្លៃនៃធាតុនីមួយ</a:t>
            </a:r>
            <a:r>
              <a:rPr lang="en-US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៖</a:t>
            </a:r>
          </a:p>
          <a:p>
            <a:pPr marL="800100" lvl="1" indent="-342900" algn="l">
              <a:lnSpc>
                <a:spcPct val="150000"/>
              </a:lnSpc>
              <a:spcBef>
                <a:spcPts val="1500"/>
              </a:spcBef>
              <a:buFont typeface="Wingdings" pitchFamily="2" charset="2"/>
              <a:buChar char="Ø"/>
            </a:pPr>
            <a:r>
              <a:rPr lang="en-US" sz="2400" dirty="0" err="1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ទម្រង់នៃការចូលប្រើ</a:t>
            </a:r>
            <a:r>
              <a:rPr lang="en-US" sz="24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:  </a:t>
            </a:r>
            <a:r>
              <a:rPr lang="en-US" sz="24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arrays[ </a:t>
            </a:r>
            <a:r>
              <a:rPr lang="km-KH" sz="24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សន្ទស្សន៍</a:t>
            </a:r>
            <a:r>
              <a:rPr lang="en-US" sz="24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2400" dirty="0" err="1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ឫ</a:t>
            </a:r>
            <a:r>
              <a:rPr lang="en-US" sz="24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index </a:t>
            </a:r>
            <a:r>
              <a:rPr lang="en-US" sz="24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]</a:t>
            </a:r>
            <a:r>
              <a:rPr lang="en-US" sz="24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;</a:t>
            </a:r>
          </a:p>
          <a:p>
            <a:pPr lvl="1" algn="l">
              <a:lnSpc>
                <a:spcPct val="150000"/>
              </a:lnSpc>
              <a:spcBef>
                <a:spcPts val="1500"/>
              </a:spcBef>
            </a:pPr>
            <a:r>
              <a:rPr lang="en-US" sz="24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	</a:t>
            </a:r>
            <a:r>
              <a:rPr lang="en-US" sz="2400" dirty="0" err="1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ឧទាហរណ</a:t>
            </a:r>
            <a:r>
              <a:rPr lang="en-US" sz="24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៍៖</a:t>
            </a:r>
            <a:r>
              <a:rPr lang="en-US" sz="24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24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int </a:t>
            </a:r>
            <a:r>
              <a:rPr lang="en-US" sz="2400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studentId</a:t>
            </a:r>
            <a:r>
              <a:rPr lang="en-US" sz="24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24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=</a:t>
            </a:r>
            <a:r>
              <a:rPr lang="en-US" sz="24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2400" dirty="0" err="1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studentIds</a:t>
            </a:r>
            <a:r>
              <a:rPr lang="en-US" sz="24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[</a:t>
            </a:r>
            <a:r>
              <a:rPr lang="en-US" sz="24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0</a:t>
            </a:r>
            <a:r>
              <a:rPr lang="en-US" sz="24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]</a:t>
            </a:r>
            <a:r>
              <a:rPr lang="en-US" sz="24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;</a:t>
            </a:r>
          </a:p>
          <a:p>
            <a:pPr marL="800100" lvl="1" indent="-342900" algn="l">
              <a:lnSpc>
                <a:spcPct val="150000"/>
              </a:lnSpc>
              <a:spcBef>
                <a:spcPts val="1500"/>
              </a:spcBef>
              <a:buFont typeface="Wingdings" pitchFamily="2" charset="2"/>
              <a:buChar char="Ø"/>
            </a:pPr>
            <a:r>
              <a:rPr lang="en-US" sz="2400" dirty="0" err="1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ទម្រង់នៃការកែប្រែតម្លៃ</a:t>
            </a:r>
            <a:r>
              <a:rPr lang="en-US" sz="24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: </a:t>
            </a:r>
            <a:r>
              <a:rPr lang="en-US" sz="24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arrays[ </a:t>
            </a:r>
            <a:r>
              <a:rPr lang="km-KH" sz="24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សន្ទស្សន៍</a:t>
            </a:r>
            <a:r>
              <a:rPr lang="en-US" sz="24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2400" dirty="0" err="1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ឫ</a:t>
            </a:r>
            <a:r>
              <a:rPr lang="en-US" sz="24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index </a:t>
            </a:r>
            <a:r>
              <a:rPr lang="en-US" sz="24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] </a:t>
            </a:r>
            <a:r>
              <a:rPr lang="en-US" sz="24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=</a:t>
            </a:r>
            <a:r>
              <a:rPr lang="en-US" sz="24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2400" dirty="0" err="1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តម្លៃថ្មី</a:t>
            </a:r>
            <a:r>
              <a:rPr lang="en-US" sz="24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;</a:t>
            </a:r>
            <a:endParaRPr lang="en-US" sz="2400" dirty="0">
              <a:solidFill>
                <a:srgbClr val="0070C0"/>
              </a:solidFill>
              <a:latin typeface="Khmer OS Content" panose="02000500000000020004" pitchFamily="2" charset="77"/>
              <a:cs typeface="Khmer OS Content" panose="02000500000000020004" pitchFamily="2" charset="77"/>
            </a:endParaRPr>
          </a:p>
          <a:p>
            <a:pPr lvl="1" algn="l">
              <a:lnSpc>
                <a:spcPct val="150000"/>
              </a:lnSpc>
              <a:spcBef>
                <a:spcPts val="1500"/>
              </a:spcBef>
            </a:pPr>
            <a:r>
              <a:rPr lang="en-US" sz="24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    </a:t>
            </a:r>
            <a:r>
              <a:rPr lang="en-US" sz="2400" dirty="0" err="1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ឧទាហរណ</a:t>
            </a:r>
            <a:r>
              <a:rPr lang="en-US" sz="24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៍៖ </a:t>
            </a:r>
            <a:r>
              <a:rPr lang="en-US" sz="2400" dirty="0" err="1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studentIds</a:t>
            </a:r>
            <a:r>
              <a:rPr lang="en-US" sz="24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[</a:t>
            </a:r>
            <a:r>
              <a:rPr lang="en-US" sz="24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0</a:t>
            </a:r>
            <a:r>
              <a:rPr lang="en-US" sz="24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] </a:t>
            </a:r>
            <a:r>
              <a:rPr lang="en-US" sz="24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= </a:t>
            </a:r>
            <a:r>
              <a:rPr lang="en-US" sz="24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1</a:t>
            </a:r>
            <a:r>
              <a:rPr lang="en-US" sz="24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;</a:t>
            </a:r>
          </a:p>
          <a:p>
            <a:pPr lvl="1" algn="l">
              <a:lnSpc>
                <a:spcPct val="150000"/>
              </a:lnSpc>
              <a:spcBef>
                <a:spcPts val="1500"/>
              </a:spcBef>
            </a:pPr>
            <a:r>
              <a:rPr lang="en-KH" sz="2400" dirty="0"/>
              <a:t>👉 </a:t>
            </a:r>
            <a:r>
              <a:rPr lang="en-US" sz="2400" dirty="0" err="1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ដើម្បីពិនិត្យចំនួនធាតុនៃ</a:t>
            </a:r>
            <a:r>
              <a:rPr lang="en-US" sz="24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Arrays </a:t>
            </a:r>
            <a:r>
              <a:rPr lang="en-US" sz="2400" dirty="0" err="1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យើងត្រូវប្រើ</a:t>
            </a:r>
            <a:r>
              <a:rPr lang="en-US" sz="24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method  “</a:t>
            </a:r>
            <a:r>
              <a:rPr lang="en-US" sz="24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length</a:t>
            </a:r>
            <a:r>
              <a:rPr lang="en-US" sz="24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” ។</a:t>
            </a:r>
            <a:endParaRPr lang="en-US" dirty="0">
              <a:solidFill>
                <a:srgbClr val="FF000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  <a:p>
            <a:pPr lvl="1" algn="l">
              <a:lnSpc>
                <a:spcPct val="150000"/>
              </a:lnSpc>
              <a:spcBef>
                <a:spcPts val="1500"/>
              </a:spcBef>
            </a:pPr>
            <a:r>
              <a:rPr lang="en-US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	</a:t>
            </a:r>
            <a:r>
              <a:rPr lang="en-US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dirty="0" err="1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ឧទាហរណ</a:t>
            </a:r>
            <a:r>
              <a:rPr lang="en-US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៍៖ </a:t>
            </a:r>
            <a:r>
              <a:rPr lang="en-US" dirty="0" err="1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studentIds</a:t>
            </a:r>
            <a:r>
              <a:rPr lang="en-US" dirty="0" err="1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.length</a:t>
            </a:r>
            <a:r>
              <a:rPr lang="en-US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;</a:t>
            </a:r>
            <a:endParaRPr lang="en-US" dirty="0">
              <a:solidFill>
                <a:srgbClr val="FF000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  <a:p>
            <a:pPr lvl="1" algn="l">
              <a:lnSpc>
                <a:spcPct val="150000"/>
              </a:lnSpc>
              <a:spcBef>
                <a:spcPts val="1500"/>
              </a:spcBef>
            </a:pPr>
            <a:r>
              <a:rPr lang="en-US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	</a:t>
            </a:r>
          </a:p>
        </p:txBody>
      </p:sp>
    </p:spTree>
    <p:extLst>
      <p:ext uri="{BB962C8B-B14F-4D97-AF65-F5344CB8AC3E}">
        <p14:creationId xmlns:p14="http://schemas.microsoft.com/office/powerpoint/2010/main" val="1658285622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1009183-08C5-FE65-02DC-71F962302F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50CD83-6202-5A4E-3C8C-F5F2B960171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701800" y="119781"/>
            <a:ext cx="9144000" cy="789373"/>
          </a:xfrm>
        </p:spPr>
        <p:txBody>
          <a:bodyPr>
            <a:normAutofit/>
          </a:bodyPr>
          <a:lstStyle/>
          <a:p>
            <a:pPr algn="l"/>
            <a:r>
              <a:rPr lang="en-US" sz="3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Arrays (</a:t>
            </a:r>
            <a:r>
              <a:rPr lang="en-US" sz="3600" dirty="0" err="1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ត</a:t>
            </a:r>
            <a:r>
              <a:rPr lang="en-US" sz="3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)</a:t>
            </a:r>
            <a:endParaRPr lang="en-KH" sz="3600" dirty="0">
              <a:solidFill>
                <a:srgbClr val="00206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49E71593-B715-BCEA-46F2-84C54601C885}"/>
              </a:ext>
            </a:extLst>
          </p:cNvPr>
          <p:cNvCxnSpPr/>
          <p:nvPr/>
        </p:nvCxnSpPr>
        <p:spPr>
          <a:xfrm>
            <a:off x="0" y="1050468"/>
            <a:ext cx="12192000" cy="0"/>
          </a:xfrm>
          <a:prstGeom prst="line">
            <a:avLst/>
          </a:prstGeom>
          <a:ln w="57150">
            <a:solidFill>
              <a:srgbClr val="D49B0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830723D0-0790-137B-4BBA-59F6D05382F7}"/>
              </a:ext>
            </a:extLst>
          </p:cNvPr>
          <p:cNvCxnSpPr>
            <a:cxnSpLocks/>
          </p:cNvCxnSpPr>
          <p:nvPr/>
        </p:nvCxnSpPr>
        <p:spPr>
          <a:xfrm>
            <a:off x="0" y="979812"/>
            <a:ext cx="12192000" cy="0"/>
          </a:xfrm>
          <a:prstGeom prst="line">
            <a:avLst/>
          </a:prstGeom>
          <a:ln w="57150">
            <a:solidFill>
              <a:srgbClr val="1C27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7" name="Picture 46" descr="A blue circle with a yellow and white bird in it&#10;&#10;AI-generated content may be incorrect.">
            <a:extLst>
              <a:ext uri="{FF2B5EF4-FFF2-40B4-BE49-F238E27FC236}">
                <a16:creationId xmlns:a16="http://schemas.microsoft.com/office/drawing/2014/main" id="{C9D35385-B7A4-45D0-0C61-9607D17E029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5438" y="219712"/>
            <a:ext cx="606500" cy="606500"/>
          </a:xfrm>
          <a:prstGeom prst="rect">
            <a:avLst/>
          </a:prstGeom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03298875-D3EA-F93E-A8C5-72729A566A8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51353" y="1133413"/>
            <a:ext cx="10459234" cy="5204749"/>
          </a:xfrm>
        </p:spPr>
        <p:txBody>
          <a:bodyPr>
            <a:noAutofit/>
          </a:bodyPr>
          <a:lstStyle/>
          <a:p>
            <a:pPr algn="l">
              <a:lnSpc>
                <a:spcPct val="150000"/>
              </a:lnSpc>
              <a:spcBef>
                <a:spcPts val="1500"/>
              </a:spcBef>
            </a:pPr>
            <a:r>
              <a:rPr lang="en-US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KH" dirty="0"/>
              <a:t>👉 </a:t>
            </a:r>
            <a:r>
              <a:rPr lang="en-US" dirty="0" err="1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ការចូលប្រើតម្លៃនៃធាតុនីមួយដោយប្រើ</a:t>
            </a:r>
            <a:r>
              <a:rPr lang="en-US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loop</a:t>
            </a:r>
            <a:r>
              <a:rPr lang="en-US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៖</a:t>
            </a:r>
          </a:p>
          <a:p>
            <a:pPr marL="800100" lvl="1" indent="-342900" algn="l">
              <a:lnSpc>
                <a:spcPct val="150000"/>
              </a:lnSpc>
              <a:spcBef>
                <a:spcPts val="1500"/>
              </a:spcBef>
              <a:buFont typeface="Wingdings" pitchFamily="2" charset="2"/>
              <a:buChar char="Ø"/>
            </a:pPr>
            <a:r>
              <a:rPr lang="en-US" sz="24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ឧទាហរណ៍ទី១​ (for loop)៖</a:t>
            </a:r>
            <a:r>
              <a:rPr lang="en-US" sz="24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endParaRPr lang="en-US" sz="2400" dirty="0">
              <a:solidFill>
                <a:srgbClr val="FF0000"/>
              </a:solidFill>
              <a:latin typeface="Khmer OS Content" panose="02000500000000020004" pitchFamily="2" charset="77"/>
              <a:cs typeface="Khmer OS Content" panose="02000500000000020004" pitchFamily="2" charset="77"/>
            </a:endParaRPr>
          </a:p>
          <a:p>
            <a:pPr lvl="1" algn="l">
              <a:lnSpc>
                <a:spcPct val="150000"/>
              </a:lnSpc>
              <a:spcBef>
                <a:spcPts val="1500"/>
              </a:spcBef>
            </a:pPr>
            <a:r>
              <a:rPr lang="en-US" sz="24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	 int[] </a:t>
            </a:r>
            <a:r>
              <a:rPr lang="en-US" sz="2400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studentIds</a:t>
            </a:r>
            <a:r>
              <a:rPr lang="en-US" sz="24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24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=</a:t>
            </a:r>
            <a:r>
              <a:rPr lang="en-US" sz="24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{</a:t>
            </a:r>
            <a:r>
              <a:rPr lang="en-US" sz="24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1</a:t>
            </a:r>
            <a:r>
              <a:rPr lang="en-US" sz="24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, </a:t>
            </a:r>
            <a:r>
              <a:rPr lang="en-US" sz="24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3</a:t>
            </a:r>
            <a:r>
              <a:rPr lang="en-US" sz="24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, </a:t>
            </a:r>
            <a:r>
              <a:rPr lang="en-US" sz="24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5</a:t>
            </a:r>
            <a:r>
              <a:rPr lang="en-US" sz="24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}</a:t>
            </a:r>
            <a:r>
              <a:rPr lang="en-US" sz="24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;</a:t>
            </a:r>
          </a:p>
          <a:p>
            <a:pPr lvl="1" algn="l">
              <a:lnSpc>
                <a:spcPct val="150000"/>
              </a:lnSpc>
              <a:spcBef>
                <a:spcPts val="1500"/>
              </a:spcBef>
            </a:pPr>
            <a:r>
              <a:rPr lang="en-US" sz="24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     for(</a:t>
            </a:r>
            <a:r>
              <a:rPr lang="en-US" sz="24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int</a:t>
            </a:r>
            <a:r>
              <a:rPr lang="en-US" sz="24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2400" dirty="0" err="1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i</a:t>
            </a:r>
            <a:r>
              <a:rPr lang="en-US" sz="24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=</a:t>
            </a:r>
            <a:r>
              <a:rPr lang="en-US" sz="24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0</a:t>
            </a:r>
            <a:r>
              <a:rPr lang="en-US" sz="24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; </a:t>
            </a:r>
            <a:r>
              <a:rPr lang="en-US" sz="2400" dirty="0" err="1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i</a:t>
            </a:r>
            <a:r>
              <a:rPr lang="en-US" sz="24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24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&lt;</a:t>
            </a:r>
            <a:r>
              <a:rPr lang="en-US" sz="24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2400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studentIds</a:t>
            </a:r>
            <a:r>
              <a:rPr lang="en-US" sz="2400" dirty="0" err="1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.length</a:t>
            </a:r>
            <a:r>
              <a:rPr lang="en-US" sz="24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; </a:t>
            </a:r>
            <a:r>
              <a:rPr lang="en-US" sz="2400" dirty="0" err="1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i</a:t>
            </a:r>
            <a:r>
              <a:rPr lang="en-US" sz="24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++</a:t>
            </a:r>
            <a:r>
              <a:rPr lang="en-US" sz="24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){</a:t>
            </a:r>
          </a:p>
          <a:p>
            <a:pPr lvl="1" algn="l">
              <a:lnSpc>
                <a:spcPct val="150000"/>
              </a:lnSpc>
              <a:spcBef>
                <a:spcPts val="1500"/>
              </a:spcBef>
            </a:pPr>
            <a:r>
              <a:rPr lang="en-US" sz="24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            </a:t>
            </a:r>
            <a:r>
              <a:rPr lang="en-US" sz="2400" dirty="0" err="1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System.out.println</a:t>
            </a:r>
            <a:r>
              <a:rPr lang="en-US" sz="24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(</a:t>
            </a:r>
            <a:r>
              <a:rPr lang="en-US" sz="24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"</a:t>
            </a:r>
            <a:r>
              <a:rPr lang="en-US" sz="2400" dirty="0" err="1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studentId</a:t>
            </a:r>
            <a:r>
              <a:rPr lang="en-US" sz="24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["</a:t>
            </a:r>
            <a:r>
              <a:rPr lang="en-US" sz="24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+ </a:t>
            </a:r>
            <a:r>
              <a:rPr lang="en-US" sz="2400" dirty="0" err="1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i</a:t>
            </a:r>
            <a:r>
              <a:rPr lang="en-US" sz="24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+</a:t>
            </a:r>
            <a:r>
              <a:rPr lang="en-US" sz="24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"]: "</a:t>
            </a:r>
            <a:r>
              <a:rPr lang="en-US" sz="24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+ </a:t>
            </a:r>
            <a:r>
              <a:rPr lang="en-US" sz="2400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studentIds</a:t>
            </a:r>
            <a:r>
              <a:rPr lang="en-US" sz="24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[</a:t>
            </a:r>
            <a:r>
              <a:rPr lang="en-US" sz="2400" dirty="0" err="1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i</a:t>
            </a:r>
            <a:r>
              <a:rPr lang="en-US" sz="24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]</a:t>
            </a:r>
            <a:r>
              <a:rPr lang="en-US" sz="24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);</a:t>
            </a:r>
          </a:p>
          <a:p>
            <a:pPr lvl="1" algn="l">
              <a:lnSpc>
                <a:spcPct val="150000"/>
              </a:lnSpc>
              <a:spcBef>
                <a:spcPts val="1500"/>
              </a:spcBef>
            </a:pPr>
            <a:r>
              <a:rPr lang="en-US" sz="24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     }</a:t>
            </a:r>
            <a:br>
              <a:rPr lang="en-US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</a:br>
            <a:endParaRPr lang="en-US" dirty="0">
              <a:solidFill>
                <a:srgbClr val="0070C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93930204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60D7547-6B57-1118-CC4F-C65DE11E01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2F95E9-ECB9-0445-B635-F3C62895568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701800" y="119781"/>
            <a:ext cx="9144000" cy="789373"/>
          </a:xfrm>
        </p:spPr>
        <p:txBody>
          <a:bodyPr>
            <a:normAutofit/>
          </a:bodyPr>
          <a:lstStyle/>
          <a:p>
            <a:pPr algn="l"/>
            <a:r>
              <a:rPr lang="en-US" sz="3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Arrays (</a:t>
            </a:r>
            <a:r>
              <a:rPr lang="en-US" sz="3600" dirty="0" err="1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ត</a:t>
            </a:r>
            <a:r>
              <a:rPr lang="en-US" sz="3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)</a:t>
            </a:r>
            <a:endParaRPr lang="en-KH" sz="3600" dirty="0">
              <a:solidFill>
                <a:srgbClr val="00206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69203C01-97AD-397D-6D61-7B28EBC5F463}"/>
              </a:ext>
            </a:extLst>
          </p:cNvPr>
          <p:cNvCxnSpPr/>
          <p:nvPr/>
        </p:nvCxnSpPr>
        <p:spPr>
          <a:xfrm>
            <a:off x="0" y="1050468"/>
            <a:ext cx="12192000" cy="0"/>
          </a:xfrm>
          <a:prstGeom prst="line">
            <a:avLst/>
          </a:prstGeom>
          <a:ln w="57150">
            <a:solidFill>
              <a:srgbClr val="D49B0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9776468C-97E3-5A19-84FE-196BBD30A614}"/>
              </a:ext>
            </a:extLst>
          </p:cNvPr>
          <p:cNvCxnSpPr>
            <a:cxnSpLocks/>
          </p:cNvCxnSpPr>
          <p:nvPr/>
        </p:nvCxnSpPr>
        <p:spPr>
          <a:xfrm>
            <a:off x="0" y="979812"/>
            <a:ext cx="12192000" cy="0"/>
          </a:xfrm>
          <a:prstGeom prst="line">
            <a:avLst/>
          </a:prstGeom>
          <a:ln w="57150">
            <a:solidFill>
              <a:srgbClr val="1C27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7" name="Picture 46" descr="A blue circle with a yellow and white bird in it&#10;&#10;AI-generated content may be incorrect.">
            <a:extLst>
              <a:ext uri="{FF2B5EF4-FFF2-40B4-BE49-F238E27FC236}">
                <a16:creationId xmlns:a16="http://schemas.microsoft.com/office/drawing/2014/main" id="{D9F0867B-1767-C514-6607-E6F98C72B7C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5438" y="219712"/>
            <a:ext cx="606500" cy="606500"/>
          </a:xfrm>
          <a:prstGeom prst="rect">
            <a:avLst/>
          </a:prstGeom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5F544F2C-6672-9F74-C84A-3BB025FA7FB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51353" y="1133413"/>
            <a:ext cx="10459234" cy="5204749"/>
          </a:xfrm>
        </p:spPr>
        <p:txBody>
          <a:bodyPr>
            <a:noAutofit/>
          </a:bodyPr>
          <a:lstStyle/>
          <a:p>
            <a:pPr marL="800100" lvl="1" indent="-342900" algn="l">
              <a:lnSpc>
                <a:spcPct val="150000"/>
              </a:lnSpc>
              <a:spcBef>
                <a:spcPts val="1500"/>
              </a:spcBef>
              <a:buFont typeface="Wingdings" pitchFamily="2" charset="2"/>
              <a:buChar char="Ø"/>
            </a:pPr>
            <a:r>
              <a:rPr lang="en-US" sz="24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ឧទាហរណ៍ទី២​ (for-each loop)៖</a:t>
            </a:r>
            <a:r>
              <a:rPr lang="en-US" sz="24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endParaRPr lang="en-US" sz="2400" dirty="0">
              <a:solidFill>
                <a:srgbClr val="FF0000"/>
              </a:solidFill>
              <a:latin typeface="Khmer OS Content" panose="02000500000000020004" pitchFamily="2" charset="77"/>
              <a:cs typeface="Khmer OS Content" panose="02000500000000020004" pitchFamily="2" charset="77"/>
            </a:endParaRPr>
          </a:p>
          <a:p>
            <a:pPr lvl="1" algn="l">
              <a:lnSpc>
                <a:spcPct val="150000"/>
              </a:lnSpc>
              <a:spcBef>
                <a:spcPts val="1500"/>
              </a:spcBef>
            </a:pPr>
            <a:r>
              <a:rPr lang="en-US" sz="24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	 String[] </a:t>
            </a:r>
            <a:r>
              <a:rPr lang="en-US" sz="2400" dirty="0" err="1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studentIds</a:t>
            </a:r>
            <a:r>
              <a:rPr lang="en-US" sz="24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24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=</a:t>
            </a:r>
            <a:r>
              <a:rPr lang="en-US" sz="24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{</a:t>
            </a:r>
            <a:r>
              <a:rPr lang="en-US" sz="24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1</a:t>
            </a:r>
            <a:r>
              <a:rPr lang="en-US" sz="24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, </a:t>
            </a:r>
            <a:r>
              <a:rPr lang="en-US" sz="24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3</a:t>
            </a:r>
            <a:r>
              <a:rPr lang="en-US" sz="24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, </a:t>
            </a:r>
            <a:r>
              <a:rPr lang="en-US" sz="24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5</a:t>
            </a:r>
            <a:r>
              <a:rPr lang="en-US" sz="24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}</a:t>
            </a:r>
            <a:r>
              <a:rPr lang="en-US" sz="24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;</a:t>
            </a:r>
          </a:p>
          <a:p>
            <a:pPr lvl="1" algn="l">
              <a:lnSpc>
                <a:spcPct val="150000"/>
              </a:lnSpc>
              <a:spcBef>
                <a:spcPts val="1500"/>
              </a:spcBef>
            </a:pPr>
            <a:r>
              <a:rPr lang="en-US" sz="24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     for(</a:t>
            </a:r>
            <a:r>
              <a:rPr lang="en-US" sz="24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int</a:t>
            </a:r>
            <a:r>
              <a:rPr lang="en-US" sz="24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2400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studentId</a:t>
            </a:r>
            <a:r>
              <a:rPr lang="en-US" sz="24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: </a:t>
            </a:r>
            <a:r>
              <a:rPr lang="en-US" sz="2400" dirty="0" err="1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studentIds</a:t>
            </a:r>
            <a:r>
              <a:rPr lang="en-US" sz="24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){</a:t>
            </a:r>
          </a:p>
          <a:p>
            <a:pPr lvl="1" algn="l">
              <a:lnSpc>
                <a:spcPct val="150000"/>
              </a:lnSpc>
              <a:spcBef>
                <a:spcPts val="1500"/>
              </a:spcBef>
            </a:pPr>
            <a:r>
              <a:rPr lang="en-US" sz="24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		 </a:t>
            </a:r>
            <a:r>
              <a:rPr lang="en-US" sz="2400" dirty="0" err="1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System.out.println</a:t>
            </a:r>
            <a:r>
              <a:rPr lang="en-US" sz="24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(</a:t>
            </a:r>
            <a:r>
              <a:rPr lang="en-US" sz="24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"</a:t>
            </a:r>
            <a:r>
              <a:rPr lang="en-US" sz="2400" dirty="0" err="1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studentId</a:t>
            </a:r>
            <a:r>
              <a:rPr lang="en-US" sz="24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: "</a:t>
            </a:r>
            <a:r>
              <a:rPr lang="en-US" sz="24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+ </a:t>
            </a:r>
            <a:r>
              <a:rPr lang="en-US" sz="2400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studentId</a:t>
            </a:r>
            <a:r>
              <a:rPr lang="en-US" sz="24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);</a:t>
            </a:r>
          </a:p>
          <a:p>
            <a:pPr lvl="1" algn="l">
              <a:lnSpc>
                <a:spcPct val="150000"/>
              </a:lnSpc>
              <a:spcBef>
                <a:spcPts val="1500"/>
              </a:spcBef>
            </a:pPr>
            <a:r>
              <a:rPr lang="en-US" sz="24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     }</a:t>
            </a:r>
            <a:br>
              <a:rPr lang="en-US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</a:br>
            <a:endParaRPr lang="en-US" dirty="0">
              <a:solidFill>
                <a:srgbClr val="0070C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1446301716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EAFC312-AFA4-6BF0-F5C1-DB6183B0C5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517BB4F-B911-5CCD-CC32-60B96D9DCD3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701800" y="119781"/>
            <a:ext cx="9144000" cy="789373"/>
          </a:xfrm>
        </p:spPr>
        <p:txBody>
          <a:bodyPr>
            <a:normAutofit/>
          </a:bodyPr>
          <a:lstStyle/>
          <a:p>
            <a:pPr algn="l"/>
            <a:r>
              <a:rPr lang="en-US" sz="3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Arrays (</a:t>
            </a:r>
            <a:r>
              <a:rPr lang="en-US" sz="3600" dirty="0" err="1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ត</a:t>
            </a:r>
            <a:r>
              <a:rPr lang="en-US" sz="3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)</a:t>
            </a:r>
            <a:endParaRPr lang="en-KH" sz="3600" dirty="0">
              <a:solidFill>
                <a:srgbClr val="00206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64FF8B00-7E48-4B92-E4F0-362ED94AF1AA}"/>
              </a:ext>
            </a:extLst>
          </p:cNvPr>
          <p:cNvCxnSpPr/>
          <p:nvPr/>
        </p:nvCxnSpPr>
        <p:spPr>
          <a:xfrm>
            <a:off x="0" y="1050468"/>
            <a:ext cx="12192000" cy="0"/>
          </a:xfrm>
          <a:prstGeom prst="line">
            <a:avLst/>
          </a:prstGeom>
          <a:ln w="57150">
            <a:solidFill>
              <a:srgbClr val="D49B0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2591566C-0176-8A2C-0AE4-FDBE90504C2D}"/>
              </a:ext>
            </a:extLst>
          </p:cNvPr>
          <p:cNvCxnSpPr>
            <a:cxnSpLocks/>
          </p:cNvCxnSpPr>
          <p:nvPr/>
        </p:nvCxnSpPr>
        <p:spPr>
          <a:xfrm>
            <a:off x="0" y="979812"/>
            <a:ext cx="12192000" cy="0"/>
          </a:xfrm>
          <a:prstGeom prst="line">
            <a:avLst/>
          </a:prstGeom>
          <a:ln w="57150">
            <a:solidFill>
              <a:srgbClr val="1C27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7" name="Picture 46" descr="A blue circle with a yellow and white bird in it&#10;&#10;AI-generated content may be incorrect.">
            <a:extLst>
              <a:ext uri="{FF2B5EF4-FFF2-40B4-BE49-F238E27FC236}">
                <a16:creationId xmlns:a16="http://schemas.microsoft.com/office/drawing/2014/main" id="{586132DC-1A5E-81B1-B3DD-00153162606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5438" y="219712"/>
            <a:ext cx="606500" cy="606500"/>
          </a:xfrm>
          <a:prstGeom prst="rect">
            <a:avLst/>
          </a:prstGeom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E38B3B40-C4D3-9109-A5DB-17E220EDEE8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51353" y="1133413"/>
            <a:ext cx="10459234" cy="5504874"/>
          </a:xfrm>
        </p:spPr>
        <p:txBody>
          <a:bodyPr>
            <a:noAutofit/>
          </a:bodyPr>
          <a:lstStyle/>
          <a:p>
            <a:pPr lvl="1" algn="l">
              <a:lnSpc>
                <a:spcPct val="150000"/>
              </a:lnSpc>
              <a:spcBef>
                <a:spcPts val="1500"/>
              </a:spcBef>
            </a:pPr>
            <a:r>
              <a:rPr lang="en-KH" sz="2400" dirty="0"/>
              <a:t>👉</a:t>
            </a:r>
            <a:r>
              <a:rPr lang="en-US" sz="2400" dirty="0" err="1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ទម្រង់នៃការរតម្រៀប</a:t>
            </a:r>
            <a:r>
              <a:rPr lang="en-US" sz="24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Arrays </a:t>
            </a:r>
            <a:r>
              <a:rPr lang="en-US" sz="2400" dirty="0" err="1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ពីតូចទៅធំ</a:t>
            </a:r>
            <a:r>
              <a:rPr lang="en-US" sz="24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៖ </a:t>
            </a:r>
          </a:p>
          <a:p>
            <a:pPr lvl="1" algn="l">
              <a:lnSpc>
                <a:spcPct val="100000"/>
              </a:lnSpc>
              <a:spcBef>
                <a:spcPts val="1500"/>
              </a:spcBef>
            </a:pPr>
            <a:r>
              <a:rPr lang="en-US" sz="24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    </a:t>
            </a:r>
            <a:r>
              <a:rPr lang="en-US" dirty="0" err="1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Arrays.sort</a:t>
            </a:r>
            <a:r>
              <a:rPr lang="en-US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(</a:t>
            </a:r>
            <a:r>
              <a:rPr lang="en-US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Arrays </a:t>
            </a:r>
            <a:r>
              <a:rPr lang="en-US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ដែលត្រូវតម្រៀប</a:t>
            </a:r>
            <a:r>
              <a:rPr lang="en-US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)</a:t>
            </a:r>
            <a:r>
              <a:rPr lang="en-US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;</a:t>
            </a:r>
          </a:p>
          <a:p>
            <a:pPr lvl="1" algn="l">
              <a:lnSpc>
                <a:spcPct val="100000"/>
              </a:lnSpc>
              <a:spcBef>
                <a:spcPts val="1500"/>
              </a:spcBef>
            </a:pPr>
            <a:r>
              <a:rPr lang="en-US" sz="24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	</a:t>
            </a:r>
            <a:r>
              <a:rPr lang="en-US" dirty="0" err="1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ឧទាហរណ</a:t>
            </a:r>
            <a:r>
              <a:rPr lang="en-US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៍៖</a:t>
            </a:r>
            <a:r>
              <a:rPr lang="en-US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br>
              <a:rPr lang="en-US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</a:br>
            <a:r>
              <a:rPr lang="en-US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​​​​          </a:t>
            </a:r>
            <a:r>
              <a:rPr lang="en-US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int[]</a:t>
            </a:r>
            <a:r>
              <a:rPr lang="en-US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nums</a:t>
            </a:r>
            <a:r>
              <a:rPr lang="en-US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= </a:t>
            </a:r>
            <a:r>
              <a:rPr lang="en-US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{</a:t>
            </a:r>
            <a:r>
              <a:rPr lang="en-US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5, 6, 3, 9, 4, 1</a:t>
            </a:r>
            <a:r>
              <a:rPr lang="en-US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}</a:t>
            </a:r>
            <a:r>
              <a:rPr lang="en-US" sz="24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;</a:t>
            </a:r>
          </a:p>
          <a:p>
            <a:pPr lvl="1" algn="l">
              <a:lnSpc>
                <a:spcPct val="100000"/>
              </a:lnSpc>
              <a:spcBef>
                <a:spcPts val="1500"/>
              </a:spcBef>
            </a:pPr>
            <a:r>
              <a:rPr lang="en-US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	    </a:t>
            </a:r>
            <a:r>
              <a:rPr lang="en-US" sz="2400" dirty="0" err="1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Arrays.sort</a:t>
            </a:r>
            <a:r>
              <a:rPr lang="en-US" sz="24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(</a:t>
            </a:r>
            <a:r>
              <a:rPr lang="en-US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nums</a:t>
            </a:r>
            <a:r>
              <a:rPr lang="en-US" sz="24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)</a:t>
            </a:r>
            <a:r>
              <a:rPr lang="en-US" sz="24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;</a:t>
            </a:r>
            <a:endParaRPr lang="en-US" sz="2400" dirty="0">
              <a:solidFill>
                <a:srgbClr val="FF0000"/>
              </a:solidFill>
              <a:latin typeface="Khmer OS Content" panose="02000500000000020004" pitchFamily="2" charset="77"/>
              <a:cs typeface="Khmer OS Content" panose="02000500000000020004" pitchFamily="2" charset="77"/>
            </a:endParaRPr>
          </a:p>
          <a:p>
            <a:pPr lvl="1" algn="l">
              <a:lnSpc>
                <a:spcPct val="150000"/>
              </a:lnSpc>
              <a:spcBef>
                <a:spcPts val="1500"/>
              </a:spcBef>
            </a:pPr>
            <a:r>
              <a:rPr lang="en-KH" sz="24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👉</a:t>
            </a:r>
            <a:r>
              <a:rPr lang="en-US" sz="2400" dirty="0" err="1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ទម្រង់នៃការរតម្រៀប</a:t>
            </a:r>
            <a:r>
              <a:rPr lang="en-US" sz="24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Arrays </a:t>
            </a:r>
            <a:r>
              <a:rPr lang="en-US" sz="2400" dirty="0" err="1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ពីធំទៅតូច</a:t>
            </a:r>
            <a:r>
              <a:rPr lang="en-US" sz="24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៖</a:t>
            </a:r>
          </a:p>
          <a:p>
            <a:pPr lvl="1" algn="l">
              <a:lnSpc>
                <a:spcPct val="100000"/>
              </a:lnSpc>
              <a:spcBef>
                <a:spcPts val="1500"/>
              </a:spcBef>
            </a:pPr>
            <a:r>
              <a:rPr lang="en-US" sz="24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   </a:t>
            </a:r>
            <a:r>
              <a:rPr lang="en-US" dirty="0" err="1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Arrays.sort</a:t>
            </a:r>
            <a:r>
              <a:rPr lang="en-US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(</a:t>
            </a:r>
            <a:r>
              <a:rPr lang="en-US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Array(</a:t>
            </a:r>
            <a:r>
              <a:rPr lang="en-US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wraper</a:t>
            </a:r>
            <a:r>
              <a:rPr lang="en-US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class) </a:t>
            </a:r>
            <a:r>
              <a:rPr lang="en-US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ដែលត្រូវតម្រៀប</a:t>
            </a:r>
            <a:r>
              <a:rPr lang="en-US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, </a:t>
            </a:r>
            <a:r>
              <a:rPr lang="en-US" dirty="0" err="1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Collections.reverseOrder</a:t>
            </a:r>
            <a:r>
              <a:rPr lang="en-US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())</a:t>
            </a:r>
            <a:r>
              <a:rPr lang="en-US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;</a:t>
            </a:r>
          </a:p>
          <a:p>
            <a:pPr lvl="1" algn="l">
              <a:lnSpc>
                <a:spcPct val="100000"/>
              </a:lnSpc>
              <a:spcBef>
                <a:spcPts val="1500"/>
              </a:spcBef>
            </a:pPr>
            <a:r>
              <a:rPr lang="en-US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	</a:t>
            </a:r>
            <a:r>
              <a:rPr lang="en-US" dirty="0" err="1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ឧទាហរណ</a:t>
            </a:r>
            <a:r>
              <a:rPr lang="en-US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៍៖</a:t>
            </a:r>
            <a:r>
              <a:rPr lang="en-US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br>
              <a:rPr lang="en-US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</a:br>
            <a:r>
              <a:rPr lang="en-US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​​​​          </a:t>
            </a:r>
            <a:r>
              <a:rPr lang="en-US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Integer[]</a:t>
            </a:r>
            <a:r>
              <a:rPr lang="en-US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nums</a:t>
            </a:r>
            <a:r>
              <a:rPr lang="en-US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= </a:t>
            </a:r>
            <a:r>
              <a:rPr lang="en-US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{</a:t>
            </a:r>
            <a:r>
              <a:rPr lang="en-US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5, 6, 3, 9, 4, 1</a:t>
            </a:r>
            <a:r>
              <a:rPr lang="en-US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}</a:t>
            </a:r>
            <a:r>
              <a:rPr lang="en-US" sz="24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;</a:t>
            </a:r>
          </a:p>
          <a:p>
            <a:pPr lvl="1" algn="l">
              <a:lnSpc>
                <a:spcPct val="100000"/>
              </a:lnSpc>
              <a:spcBef>
                <a:spcPts val="1500"/>
              </a:spcBef>
            </a:pPr>
            <a:r>
              <a:rPr lang="en-US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	    </a:t>
            </a:r>
            <a:r>
              <a:rPr lang="en-US" sz="2400" dirty="0" err="1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Arrays.sort</a:t>
            </a:r>
            <a:r>
              <a:rPr lang="en-US" sz="24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(</a:t>
            </a:r>
            <a:r>
              <a:rPr lang="en-US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nums</a:t>
            </a:r>
            <a:r>
              <a:rPr lang="en-US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24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, </a:t>
            </a:r>
            <a:r>
              <a:rPr lang="en-US" sz="2400" dirty="0" err="1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Collections.reverseOrder</a:t>
            </a:r>
            <a:r>
              <a:rPr lang="en-US" sz="24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())</a:t>
            </a:r>
            <a:r>
              <a:rPr lang="en-US" sz="24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;</a:t>
            </a:r>
            <a:endParaRPr lang="en-US" dirty="0">
              <a:solidFill>
                <a:srgbClr val="002060"/>
              </a:solidFill>
              <a:latin typeface="Khmer OS Content" panose="02000500000000020004" pitchFamily="2" charset="77"/>
              <a:cs typeface="Khmer OS Content" panose="02000500000000020004" pitchFamily="2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1705745815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FC21FB5-2DC8-B44E-3B01-942917CD67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956507-6078-B74B-9577-414DD228F4B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701800" y="119781"/>
            <a:ext cx="9144000" cy="789373"/>
          </a:xfrm>
        </p:spPr>
        <p:txBody>
          <a:bodyPr>
            <a:normAutofit/>
          </a:bodyPr>
          <a:lstStyle/>
          <a:p>
            <a:pPr algn="l"/>
            <a:r>
              <a:rPr lang="en-US" sz="3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Collections</a:t>
            </a:r>
            <a:endParaRPr lang="en-KH" sz="3600" dirty="0">
              <a:solidFill>
                <a:srgbClr val="00206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890CCD26-A330-75C6-E318-8E12482D889D}"/>
              </a:ext>
            </a:extLst>
          </p:cNvPr>
          <p:cNvCxnSpPr/>
          <p:nvPr/>
        </p:nvCxnSpPr>
        <p:spPr>
          <a:xfrm>
            <a:off x="0" y="1050468"/>
            <a:ext cx="12192000" cy="0"/>
          </a:xfrm>
          <a:prstGeom prst="line">
            <a:avLst/>
          </a:prstGeom>
          <a:ln w="57150">
            <a:solidFill>
              <a:srgbClr val="D49B0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F6944E47-2955-2FE2-8128-31ADE67DE934}"/>
              </a:ext>
            </a:extLst>
          </p:cNvPr>
          <p:cNvCxnSpPr>
            <a:cxnSpLocks/>
          </p:cNvCxnSpPr>
          <p:nvPr/>
        </p:nvCxnSpPr>
        <p:spPr>
          <a:xfrm>
            <a:off x="0" y="979812"/>
            <a:ext cx="12192000" cy="0"/>
          </a:xfrm>
          <a:prstGeom prst="line">
            <a:avLst/>
          </a:prstGeom>
          <a:ln w="57150">
            <a:solidFill>
              <a:srgbClr val="1C27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7" name="Picture 46" descr="A blue circle with a yellow and white bird in it&#10;&#10;AI-generated content may be incorrect.">
            <a:extLst>
              <a:ext uri="{FF2B5EF4-FFF2-40B4-BE49-F238E27FC236}">
                <a16:creationId xmlns:a16="http://schemas.microsoft.com/office/drawing/2014/main" id="{72FCC5AF-AC07-EB55-3D52-A4537E259C0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5438" y="219712"/>
            <a:ext cx="606500" cy="606500"/>
          </a:xfrm>
          <a:prstGeom prst="rect">
            <a:avLst/>
          </a:prstGeom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00D02F63-7526-74C9-C6AF-D8FAB511B02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51353" y="1227913"/>
            <a:ext cx="10459234" cy="5055309"/>
          </a:xfrm>
        </p:spPr>
        <p:txBody>
          <a:bodyPr>
            <a:noAutofit/>
          </a:bodyPr>
          <a:lstStyle/>
          <a:p>
            <a:pPr algn="l">
              <a:lnSpc>
                <a:spcPct val="150000"/>
              </a:lnSpc>
              <a:spcBef>
                <a:spcPts val="1500"/>
              </a:spcBef>
            </a:pPr>
            <a:r>
              <a:rPr lang="en-US" sz="2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  </a:t>
            </a:r>
            <a:r>
              <a:rPr lang="en-US" sz="20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Collection </a:t>
            </a:r>
            <a:r>
              <a:rPr lang="en-US" sz="2000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គឺជាវត្ថុដែលតំណាងឲ្យឯកត្តាមួយនៃវត្ថុផ្សេងៗទៀតជាច្រើន</a:t>
            </a:r>
            <a:r>
              <a:rPr lang="en-US" sz="20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2000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ដែលត្រូវបានប្រើប្រាស់ដើម្បីផ្ទុក</a:t>
            </a:r>
            <a:r>
              <a:rPr lang="en-US" sz="20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2000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យកតម្លៃ</a:t>
            </a:r>
            <a:r>
              <a:rPr lang="en-US" sz="20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2000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និងរៀបចំការប្រមូលផ្តុំទិន្នន័យ</a:t>
            </a:r>
            <a:r>
              <a:rPr lang="en-US" sz="20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។ </a:t>
            </a:r>
            <a:r>
              <a:rPr lang="en-US" sz="2000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ប្រភេទនៃ</a:t>
            </a:r>
            <a:r>
              <a:rPr lang="en-US" sz="20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20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Collection​ </a:t>
            </a:r>
            <a:r>
              <a:rPr lang="en-US" sz="2000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មាន</a:t>
            </a:r>
            <a:r>
              <a:rPr lang="en-US" sz="2000" dirty="0" err="1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ដូចជា</a:t>
            </a:r>
            <a:r>
              <a:rPr lang="en-US" sz="20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៖ </a:t>
            </a:r>
            <a:r>
              <a:rPr lang="en-US" sz="20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List</a:t>
            </a:r>
            <a:r>
              <a:rPr lang="en-US" sz="20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, </a:t>
            </a:r>
            <a:r>
              <a:rPr lang="en-US" sz="20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Set</a:t>
            </a:r>
            <a:r>
              <a:rPr lang="en-US" sz="20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, </a:t>
            </a:r>
            <a:r>
              <a:rPr lang="en-US" sz="20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Queue</a:t>
            </a:r>
            <a:r>
              <a:rPr lang="en-US" sz="20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, </a:t>
            </a:r>
            <a:r>
              <a:rPr lang="en-US" sz="20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Map</a:t>
            </a:r>
            <a:r>
              <a:rPr lang="en-US" sz="20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។</a:t>
            </a:r>
          </a:p>
          <a:p>
            <a:pPr algn="l">
              <a:lnSpc>
                <a:spcPct val="150000"/>
              </a:lnSpc>
              <a:spcBef>
                <a:spcPts val="1500"/>
              </a:spcBef>
            </a:pPr>
            <a:r>
              <a:rPr lang="en-US" sz="20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    </a:t>
            </a:r>
            <a:r>
              <a:rPr lang="en-US" sz="20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List: </a:t>
            </a:r>
            <a:r>
              <a:rPr lang="en-US" sz="2000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គឺជាការប្រមូលផ្តុំដែលត្រូវបានតម្រៀបនូវធាតុជាច្រើនមានលក្ខណៈ</a:t>
            </a:r>
            <a:r>
              <a:rPr lang="en-US" sz="20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Dynamic </a:t>
            </a:r>
            <a:r>
              <a:rPr lang="en-US" sz="2000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និងអនុញ្ញាតឲ្យផ្ទុកនូវធាតុស្ទួន</a:t>
            </a:r>
            <a:r>
              <a:rPr lang="en-US" sz="20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2000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ហើយផ្តល់នូវការប្រើប្រាស់ដោយផ្អែកលើ</a:t>
            </a:r>
            <a:r>
              <a:rPr lang="en-US" sz="20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20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index</a:t>
            </a:r>
            <a:r>
              <a:rPr lang="en-US" sz="20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។ </a:t>
            </a:r>
          </a:p>
          <a:p>
            <a:pPr algn="l">
              <a:lnSpc>
                <a:spcPct val="150000"/>
              </a:lnSpc>
              <a:spcBef>
                <a:spcPts val="1500"/>
              </a:spcBef>
            </a:pPr>
            <a:r>
              <a:rPr lang="en-US" sz="20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KH" sz="2000" dirty="0"/>
              <a:t>👉 </a:t>
            </a:r>
            <a:r>
              <a:rPr lang="en-US" sz="20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Class </a:t>
            </a:r>
            <a:r>
              <a:rPr lang="en-US" sz="2000" dirty="0" err="1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សម្រាប់ការអនុវត្តទូរទៅនៃ</a:t>
            </a:r>
            <a:r>
              <a:rPr lang="en-US" sz="20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​ List​ (common implementations)</a:t>
            </a:r>
            <a:r>
              <a:rPr lang="en-US" sz="20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2000" dirty="0" err="1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មានដូចជា</a:t>
            </a:r>
            <a:r>
              <a:rPr lang="en-US" sz="20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៖ </a:t>
            </a:r>
          </a:p>
          <a:p>
            <a:pPr marL="800100" lvl="1" indent="-342900" algn="l">
              <a:lnSpc>
                <a:spcPct val="150000"/>
              </a:lnSpc>
              <a:spcBef>
                <a:spcPts val="1500"/>
              </a:spcBef>
              <a:buFont typeface="Wingdings" pitchFamily="2" charset="2"/>
              <a:buChar char="Ø"/>
            </a:pPr>
            <a:r>
              <a:rPr lang="en-US" sz="1800" dirty="0" err="1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ArrayList</a:t>
            </a:r>
            <a:r>
              <a:rPr lang="en-US" sz="18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( </a:t>
            </a:r>
            <a:r>
              <a:rPr lang="en-US" sz="1800" dirty="0" err="1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ទម្រង់ប្រើប្រាស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់៖</a:t>
            </a:r>
            <a:r>
              <a:rPr lang="en-US" sz="18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List&lt;</a:t>
            </a:r>
            <a:r>
              <a:rPr lang="en-US" sz="1800" dirty="0" err="1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ប្រភេទទិន្នន័យ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&gt;</a:t>
            </a:r>
            <a:r>
              <a:rPr lang="en-US" sz="18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1800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variableName</a:t>
            </a:r>
            <a:r>
              <a:rPr lang="en-US" sz="18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= 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new</a:t>
            </a:r>
            <a:r>
              <a:rPr lang="en-US" sz="18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1800" dirty="0" err="1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ArrayList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&lt;&gt;()</a:t>
            </a:r>
            <a:r>
              <a:rPr lang="en-US" sz="18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; )</a:t>
            </a:r>
          </a:p>
          <a:p>
            <a:pPr marL="800100" lvl="1" indent="-342900" algn="l">
              <a:lnSpc>
                <a:spcPct val="150000"/>
              </a:lnSpc>
              <a:spcBef>
                <a:spcPts val="1500"/>
              </a:spcBef>
              <a:buFont typeface="Wingdings" pitchFamily="2" charset="2"/>
              <a:buChar char="Ø"/>
            </a:pP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LinkedList</a:t>
            </a:r>
            <a:r>
              <a:rPr lang="en-US" sz="18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(</a:t>
            </a:r>
            <a:r>
              <a:rPr lang="en-US" sz="1800" dirty="0" err="1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ទម្រង់ប្រើប្រាស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់៖</a:t>
            </a:r>
            <a:r>
              <a:rPr lang="en-US" sz="18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LinkedList&lt;</a:t>
            </a:r>
            <a:r>
              <a:rPr lang="en-US" sz="1800" dirty="0" err="1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ប្រភេទទិន្នន័យ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&gt; </a:t>
            </a:r>
            <a:r>
              <a:rPr lang="en-US" sz="1800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variableName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18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=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new LinkedList&lt;&gt;()</a:t>
            </a:r>
            <a:r>
              <a:rPr lang="en-US" sz="18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; )</a:t>
            </a:r>
          </a:p>
          <a:p>
            <a:pPr marL="800100" lvl="1" indent="-342900" algn="l">
              <a:lnSpc>
                <a:spcPct val="150000"/>
              </a:lnSpc>
              <a:spcBef>
                <a:spcPts val="1500"/>
              </a:spcBef>
              <a:buFont typeface="Wingdings" pitchFamily="2" charset="2"/>
              <a:buChar char="Ø"/>
            </a:pP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Vector</a:t>
            </a:r>
            <a:r>
              <a:rPr lang="en-US" sz="18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(</a:t>
            </a:r>
            <a:r>
              <a:rPr lang="en-US" sz="1800" dirty="0" err="1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ទម្រង់ប្រើប្រាស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់៖</a:t>
            </a:r>
            <a:r>
              <a:rPr lang="en-US" sz="18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Vector&lt;</a:t>
            </a:r>
            <a:r>
              <a:rPr lang="en-US" sz="1800" dirty="0" err="1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ប្រភេទទិន្នន័យ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&gt;</a:t>
            </a:r>
            <a:r>
              <a:rPr lang="en-US" sz="18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1800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variableName</a:t>
            </a:r>
            <a:r>
              <a:rPr lang="en-US" sz="18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= 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new</a:t>
            </a:r>
            <a:r>
              <a:rPr lang="en-US" sz="18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Vector&lt;&gt;()</a:t>
            </a:r>
            <a:r>
              <a:rPr lang="en-US" sz="18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; )</a:t>
            </a:r>
            <a:br>
              <a:rPr lang="en-US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</a:br>
            <a:r>
              <a:rPr lang="en-US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br>
              <a:rPr lang="en-US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</a:br>
            <a:endParaRPr lang="en-US" dirty="0">
              <a:solidFill>
                <a:srgbClr val="0070C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2062572273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7A6FEE2-2A96-E68A-A3DA-B56FB6ECD5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F758CC-0B33-02BC-C17C-F65E2B20A22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701800" y="119781"/>
            <a:ext cx="9144000" cy="789373"/>
          </a:xfrm>
        </p:spPr>
        <p:txBody>
          <a:bodyPr>
            <a:normAutofit/>
          </a:bodyPr>
          <a:lstStyle/>
          <a:p>
            <a:pPr algn="l"/>
            <a:r>
              <a:rPr lang="en-US" sz="3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Collections(</a:t>
            </a:r>
            <a:r>
              <a:rPr lang="en-US" sz="3600" dirty="0" err="1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ត</a:t>
            </a:r>
            <a:r>
              <a:rPr lang="en-US" sz="3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)</a:t>
            </a:r>
            <a:endParaRPr lang="en-KH" sz="3600" dirty="0">
              <a:solidFill>
                <a:srgbClr val="00206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1F438B5A-C780-E776-C948-CB12A1448117}"/>
              </a:ext>
            </a:extLst>
          </p:cNvPr>
          <p:cNvCxnSpPr/>
          <p:nvPr/>
        </p:nvCxnSpPr>
        <p:spPr>
          <a:xfrm>
            <a:off x="0" y="1050468"/>
            <a:ext cx="12192000" cy="0"/>
          </a:xfrm>
          <a:prstGeom prst="line">
            <a:avLst/>
          </a:prstGeom>
          <a:ln w="57150">
            <a:solidFill>
              <a:srgbClr val="D49B0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F27F95DE-1658-6CAF-1A43-55F998839DE1}"/>
              </a:ext>
            </a:extLst>
          </p:cNvPr>
          <p:cNvCxnSpPr>
            <a:cxnSpLocks/>
          </p:cNvCxnSpPr>
          <p:nvPr/>
        </p:nvCxnSpPr>
        <p:spPr>
          <a:xfrm>
            <a:off x="0" y="979812"/>
            <a:ext cx="12192000" cy="0"/>
          </a:xfrm>
          <a:prstGeom prst="line">
            <a:avLst/>
          </a:prstGeom>
          <a:ln w="57150">
            <a:solidFill>
              <a:srgbClr val="1C27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7" name="Picture 46" descr="A blue circle with a yellow and white bird in it&#10;&#10;AI-generated content may be incorrect.">
            <a:extLst>
              <a:ext uri="{FF2B5EF4-FFF2-40B4-BE49-F238E27FC236}">
                <a16:creationId xmlns:a16="http://schemas.microsoft.com/office/drawing/2014/main" id="{215605F8-9AF0-05FE-917B-552585B6372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5438" y="219712"/>
            <a:ext cx="606500" cy="606500"/>
          </a:xfrm>
          <a:prstGeom prst="rect">
            <a:avLst/>
          </a:prstGeom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41900CA6-44FE-0E1E-7FD7-76D3491DAE6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51353" y="1227913"/>
            <a:ext cx="10459234" cy="5055309"/>
          </a:xfrm>
        </p:spPr>
        <p:txBody>
          <a:bodyPr>
            <a:noAutofit/>
          </a:bodyPr>
          <a:lstStyle/>
          <a:p>
            <a:pPr algn="l">
              <a:lnSpc>
                <a:spcPct val="150000"/>
              </a:lnSpc>
              <a:spcBef>
                <a:spcPts val="1500"/>
              </a:spcBef>
            </a:pPr>
            <a:r>
              <a:rPr lang="en-US" sz="2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  </a:t>
            </a:r>
            <a:r>
              <a:rPr lang="en-US" dirty="0" err="1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ArrayList</a:t>
            </a:r>
            <a:r>
              <a:rPr lang="en-US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គឺការអនុវត្ត</a:t>
            </a:r>
            <a:r>
              <a:rPr lang="en-US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(implementation) </a:t>
            </a:r>
            <a:r>
              <a:rPr lang="en-US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ដែលអាចផ្លាស់ប្តូរទំហំខាងក្នុងនៃ</a:t>
            </a:r>
            <a:r>
              <a:rPr lang="en-US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array </a:t>
            </a:r>
            <a:r>
              <a:rPr lang="en-US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ដែលល្អបំផុតសម្រាប់ការប្រើប្រាស់ធាតុនីមួយៗនៃ</a:t>
            </a:r>
            <a:r>
              <a:rPr lang="en-US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array។</a:t>
            </a:r>
          </a:p>
          <a:p>
            <a:pPr algn="l">
              <a:lnSpc>
                <a:spcPct val="150000"/>
              </a:lnSpc>
              <a:spcBef>
                <a:spcPts val="1500"/>
              </a:spcBef>
            </a:pPr>
            <a:r>
              <a:rPr lang="en-US" sz="2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  </a:t>
            </a:r>
            <a:r>
              <a:rPr lang="en-US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LinkedList </a:t>
            </a:r>
            <a:r>
              <a:rPr lang="en-US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គឺការអនុវត្ត</a:t>
            </a:r>
            <a:r>
              <a:rPr lang="en-US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(implementation) </a:t>
            </a:r>
            <a:r>
              <a:rPr lang="en-US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ដែលមានលក្ខណៈ</a:t>
            </a:r>
            <a:r>
              <a:rPr lang="en-US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double-linked list </a:t>
            </a:r>
            <a:r>
              <a:rPr lang="en-US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សម្រាប់ការបន្ថែម</a:t>
            </a:r>
            <a:r>
              <a:rPr lang="en-US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ឫការលុបញឹកញាប</a:t>
            </a:r>
            <a:r>
              <a:rPr lang="en-US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់។ </a:t>
            </a:r>
            <a:r>
              <a:rPr lang="en-US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ការចូលប្រើប្រាស់ទិន្នន័យដោយ</a:t>
            </a:r>
            <a:r>
              <a:rPr lang="en-US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random​   </a:t>
            </a:r>
            <a:r>
              <a:rPr lang="en-US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តាមរយៈ</a:t>
            </a:r>
            <a:r>
              <a:rPr lang="en-US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index </a:t>
            </a:r>
            <a:r>
              <a:rPr lang="en-US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មានលក្ខណៈយឺត</a:t>
            </a:r>
            <a:r>
              <a:rPr lang="en-US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។</a:t>
            </a:r>
            <a:br>
              <a:rPr lang="en-US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</a:br>
            <a:r>
              <a:rPr lang="en-US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   </a:t>
            </a:r>
            <a:r>
              <a:rPr lang="en-US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Vector </a:t>
            </a:r>
            <a:r>
              <a:rPr lang="en-US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គឺការអនុវត្ត</a:t>
            </a:r>
            <a:r>
              <a:rPr lang="en-US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(implementation) </a:t>
            </a:r>
            <a:r>
              <a:rPr lang="en-US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ដែលស្រដៀងទៅនិង</a:t>
            </a:r>
            <a:r>
              <a:rPr lang="en-US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ArrayList</a:t>
            </a:r>
            <a:r>
              <a:rPr lang="en-US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​ </a:t>
            </a:r>
            <a:r>
              <a:rPr lang="en-US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ដែរ</a:t>
            </a:r>
            <a:r>
              <a:rPr lang="en-US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។ </a:t>
            </a:r>
            <a:r>
              <a:rPr lang="en-US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ប៉ុន្តែវាមានលក្ខណៈជា</a:t>
            </a:r>
            <a:r>
              <a:rPr lang="en-US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thread-safe (synchronized)</a:t>
            </a:r>
            <a:r>
              <a:rPr lang="en-US" sz="2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។</a:t>
            </a:r>
            <a:endParaRPr lang="en-US" dirty="0">
              <a:solidFill>
                <a:srgbClr val="0070C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580575252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4D1392F-CD19-96A6-AFD1-180CE2F9ED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94C504-B2D9-C73F-0FD8-B7CF0BE4137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701800" y="119781"/>
            <a:ext cx="9144000" cy="789373"/>
          </a:xfrm>
        </p:spPr>
        <p:txBody>
          <a:bodyPr>
            <a:normAutofit/>
          </a:bodyPr>
          <a:lstStyle/>
          <a:p>
            <a:pPr algn="l"/>
            <a:r>
              <a:rPr lang="en-US" sz="3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Collections(</a:t>
            </a:r>
            <a:r>
              <a:rPr lang="en-US" sz="3600" dirty="0" err="1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ត</a:t>
            </a:r>
            <a:r>
              <a:rPr lang="en-US" sz="3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)</a:t>
            </a:r>
            <a:endParaRPr lang="en-KH" sz="3600" dirty="0">
              <a:solidFill>
                <a:srgbClr val="00206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42A20DA4-79D5-AAE4-542F-91940A7FA2CB}"/>
              </a:ext>
            </a:extLst>
          </p:cNvPr>
          <p:cNvCxnSpPr/>
          <p:nvPr/>
        </p:nvCxnSpPr>
        <p:spPr>
          <a:xfrm>
            <a:off x="0" y="1050468"/>
            <a:ext cx="12192000" cy="0"/>
          </a:xfrm>
          <a:prstGeom prst="line">
            <a:avLst/>
          </a:prstGeom>
          <a:ln w="57150">
            <a:solidFill>
              <a:srgbClr val="D49B0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37A1A0C3-2D52-A446-11FC-C5C60760B343}"/>
              </a:ext>
            </a:extLst>
          </p:cNvPr>
          <p:cNvCxnSpPr>
            <a:cxnSpLocks/>
          </p:cNvCxnSpPr>
          <p:nvPr/>
        </p:nvCxnSpPr>
        <p:spPr>
          <a:xfrm>
            <a:off x="0" y="979812"/>
            <a:ext cx="12192000" cy="0"/>
          </a:xfrm>
          <a:prstGeom prst="line">
            <a:avLst/>
          </a:prstGeom>
          <a:ln w="57150">
            <a:solidFill>
              <a:srgbClr val="1C27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7" name="Picture 46" descr="A blue circle with a yellow and white bird in it&#10;&#10;AI-generated content may be incorrect.">
            <a:extLst>
              <a:ext uri="{FF2B5EF4-FFF2-40B4-BE49-F238E27FC236}">
                <a16:creationId xmlns:a16="http://schemas.microsoft.com/office/drawing/2014/main" id="{6DF5BD5B-F59E-4FF9-020E-81BA139172C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5438" y="219712"/>
            <a:ext cx="606500" cy="606500"/>
          </a:xfrm>
          <a:prstGeom prst="rect">
            <a:avLst/>
          </a:prstGeom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A37501D9-1EBF-7D0C-5895-FDADB691FD0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51353" y="1154761"/>
            <a:ext cx="10459234" cy="5510306"/>
          </a:xfrm>
        </p:spPr>
        <p:txBody>
          <a:bodyPr>
            <a:noAutofit/>
          </a:bodyPr>
          <a:lstStyle/>
          <a:p>
            <a:pPr algn="l">
              <a:lnSpc>
                <a:spcPct val="100000"/>
              </a:lnSpc>
              <a:spcBef>
                <a:spcPts val="1500"/>
              </a:spcBef>
            </a:pPr>
            <a:r>
              <a:rPr lang="en-US" sz="2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  </a:t>
            </a:r>
            <a:r>
              <a:rPr lang="en-US" sz="20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List method </a:t>
            </a:r>
            <a:r>
              <a:rPr lang="en-US" sz="2000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មានដូចជា</a:t>
            </a:r>
            <a:r>
              <a:rPr lang="en-US" sz="20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៖</a:t>
            </a:r>
          </a:p>
          <a:p>
            <a:pPr marL="800100" lvl="1" indent="-342900" algn="l">
              <a:lnSpc>
                <a:spcPct val="100000"/>
              </a:lnSpc>
              <a:spcBef>
                <a:spcPts val="1500"/>
              </a:spcBef>
              <a:buFont typeface="Wingdings" pitchFamily="2" charset="2"/>
              <a:buChar char="Ø"/>
            </a:pP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add() : </a:t>
            </a:r>
            <a:r>
              <a:rPr lang="en-US" sz="1800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ប្រើសម្រាប់បន្ថែមធាតុចុងក្រោយគេនៃ</a:t>
            </a:r>
            <a:r>
              <a:rPr lang="en-US" sz="18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List </a:t>
            </a:r>
            <a:r>
              <a:rPr lang="en-US" sz="18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។</a:t>
            </a:r>
          </a:p>
          <a:p>
            <a:pPr lvl="1" algn="l">
              <a:lnSpc>
                <a:spcPct val="100000"/>
              </a:lnSpc>
              <a:spcBef>
                <a:spcPts val="1500"/>
              </a:spcBef>
            </a:pPr>
            <a:r>
              <a:rPr lang="en-US" sz="18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	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1800" dirty="0" err="1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ឧទាហរណ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៍៖</a:t>
            </a:r>
            <a:r>
              <a:rPr lang="en-US" sz="18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List&lt;String&gt; 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list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=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new </a:t>
            </a:r>
            <a:r>
              <a:rPr lang="en-US" sz="1800" dirty="0" err="1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ArrayList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&lt;&gt;();</a:t>
            </a:r>
            <a:b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</a:b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		       </a:t>
            </a:r>
            <a:r>
              <a:rPr lang="en-US" sz="1800" dirty="0" err="1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list</a:t>
            </a:r>
            <a:r>
              <a:rPr lang="en-US" sz="1800" dirty="0" err="1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.add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(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“A”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)</a:t>
            </a:r>
            <a:r>
              <a:rPr lang="en-US" sz="18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;</a:t>
            </a:r>
          </a:p>
          <a:p>
            <a:pPr marL="800100" lvl="1" indent="-342900" algn="l">
              <a:lnSpc>
                <a:spcPct val="100000"/>
              </a:lnSpc>
              <a:spcBef>
                <a:spcPts val="1500"/>
              </a:spcBef>
              <a:buFont typeface="Wingdings" pitchFamily="2" charset="2"/>
              <a:buChar char="Ø"/>
            </a:pP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get() : </a:t>
            </a:r>
            <a:r>
              <a:rPr lang="en-US" sz="1800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ប្រើសម្រាប់ចាប់យកធាតុមួយនៃ</a:t>
            </a:r>
            <a:r>
              <a:rPr lang="en-US" sz="18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List </a:t>
            </a:r>
            <a:r>
              <a:rPr lang="en-US" sz="1800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តាមរយៈ</a:t>
            </a:r>
            <a:r>
              <a:rPr lang="en-US" sz="18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index </a:t>
            </a:r>
            <a:r>
              <a:rPr lang="en-US" sz="18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។</a:t>
            </a:r>
          </a:p>
          <a:p>
            <a:pPr lvl="1" algn="l">
              <a:lnSpc>
                <a:spcPct val="100000"/>
              </a:lnSpc>
              <a:spcBef>
                <a:spcPts val="1500"/>
              </a:spcBef>
            </a:pP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	 </a:t>
            </a:r>
            <a:r>
              <a:rPr lang="en-US" sz="1800" dirty="0" err="1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ឧទាហរណ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៍៖</a:t>
            </a:r>
            <a:r>
              <a:rPr lang="en-US" sz="18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List&lt;String&gt; 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list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=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new </a:t>
            </a:r>
            <a:r>
              <a:rPr lang="en-US" sz="1800" dirty="0" err="1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ArrayList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&lt;&gt;()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; </a:t>
            </a:r>
            <a:r>
              <a:rPr lang="en-US" sz="1800" dirty="0" err="1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list</a:t>
            </a:r>
            <a:r>
              <a:rPr lang="en-US" sz="1800" dirty="0" err="1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.add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(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“A”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)</a:t>
            </a:r>
            <a:r>
              <a:rPr lang="en-US" sz="18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; </a:t>
            </a:r>
            <a:r>
              <a:rPr lang="en-US" sz="1800" dirty="0" err="1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list</a:t>
            </a:r>
            <a:r>
              <a:rPr lang="en-US" sz="1800" dirty="0" err="1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.add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(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“B”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)</a:t>
            </a:r>
            <a:r>
              <a:rPr lang="en-US" sz="18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; </a:t>
            </a:r>
            <a:r>
              <a:rPr lang="en-US" sz="1800" dirty="0" err="1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list</a:t>
            </a:r>
            <a:r>
              <a:rPr lang="en-US" sz="1800" dirty="0" err="1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.add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(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“C”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)</a:t>
            </a:r>
            <a:r>
              <a:rPr lang="en-US" sz="18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;</a:t>
            </a:r>
            <a:b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</a:b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		       </a:t>
            </a:r>
            <a:r>
              <a:rPr lang="en-US" sz="1800" dirty="0" err="1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list</a:t>
            </a:r>
            <a:r>
              <a:rPr lang="en-US" sz="1800" dirty="0" err="1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.get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(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0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)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;</a:t>
            </a:r>
          </a:p>
          <a:p>
            <a:pPr marL="800100" lvl="1" indent="-342900" algn="l">
              <a:lnSpc>
                <a:spcPct val="100000"/>
              </a:lnSpc>
              <a:spcBef>
                <a:spcPts val="1500"/>
              </a:spcBef>
              <a:buFont typeface="Wingdings" pitchFamily="2" charset="2"/>
              <a:buChar char="Ø"/>
            </a:pP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set() : </a:t>
            </a:r>
            <a:r>
              <a:rPr lang="en-US" sz="1800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ប្រើសម្រាប់ផ្លាស់ប្តូរធាតុមួយនៃ</a:t>
            </a:r>
            <a:r>
              <a:rPr lang="en-US" sz="18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List </a:t>
            </a:r>
            <a:r>
              <a:rPr lang="en-US" sz="1800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តាមរយៈ</a:t>
            </a:r>
            <a:r>
              <a:rPr lang="en-US" sz="18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index </a:t>
            </a:r>
            <a:r>
              <a:rPr lang="en-US" sz="18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។</a:t>
            </a:r>
          </a:p>
          <a:p>
            <a:pPr lvl="1" algn="l">
              <a:lnSpc>
                <a:spcPct val="100000"/>
              </a:lnSpc>
              <a:spcBef>
                <a:spcPts val="1500"/>
              </a:spcBef>
            </a:pP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	 </a:t>
            </a:r>
            <a:r>
              <a:rPr lang="en-US" sz="1800" dirty="0" err="1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ឧទាហរណ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៍៖</a:t>
            </a:r>
            <a:r>
              <a:rPr lang="en-US" sz="18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List&lt;String&gt; 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list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=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new </a:t>
            </a:r>
            <a:r>
              <a:rPr lang="en-US" sz="1800" dirty="0" err="1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ArrayList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&lt;&gt;()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; </a:t>
            </a:r>
            <a:r>
              <a:rPr lang="en-US" sz="1800" dirty="0" err="1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list</a:t>
            </a:r>
            <a:r>
              <a:rPr lang="en-US" sz="1800" dirty="0" err="1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.add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(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“A”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)</a:t>
            </a:r>
            <a:r>
              <a:rPr lang="en-US" sz="18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; </a:t>
            </a:r>
            <a:r>
              <a:rPr lang="en-US" sz="1800" dirty="0" err="1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list</a:t>
            </a:r>
            <a:r>
              <a:rPr lang="en-US" sz="1800" dirty="0" err="1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.add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(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“B”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)</a:t>
            </a:r>
            <a:r>
              <a:rPr lang="en-US" sz="18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; </a:t>
            </a:r>
            <a:r>
              <a:rPr lang="en-US" sz="1800" dirty="0" err="1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list</a:t>
            </a:r>
            <a:r>
              <a:rPr lang="en-US" sz="1800" dirty="0" err="1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.add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(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“C”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)</a:t>
            </a:r>
            <a:r>
              <a:rPr lang="en-US" sz="18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;</a:t>
            </a:r>
            <a:b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</a:b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		       </a:t>
            </a:r>
            <a:r>
              <a:rPr lang="en-US" sz="1800" dirty="0" err="1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list</a:t>
            </a:r>
            <a:r>
              <a:rPr lang="en-US" sz="1800" dirty="0" err="1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.set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(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0, </a:t>
            </a:r>
            <a:r>
              <a:rPr lang="en-US" sz="1800" dirty="0">
                <a:latin typeface="Khmer OS Content" panose="02000500000000020004" pitchFamily="2" charset="77"/>
                <a:cs typeface="Khmer OS Content" panose="02000500000000020004" pitchFamily="2" charset="77"/>
              </a:rPr>
              <a:t>"B"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)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;</a:t>
            </a:r>
          </a:p>
          <a:p>
            <a:pPr marL="800100" lvl="1" indent="-342900" algn="l">
              <a:lnSpc>
                <a:spcPct val="100000"/>
              </a:lnSpc>
              <a:spcBef>
                <a:spcPts val="1500"/>
              </a:spcBef>
              <a:buFont typeface="Wingdings" pitchFamily="2" charset="2"/>
              <a:buChar char="Ø"/>
            </a:pP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remove() : </a:t>
            </a:r>
            <a:r>
              <a:rPr lang="en-US" sz="1800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ប្រើសម្រាប់លុបធាតុមួយនៃ</a:t>
            </a:r>
            <a:r>
              <a:rPr lang="en-US" sz="18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List </a:t>
            </a:r>
            <a:r>
              <a:rPr lang="en-US" sz="1800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តាមរយៈ</a:t>
            </a:r>
            <a:r>
              <a:rPr lang="en-US" sz="18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index </a:t>
            </a:r>
            <a:r>
              <a:rPr lang="en-US" sz="1800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ឫ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Object </a:t>
            </a:r>
            <a:r>
              <a:rPr lang="en-US" sz="18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។</a:t>
            </a:r>
          </a:p>
          <a:p>
            <a:pPr lvl="1" algn="l">
              <a:lnSpc>
                <a:spcPct val="100000"/>
              </a:lnSpc>
              <a:spcBef>
                <a:spcPts val="1500"/>
              </a:spcBef>
            </a:pP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	 </a:t>
            </a:r>
            <a:r>
              <a:rPr lang="en-US" sz="1800" dirty="0" err="1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ឧទាហរណ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៍៖</a:t>
            </a:r>
            <a:r>
              <a:rPr lang="en-US" sz="18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List&lt;String&gt; 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list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=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new </a:t>
            </a:r>
            <a:r>
              <a:rPr lang="en-US" sz="1800" dirty="0" err="1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ArrayList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&lt;&gt;()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; </a:t>
            </a:r>
            <a:r>
              <a:rPr lang="en-US" sz="1800" dirty="0" err="1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list</a:t>
            </a:r>
            <a:r>
              <a:rPr lang="en-US" sz="1800" dirty="0" err="1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.add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(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“A”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)</a:t>
            </a:r>
            <a:r>
              <a:rPr lang="en-US" sz="18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; </a:t>
            </a:r>
            <a:r>
              <a:rPr lang="en-US" sz="1800" dirty="0" err="1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list</a:t>
            </a:r>
            <a:r>
              <a:rPr lang="en-US" sz="1800" dirty="0" err="1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.add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(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“B”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)</a:t>
            </a:r>
            <a:r>
              <a:rPr lang="en-US" sz="18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; </a:t>
            </a:r>
            <a:r>
              <a:rPr lang="en-US" sz="1800" dirty="0" err="1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list</a:t>
            </a:r>
            <a:r>
              <a:rPr lang="en-US" sz="1800" dirty="0" err="1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.add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(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“C”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)</a:t>
            </a:r>
            <a:r>
              <a:rPr lang="en-US" sz="18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;</a:t>
            </a:r>
            <a:b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</a:b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		       </a:t>
            </a:r>
            <a:r>
              <a:rPr lang="en-US" sz="1800" dirty="0" err="1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list</a:t>
            </a:r>
            <a:r>
              <a:rPr lang="en-US" sz="1800" dirty="0" err="1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.remove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(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0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)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;</a:t>
            </a:r>
          </a:p>
        </p:txBody>
      </p:sp>
    </p:spTree>
    <p:extLst>
      <p:ext uri="{BB962C8B-B14F-4D97-AF65-F5344CB8AC3E}">
        <p14:creationId xmlns:p14="http://schemas.microsoft.com/office/powerpoint/2010/main" val="1029158892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A356A4A-FB5D-D622-F804-F077C76553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4BEE3A-40FC-872A-9902-75E0958B252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701800" y="119781"/>
            <a:ext cx="9144000" cy="789373"/>
          </a:xfrm>
        </p:spPr>
        <p:txBody>
          <a:bodyPr>
            <a:normAutofit/>
          </a:bodyPr>
          <a:lstStyle/>
          <a:p>
            <a:pPr algn="l"/>
            <a:r>
              <a:rPr lang="en-US" sz="3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Collections(</a:t>
            </a:r>
            <a:r>
              <a:rPr lang="en-US" sz="3600" dirty="0" err="1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ត</a:t>
            </a:r>
            <a:r>
              <a:rPr lang="en-US" sz="3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)</a:t>
            </a:r>
            <a:endParaRPr lang="en-KH" sz="3600" dirty="0">
              <a:solidFill>
                <a:srgbClr val="00206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4AEA598B-717E-F5E2-148D-89599F3655CE}"/>
              </a:ext>
            </a:extLst>
          </p:cNvPr>
          <p:cNvCxnSpPr/>
          <p:nvPr/>
        </p:nvCxnSpPr>
        <p:spPr>
          <a:xfrm>
            <a:off x="0" y="1050468"/>
            <a:ext cx="12192000" cy="0"/>
          </a:xfrm>
          <a:prstGeom prst="line">
            <a:avLst/>
          </a:prstGeom>
          <a:ln w="57150">
            <a:solidFill>
              <a:srgbClr val="D49B0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7A86B0F9-561A-5981-D91A-DD6E1C985702}"/>
              </a:ext>
            </a:extLst>
          </p:cNvPr>
          <p:cNvCxnSpPr>
            <a:cxnSpLocks/>
          </p:cNvCxnSpPr>
          <p:nvPr/>
        </p:nvCxnSpPr>
        <p:spPr>
          <a:xfrm>
            <a:off x="0" y="979812"/>
            <a:ext cx="12192000" cy="0"/>
          </a:xfrm>
          <a:prstGeom prst="line">
            <a:avLst/>
          </a:prstGeom>
          <a:ln w="57150">
            <a:solidFill>
              <a:srgbClr val="1C27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7" name="Picture 46" descr="A blue circle with a yellow and white bird in it&#10;&#10;AI-generated content may be incorrect.">
            <a:extLst>
              <a:ext uri="{FF2B5EF4-FFF2-40B4-BE49-F238E27FC236}">
                <a16:creationId xmlns:a16="http://schemas.microsoft.com/office/drawing/2014/main" id="{17083AB2-EEED-5C26-61C4-FF420B4C318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5438" y="219712"/>
            <a:ext cx="606500" cy="606500"/>
          </a:xfrm>
          <a:prstGeom prst="rect">
            <a:avLst/>
          </a:prstGeom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D415A91F-E5D3-CA5D-3874-A09B86105B8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51353" y="1203529"/>
            <a:ext cx="10459234" cy="5221654"/>
          </a:xfrm>
        </p:spPr>
        <p:txBody>
          <a:bodyPr>
            <a:noAutofit/>
          </a:bodyPr>
          <a:lstStyle/>
          <a:p>
            <a:pPr marL="742950" lvl="1" indent="-285750" algn="l">
              <a:lnSpc>
                <a:spcPct val="100000"/>
              </a:lnSpc>
              <a:spcBef>
                <a:spcPts val="1500"/>
              </a:spcBef>
              <a:buFont typeface="Wingdings" pitchFamily="2" charset="2"/>
              <a:buChar char="Ø"/>
            </a:pP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size() : </a:t>
            </a:r>
            <a:r>
              <a:rPr lang="en-US" sz="1800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ប្រើសម្រាប់ពិនិត្យចំនួនធាតុនៃ</a:t>
            </a:r>
            <a:r>
              <a:rPr lang="en-US" sz="18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List </a:t>
            </a:r>
            <a:r>
              <a:rPr lang="en-US" sz="18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។</a:t>
            </a:r>
          </a:p>
          <a:p>
            <a:pPr lvl="1" algn="l">
              <a:lnSpc>
                <a:spcPct val="100000"/>
              </a:lnSpc>
              <a:spcBef>
                <a:spcPts val="1500"/>
              </a:spcBef>
            </a:pPr>
            <a:r>
              <a:rPr lang="en-US" sz="18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	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1800" dirty="0" err="1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ឧទាហរណ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៍៖</a:t>
            </a:r>
            <a:r>
              <a:rPr lang="en-US" sz="18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List&lt;String&gt; 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list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=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new </a:t>
            </a:r>
            <a:r>
              <a:rPr lang="en-US" sz="1800" dirty="0" err="1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ArrayList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&lt;&gt;()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; </a:t>
            </a:r>
            <a:r>
              <a:rPr lang="en-US" sz="1800" dirty="0" err="1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list</a:t>
            </a:r>
            <a:r>
              <a:rPr lang="en-US" sz="1800" dirty="0" err="1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.add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(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“A”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)</a:t>
            </a:r>
            <a:r>
              <a:rPr lang="en-US" sz="18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; </a:t>
            </a:r>
            <a:r>
              <a:rPr lang="en-US" sz="1800" dirty="0" err="1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list</a:t>
            </a:r>
            <a:r>
              <a:rPr lang="en-US" sz="1800" dirty="0" err="1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.add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(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“B”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)</a:t>
            </a:r>
            <a:r>
              <a:rPr lang="en-US" sz="18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; </a:t>
            </a:r>
            <a:r>
              <a:rPr lang="en-US" sz="1800" dirty="0" err="1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list</a:t>
            </a:r>
            <a:r>
              <a:rPr lang="en-US" sz="1800" dirty="0" err="1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.add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(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“C”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)</a:t>
            </a:r>
            <a:r>
              <a:rPr lang="en-US" sz="18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;</a:t>
            </a:r>
            <a:b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</a:b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		       </a:t>
            </a:r>
            <a:r>
              <a:rPr lang="en-US" sz="1800" dirty="0" err="1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list</a:t>
            </a:r>
            <a:r>
              <a:rPr lang="en-US" sz="1800" dirty="0" err="1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.size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()</a:t>
            </a:r>
            <a:r>
              <a:rPr lang="en-US" sz="18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;</a:t>
            </a:r>
          </a:p>
          <a:p>
            <a:pPr marL="800100" lvl="1" indent="-342900" algn="l">
              <a:lnSpc>
                <a:spcPct val="100000"/>
              </a:lnSpc>
              <a:spcBef>
                <a:spcPts val="1500"/>
              </a:spcBef>
              <a:buFont typeface="Wingdings" pitchFamily="2" charset="2"/>
              <a:buChar char="Ø"/>
            </a:pPr>
            <a:r>
              <a:rPr lang="en-US" sz="1800" dirty="0" err="1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addFirst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() : </a:t>
            </a:r>
            <a:r>
              <a:rPr lang="en-US" sz="1800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ប្រើសម្រាប់បន្ថែមធាតុនៅដំបូងគេនៃ</a:t>
            </a:r>
            <a:r>
              <a:rPr lang="en-US" sz="18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List </a:t>
            </a:r>
            <a:r>
              <a:rPr lang="en-US" sz="18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។</a:t>
            </a:r>
          </a:p>
          <a:p>
            <a:pPr lvl="1" algn="l">
              <a:lnSpc>
                <a:spcPct val="100000"/>
              </a:lnSpc>
              <a:spcBef>
                <a:spcPts val="1500"/>
              </a:spcBef>
            </a:pP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	 </a:t>
            </a:r>
            <a:r>
              <a:rPr lang="en-US" sz="1800" dirty="0" err="1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ឧទាហរណ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៍៖</a:t>
            </a:r>
            <a:r>
              <a:rPr lang="en-US" sz="18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List&lt;String&gt; 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list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=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new </a:t>
            </a:r>
            <a:r>
              <a:rPr lang="en-US" sz="1800" dirty="0" err="1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ArrayList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&lt;&gt;()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; </a:t>
            </a:r>
            <a:r>
              <a:rPr lang="en-US" sz="1800" dirty="0" err="1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list</a:t>
            </a:r>
            <a:r>
              <a:rPr lang="en-US" sz="1800" dirty="0" err="1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.add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(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“A”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)</a:t>
            </a:r>
            <a:r>
              <a:rPr lang="en-US" sz="18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; </a:t>
            </a:r>
            <a:r>
              <a:rPr lang="en-US" sz="1800" dirty="0" err="1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list</a:t>
            </a:r>
            <a:r>
              <a:rPr lang="en-US" sz="1800" dirty="0" err="1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.add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(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“B”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)</a:t>
            </a:r>
            <a:r>
              <a:rPr lang="en-US" sz="18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; </a:t>
            </a:r>
            <a:r>
              <a:rPr lang="en-US" sz="1800" dirty="0" err="1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list</a:t>
            </a:r>
            <a:r>
              <a:rPr lang="en-US" sz="1800" dirty="0" err="1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.add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(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“C”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)</a:t>
            </a:r>
            <a:r>
              <a:rPr lang="en-US" sz="18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;</a:t>
            </a:r>
            <a:b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</a:b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		       </a:t>
            </a:r>
            <a:r>
              <a:rPr lang="en-US" sz="1800" dirty="0" err="1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list</a:t>
            </a:r>
            <a:r>
              <a:rPr lang="en-US" sz="1800" dirty="0" err="1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.addFirst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(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"</a:t>
            </a:r>
            <a:r>
              <a:rPr lang="en-US" sz="1800" dirty="0">
                <a:latin typeface="Khmer OS Content" panose="02000500000000020004" pitchFamily="2" charset="77"/>
                <a:cs typeface="Khmer OS Content" panose="02000500000000020004" pitchFamily="2" charset="77"/>
              </a:rPr>
              <a:t>1"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)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;</a:t>
            </a:r>
          </a:p>
          <a:p>
            <a:pPr marL="800100" lvl="1" indent="-342900" algn="l">
              <a:lnSpc>
                <a:spcPct val="100000"/>
              </a:lnSpc>
              <a:spcBef>
                <a:spcPts val="1500"/>
              </a:spcBef>
              <a:buFont typeface="Wingdings" pitchFamily="2" charset="2"/>
              <a:buChar char="Ø"/>
            </a:pPr>
            <a:r>
              <a:rPr lang="en-US" sz="1800" dirty="0" err="1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addLast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() : </a:t>
            </a:r>
            <a:r>
              <a:rPr lang="en-US" sz="1800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ប្រើសម្រាប់បន្ថែមធាតុចុងក្រោយគេនៃ</a:t>
            </a:r>
            <a:r>
              <a:rPr lang="en-US" sz="18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List </a:t>
            </a:r>
            <a:r>
              <a:rPr lang="en-US" sz="1800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តាមរយៈ</a:t>
            </a:r>
            <a:r>
              <a:rPr lang="en-US" sz="18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index </a:t>
            </a:r>
            <a:r>
              <a:rPr lang="en-US" sz="18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។</a:t>
            </a:r>
          </a:p>
          <a:p>
            <a:pPr lvl="1" algn="l">
              <a:lnSpc>
                <a:spcPct val="100000"/>
              </a:lnSpc>
              <a:spcBef>
                <a:spcPts val="1500"/>
              </a:spcBef>
            </a:pP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	 </a:t>
            </a:r>
            <a:r>
              <a:rPr lang="en-US" sz="1800" dirty="0" err="1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ឧទាហរណ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៍៖</a:t>
            </a:r>
            <a:r>
              <a:rPr lang="en-US" sz="18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List&lt;String&gt; 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list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=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new </a:t>
            </a:r>
            <a:r>
              <a:rPr lang="en-US" sz="1800" dirty="0" err="1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ArrayList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&lt;&gt;()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; </a:t>
            </a:r>
            <a:r>
              <a:rPr lang="en-US" sz="1800" dirty="0" err="1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list</a:t>
            </a:r>
            <a:r>
              <a:rPr lang="en-US" sz="1800" dirty="0" err="1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.add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(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“A”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)</a:t>
            </a:r>
            <a:r>
              <a:rPr lang="en-US" sz="18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; </a:t>
            </a:r>
            <a:r>
              <a:rPr lang="en-US" sz="1800" dirty="0" err="1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list</a:t>
            </a:r>
            <a:r>
              <a:rPr lang="en-US" sz="1800" dirty="0" err="1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.add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(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“B”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)</a:t>
            </a:r>
            <a:r>
              <a:rPr lang="en-US" sz="18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; </a:t>
            </a:r>
            <a:r>
              <a:rPr lang="en-US" sz="1800" dirty="0" err="1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list</a:t>
            </a:r>
            <a:r>
              <a:rPr lang="en-US" sz="1800" dirty="0" err="1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.add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(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“C”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)</a:t>
            </a:r>
            <a:r>
              <a:rPr lang="en-US" sz="18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;</a:t>
            </a:r>
            <a:b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</a:b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		       </a:t>
            </a:r>
            <a:r>
              <a:rPr lang="en-US" sz="1800" dirty="0" err="1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list</a:t>
            </a:r>
            <a:r>
              <a:rPr lang="en-US" sz="1800" dirty="0" err="1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.addLast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(</a:t>
            </a:r>
            <a:r>
              <a:rPr lang="en-US" sz="1800" dirty="0">
                <a:latin typeface="Khmer OS Content" panose="02000500000000020004" pitchFamily="2" charset="77"/>
                <a:cs typeface="Khmer OS Content" panose="02000500000000020004" pitchFamily="2" charset="77"/>
              </a:rPr>
              <a:t>"D"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)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;</a:t>
            </a:r>
          </a:p>
          <a:p>
            <a:pPr marL="800100" lvl="1" indent="-342900" algn="l">
              <a:lnSpc>
                <a:spcPct val="100000"/>
              </a:lnSpc>
              <a:spcBef>
                <a:spcPts val="1500"/>
              </a:spcBef>
              <a:buFont typeface="Wingdings" pitchFamily="2" charset="2"/>
              <a:buChar char="Ø"/>
            </a:pPr>
            <a:r>
              <a:rPr lang="en-US" sz="1800" dirty="0" err="1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removeFirst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() : </a:t>
            </a:r>
            <a:r>
              <a:rPr lang="en-US" sz="1800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ប្រើសម្រាប់លុបធាតុដំបូងនៃ</a:t>
            </a:r>
            <a:r>
              <a:rPr lang="en-US" sz="18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List</a:t>
            </a:r>
            <a:r>
              <a:rPr lang="en-US" sz="18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។</a:t>
            </a:r>
          </a:p>
          <a:p>
            <a:pPr lvl="1" algn="l">
              <a:lnSpc>
                <a:spcPct val="100000"/>
              </a:lnSpc>
              <a:spcBef>
                <a:spcPts val="1500"/>
              </a:spcBef>
            </a:pP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	 </a:t>
            </a:r>
            <a:r>
              <a:rPr lang="en-US" sz="1800" dirty="0" err="1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ឧទាហរណ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៍៖</a:t>
            </a:r>
            <a:r>
              <a:rPr lang="en-US" sz="18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List&lt;String&gt; 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list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=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new </a:t>
            </a:r>
            <a:r>
              <a:rPr lang="en-US" sz="1800" dirty="0" err="1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ArrayList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&lt;&gt;()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; </a:t>
            </a:r>
            <a:r>
              <a:rPr lang="en-US" sz="1800" dirty="0" err="1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list</a:t>
            </a:r>
            <a:r>
              <a:rPr lang="en-US" sz="1800" dirty="0" err="1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.add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(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“A”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)</a:t>
            </a:r>
            <a:r>
              <a:rPr lang="en-US" sz="18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; </a:t>
            </a:r>
            <a:r>
              <a:rPr lang="en-US" sz="1800" dirty="0" err="1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list</a:t>
            </a:r>
            <a:r>
              <a:rPr lang="en-US" sz="1800" dirty="0" err="1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.add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(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“B”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)</a:t>
            </a:r>
            <a:r>
              <a:rPr lang="en-US" sz="18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; </a:t>
            </a:r>
            <a:r>
              <a:rPr lang="en-US" sz="1800" dirty="0" err="1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list</a:t>
            </a:r>
            <a:r>
              <a:rPr lang="en-US" sz="1800" dirty="0" err="1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.add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(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“C”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)</a:t>
            </a:r>
            <a:r>
              <a:rPr lang="en-US" sz="18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;</a:t>
            </a:r>
            <a:b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</a:b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		       </a:t>
            </a:r>
            <a:r>
              <a:rPr lang="en-US" sz="1800" dirty="0" err="1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list</a:t>
            </a:r>
            <a:r>
              <a:rPr lang="en-US" sz="1800" dirty="0" err="1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.removeFirst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()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;</a:t>
            </a:r>
          </a:p>
        </p:txBody>
      </p:sp>
    </p:spTree>
    <p:extLst>
      <p:ext uri="{BB962C8B-B14F-4D97-AF65-F5344CB8AC3E}">
        <p14:creationId xmlns:p14="http://schemas.microsoft.com/office/powerpoint/2010/main" val="4272053766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58F9F45-ABE7-88BC-C458-3F81309A77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579F32-D89D-51BF-0A0F-A03243483FD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701800" y="119781"/>
            <a:ext cx="9144000" cy="789373"/>
          </a:xfrm>
        </p:spPr>
        <p:txBody>
          <a:bodyPr>
            <a:normAutofit/>
          </a:bodyPr>
          <a:lstStyle/>
          <a:p>
            <a:pPr algn="l"/>
            <a:r>
              <a:rPr lang="en-US" sz="3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Collections(</a:t>
            </a:r>
            <a:r>
              <a:rPr lang="en-US" sz="3600" dirty="0" err="1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ត</a:t>
            </a:r>
            <a:r>
              <a:rPr lang="en-US" sz="3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)</a:t>
            </a:r>
            <a:endParaRPr lang="en-KH" sz="3600" dirty="0">
              <a:solidFill>
                <a:srgbClr val="00206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E62DF271-92BE-AF6D-7C84-D070F460A179}"/>
              </a:ext>
            </a:extLst>
          </p:cNvPr>
          <p:cNvCxnSpPr/>
          <p:nvPr/>
        </p:nvCxnSpPr>
        <p:spPr>
          <a:xfrm>
            <a:off x="0" y="1050468"/>
            <a:ext cx="12192000" cy="0"/>
          </a:xfrm>
          <a:prstGeom prst="line">
            <a:avLst/>
          </a:prstGeom>
          <a:ln w="57150">
            <a:solidFill>
              <a:srgbClr val="D49B0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E3C954F7-068C-1D2F-ED78-17C508523CE7}"/>
              </a:ext>
            </a:extLst>
          </p:cNvPr>
          <p:cNvCxnSpPr>
            <a:cxnSpLocks/>
          </p:cNvCxnSpPr>
          <p:nvPr/>
        </p:nvCxnSpPr>
        <p:spPr>
          <a:xfrm>
            <a:off x="0" y="979812"/>
            <a:ext cx="12192000" cy="0"/>
          </a:xfrm>
          <a:prstGeom prst="line">
            <a:avLst/>
          </a:prstGeom>
          <a:ln w="57150">
            <a:solidFill>
              <a:srgbClr val="1C27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7" name="Picture 46" descr="A blue circle with a yellow and white bird in it&#10;&#10;AI-generated content may be incorrect.">
            <a:extLst>
              <a:ext uri="{FF2B5EF4-FFF2-40B4-BE49-F238E27FC236}">
                <a16:creationId xmlns:a16="http://schemas.microsoft.com/office/drawing/2014/main" id="{36EB7122-F6C0-C769-5E8D-C417FEC6FD5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5438" y="219712"/>
            <a:ext cx="606500" cy="606500"/>
          </a:xfrm>
          <a:prstGeom prst="rect">
            <a:avLst/>
          </a:prstGeom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088BADAF-C93F-0268-BCD8-93DF9FEC321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51353" y="1203529"/>
            <a:ext cx="10459234" cy="5221654"/>
          </a:xfrm>
        </p:spPr>
        <p:txBody>
          <a:bodyPr>
            <a:noAutofit/>
          </a:bodyPr>
          <a:lstStyle/>
          <a:p>
            <a:pPr marL="742950" lvl="1" indent="-285750" algn="l">
              <a:lnSpc>
                <a:spcPct val="100000"/>
              </a:lnSpc>
              <a:spcBef>
                <a:spcPts val="1500"/>
              </a:spcBef>
              <a:buFont typeface="Wingdings" pitchFamily="2" charset="2"/>
              <a:buChar char="Ø"/>
            </a:pPr>
            <a:r>
              <a:rPr lang="en-US" sz="1800" dirty="0" err="1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removeLast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() : </a:t>
            </a:r>
            <a:r>
              <a:rPr lang="en-US" sz="1800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ប្រើសម្រាប់លុបធាតុចុងក្រោយគេនៃ</a:t>
            </a:r>
            <a:r>
              <a:rPr lang="en-US" sz="18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List </a:t>
            </a:r>
            <a:r>
              <a:rPr lang="en-US" sz="18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។</a:t>
            </a:r>
          </a:p>
          <a:p>
            <a:pPr lvl="1" algn="l">
              <a:lnSpc>
                <a:spcPct val="100000"/>
              </a:lnSpc>
              <a:spcBef>
                <a:spcPts val="1500"/>
              </a:spcBef>
            </a:pPr>
            <a:r>
              <a:rPr lang="en-US" sz="18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	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1800" dirty="0" err="1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ឧទាហរណ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៍៖</a:t>
            </a:r>
            <a:r>
              <a:rPr lang="en-US" sz="18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List&lt;String&gt; 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list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=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new </a:t>
            </a:r>
            <a:r>
              <a:rPr lang="en-US" sz="1800" dirty="0" err="1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ArrayList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&lt;&gt;()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; </a:t>
            </a:r>
            <a:r>
              <a:rPr lang="en-US" sz="1800" dirty="0" err="1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list</a:t>
            </a:r>
            <a:r>
              <a:rPr lang="en-US" sz="1800" dirty="0" err="1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.add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(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“A”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)</a:t>
            </a:r>
            <a:r>
              <a:rPr lang="en-US" sz="18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; </a:t>
            </a:r>
            <a:r>
              <a:rPr lang="en-US" sz="1800" dirty="0" err="1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list</a:t>
            </a:r>
            <a:r>
              <a:rPr lang="en-US" sz="1800" dirty="0" err="1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.add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(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“B”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)</a:t>
            </a:r>
            <a:r>
              <a:rPr lang="en-US" sz="18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; </a:t>
            </a:r>
            <a:r>
              <a:rPr lang="en-US" sz="1800" dirty="0" err="1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list</a:t>
            </a:r>
            <a:r>
              <a:rPr lang="en-US" sz="1800" dirty="0" err="1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.add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(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“C”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)</a:t>
            </a:r>
            <a:r>
              <a:rPr lang="en-US" sz="18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;</a:t>
            </a:r>
            <a:b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</a:b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		       </a:t>
            </a:r>
            <a:r>
              <a:rPr lang="en-US" sz="1800" dirty="0" err="1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list</a:t>
            </a:r>
            <a:r>
              <a:rPr lang="en-US" sz="1800" dirty="0" err="1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.removeLast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()</a:t>
            </a:r>
            <a:r>
              <a:rPr lang="en-US" sz="18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;</a:t>
            </a:r>
          </a:p>
          <a:p>
            <a:pPr marL="800100" lvl="1" indent="-342900" algn="l">
              <a:lnSpc>
                <a:spcPct val="100000"/>
              </a:lnSpc>
              <a:spcBef>
                <a:spcPts val="1500"/>
              </a:spcBef>
              <a:buFont typeface="Wingdings" pitchFamily="2" charset="2"/>
              <a:buChar char="Ø"/>
            </a:pPr>
            <a:r>
              <a:rPr lang="en-US" sz="1800" dirty="0" err="1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getFirst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() : </a:t>
            </a:r>
            <a:r>
              <a:rPr lang="en-US" sz="1800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ប្រើសម្រាប់ចាប់យកធាតុនៅដំបូងគេនៃ</a:t>
            </a:r>
            <a:r>
              <a:rPr lang="en-US" sz="18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List </a:t>
            </a:r>
            <a:r>
              <a:rPr lang="en-US" sz="18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។</a:t>
            </a:r>
          </a:p>
          <a:p>
            <a:pPr lvl="1" algn="l">
              <a:lnSpc>
                <a:spcPct val="100000"/>
              </a:lnSpc>
              <a:spcBef>
                <a:spcPts val="1500"/>
              </a:spcBef>
            </a:pP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	 </a:t>
            </a:r>
            <a:r>
              <a:rPr lang="en-US" sz="1800" dirty="0" err="1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ឧទាហរណ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៍៖</a:t>
            </a:r>
            <a:r>
              <a:rPr lang="en-US" sz="18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List&lt;String&gt; 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list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=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new </a:t>
            </a:r>
            <a:r>
              <a:rPr lang="en-US" sz="1800" dirty="0" err="1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ArrayList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&lt;&gt;()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; </a:t>
            </a:r>
            <a:r>
              <a:rPr lang="en-US" sz="1800" dirty="0" err="1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list</a:t>
            </a:r>
            <a:r>
              <a:rPr lang="en-US" sz="1800" dirty="0" err="1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.add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(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“A”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)</a:t>
            </a:r>
            <a:r>
              <a:rPr lang="en-US" sz="18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; </a:t>
            </a:r>
            <a:r>
              <a:rPr lang="en-US" sz="1800" dirty="0" err="1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list</a:t>
            </a:r>
            <a:r>
              <a:rPr lang="en-US" sz="1800" dirty="0" err="1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.add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(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“B”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)</a:t>
            </a:r>
            <a:r>
              <a:rPr lang="en-US" sz="18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; </a:t>
            </a:r>
            <a:r>
              <a:rPr lang="en-US" sz="1800" dirty="0" err="1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list</a:t>
            </a:r>
            <a:r>
              <a:rPr lang="en-US" sz="1800" dirty="0" err="1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.add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(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“C”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)</a:t>
            </a:r>
            <a:r>
              <a:rPr lang="en-US" sz="18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;</a:t>
            </a:r>
            <a:b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</a:b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		       </a:t>
            </a:r>
            <a:r>
              <a:rPr lang="en-US" sz="1800" dirty="0" err="1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list</a:t>
            </a:r>
            <a:r>
              <a:rPr lang="en-US" sz="1800" dirty="0" err="1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.getFirst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()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;</a:t>
            </a:r>
          </a:p>
          <a:p>
            <a:pPr marL="800100" lvl="1" indent="-342900" algn="l">
              <a:lnSpc>
                <a:spcPct val="100000"/>
              </a:lnSpc>
              <a:spcBef>
                <a:spcPts val="1500"/>
              </a:spcBef>
              <a:buFont typeface="Wingdings" pitchFamily="2" charset="2"/>
              <a:buChar char="Ø"/>
            </a:pPr>
            <a:r>
              <a:rPr lang="en-US" sz="1800" dirty="0" err="1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getLast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() : </a:t>
            </a:r>
            <a:r>
              <a:rPr lang="en-US" sz="1800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ប្រើសម្រាប់ចាប់យកធាតុចុងក្រោយគេនៃ</a:t>
            </a:r>
            <a:r>
              <a:rPr lang="en-US" sz="18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List </a:t>
            </a:r>
            <a:r>
              <a:rPr lang="en-US" sz="18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។</a:t>
            </a:r>
          </a:p>
          <a:p>
            <a:pPr lvl="1" algn="l">
              <a:lnSpc>
                <a:spcPct val="100000"/>
              </a:lnSpc>
              <a:spcBef>
                <a:spcPts val="1500"/>
              </a:spcBef>
            </a:pP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	 </a:t>
            </a:r>
            <a:r>
              <a:rPr lang="en-US" sz="1800" dirty="0" err="1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ឧទាហរណ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៍៖</a:t>
            </a:r>
            <a:r>
              <a:rPr lang="en-US" sz="18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List&lt;String&gt; 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list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=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new </a:t>
            </a:r>
            <a:r>
              <a:rPr lang="en-US" sz="1800" dirty="0" err="1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ArrayList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&lt;&gt;()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; </a:t>
            </a:r>
            <a:r>
              <a:rPr lang="en-US" sz="1800" dirty="0" err="1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list</a:t>
            </a:r>
            <a:r>
              <a:rPr lang="en-US" sz="1800" dirty="0" err="1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.add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(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“A”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)</a:t>
            </a:r>
            <a:r>
              <a:rPr lang="en-US" sz="18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; </a:t>
            </a:r>
            <a:r>
              <a:rPr lang="en-US" sz="1800" dirty="0" err="1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list</a:t>
            </a:r>
            <a:r>
              <a:rPr lang="en-US" sz="1800" dirty="0" err="1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.add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(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“B”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)</a:t>
            </a:r>
            <a:r>
              <a:rPr lang="en-US" sz="18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; </a:t>
            </a:r>
            <a:r>
              <a:rPr lang="en-US" sz="1800" dirty="0" err="1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list</a:t>
            </a:r>
            <a:r>
              <a:rPr lang="en-US" sz="1800" dirty="0" err="1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.add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(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“C”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)</a:t>
            </a:r>
            <a:r>
              <a:rPr lang="en-US" sz="18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;</a:t>
            </a:r>
            <a:b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</a:b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		       </a:t>
            </a:r>
            <a:r>
              <a:rPr lang="en-US" sz="1800" dirty="0" err="1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list</a:t>
            </a:r>
            <a:r>
              <a:rPr lang="en-US" sz="1800" dirty="0" err="1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.getLast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()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;</a:t>
            </a:r>
          </a:p>
        </p:txBody>
      </p:sp>
    </p:spTree>
    <p:extLst>
      <p:ext uri="{BB962C8B-B14F-4D97-AF65-F5344CB8AC3E}">
        <p14:creationId xmlns:p14="http://schemas.microsoft.com/office/powerpoint/2010/main" val="225425392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32DD93C-6927-B2BA-317C-B575216431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62550A-3642-1D31-BCDC-76C9C49E263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701800" y="119781"/>
            <a:ext cx="9144000" cy="789373"/>
          </a:xfrm>
        </p:spPr>
        <p:txBody>
          <a:bodyPr>
            <a:normAutofit/>
          </a:bodyPr>
          <a:lstStyle/>
          <a:p>
            <a:pPr algn="l"/>
            <a:r>
              <a:rPr lang="en-US" sz="3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Collections(</a:t>
            </a:r>
            <a:r>
              <a:rPr lang="en-US" sz="3600" dirty="0" err="1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ត</a:t>
            </a:r>
            <a:r>
              <a:rPr lang="en-US" sz="3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)</a:t>
            </a:r>
            <a:endParaRPr lang="en-KH" sz="3600" dirty="0">
              <a:solidFill>
                <a:srgbClr val="00206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BD2B54AE-F6BA-B1A6-F80D-5B626AC4B075}"/>
              </a:ext>
            </a:extLst>
          </p:cNvPr>
          <p:cNvCxnSpPr/>
          <p:nvPr/>
        </p:nvCxnSpPr>
        <p:spPr>
          <a:xfrm>
            <a:off x="0" y="1050468"/>
            <a:ext cx="12192000" cy="0"/>
          </a:xfrm>
          <a:prstGeom prst="line">
            <a:avLst/>
          </a:prstGeom>
          <a:ln w="57150">
            <a:solidFill>
              <a:srgbClr val="D49B0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985F7D5D-75C3-5C56-618C-6E8A5995090E}"/>
              </a:ext>
            </a:extLst>
          </p:cNvPr>
          <p:cNvCxnSpPr>
            <a:cxnSpLocks/>
          </p:cNvCxnSpPr>
          <p:nvPr/>
        </p:nvCxnSpPr>
        <p:spPr>
          <a:xfrm>
            <a:off x="0" y="979812"/>
            <a:ext cx="12192000" cy="0"/>
          </a:xfrm>
          <a:prstGeom prst="line">
            <a:avLst/>
          </a:prstGeom>
          <a:ln w="57150">
            <a:solidFill>
              <a:srgbClr val="1C27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7" name="Picture 46" descr="A blue circle with a yellow and white bird in it&#10;&#10;AI-generated content may be incorrect.">
            <a:extLst>
              <a:ext uri="{FF2B5EF4-FFF2-40B4-BE49-F238E27FC236}">
                <a16:creationId xmlns:a16="http://schemas.microsoft.com/office/drawing/2014/main" id="{7ED99F07-E11F-A902-FD5D-3FE8EE7D29F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5438" y="219712"/>
            <a:ext cx="606500" cy="606500"/>
          </a:xfrm>
          <a:prstGeom prst="rect">
            <a:avLst/>
          </a:prstGeom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F88E362B-AAA0-5D6D-79B5-C64FC658BFA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51353" y="1621535"/>
            <a:ext cx="10459234" cy="4803647"/>
          </a:xfrm>
        </p:spPr>
        <p:txBody>
          <a:bodyPr>
            <a:noAutofit/>
          </a:bodyPr>
          <a:lstStyle/>
          <a:p>
            <a:pPr lvl="1" algn="l">
              <a:lnSpc>
                <a:spcPct val="150000"/>
              </a:lnSpc>
              <a:spcBef>
                <a:spcPts val="1500"/>
              </a:spcBef>
            </a:pPr>
            <a:r>
              <a:rPr lang="en-US" dirty="0" err="1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ការតម្រៀបធាតុនៃ</a:t>
            </a:r>
            <a:r>
              <a:rPr lang="en-US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List​ (List Sorting) </a:t>
            </a:r>
            <a:r>
              <a:rPr lang="en-US" dirty="0" err="1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មានដូចជា</a:t>
            </a:r>
            <a:r>
              <a:rPr lang="en-US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៖</a:t>
            </a:r>
            <a:endParaRPr lang="en-US" dirty="0">
              <a:solidFill>
                <a:srgbClr val="FF0000"/>
              </a:solidFill>
              <a:latin typeface="Khmer OS Content" panose="02000500000000020004" pitchFamily="2" charset="77"/>
              <a:cs typeface="Khmer OS Content" panose="02000500000000020004" pitchFamily="2" charset="77"/>
            </a:endParaRPr>
          </a:p>
          <a:p>
            <a:pPr marL="742950" lvl="1" indent="-285750" algn="l">
              <a:lnSpc>
                <a:spcPct val="150000"/>
              </a:lnSpc>
              <a:spcBef>
                <a:spcPts val="1500"/>
              </a:spcBef>
              <a:buFont typeface="Wingdings" pitchFamily="2" charset="2"/>
              <a:buChar char="Ø"/>
            </a:pPr>
            <a:r>
              <a:rPr lang="en-US" dirty="0" err="1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ការតម្រៀបធាតុពីតូចទៅធំ</a:t>
            </a:r>
            <a:r>
              <a:rPr lang="en-US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: </a:t>
            </a:r>
            <a:r>
              <a:rPr lang="en-US" dirty="0" err="1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Collections</a:t>
            </a:r>
            <a:r>
              <a:rPr lang="en-US" dirty="0" err="1">
                <a:solidFill>
                  <a:srgbClr val="FF0000"/>
                </a:solidFill>
              </a:rPr>
              <a:t>.</a:t>
            </a:r>
            <a:r>
              <a:rPr lang="en-US" dirty="0" err="1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sort</a:t>
            </a:r>
            <a:r>
              <a:rPr lang="en-US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( </a:t>
            </a:r>
            <a:r>
              <a:rPr lang="en-US" dirty="0" err="1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listVariable</a:t>
            </a:r>
            <a:r>
              <a:rPr lang="en-US" dirty="0"/>
              <a:t> </a:t>
            </a:r>
            <a:r>
              <a:rPr lang="en-US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)</a:t>
            </a:r>
            <a:r>
              <a:rPr lang="en-US" dirty="0"/>
              <a:t>;</a:t>
            </a:r>
            <a:endParaRPr lang="en-US" dirty="0">
              <a:solidFill>
                <a:srgbClr val="0070C0"/>
              </a:solidFill>
              <a:latin typeface="Khmer OS Content" panose="02000500000000020004" pitchFamily="2" charset="77"/>
              <a:cs typeface="Khmer OS Content" panose="02000500000000020004" pitchFamily="2" charset="77"/>
            </a:endParaRPr>
          </a:p>
          <a:p>
            <a:pPr lvl="1" algn="l">
              <a:lnSpc>
                <a:spcPct val="100000"/>
              </a:lnSpc>
              <a:spcBef>
                <a:spcPts val="1500"/>
              </a:spcBef>
            </a:pPr>
            <a:r>
              <a:rPr lang="en-US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	</a:t>
            </a:r>
            <a:r>
              <a:rPr lang="en-US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dirty="0" err="1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ឧទាហរណ</a:t>
            </a:r>
            <a:r>
              <a:rPr lang="en-US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៍៖</a:t>
            </a:r>
            <a:r>
              <a:rPr lang="en-US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List&lt;String&gt; </a:t>
            </a:r>
            <a:r>
              <a:rPr lang="en-US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list</a:t>
            </a:r>
            <a:r>
              <a:rPr lang="en-US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=</a:t>
            </a:r>
            <a:r>
              <a:rPr lang="en-US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new </a:t>
            </a:r>
            <a:r>
              <a:rPr lang="en-US" dirty="0" err="1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ArrayList</a:t>
            </a:r>
            <a:r>
              <a:rPr lang="en-US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&lt;&gt;()</a:t>
            </a:r>
            <a:r>
              <a:rPr lang="en-US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; </a:t>
            </a:r>
          </a:p>
          <a:p>
            <a:pPr lvl="1" algn="l">
              <a:lnSpc>
                <a:spcPct val="100000"/>
              </a:lnSpc>
              <a:spcBef>
                <a:spcPts val="1500"/>
              </a:spcBef>
            </a:pPr>
            <a:r>
              <a:rPr lang="en-US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		       </a:t>
            </a:r>
            <a:r>
              <a:rPr lang="en-US" dirty="0" err="1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list</a:t>
            </a:r>
            <a:r>
              <a:rPr lang="en-US" dirty="0" err="1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.add</a:t>
            </a:r>
            <a:r>
              <a:rPr lang="en-US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(</a:t>
            </a:r>
            <a:r>
              <a:rPr lang="en-US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“A”</a:t>
            </a:r>
            <a:r>
              <a:rPr lang="en-US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)</a:t>
            </a:r>
            <a:r>
              <a:rPr lang="en-US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; </a:t>
            </a:r>
            <a:r>
              <a:rPr lang="en-US" dirty="0" err="1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list</a:t>
            </a:r>
            <a:r>
              <a:rPr lang="en-US" dirty="0" err="1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.add</a:t>
            </a:r>
            <a:r>
              <a:rPr lang="en-US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(</a:t>
            </a:r>
            <a:r>
              <a:rPr lang="en-US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“B”</a:t>
            </a:r>
            <a:r>
              <a:rPr lang="en-US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)</a:t>
            </a:r>
            <a:r>
              <a:rPr lang="en-US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; </a:t>
            </a:r>
            <a:r>
              <a:rPr lang="en-US" dirty="0" err="1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list</a:t>
            </a:r>
            <a:r>
              <a:rPr lang="en-US" dirty="0" err="1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.add</a:t>
            </a:r>
            <a:r>
              <a:rPr lang="en-US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(</a:t>
            </a:r>
            <a:r>
              <a:rPr lang="en-US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“C”</a:t>
            </a:r>
            <a:r>
              <a:rPr lang="en-US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)</a:t>
            </a:r>
            <a:r>
              <a:rPr lang="en-US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;</a:t>
            </a:r>
            <a:br>
              <a:rPr lang="en-US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</a:br>
            <a:r>
              <a:rPr lang="en-US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		       </a:t>
            </a:r>
            <a:r>
              <a:rPr lang="en-US" dirty="0" err="1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Collections</a:t>
            </a:r>
            <a:r>
              <a:rPr lang="en-US" dirty="0" err="1">
                <a:solidFill>
                  <a:srgbClr val="FF0000"/>
                </a:solidFill>
              </a:rPr>
              <a:t>.</a:t>
            </a:r>
            <a:r>
              <a:rPr lang="en-US" dirty="0" err="1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sort</a:t>
            </a:r>
            <a:r>
              <a:rPr lang="en-US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( </a:t>
            </a:r>
            <a:r>
              <a:rPr lang="en-US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list</a:t>
            </a:r>
            <a:r>
              <a:rPr lang="en-US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)</a:t>
            </a:r>
            <a:r>
              <a:rPr lang="en-US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;</a:t>
            </a:r>
          </a:p>
          <a:p>
            <a:pPr marL="800100" lvl="1" indent="-342900" algn="l">
              <a:lnSpc>
                <a:spcPct val="150000"/>
              </a:lnSpc>
              <a:spcBef>
                <a:spcPts val="1500"/>
              </a:spcBef>
              <a:buFont typeface="Wingdings" pitchFamily="2" charset="2"/>
              <a:buChar char="Ø"/>
            </a:pPr>
            <a:r>
              <a:rPr lang="en-US" dirty="0" err="1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ការតម្រៀបធាតុពីធំទៅតូច</a:t>
            </a:r>
            <a:r>
              <a:rPr lang="en-US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: </a:t>
            </a:r>
            <a:r>
              <a:rPr lang="en-US" dirty="0" err="1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Collections</a:t>
            </a:r>
            <a:r>
              <a:rPr lang="en-US" dirty="0" err="1">
                <a:solidFill>
                  <a:srgbClr val="FF0000"/>
                </a:solidFill>
              </a:rPr>
              <a:t>.</a:t>
            </a:r>
            <a:r>
              <a:rPr lang="en-US" dirty="0" err="1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sort</a:t>
            </a:r>
            <a:r>
              <a:rPr lang="en-US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( </a:t>
            </a:r>
            <a:r>
              <a:rPr lang="en-US" dirty="0" err="1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listVariable</a:t>
            </a:r>
            <a:r>
              <a:rPr lang="en-US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,</a:t>
            </a:r>
            <a:r>
              <a:rPr lang="en-US" dirty="0"/>
              <a:t> </a:t>
            </a:r>
            <a:r>
              <a:rPr lang="en-US" dirty="0" err="1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Collections.reverseOrder</a:t>
            </a:r>
            <a:r>
              <a:rPr lang="en-US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() )</a:t>
            </a:r>
            <a:r>
              <a:rPr lang="en-US" dirty="0"/>
              <a:t>;</a:t>
            </a:r>
            <a:endParaRPr lang="en-US" dirty="0">
              <a:solidFill>
                <a:srgbClr val="0070C0"/>
              </a:solidFill>
              <a:latin typeface="Khmer OS Content" panose="02000500000000020004" pitchFamily="2" charset="77"/>
              <a:cs typeface="Khmer OS Content" panose="02000500000000020004" pitchFamily="2" charset="77"/>
            </a:endParaRPr>
          </a:p>
          <a:p>
            <a:pPr lvl="1" algn="l">
              <a:lnSpc>
                <a:spcPct val="100000"/>
              </a:lnSpc>
              <a:spcBef>
                <a:spcPts val="1500"/>
              </a:spcBef>
            </a:pPr>
            <a:r>
              <a:rPr lang="en-US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	 </a:t>
            </a:r>
            <a:r>
              <a:rPr lang="en-US" dirty="0" err="1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ឧទាហរណ</a:t>
            </a:r>
            <a:r>
              <a:rPr lang="en-US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៍៖</a:t>
            </a:r>
            <a:r>
              <a:rPr lang="en-US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List&lt;String&gt; </a:t>
            </a:r>
            <a:r>
              <a:rPr lang="en-US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list</a:t>
            </a:r>
            <a:r>
              <a:rPr lang="en-US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=</a:t>
            </a:r>
            <a:r>
              <a:rPr lang="en-US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new </a:t>
            </a:r>
            <a:r>
              <a:rPr lang="en-US" dirty="0" err="1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ArrayList</a:t>
            </a:r>
            <a:r>
              <a:rPr lang="en-US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&lt;&gt;()</a:t>
            </a:r>
            <a:r>
              <a:rPr lang="en-US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; </a:t>
            </a:r>
          </a:p>
          <a:p>
            <a:pPr lvl="1" algn="l">
              <a:lnSpc>
                <a:spcPct val="100000"/>
              </a:lnSpc>
              <a:spcBef>
                <a:spcPts val="1500"/>
              </a:spcBef>
            </a:pPr>
            <a:r>
              <a:rPr lang="en-US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                        </a:t>
            </a:r>
            <a:r>
              <a:rPr lang="en-US" dirty="0" err="1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list</a:t>
            </a:r>
            <a:r>
              <a:rPr lang="en-US" dirty="0" err="1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.add</a:t>
            </a:r>
            <a:r>
              <a:rPr lang="en-US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(</a:t>
            </a:r>
            <a:r>
              <a:rPr lang="en-US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“A”</a:t>
            </a:r>
            <a:r>
              <a:rPr lang="en-US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)</a:t>
            </a:r>
            <a:r>
              <a:rPr lang="en-US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; </a:t>
            </a:r>
            <a:r>
              <a:rPr lang="en-US" dirty="0" err="1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list</a:t>
            </a:r>
            <a:r>
              <a:rPr lang="en-US" dirty="0" err="1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.add</a:t>
            </a:r>
            <a:r>
              <a:rPr lang="en-US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(</a:t>
            </a:r>
            <a:r>
              <a:rPr lang="en-US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“B”</a:t>
            </a:r>
            <a:r>
              <a:rPr lang="en-US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)</a:t>
            </a:r>
            <a:r>
              <a:rPr lang="en-US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; </a:t>
            </a:r>
            <a:r>
              <a:rPr lang="en-US" dirty="0" err="1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list</a:t>
            </a:r>
            <a:r>
              <a:rPr lang="en-US" dirty="0" err="1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.add</a:t>
            </a:r>
            <a:r>
              <a:rPr lang="en-US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(</a:t>
            </a:r>
            <a:r>
              <a:rPr lang="en-US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“C”</a:t>
            </a:r>
            <a:r>
              <a:rPr lang="en-US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)</a:t>
            </a:r>
            <a:r>
              <a:rPr lang="en-US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;</a:t>
            </a:r>
            <a:br>
              <a:rPr lang="en-US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</a:br>
            <a:r>
              <a:rPr lang="en-US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		       </a:t>
            </a:r>
            <a:r>
              <a:rPr lang="en-US" dirty="0" err="1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Collections</a:t>
            </a:r>
            <a:r>
              <a:rPr lang="en-US" dirty="0" err="1">
                <a:solidFill>
                  <a:srgbClr val="FF0000"/>
                </a:solidFill>
              </a:rPr>
              <a:t>.</a:t>
            </a:r>
            <a:r>
              <a:rPr lang="en-US" dirty="0" err="1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sort</a:t>
            </a:r>
            <a:r>
              <a:rPr lang="en-US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( </a:t>
            </a:r>
            <a:r>
              <a:rPr lang="en-US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list </a:t>
            </a:r>
            <a:r>
              <a:rPr lang="en-US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,</a:t>
            </a:r>
            <a:r>
              <a:rPr lang="en-US" dirty="0"/>
              <a:t> </a:t>
            </a:r>
            <a:r>
              <a:rPr lang="en-US" dirty="0" err="1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Collections.reverseOrder</a:t>
            </a:r>
            <a:r>
              <a:rPr lang="en-US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() )</a:t>
            </a:r>
            <a:r>
              <a:rPr lang="en-US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;</a:t>
            </a:r>
          </a:p>
        </p:txBody>
      </p:sp>
    </p:spTree>
    <p:extLst>
      <p:ext uri="{BB962C8B-B14F-4D97-AF65-F5344CB8AC3E}">
        <p14:creationId xmlns:p14="http://schemas.microsoft.com/office/powerpoint/2010/main" val="1619028451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464401A-F22F-1B31-60A2-FC1E29C745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4F2B2A-09A1-E3BC-A066-2C764DB210E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701800" y="119781"/>
            <a:ext cx="9144000" cy="789373"/>
          </a:xfrm>
        </p:spPr>
        <p:txBody>
          <a:bodyPr>
            <a:normAutofit/>
          </a:bodyPr>
          <a:lstStyle/>
          <a:p>
            <a:pPr algn="l"/>
            <a:r>
              <a:rPr lang="en-US" sz="3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Collections(</a:t>
            </a:r>
            <a:r>
              <a:rPr lang="en-US" sz="3600" dirty="0" err="1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ត</a:t>
            </a:r>
            <a:r>
              <a:rPr lang="en-US" sz="3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)</a:t>
            </a:r>
            <a:endParaRPr lang="en-KH" sz="3600" dirty="0">
              <a:solidFill>
                <a:srgbClr val="00206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A4657CA3-6440-93F9-8321-E8B239C05B3F}"/>
              </a:ext>
            </a:extLst>
          </p:cNvPr>
          <p:cNvCxnSpPr/>
          <p:nvPr/>
        </p:nvCxnSpPr>
        <p:spPr>
          <a:xfrm>
            <a:off x="0" y="1050468"/>
            <a:ext cx="12192000" cy="0"/>
          </a:xfrm>
          <a:prstGeom prst="line">
            <a:avLst/>
          </a:prstGeom>
          <a:ln w="57150">
            <a:solidFill>
              <a:srgbClr val="D49B0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16A0A290-641D-C183-1D84-2785A061D635}"/>
              </a:ext>
            </a:extLst>
          </p:cNvPr>
          <p:cNvCxnSpPr>
            <a:cxnSpLocks/>
          </p:cNvCxnSpPr>
          <p:nvPr/>
        </p:nvCxnSpPr>
        <p:spPr>
          <a:xfrm>
            <a:off x="0" y="979812"/>
            <a:ext cx="12192000" cy="0"/>
          </a:xfrm>
          <a:prstGeom prst="line">
            <a:avLst/>
          </a:prstGeom>
          <a:ln w="57150">
            <a:solidFill>
              <a:srgbClr val="1C27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7" name="Picture 46" descr="A blue circle with a yellow and white bird in it&#10;&#10;AI-generated content may be incorrect.">
            <a:extLst>
              <a:ext uri="{FF2B5EF4-FFF2-40B4-BE49-F238E27FC236}">
                <a16:creationId xmlns:a16="http://schemas.microsoft.com/office/drawing/2014/main" id="{A0FFBD09-D20B-75A5-C833-A34117EEE6D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5438" y="219712"/>
            <a:ext cx="606500" cy="606500"/>
          </a:xfrm>
          <a:prstGeom prst="rect">
            <a:avLst/>
          </a:prstGeom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F1677A76-8520-C5ED-B2A9-0EC31B0337D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33626" y="1346209"/>
            <a:ext cx="11324747" cy="5078974"/>
          </a:xfrm>
        </p:spPr>
        <p:txBody>
          <a:bodyPr>
            <a:noAutofit/>
          </a:bodyPr>
          <a:lstStyle/>
          <a:p>
            <a:pPr algn="l">
              <a:lnSpc>
                <a:spcPct val="150000"/>
              </a:lnSpc>
              <a:spcBef>
                <a:spcPts val="1500"/>
              </a:spcBef>
            </a:pPr>
            <a:r>
              <a:rPr lang="en-US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Set: </a:t>
            </a:r>
            <a:r>
              <a:rPr lang="en-US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គឺជា</a:t>
            </a:r>
            <a:r>
              <a:rPr lang="en-US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interface </a:t>
            </a:r>
            <a:r>
              <a:rPr lang="en-US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មូលដ្ឋានមួយនៅក្នុង</a:t>
            </a:r>
            <a:r>
              <a:rPr lang="en-US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Java Collections Framework </a:t>
            </a:r>
            <a:r>
              <a:rPr lang="en-US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សម្រាប់រក្សាទុកធាតុដែលមានតម្លៃខុសៗគ្នា</a:t>
            </a:r>
            <a:r>
              <a:rPr lang="en-US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។ </a:t>
            </a:r>
            <a:br>
              <a:rPr lang="en-US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</a:br>
            <a:r>
              <a:rPr lang="en-KH" dirty="0"/>
              <a:t>👉 </a:t>
            </a:r>
            <a:r>
              <a:rPr lang="en-US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Class </a:t>
            </a:r>
            <a:r>
              <a:rPr lang="en-US" dirty="0" err="1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សម្រាប់ការអនុវត្តទូរទៅនៃ</a:t>
            </a:r>
            <a:r>
              <a:rPr lang="en-US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​ Set​ (common implementations)</a:t>
            </a:r>
            <a:r>
              <a:rPr lang="en-US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dirty="0" err="1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មានដូចជា</a:t>
            </a:r>
            <a:r>
              <a:rPr lang="en-US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៖</a:t>
            </a:r>
          </a:p>
          <a:p>
            <a:pPr marL="342900" indent="-342900" algn="l">
              <a:lnSpc>
                <a:spcPct val="150000"/>
              </a:lnSpc>
              <a:spcBef>
                <a:spcPts val="1500"/>
              </a:spcBef>
              <a:buFont typeface="Wingdings" pitchFamily="2" charset="2"/>
              <a:buChar char="Ø"/>
            </a:pPr>
            <a:r>
              <a:rPr lang="en-US" sz="20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HashSet</a:t>
            </a:r>
            <a:r>
              <a:rPr lang="en-US" sz="20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( </a:t>
            </a:r>
            <a:r>
              <a:rPr lang="en-US" sz="2000" dirty="0" err="1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ទម្រង់ប្រើប្រាស</a:t>
            </a:r>
            <a:r>
              <a:rPr lang="en-US" sz="20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់៖</a:t>
            </a:r>
            <a:r>
              <a:rPr lang="en-US" sz="20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20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Set&lt;</a:t>
            </a:r>
            <a:r>
              <a:rPr lang="en-US" sz="2000" dirty="0" err="1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ប្រភេទទិន្នន័យ</a:t>
            </a:r>
            <a:r>
              <a:rPr lang="en-US" sz="20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&gt;</a:t>
            </a:r>
            <a:r>
              <a:rPr lang="en-US" sz="20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2000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variableName</a:t>
            </a:r>
            <a:r>
              <a:rPr lang="en-US" sz="20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= </a:t>
            </a:r>
            <a:r>
              <a:rPr lang="en-US" sz="20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new</a:t>
            </a:r>
            <a:r>
              <a:rPr lang="en-US" sz="20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20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HashSet &lt;&gt;()</a:t>
            </a:r>
            <a:r>
              <a:rPr lang="en-US" sz="20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; )</a:t>
            </a:r>
          </a:p>
          <a:p>
            <a:pPr marL="342900" indent="-342900" algn="l">
              <a:lnSpc>
                <a:spcPct val="150000"/>
              </a:lnSpc>
              <a:spcBef>
                <a:spcPts val="1500"/>
              </a:spcBef>
              <a:buFont typeface="Wingdings" pitchFamily="2" charset="2"/>
              <a:buChar char="Ø"/>
            </a:pPr>
            <a:r>
              <a:rPr lang="en-US" sz="2000" dirty="0" err="1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LinkedHashSet</a:t>
            </a:r>
            <a:r>
              <a:rPr lang="en-US" sz="20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(</a:t>
            </a:r>
            <a:r>
              <a:rPr lang="en-US" sz="2000" dirty="0" err="1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ទម្រង់ប្រើប្រាស</a:t>
            </a:r>
            <a:r>
              <a:rPr lang="en-US" sz="20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់៖</a:t>
            </a:r>
            <a:r>
              <a:rPr lang="en-US" sz="20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20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Set&lt;</a:t>
            </a:r>
            <a:r>
              <a:rPr lang="en-US" sz="2000" dirty="0" err="1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ប្រភេទទិន្នន័យ</a:t>
            </a:r>
            <a:r>
              <a:rPr lang="en-US" sz="20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&gt; </a:t>
            </a:r>
            <a:r>
              <a:rPr lang="en-US" sz="2000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variableName</a:t>
            </a:r>
            <a:r>
              <a:rPr lang="en-US" sz="20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20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=</a:t>
            </a:r>
            <a:r>
              <a:rPr lang="en-US" sz="20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new </a:t>
            </a:r>
            <a:r>
              <a:rPr lang="en-US" sz="2000" dirty="0" err="1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LinkedHashSet</a:t>
            </a:r>
            <a:r>
              <a:rPr lang="en-US" sz="20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&lt;&gt;()</a:t>
            </a:r>
            <a:r>
              <a:rPr lang="en-US" sz="20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; )</a:t>
            </a:r>
          </a:p>
          <a:p>
            <a:pPr marL="342900" indent="-342900" algn="l">
              <a:lnSpc>
                <a:spcPct val="150000"/>
              </a:lnSpc>
              <a:spcBef>
                <a:spcPts val="1500"/>
              </a:spcBef>
              <a:buFont typeface="Wingdings" pitchFamily="2" charset="2"/>
              <a:buChar char="Ø"/>
            </a:pPr>
            <a:r>
              <a:rPr lang="en-US" sz="2000" dirty="0" err="1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TreeSet</a:t>
            </a:r>
            <a:r>
              <a:rPr lang="en-US" sz="20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(</a:t>
            </a:r>
            <a:r>
              <a:rPr lang="en-US" sz="2000" dirty="0" err="1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ទម្រង់ប្រើប្រាស</a:t>
            </a:r>
            <a:r>
              <a:rPr lang="en-US" sz="20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់៖</a:t>
            </a:r>
            <a:r>
              <a:rPr lang="en-US" sz="20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2000" dirty="0" err="1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TreeSet</a:t>
            </a:r>
            <a:r>
              <a:rPr lang="en-US" sz="20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&lt;</a:t>
            </a:r>
            <a:r>
              <a:rPr lang="en-US" sz="2000" dirty="0" err="1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ប្រភេទទិន្នន័យ</a:t>
            </a:r>
            <a:r>
              <a:rPr lang="en-US" sz="20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&gt;</a:t>
            </a:r>
            <a:r>
              <a:rPr lang="en-US" sz="20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2000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variableName</a:t>
            </a:r>
            <a:r>
              <a:rPr lang="en-US" sz="20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= </a:t>
            </a:r>
            <a:r>
              <a:rPr lang="en-US" sz="20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new</a:t>
            </a:r>
            <a:r>
              <a:rPr lang="en-US" sz="20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2000" dirty="0" err="1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TreeSet</a:t>
            </a:r>
            <a:r>
              <a:rPr lang="en-US" sz="20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&lt;&gt;()</a:t>
            </a:r>
            <a:r>
              <a:rPr lang="en-US" sz="20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; )</a:t>
            </a:r>
          </a:p>
          <a:p>
            <a:pPr lvl="1" algn="l">
              <a:lnSpc>
                <a:spcPct val="150000"/>
              </a:lnSpc>
              <a:spcBef>
                <a:spcPts val="1500"/>
              </a:spcBef>
            </a:pPr>
            <a:endParaRPr lang="en-US" dirty="0">
              <a:solidFill>
                <a:srgbClr val="002060"/>
              </a:solidFill>
              <a:latin typeface="Khmer OS Content" panose="02000500000000020004" pitchFamily="2" charset="77"/>
              <a:cs typeface="Khmer OS Content" panose="02000500000000020004" pitchFamily="2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3220121098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B7811D7-39B0-EB88-9B8E-55C6C22338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E1123F-56F9-6A06-B2E8-EE3B6347729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701800" y="119781"/>
            <a:ext cx="9144000" cy="789373"/>
          </a:xfrm>
        </p:spPr>
        <p:txBody>
          <a:bodyPr>
            <a:normAutofit/>
          </a:bodyPr>
          <a:lstStyle/>
          <a:p>
            <a:pPr algn="l"/>
            <a:r>
              <a:rPr lang="en-US" sz="3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Collections(</a:t>
            </a:r>
            <a:r>
              <a:rPr lang="en-US" sz="3600" dirty="0" err="1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ត</a:t>
            </a:r>
            <a:r>
              <a:rPr lang="en-US" sz="3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)</a:t>
            </a:r>
            <a:endParaRPr lang="en-KH" sz="3600" dirty="0">
              <a:solidFill>
                <a:srgbClr val="00206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E839BD1B-BCB5-48A8-2DB3-1386D5CE4811}"/>
              </a:ext>
            </a:extLst>
          </p:cNvPr>
          <p:cNvCxnSpPr/>
          <p:nvPr/>
        </p:nvCxnSpPr>
        <p:spPr>
          <a:xfrm>
            <a:off x="0" y="1050468"/>
            <a:ext cx="12192000" cy="0"/>
          </a:xfrm>
          <a:prstGeom prst="line">
            <a:avLst/>
          </a:prstGeom>
          <a:ln w="57150">
            <a:solidFill>
              <a:srgbClr val="D49B0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98EE86A7-925D-A2E2-3B25-15D9662423E4}"/>
              </a:ext>
            </a:extLst>
          </p:cNvPr>
          <p:cNvCxnSpPr>
            <a:cxnSpLocks/>
          </p:cNvCxnSpPr>
          <p:nvPr/>
        </p:nvCxnSpPr>
        <p:spPr>
          <a:xfrm>
            <a:off x="0" y="979812"/>
            <a:ext cx="12192000" cy="0"/>
          </a:xfrm>
          <a:prstGeom prst="line">
            <a:avLst/>
          </a:prstGeom>
          <a:ln w="57150">
            <a:solidFill>
              <a:srgbClr val="1C27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7" name="Picture 46" descr="A blue circle with a yellow and white bird in it&#10;&#10;AI-generated content may be incorrect.">
            <a:extLst>
              <a:ext uri="{FF2B5EF4-FFF2-40B4-BE49-F238E27FC236}">
                <a16:creationId xmlns:a16="http://schemas.microsoft.com/office/drawing/2014/main" id="{4DD7C3E4-9385-BE87-D7B3-483578F2DCF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5438" y="219712"/>
            <a:ext cx="606500" cy="606500"/>
          </a:xfrm>
          <a:prstGeom prst="rect">
            <a:avLst/>
          </a:prstGeom>
        </p:spPr>
      </p:pic>
      <p:sp>
        <p:nvSpPr>
          <p:cNvPr id="6" name="Subtitle 2">
            <a:extLst>
              <a:ext uri="{FF2B5EF4-FFF2-40B4-BE49-F238E27FC236}">
                <a16:creationId xmlns:a16="http://schemas.microsoft.com/office/drawing/2014/main" id="{14F043B0-FCE2-F319-BF86-C49B709ED57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51353" y="1227913"/>
            <a:ext cx="10459234" cy="5055309"/>
          </a:xfrm>
        </p:spPr>
        <p:txBody>
          <a:bodyPr>
            <a:noAutofit/>
          </a:bodyPr>
          <a:lstStyle/>
          <a:p>
            <a:pPr algn="l">
              <a:lnSpc>
                <a:spcPct val="150000"/>
              </a:lnSpc>
              <a:spcBef>
                <a:spcPts val="1500"/>
              </a:spcBef>
            </a:pPr>
            <a:r>
              <a:rPr lang="en-US" sz="2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  </a:t>
            </a:r>
            <a:r>
              <a:rPr lang="en-US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HashSet </a:t>
            </a:r>
            <a:r>
              <a:rPr lang="en-US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គឺរចនាសម្ព័ន្ធទិន្នន័យមួយដែលរក្សាទុកនូវធាតុដែលមានតម្លៃខុសគ្នា</a:t>
            </a:r>
            <a:r>
              <a:rPr lang="en-US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ៗ </a:t>
            </a:r>
            <a:r>
              <a:rPr lang="en-US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និងមិនមានលំដាប់លំដោយ</a:t>
            </a:r>
            <a:r>
              <a:rPr lang="en-US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។</a:t>
            </a:r>
          </a:p>
          <a:p>
            <a:pPr algn="l">
              <a:lnSpc>
                <a:spcPct val="150000"/>
              </a:lnSpc>
              <a:spcBef>
                <a:spcPts val="1500"/>
              </a:spcBef>
            </a:pPr>
            <a:r>
              <a:rPr lang="en-US" sz="2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  </a:t>
            </a:r>
            <a:r>
              <a:rPr lang="en-US" dirty="0" err="1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LinkedHashSet</a:t>
            </a:r>
            <a:r>
              <a:rPr lang="en-US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គឺការអនុវត្ត</a:t>
            </a:r>
            <a:r>
              <a:rPr lang="en-US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(implementation)</a:t>
            </a:r>
            <a:r>
              <a:rPr lang="en-US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នៃ</a:t>
            </a:r>
            <a:r>
              <a:rPr lang="en-US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Set </a:t>
            </a:r>
            <a:r>
              <a:rPr lang="en-US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ដែលរួមបញ្ចូលគ្នារវាង</a:t>
            </a:r>
            <a:r>
              <a:rPr lang="en-US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hash table </a:t>
            </a:r>
            <a:r>
              <a:rPr lang="en-US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មួយសម្រាប់រក្សាទុកនូវធាតុដែលមានតម្លៃខុស</a:t>
            </a:r>
            <a:r>
              <a:rPr lang="en-US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ៗ​ </a:t>
            </a:r>
            <a:r>
              <a:rPr lang="en-US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ជាមួយ</a:t>
            </a:r>
            <a:r>
              <a:rPr lang="en-US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​ double-linked list </a:t>
            </a:r>
            <a:r>
              <a:rPr lang="en-US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ដើម្បីរក្សាលំដាប់លំដោយនៃការបញ្ចូលរបស់ធាតុនីមួយ</a:t>
            </a:r>
            <a:r>
              <a:rPr lang="en-US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ៗ។</a:t>
            </a:r>
            <a:br>
              <a:rPr lang="en-US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</a:br>
            <a:r>
              <a:rPr lang="en-US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   </a:t>
            </a:r>
            <a:r>
              <a:rPr lang="en-US" dirty="0" err="1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TreeSet</a:t>
            </a:r>
            <a:r>
              <a:rPr lang="en-US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គឺជា</a:t>
            </a:r>
            <a:r>
              <a:rPr lang="en-US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collection </a:t>
            </a:r>
            <a:r>
              <a:rPr lang="en-US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ដែលបានតម្រៀប</a:t>
            </a:r>
            <a:r>
              <a:rPr lang="en-US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និងរក្សាទុកនូវធាតុដែលមានតម្លៃខុសៗគ្នានៅក្នុងលំដាប់លំដោយពីតូចទៅធំ </a:t>
            </a:r>
            <a:r>
              <a:rPr lang="en-US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ឫពីធំទៅតូច</a:t>
            </a:r>
            <a:r>
              <a:rPr lang="en-US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។</a:t>
            </a:r>
            <a:endParaRPr lang="en-US" dirty="0">
              <a:solidFill>
                <a:srgbClr val="0070C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1663964684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D0170A1-2C92-5B4B-F7FF-ACF22BC205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637143-8519-E3A3-4DA8-EF94FEA265E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701800" y="119781"/>
            <a:ext cx="9144000" cy="789373"/>
          </a:xfrm>
        </p:spPr>
        <p:txBody>
          <a:bodyPr>
            <a:normAutofit/>
          </a:bodyPr>
          <a:lstStyle/>
          <a:p>
            <a:pPr algn="l"/>
            <a:r>
              <a:rPr lang="en-US" sz="3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Collections(</a:t>
            </a:r>
            <a:r>
              <a:rPr lang="en-US" sz="3600" dirty="0" err="1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ត</a:t>
            </a:r>
            <a:r>
              <a:rPr lang="en-US" sz="3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)</a:t>
            </a:r>
            <a:endParaRPr lang="en-KH" sz="3600" dirty="0">
              <a:solidFill>
                <a:srgbClr val="00206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23F3A458-5291-25BD-FE5F-703BDD979609}"/>
              </a:ext>
            </a:extLst>
          </p:cNvPr>
          <p:cNvCxnSpPr/>
          <p:nvPr/>
        </p:nvCxnSpPr>
        <p:spPr>
          <a:xfrm>
            <a:off x="0" y="1050468"/>
            <a:ext cx="12192000" cy="0"/>
          </a:xfrm>
          <a:prstGeom prst="line">
            <a:avLst/>
          </a:prstGeom>
          <a:ln w="57150">
            <a:solidFill>
              <a:srgbClr val="D49B0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9755E894-1294-5F7D-E438-5C113B1F717B}"/>
              </a:ext>
            </a:extLst>
          </p:cNvPr>
          <p:cNvCxnSpPr>
            <a:cxnSpLocks/>
          </p:cNvCxnSpPr>
          <p:nvPr/>
        </p:nvCxnSpPr>
        <p:spPr>
          <a:xfrm>
            <a:off x="0" y="979812"/>
            <a:ext cx="12192000" cy="0"/>
          </a:xfrm>
          <a:prstGeom prst="line">
            <a:avLst/>
          </a:prstGeom>
          <a:ln w="57150">
            <a:solidFill>
              <a:srgbClr val="1C27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7" name="Picture 46" descr="A blue circle with a yellow and white bird in it&#10;&#10;AI-generated content may be incorrect.">
            <a:extLst>
              <a:ext uri="{FF2B5EF4-FFF2-40B4-BE49-F238E27FC236}">
                <a16:creationId xmlns:a16="http://schemas.microsoft.com/office/drawing/2014/main" id="{88AF5586-10BA-CB27-92C3-A71AFC3C808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5438" y="219712"/>
            <a:ext cx="606500" cy="606500"/>
          </a:xfrm>
          <a:prstGeom prst="rect">
            <a:avLst/>
          </a:prstGeom>
        </p:spPr>
      </p:pic>
      <p:sp>
        <p:nvSpPr>
          <p:cNvPr id="5" name="Subtitle 2">
            <a:extLst>
              <a:ext uri="{FF2B5EF4-FFF2-40B4-BE49-F238E27FC236}">
                <a16:creationId xmlns:a16="http://schemas.microsoft.com/office/drawing/2014/main" id="{2DA5B595-5AF4-242D-B9B5-050E0A41CD1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51353" y="1154761"/>
            <a:ext cx="10459234" cy="5510306"/>
          </a:xfrm>
        </p:spPr>
        <p:txBody>
          <a:bodyPr>
            <a:noAutofit/>
          </a:bodyPr>
          <a:lstStyle/>
          <a:p>
            <a:pPr algn="l">
              <a:lnSpc>
                <a:spcPct val="100000"/>
              </a:lnSpc>
              <a:spcBef>
                <a:spcPts val="1500"/>
              </a:spcBef>
            </a:pPr>
            <a:r>
              <a:rPr lang="en-US" sz="2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  </a:t>
            </a:r>
            <a:r>
              <a:rPr lang="en-US" sz="20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Set method </a:t>
            </a:r>
            <a:r>
              <a:rPr lang="en-US" sz="2000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មានដូចជា</a:t>
            </a:r>
            <a:r>
              <a:rPr lang="en-US" sz="20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៖</a:t>
            </a:r>
          </a:p>
          <a:p>
            <a:pPr marL="800100" lvl="1" indent="-342900" algn="l">
              <a:lnSpc>
                <a:spcPct val="100000"/>
              </a:lnSpc>
              <a:spcBef>
                <a:spcPts val="1500"/>
              </a:spcBef>
              <a:buFont typeface="Wingdings" pitchFamily="2" charset="2"/>
              <a:buChar char="Ø"/>
            </a:pP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add() : </a:t>
            </a:r>
            <a:r>
              <a:rPr lang="en-US" sz="1800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ប្រើសម្រាប់បន្ថែមធាតុ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18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។</a:t>
            </a:r>
          </a:p>
          <a:p>
            <a:pPr lvl="1" algn="l">
              <a:lnSpc>
                <a:spcPct val="100000"/>
              </a:lnSpc>
              <a:spcBef>
                <a:spcPts val="1500"/>
              </a:spcBef>
            </a:pPr>
            <a:r>
              <a:rPr lang="en-US" sz="18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	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1800" dirty="0" err="1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ឧទាហរណ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៍៖</a:t>
            </a:r>
            <a:r>
              <a:rPr lang="en-US" sz="18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Set&lt;String&gt; 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set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=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new HashSet&lt;&gt;();</a:t>
            </a:r>
            <a:b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</a:b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		 </a:t>
            </a:r>
            <a:r>
              <a:rPr lang="en-US" sz="1800" dirty="0" err="1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set</a:t>
            </a:r>
            <a:r>
              <a:rPr lang="en-US" sz="1800" dirty="0" err="1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.add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(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“A”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)</a:t>
            </a:r>
            <a:r>
              <a:rPr lang="en-US" sz="18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;</a:t>
            </a:r>
            <a:endParaRPr lang="en-US" sz="1800" dirty="0">
              <a:solidFill>
                <a:srgbClr val="002060"/>
              </a:solidFill>
              <a:latin typeface="Khmer OS Content" panose="02000500000000020004" pitchFamily="2" charset="77"/>
              <a:cs typeface="Khmer OS Content" panose="02000500000000020004" pitchFamily="2" charset="77"/>
            </a:endParaRPr>
          </a:p>
          <a:p>
            <a:pPr marL="800100" lvl="1" indent="-342900" algn="l">
              <a:lnSpc>
                <a:spcPct val="100000"/>
              </a:lnSpc>
              <a:spcBef>
                <a:spcPts val="1500"/>
              </a:spcBef>
              <a:buFont typeface="Wingdings" pitchFamily="2" charset="2"/>
              <a:buChar char="Ø"/>
            </a:pP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remove() : </a:t>
            </a:r>
            <a:r>
              <a:rPr lang="en-US" sz="1800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ប្រើសម្រាប់លុបធាតុ</a:t>
            </a:r>
            <a:r>
              <a:rPr lang="en-US" sz="18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។</a:t>
            </a:r>
          </a:p>
          <a:p>
            <a:pPr lvl="1" algn="l">
              <a:lnSpc>
                <a:spcPct val="100000"/>
              </a:lnSpc>
              <a:spcBef>
                <a:spcPts val="1500"/>
              </a:spcBef>
            </a:pP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	 </a:t>
            </a:r>
            <a:r>
              <a:rPr lang="en-US" sz="1800" dirty="0" err="1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ឧទាហរណ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៍៖</a:t>
            </a:r>
            <a:r>
              <a:rPr lang="en-US" sz="18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Set &lt;String&gt; 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set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=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new HashSet &lt;&gt;()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; </a:t>
            </a:r>
            <a:r>
              <a:rPr lang="en-US" sz="1800" dirty="0" err="1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set</a:t>
            </a:r>
            <a:r>
              <a:rPr lang="en-US" sz="1800" dirty="0" err="1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.add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(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“A”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)</a:t>
            </a:r>
            <a:r>
              <a:rPr lang="en-US" sz="18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; </a:t>
            </a:r>
            <a:r>
              <a:rPr lang="en-US" sz="1800" dirty="0" err="1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set</a:t>
            </a:r>
            <a:r>
              <a:rPr lang="en-US" sz="1800" dirty="0" err="1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.add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(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“B”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)</a:t>
            </a:r>
            <a:r>
              <a:rPr lang="en-US" sz="18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; </a:t>
            </a:r>
            <a:r>
              <a:rPr lang="en-US" sz="1800" dirty="0" err="1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set</a:t>
            </a:r>
            <a:r>
              <a:rPr lang="en-US" sz="1800" dirty="0" err="1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.add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(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“C”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)</a:t>
            </a:r>
            <a:r>
              <a:rPr lang="en-US" sz="18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;</a:t>
            </a:r>
            <a:b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</a:b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		       </a:t>
            </a:r>
            <a:r>
              <a:rPr lang="en-US" sz="1800" dirty="0" err="1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set</a:t>
            </a:r>
            <a:r>
              <a:rPr lang="en-US" sz="1800" dirty="0" err="1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.remove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(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“B”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)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;</a:t>
            </a:r>
          </a:p>
          <a:p>
            <a:pPr marL="800100" lvl="1" indent="-342900" algn="l">
              <a:lnSpc>
                <a:spcPct val="100000"/>
              </a:lnSpc>
              <a:spcBef>
                <a:spcPts val="1500"/>
              </a:spcBef>
              <a:buFont typeface="Wingdings" pitchFamily="2" charset="2"/>
              <a:buChar char="Ø"/>
            </a:pP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contains() : </a:t>
            </a:r>
            <a:r>
              <a:rPr lang="en-US" sz="1800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ប្រើសម្រាប់ពិនិត្យថាមានធាតុដែលយើងចង់រកឬទេ</a:t>
            </a:r>
            <a:r>
              <a:rPr lang="en-US" sz="18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។</a:t>
            </a:r>
          </a:p>
          <a:p>
            <a:pPr lvl="1" algn="l">
              <a:lnSpc>
                <a:spcPct val="100000"/>
              </a:lnSpc>
              <a:spcBef>
                <a:spcPts val="1500"/>
              </a:spcBef>
            </a:pP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	 </a:t>
            </a:r>
            <a:r>
              <a:rPr lang="en-US" sz="1800" dirty="0" err="1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ឧទាហរណ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៍៖</a:t>
            </a:r>
            <a:r>
              <a:rPr lang="en-US" sz="18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Set &lt;String&gt; 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set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=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new HashSet &lt;&gt;()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; </a:t>
            </a:r>
            <a:r>
              <a:rPr lang="en-US" sz="1800" dirty="0" err="1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set</a:t>
            </a:r>
            <a:r>
              <a:rPr lang="en-US" sz="1800" dirty="0" err="1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.add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(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“A”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)</a:t>
            </a:r>
            <a:r>
              <a:rPr lang="en-US" sz="18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; </a:t>
            </a:r>
            <a:r>
              <a:rPr lang="en-US" sz="1800" dirty="0" err="1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set</a:t>
            </a:r>
            <a:r>
              <a:rPr lang="en-US" sz="1800" dirty="0" err="1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.add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(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“B”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)</a:t>
            </a:r>
            <a:r>
              <a:rPr lang="en-US" sz="18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; </a:t>
            </a:r>
            <a:r>
              <a:rPr lang="en-US" sz="1800" dirty="0" err="1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set</a:t>
            </a:r>
            <a:r>
              <a:rPr lang="en-US" sz="1800" dirty="0" err="1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.add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(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“C”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)</a:t>
            </a:r>
            <a:r>
              <a:rPr lang="en-US" sz="18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;</a:t>
            </a:r>
            <a:b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</a:b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		     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if( </a:t>
            </a:r>
            <a:r>
              <a:rPr lang="en-US" sz="1800" dirty="0" err="1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set</a:t>
            </a:r>
            <a:r>
              <a:rPr lang="en-US" sz="1800" dirty="0" err="1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.contains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(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“B”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) 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){</a:t>
            </a:r>
          </a:p>
          <a:p>
            <a:pPr lvl="1" algn="l">
              <a:lnSpc>
                <a:spcPct val="100000"/>
              </a:lnSpc>
              <a:spcBef>
                <a:spcPts val="1500"/>
              </a:spcBef>
            </a:pP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		      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} else {</a:t>
            </a:r>
          </a:p>
          <a:p>
            <a:pPr lvl="1" algn="l">
              <a:lnSpc>
                <a:spcPct val="100000"/>
              </a:lnSpc>
              <a:spcBef>
                <a:spcPts val="1500"/>
              </a:spcBef>
            </a:pP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		      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3693402026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A781CDC-3C7F-A595-E7C2-6B2A52D0C1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C7FDEF-365E-98C1-0CFC-28E0121E4B5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701800" y="119781"/>
            <a:ext cx="9144000" cy="789373"/>
          </a:xfrm>
        </p:spPr>
        <p:txBody>
          <a:bodyPr>
            <a:normAutofit/>
          </a:bodyPr>
          <a:lstStyle/>
          <a:p>
            <a:pPr algn="l"/>
            <a:r>
              <a:rPr lang="en-US" sz="3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Collections(</a:t>
            </a:r>
            <a:r>
              <a:rPr lang="en-US" sz="3600" dirty="0" err="1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ត</a:t>
            </a:r>
            <a:r>
              <a:rPr lang="en-US" sz="3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)</a:t>
            </a:r>
            <a:endParaRPr lang="en-KH" sz="3600" dirty="0">
              <a:solidFill>
                <a:srgbClr val="00206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40512813-E90B-D6ED-F003-5E83955702D7}"/>
              </a:ext>
            </a:extLst>
          </p:cNvPr>
          <p:cNvCxnSpPr/>
          <p:nvPr/>
        </p:nvCxnSpPr>
        <p:spPr>
          <a:xfrm>
            <a:off x="0" y="1050468"/>
            <a:ext cx="12192000" cy="0"/>
          </a:xfrm>
          <a:prstGeom prst="line">
            <a:avLst/>
          </a:prstGeom>
          <a:ln w="57150">
            <a:solidFill>
              <a:srgbClr val="D49B0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0F7B1F98-B5E9-1F68-CF86-A18DC7681879}"/>
              </a:ext>
            </a:extLst>
          </p:cNvPr>
          <p:cNvCxnSpPr>
            <a:cxnSpLocks/>
          </p:cNvCxnSpPr>
          <p:nvPr/>
        </p:nvCxnSpPr>
        <p:spPr>
          <a:xfrm>
            <a:off x="0" y="979812"/>
            <a:ext cx="12192000" cy="0"/>
          </a:xfrm>
          <a:prstGeom prst="line">
            <a:avLst/>
          </a:prstGeom>
          <a:ln w="57150">
            <a:solidFill>
              <a:srgbClr val="1C27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7" name="Picture 46" descr="A blue circle with a yellow and white bird in it&#10;&#10;AI-generated content may be incorrect.">
            <a:extLst>
              <a:ext uri="{FF2B5EF4-FFF2-40B4-BE49-F238E27FC236}">
                <a16:creationId xmlns:a16="http://schemas.microsoft.com/office/drawing/2014/main" id="{D9D3A3C7-8F91-D26C-78F2-917076277B1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5438" y="219712"/>
            <a:ext cx="606500" cy="606500"/>
          </a:xfrm>
          <a:prstGeom prst="rect">
            <a:avLst/>
          </a:prstGeom>
        </p:spPr>
      </p:pic>
      <p:sp>
        <p:nvSpPr>
          <p:cNvPr id="5" name="Subtitle 2">
            <a:extLst>
              <a:ext uri="{FF2B5EF4-FFF2-40B4-BE49-F238E27FC236}">
                <a16:creationId xmlns:a16="http://schemas.microsoft.com/office/drawing/2014/main" id="{AF0CEEED-A7E3-747A-E6AB-2B7E8A310D4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51353" y="1612900"/>
            <a:ext cx="10459234" cy="4089400"/>
          </a:xfrm>
        </p:spPr>
        <p:txBody>
          <a:bodyPr>
            <a:noAutofit/>
          </a:bodyPr>
          <a:lstStyle/>
          <a:p>
            <a:pPr marL="742950" lvl="1" indent="-285750" algn="l">
              <a:lnSpc>
                <a:spcPct val="100000"/>
              </a:lnSpc>
              <a:spcBef>
                <a:spcPts val="1500"/>
              </a:spcBef>
              <a:buFont typeface="Wingdings" pitchFamily="2" charset="2"/>
              <a:buChar char="Ø"/>
            </a:pP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size() : </a:t>
            </a:r>
            <a:r>
              <a:rPr lang="en-US" sz="1800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ប្រើសម្រាប់ពិនិត្យចំនួនធាតុ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18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។</a:t>
            </a:r>
          </a:p>
          <a:p>
            <a:pPr lvl="1" algn="l">
              <a:lnSpc>
                <a:spcPct val="100000"/>
              </a:lnSpc>
              <a:spcBef>
                <a:spcPts val="1500"/>
              </a:spcBef>
            </a:pPr>
            <a:r>
              <a:rPr lang="en-US" sz="18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	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1800" dirty="0" err="1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ឧទាហរណ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៍៖</a:t>
            </a:r>
            <a:r>
              <a:rPr lang="en-US" sz="18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Set&lt;String&gt; 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set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=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new HashSet&lt;&gt;();</a:t>
            </a:r>
            <a:b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</a:b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		 </a:t>
            </a:r>
            <a:r>
              <a:rPr lang="en-US" sz="1800" dirty="0" err="1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set</a:t>
            </a:r>
            <a:r>
              <a:rPr lang="en-US" sz="1800" dirty="0" err="1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.size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()</a:t>
            </a:r>
            <a:r>
              <a:rPr lang="en-US" sz="18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;</a:t>
            </a:r>
            <a:endParaRPr lang="en-US" sz="1800" dirty="0">
              <a:solidFill>
                <a:srgbClr val="002060"/>
              </a:solidFill>
              <a:latin typeface="Khmer OS Content" panose="02000500000000020004" pitchFamily="2" charset="77"/>
              <a:cs typeface="Khmer OS Content" panose="02000500000000020004" pitchFamily="2" charset="77"/>
            </a:endParaRPr>
          </a:p>
          <a:p>
            <a:pPr marL="800100" lvl="1" indent="-342900" algn="l">
              <a:lnSpc>
                <a:spcPct val="100000"/>
              </a:lnSpc>
              <a:spcBef>
                <a:spcPts val="1500"/>
              </a:spcBef>
              <a:buFont typeface="Wingdings" pitchFamily="2" charset="2"/>
              <a:buChar char="Ø"/>
            </a:pP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clear() : </a:t>
            </a:r>
            <a:r>
              <a:rPr lang="en-US" sz="1800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ប្រើសម្រាប់លុបធាតុទាំងអស</a:t>
            </a:r>
            <a:r>
              <a:rPr lang="en-US" sz="18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់។</a:t>
            </a:r>
          </a:p>
          <a:p>
            <a:pPr lvl="1" algn="l">
              <a:lnSpc>
                <a:spcPct val="100000"/>
              </a:lnSpc>
              <a:spcBef>
                <a:spcPts val="1500"/>
              </a:spcBef>
            </a:pP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	 </a:t>
            </a:r>
            <a:r>
              <a:rPr lang="en-US" sz="1800" dirty="0" err="1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ឧទាហរណ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៍៖</a:t>
            </a:r>
            <a:r>
              <a:rPr lang="en-US" sz="18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Set &lt;String&gt; 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set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=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new HashSet &lt;&gt;()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; </a:t>
            </a:r>
            <a:r>
              <a:rPr lang="en-US" sz="1800" dirty="0" err="1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set</a:t>
            </a:r>
            <a:r>
              <a:rPr lang="en-US" sz="1800" dirty="0" err="1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.add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(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“A”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)</a:t>
            </a:r>
            <a:r>
              <a:rPr lang="en-US" sz="18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; </a:t>
            </a:r>
            <a:r>
              <a:rPr lang="en-US" sz="1800" dirty="0" err="1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set</a:t>
            </a:r>
            <a:r>
              <a:rPr lang="en-US" sz="1800" dirty="0" err="1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.add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(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“B”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)</a:t>
            </a:r>
            <a:r>
              <a:rPr lang="en-US" sz="18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; </a:t>
            </a:r>
            <a:r>
              <a:rPr lang="en-US" sz="1800" dirty="0" err="1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set</a:t>
            </a:r>
            <a:r>
              <a:rPr lang="en-US" sz="1800" dirty="0" err="1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.add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(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“C”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)</a:t>
            </a:r>
            <a:r>
              <a:rPr lang="en-US" sz="18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;</a:t>
            </a:r>
            <a:b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</a:b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		       </a:t>
            </a:r>
            <a:r>
              <a:rPr lang="en-US" sz="1800" dirty="0" err="1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set</a:t>
            </a:r>
            <a:r>
              <a:rPr lang="en-US" sz="1800" dirty="0" err="1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.clear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()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;</a:t>
            </a:r>
          </a:p>
        </p:txBody>
      </p:sp>
    </p:spTree>
    <p:extLst>
      <p:ext uri="{BB962C8B-B14F-4D97-AF65-F5344CB8AC3E}">
        <p14:creationId xmlns:p14="http://schemas.microsoft.com/office/powerpoint/2010/main" val="1328171534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53FF0DD-E8DD-A125-BDB0-4C8D39DF10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044D4C-3913-5CE0-F7F2-44EBA7AA05D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701800" y="119781"/>
            <a:ext cx="9144000" cy="789373"/>
          </a:xfrm>
        </p:spPr>
        <p:txBody>
          <a:bodyPr>
            <a:normAutofit/>
          </a:bodyPr>
          <a:lstStyle/>
          <a:p>
            <a:pPr algn="l"/>
            <a:r>
              <a:rPr lang="en-US" sz="3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Collections(</a:t>
            </a:r>
            <a:r>
              <a:rPr lang="en-US" sz="3600" dirty="0" err="1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ត</a:t>
            </a:r>
            <a:r>
              <a:rPr lang="en-US" sz="3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)</a:t>
            </a:r>
            <a:endParaRPr lang="en-KH" sz="3600" dirty="0">
              <a:solidFill>
                <a:srgbClr val="00206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E5A472A1-92A2-6A39-5F1D-79AD3E92E5E9}"/>
              </a:ext>
            </a:extLst>
          </p:cNvPr>
          <p:cNvCxnSpPr/>
          <p:nvPr/>
        </p:nvCxnSpPr>
        <p:spPr>
          <a:xfrm>
            <a:off x="0" y="1050468"/>
            <a:ext cx="12192000" cy="0"/>
          </a:xfrm>
          <a:prstGeom prst="line">
            <a:avLst/>
          </a:prstGeom>
          <a:ln w="57150">
            <a:solidFill>
              <a:srgbClr val="D49B0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13CDD0B6-32A5-017A-6505-5AA91EDC9ECD}"/>
              </a:ext>
            </a:extLst>
          </p:cNvPr>
          <p:cNvCxnSpPr>
            <a:cxnSpLocks/>
          </p:cNvCxnSpPr>
          <p:nvPr/>
        </p:nvCxnSpPr>
        <p:spPr>
          <a:xfrm>
            <a:off x="0" y="979812"/>
            <a:ext cx="12192000" cy="0"/>
          </a:xfrm>
          <a:prstGeom prst="line">
            <a:avLst/>
          </a:prstGeom>
          <a:ln w="57150">
            <a:solidFill>
              <a:srgbClr val="1C27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7" name="Picture 46" descr="A blue circle with a yellow and white bird in it&#10;&#10;AI-generated content may be incorrect.">
            <a:extLst>
              <a:ext uri="{FF2B5EF4-FFF2-40B4-BE49-F238E27FC236}">
                <a16:creationId xmlns:a16="http://schemas.microsoft.com/office/drawing/2014/main" id="{F5905492-47CF-AC43-C100-E5B4705D8DE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5438" y="219712"/>
            <a:ext cx="606500" cy="606500"/>
          </a:xfrm>
          <a:prstGeom prst="rect">
            <a:avLst/>
          </a:prstGeom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6B88B5DD-3F19-51A6-ECAB-A338F642F20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33626" y="1346208"/>
            <a:ext cx="11330006" cy="5392005"/>
          </a:xfrm>
        </p:spPr>
        <p:txBody>
          <a:bodyPr>
            <a:noAutofit/>
          </a:bodyPr>
          <a:lstStyle/>
          <a:p>
            <a:pPr algn="l">
              <a:lnSpc>
                <a:spcPct val="150000"/>
              </a:lnSpc>
              <a:spcBef>
                <a:spcPts val="1500"/>
              </a:spcBef>
            </a:pPr>
            <a:r>
              <a:rPr lang="en-US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Queue: </a:t>
            </a:r>
            <a:r>
              <a:rPr lang="en-US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គឺជា</a:t>
            </a:r>
            <a:r>
              <a:rPr lang="en-US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interface </a:t>
            </a:r>
            <a:r>
              <a:rPr lang="en-US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មូលដ្ឋានមួយនៅក្នុង</a:t>
            </a:r>
            <a:r>
              <a:rPr lang="en-US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Java Collections Framework </a:t>
            </a:r>
            <a:r>
              <a:rPr lang="km-KH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ដែលតំណាង</a:t>
            </a:r>
            <a:r>
              <a:rPr lang="en-US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km-KH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ឱ្យការប្រមូលធាតុតាមលំដាប់ដែលបានរចនាឡើងសម្រាប់</a:t>
            </a:r>
            <a:r>
              <a:rPr lang="en-US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ផ្ទុកនិងការកាន់កាប់ធាតុដែលត្រូវដំណើរការមុន</a:t>
            </a:r>
            <a:r>
              <a:rPr lang="en-US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។ </a:t>
            </a:r>
            <a:br>
              <a:rPr lang="en-US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</a:br>
            <a:r>
              <a:rPr lang="en-KH" dirty="0"/>
              <a:t>👉</a:t>
            </a:r>
            <a:r>
              <a:rPr lang="en-KH" sz="2000" dirty="0"/>
              <a:t> </a:t>
            </a:r>
            <a:r>
              <a:rPr lang="en-US" sz="20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Class </a:t>
            </a:r>
            <a:r>
              <a:rPr lang="en-US" sz="2000" dirty="0" err="1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សម្រាប់ការអនុវត្តទូរទៅនៃ</a:t>
            </a:r>
            <a:r>
              <a:rPr lang="en-US" sz="20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​ Queue​ (common implementations)</a:t>
            </a:r>
            <a:r>
              <a:rPr lang="en-US" sz="20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2000" dirty="0" err="1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មានដូចជា</a:t>
            </a:r>
            <a:r>
              <a:rPr lang="en-US" sz="20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៖</a:t>
            </a:r>
          </a:p>
          <a:p>
            <a:pPr marL="342900" indent="-342900" algn="l">
              <a:lnSpc>
                <a:spcPct val="100000"/>
              </a:lnSpc>
              <a:spcBef>
                <a:spcPts val="1500"/>
              </a:spcBef>
              <a:buFont typeface="Wingdings" pitchFamily="2" charset="2"/>
              <a:buChar char="Ø"/>
            </a:pPr>
            <a:r>
              <a:rPr lang="en-US" sz="20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LinkedList</a:t>
            </a:r>
            <a:r>
              <a:rPr lang="en-US" sz="20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( </a:t>
            </a:r>
            <a:r>
              <a:rPr lang="en-US" sz="2000" dirty="0" err="1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ទម្រង់ប្រើប្រាស</a:t>
            </a:r>
            <a:r>
              <a:rPr lang="en-US" sz="20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់៖</a:t>
            </a:r>
            <a:r>
              <a:rPr lang="en-US" sz="20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20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Queue&lt;</a:t>
            </a:r>
            <a:r>
              <a:rPr lang="en-US" sz="2000" dirty="0" err="1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ប្រភេទទិន្នន័យ</a:t>
            </a:r>
            <a:r>
              <a:rPr lang="en-US" sz="20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&gt;</a:t>
            </a:r>
            <a:r>
              <a:rPr lang="en-US" sz="20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2000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variableName</a:t>
            </a:r>
            <a:r>
              <a:rPr lang="en-US" sz="20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= </a:t>
            </a:r>
            <a:r>
              <a:rPr lang="en-US" sz="20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new</a:t>
            </a:r>
            <a:r>
              <a:rPr lang="en-US" sz="20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20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LinkedList&lt;&gt;()</a:t>
            </a:r>
            <a:r>
              <a:rPr lang="en-US" sz="20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; )</a:t>
            </a:r>
          </a:p>
          <a:p>
            <a:pPr marL="342900" indent="-342900" algn="l">
              <a:lnSpc>
                <a:spcPct val="100000"/>
              </a:lnSpc>
              <a:spcBef>
                <a:spcPts val="1500"/>
              </a:spcBef>
              <a:buFont typeface="Wingdings" pitchFamily="2" charset="2"/>
              <a:buChar char="Ø"/>
            </a:pPr>
            <a:r>
              <a:rPr lang="en-US" sz="2000" dirty="0" err="1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ArrayDeque</a:t>
            </a:r>
            <a:r>
              <a:rPr lang="en-US" sz="20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(</a:t>
            </a:r>
            <a:r>
              <a:rPr lang="en-US" sz="2000" dirty="0" err="1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ទម្រង់ប្រើប្រាស</a:t>
            </a:r>
            <a:r>
              <a:rPr lang="en-US" sz="20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់៖</a:t>
            </a:r>
            <a:r>
              <a:rPr lang="en-US" sz="20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20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Queue&lt;</a:t>
            </a:r>
            <a:r>
              <a:rPr lang="en-US" sz="2000" dirty="0" err="1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ប្រភេទទិន្នន័យ</a:t>
            </a:r>
            <a:r>
              <a:rPr lang="en-US" sz="20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&gt; </a:t>
            </a:r>
            <a:r>
              <a:rPr lang="en-US" sz="2000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variableName</a:t>
            </a:r>
            <a:r>
              <a:rPr lang="en-US" sz="20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20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=</a:t>
            </a:r>
            <a:r>
              <a:rPr lang="en-US" sz="20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new </a:t>
            </a:r>
            <a:r>
              <a:rPr lang="en-US" sz="2000" dirty="0" err="1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ArrayDeque</a:t>
            </a:r>
            <a:r>
              <a:rPr lang="en-US" sz="20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&lt;&gt;()</a:t>
            </a:r>
            <a:r>
              <a:rPr lang="en-US" sz="20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; )</a:t>
            </a:r>
          </a:p>
          <a:p>
            <a:pPr marL="342900" indent="-342900" algn="l">
              <a:lnSpc>
                <a:spcPct val="100000"/>
              </a:lnSpc>
              <a:spcBef>
                <a:spcPts val="1500"/>
              </a:spcBef>
              <a:buFont typeface="Wingdings" pitchFamily="2" charset="2"/>
              <a:buChar char="Ø"/>
            </a:pPr>
            <a:r>
              <a:rPr lang="en-US" sz="2000" dirty="0" err="1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PriorityQueue</a:t>
            </a:r>
            <a:r>
              <a:rPr lang="en-US" sz="20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(</a:t>
            </a:r>
            <a:r>
              <a:rPr lang="en-US" sz="2000" dirty="0" err="1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ទម្រង់ប្រើប្រាស</a:t>
            </a:r>
            <a:r>
              <a:rPr lang="en-US" sz="20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់៖</a:t>
            </a:r>
            <a:r>
              <a:rPr lang="en-US" sz="20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20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Queue&lt;</a:t>
            </a:r>
            <a:r>
              <a:rPr lang="en-US" sz="2000" dirty="0" err="1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ប្រភេទទិន្នន័យ</a:t>
            </a:r>
            <a:r>
              <a:rPr lang="en-US" sz="20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&gt;</a:t>
            </a:r>
            <a:r>
              <a:rPr lang="en-US" sz="20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2000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variableName</a:t>
            </a:r>
            <a:r>
              <a:rPr lang="en-US" sz="20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= </a:t>
            </a:r>
            <a:r>
              <a:rPr lang="en-US" sz="20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new</a:t>
            </a:r>
            <a:r>
              <a:rPr lang="en-US" sz="20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2000" dirty="0" err="1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PriorityQueue</a:t>
            </a:r>
            <a:r>
              <a:rPr lang="en-US" sz="20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&lt;&gt;()</a:t>
            </a:r>
            <a:r>
              <a:rPr lang="en-US" sz="20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; )</a:t>
            </a:r>
          </a:p>
          <a:p>
            <a:pPr marL="342900" indent="-342900" algn="l">
              <a:lnSpc>
                <a:spcPct val="100000"/>
              </a:lnSpc>
              <a:spcBef>
                <a:spcPts val="1500"/>
              </a:spcBef>
              <a:buFont typeface="Wingdings" pitchFamily="2" charset="2"/>
              <a:buChar char="Ø"/>
            </a:pPr>
            <a:r>
              <a:rPr lang="en-US" sz="2000" dirty="0" err="1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ConcurrentLinkedQueue</a:t>
            </a:r>
            <a:br>
              <a:rPr lang="en-US" sz="20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</a:br>
            <a:r>
              <a:rPr lang="en-US" sz="20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(</a:t>
            </a:r>
            <a:r>
              <a:rPr lang="en-US" sz="2000" dirty="0" err="1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ទម្រង់ប្រើប្រាស</a:t>
            </a:r>
            <a:r>
              <a:rPr lang="en-US" sz="20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់៖</a:t>
            </a:r>
            <a:r>
              <a:rPr lang="en-US" sz="20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20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Queue&lt;</a:t>
            </a:r>
            <a:r>
              <a:rPr lang="en-US" sz="2000" dirty="0" err="1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ប្រភេទទិន្នន័យ</a:t>
            </a:r>
            <a:r>
              <a:rPr lang="en-US" sz="20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&gt;</a:t>
            </a:r>
            <a:r>
              <a:rPr lang="en-US" sz="20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2000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variableName</a:t>
            </a:r>
            <a:r>
              <a:rPr lang="en-US" sz="20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= </a:t>
            </a:r>
            <a:r>
              <a:rPr lang="en-US" sz="20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new</a:t>
            </a:r>
            <a:r>
              <a:rPr lang="en-US" sz="20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2000" dirty="0" err="1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ConcurrentLinkedQueue</a:t>
            </a:r>
            <a:r>
              <a:rPr lang="en-US" sz="20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&lt;&gt;()</a:t>
            </a:r>
            <a:r>
              <a:rPr lang="en-US" sz="20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; )</a:t>
            </a:r>
          </a:p>
          <a:p>
            <a:pPr marL="342900" indent="-342900" algn="l">
              <a:lnSpc>
                <a:spcPct val="100000"/>
              </a:lnSpc>
              <a:spcBef>
                <a:spcPts val="1500"/>
              </a:spcBef>
              <a:buFont typeface="Wingdings" pitchFamily="2" charset="2"/>
              <a:buChar char="Ø"/>
            </a:pPr>
            <a:r>
              <a:rPr lang="en-US" sz="2000" dirty="0" err="1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LinkedBlockingQueue</a:t>
            </a:r>
            <a:r>
              <a:rPr lang="en-US" sz="20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/ </a:t>
            </a:r>
            <a:r>
              <a:rPr lang="en-US" sz="2000" dirty="0" err="1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ArrayBlockingQueue</a:t>
            </a:r>
            <a:br>
              <a:rPr lang="en-US" sz="20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</a:br>
            <a:r>
              <a:rPr lang="en-US" sz="2000" dirty="0" err="1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ទម្រង់ប្រើប្រាស</a:t>
            </a:r>
            <a:r>
              <a:rPr lang="en-US" sz="20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់៖</a:t>
            </a:r>
            <a:r>
              <a:rPr lang="en-US" sz="20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20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Queue&lt;</a:t>
            </a:r>
            <a:r>
              <a:rPr lang="en-US" sz="2000" dirty="0" err="1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ប្រភេទទិន្នន័យ</a:t>
            </a:r>
            <a:r>
              <a:rPr lang="en-US" sz="20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&gt;</a:t>
            </a:r>
            <a:r>
              <a:rPr lang="en-US" sz="20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2000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variableName</a:t>
            </a:r>
            <a:r>
              <a:rPr lang="en-US" sz="20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= </a:t>
            </a:r>
            <a:r>
              <a:rPr lang="en-US" sz="20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new</a:t>
            </a:r>
            <a:r>
              <a:rPr lang="en-US" sz="20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2000" dirty="0" err="1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LinkedBlockingQueue</a:t>
            </a:r>
            <a:r>
              <a:rPr lang="en-US" sz="20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&lt;&gt;()</a:t>
            </a:r>
            <a:r>
              <a:rPr lang="en-US" sz="20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;)</a:t>
            </a:r>
          </a:p>
          <a:p>
            <a:pPr lvl="1" algn="l">
              <a:lnSpc>
                <a:spcPct val="150000"/>
              </a:lnSpc>
              <a:spcBef>
                <a:spcPts val="1500"/>
              </a:spcBef>
            </a:pPr>
            <a:endParaRPr lang="en-US" dirty="0">
              <a:solidFill>
                <a:srgbClr val="002060"/>
              </a:solidFill>
              <a:latin typeface="Khmer OS Content" panose="02000500000000020004" pitchFamily="2" charset="77"/>
              <a:cs typeface="Khmer OS Content" panose="02000500000000020004" pitchFamily="2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1706721045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63FB0E5-5140-7EDD-06E0-F584E444BD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1AA29E-33C1-6DC6-2881-B0257AD0732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701800" y="119781"/>
            <a:ext cx="9144000" cy="789373"/>
          </a:xfrm>
        </p:spPr>
        <p:txBody>
          <a:bodyPr>
            <a:normAutofit/>
          </a:bodyPr>
          <a:lstStyle/>
          <a:p>
            <a:pPr algn="l"/>
            <a:r>
              <a:rPr lang="en-US" sz="3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Collections(</a:t>
            </a:r>
            <a:r>
              <a:rPr lang="en-US" sz="3600" dirty="0" err="1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ត</a:t>
            </a:r>
            <a:r>
              <a:rPr lang="en-US" sz="3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)</a:t>
            </a:r>
            <a:endParaRPr lang="en-KH" sz="3600" dirty="0">
              <a:solidFill>
                <a:srgbClr val="00206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98D9171B-6C84-977D-485F-7E15CF386D21}"/>
              </a:ext>
            </a:extLst>
          </p:cNvPr>
          <p:cNvCxnSpPr/>
          <p:nvPr/>
        </p:nvCxnSpPr>
        <p:spPr>
          <a:xfrm>
            <a:off x="0" y="1050468"/>
            <a:ext cx="12192000" cy="0"/>
          </a:xfrm>
          <a:prstGeom prst="line">
            <a:avLst/>
          </a:prstGeom>
          <a:ln w="57150">
            <a:solidFill>
              <a:srgbClr val="D49B0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3D4B9ADD-C5F0-EBBB-17DB-60DEE235C99F}"/>
              </a:ext>
            </a:extLst>
          </p:cNvPr>
          <p:cNvCxnSpPr>
            <a:cxnSpLocks/>
          </p:cNvCxnSpPr>
          <p:nvPr/>
        </p:nvCxnSpPr>
        <p:spPr>
          <a:xfrm>
            <a:off x="0" y="979812"/>
            <a:ext cx="12192000" cy="0"/>
          </a:xfrm>
          <a:prstGeom prst="line">
            <a:avLst/>
          </a:prstGeom>
          <a:ln w="57150">
            <a:solidFill>
              <a:srgbClr val="1C27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7" name="Picture 46" descr="A blue circle with a yellow and white bird in it&#10;&#10;AI-generated content may be incorrect.">
            <a:extLst>
              <a:ext uri="{FF2B5EF4-FFF2-40B4-BE49-F238E27FC236}">
                <a16:creationId xmlns:a16="http://schemas.microsoft.com/office/drawing/2014/main" id="{4C2DC2BC-D469-92D1-5776-6ECF5A9049F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5438" y="219712"/>
            <a:ext cx="606500" cy="606500"/>
          </a:xfrm>
          <a:prstGeom prst="rect">
            <a:avLst/>
          </a:prstGeom>
        </p:spPr>
      </p:pic>
      <p:sp>
        <p:nvSpPr>
          <p:cNvPr id="5" name="Subtitle 2">
            <a:extLst>
              <a:ext uri="{FF2B5EF4-FFF2-40B4-BE49-F238E27FC236}">
                <a16:creationId xmlns:a16="http://schemas.microsoft.com/office/drawing/2014/main" id="{808D26EB-8203-BEEC-FFCD-BE2D5D94655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51352" y="1088213"/>
            <a:ext cx="10791005" cy="5055309"/>
          </a:xfrm>
        </p:spPr>
        <p:txBody>
          <a:bodyPr>
            <a:noAutofit/>
          </a:bodyPr>
          <a:lstStyle/>
          <a:p>
            <a:pPr algn="l">
              <a:lnSpc>
                <a:spcPct val="150000"/>
              </a:lnSpc>
              <a:spcBef>
                <a:spcPts val="1500"/>
              </a:spcBef>
            </a:pPr>
            <a:r>
              <a:rPr lang="en-US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20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LinkedList: </a:t>
            </a:r>
            <a:r>
              <a:rPr lang="en-US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គឺជាការអនុវត្តនៃគោលបំណងទូរទៅមួយ</a:t>
            </a:r>
            <a:r>
              <a:rPr lang="en-US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ដែលធ្វើការយ៉ាងល្អសម្រាប់ស្តង់ដា</a:t>
            </a:r>
            <a:r>
              <a:rPr lang="en-US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FIFO queues។</a:t>
            </a:r>
          </a:p>
          <a:p>
            <a:pPr algn="l">
              <a:lnSpc>
                <a:spcPct val="150000"/>
              </a:lnSpc>
              <a:spcBef>
                <a:spcPts val="1500"/>
              </a:spcBef>
            </a:pPr>
            <a:r>
              <a:rPr lang="en-US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 </a:t>
            </a:r>
            <a:r>
              <a:rPr lang="en-US" dirty="0" err="1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ArrayDeque</a:t>
            </a:r>
            <a:r>
              <a:rPr lang="en-US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: </a:t>
            </a:r>
            <a:r>
              <a:rPr lang="en-US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គឺជាការអនុវត្តក្នុងការផ្លាស់ប្តូរទំហំរបស</a:t>
            </a:r>
            <a:r>
              <a:rPr lang="en-US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់ Array ​</a:t>
            </a:r>
            <a:r>
              <a:rPr lang="en-US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នៃ</a:t>
            </a:r>
            <a:r>
              <a:rPr lang="en-US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Deque (double-ended queue)​ Interface </a:t>
            </a:r>
            <a:r>
              <a:rPr lang="en-US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នៅក្នុងភាសា</a:t>
            </a:r>
            <a:r>
              <a:rPr lang="en-US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Java </a:t>
            </a:r>
            <a:r>
              <a:rPr lang="en-US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ដែលអាចអនុវត្តស្តង់ដាពីរនៃ</a:t>
            </a:r>
            <a:r>
              <a:rPr lang="en-US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Queue </a:t>
            </a:r>
            <a:r>
              <a:rPr lang="en-US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គឺ</a:t>
            </a:r>
            <a:r>
              <a:rPr lang="en-US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FIFO </a:t>
            </a:r>
            <a:r>
              <a:rPr lang="en-US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និង</a:t>
            </a:r>
            <a:r>
              <a:rPr lang="en-US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LIFO។</a:t>
            </a:r>
          </a:p>
          <a:p>
            <a:pPr algn="l">
              <a:lnSpc>
                <a:spcPct val="150000"/>
              </a:lnSpc>
              <a:spcBef>
                <a:spcPts val="1500"/>
              </a:spcBef>
            </a:pPr>
            <a:r>
              <a:rPr lang="en-US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  </a:t>
            </a:r>
            <a:r>
              <a:rPr lang="en-US" dirty="0" err="1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PriorityQueue</a:t>
            </a:r>
            <a:r>
              <a:rPr lang="en-US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: </a:t>
            </a:r>
            <a:r>
              <a:rPr lang="en-US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គឺជា</a:t>
            </a:r>
            <a:r>
              <a:rPr lang="km-KH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រចនាសម្ព័នទិន្នន័យពិសេសដែលធាតុនីមួយៗមានអាទិភាពដែលបានកំណត់ ហើយធាតុដែលមានអាទិភាពខ្ពស់ជាងត្រូវបានបម្រើមុនអ្នកដែលមានអាទិភាពទាបជាង ដោយមិនគិតពីលំដាប់នៃការបញ្ចូល</a:t>
            </a:r>
            <a:r>
              <a:rPr lang="en-US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ឡើយ</a:t>
            </a:r>
            <a:r>
              <a:rPr lang="en-US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។</a:t>
            </a:r>
          </a:p>
        </p:txBody>
      </p:sp>
    </p:spTree>
    <p:extLst>
      <p:ext uri="{BB962C8B-B14F-4D97-AF65-F5344CB8AC3E}">
        <p14:creationId xmlns:p14="http://schemas.microsoft.com/office/powerpoint/2010/main" val="3160851087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BBFF5D6-2927-5DA7-9070-5D43687D74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AB4A69-9717-E5F0-2C89-555F5AD18CE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701800" y="119781"/>
            <a:ext cx="9144000" cy="789373"/>
          </a:xfrm>
        </p:spPr>
        <p:txBody>
          <a:bodyPr>
            <a:normAutofit/>
          </a:bodyPr>
          <a:lstStyle/>
          <a:p>
            <a:pPr algn="l"/>
            <a:r>
              <a:rPr lang="en-US" sz="3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Collections(</a:t>
            </a:r>
            <a:r>
              <a:rPr lang="en-US" sz="3600" dirty="0" err="1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ត</a:t>
            </a:r>
            <a:r>
              <a:rPr lang="en-US" sz="3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)</a:t>
            </a:r>
            <a:endParaRPr lang="en-KH" sz="3600" dirty="0">
              <a:solidFill>
                <a:srgbClr val="00206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240DCA72-E644-6E3D-D728-B27EC236818A}"/>
              </a:ext>
            </a:extLst>
          </p:cNvPr>
          <p:cNvCxnSpPr/>
          <p:nvPr/>
        </p:nvCxnSpPr>
        <p:spPr>
          <a:xfrm>
            <a:off x="0" y="1050468"/>
            <a:ext cx="12192000" cy="0"/>
          </a:xfrm>
          <a:prstGeom prst="line">
            <a:avLst/>
          </a:prstGeom>
          <a:ln w="57150">
            <a:solidFill>
              <a:srgbClr val="D49B0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1C7B6E95-22ED-C50E-A8FD-7672DB80F94B}"/>
              </a:ext>
            </a:extLst>
          </p:cNvPr>
          <p:cNvCxnSpPr>
            <a:cxnSpLocks/>
          </p:cNvCxnSpPr>
          <p:nvPr/>
        </p:nvCxnSpPr>
        <p:spPr>
          <a:xfrm>
            <a:off x="0" y="979812"/>
            <a:ext cx="12192000" cy="0"/>
          </a:xfrm>
          <a:prstGeom prst="line">
            <a:avLst/>
          </a:prstGeom>
          <a:ln w="57150">
            <a:solidFill>
              <a:srgbClr val="1C27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7" name="Picture 46" descr="A blue circle with a yellow and white bird in it&#10;&#10;AI-generated content may be incorrect.">
            <a:extLst>
              <a:ext uri="{FF2B5EF4-FFF2-40B4-BE49-F238E27FC236}">
                <a16:creationId xmlns:a16="http://schemas.microsoft.com/office/drawing/2014/main" id="{4DA0D5AD-F59E-9D1D-8C3A-3CE3E8ACC06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5438" y="219712"/>
            <a:ext cx="606500" cy="606500"/>
          </a:xfrm>
          <a:prstGeom prst="rect">
            <a:avLst/>
          </a:prstGeom>
        </p:spPr>
      </p:pic>
      <p:sp>
        <p:nvSpPr>
          <p:cNvPr id="5" name="Subtitle 2">
            <a:extLst>
              <a:ext uri="{FF2B5EF4-FFF2-40B4-BE49-F238E27FC236}">
                <a16:creationId xmlns:a16="http://schemas.microsoft.com/office/drawing/2014/main" id="{18B02C5F-81C9-9783-6B18-518EE52921B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51352" y="1088213"/>
            <a:ext cx="10791005" cy="5055309"/>
          </a:xfrm>
        </p:spPr>
        <p:txBody>
          <a:bodyPr>
            <a:noAutofit/>
          </a:bodyPr>
          <a:lstStyle/>
          <a:p>
            <a:pPr algn="l">
              <a:lnSpc>
                <a:spcPct val="150000"/>
              </a:lnSpc>
              <a:spcBef>
                <a:spcPts val="1500"/>
              </a:spcBef>
            </a:pPr>
            <a:r>
              <a:rPr lang="en-US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20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 </a:t>
            </a:r>
            <a:r>
              <a:rPr lang="en-US" dirty="0" err="1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ConcurrentLinkedQueue:</a:t>
            </a:r>
            <a:r>
              <a:rPr lang="en-US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គឺជា</a:t>
            </a:r>
            <a:r>
              <a:rPr lang="km-KH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រចនាសម្ព័នទិន្នន័យ</a:t>
            </a:r>
            <a:r>
              <a:rPr lang="en-US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ដែលមានលក្ខណៈ</a:t>
            </a:r>
            <a:r>
              <a:rPr lang="en-US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thread-safe </a:t>
            </a:r>
            <a:r>
              <a:rPr lang="en-US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សម្រាប់ប្រើជាលក្ខណៈ</a:t>
            </a:r>
            <a:r>
              <a:rPr lang="en-US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multi-thread </a:t>
            </a:r>
            <a:r>
              <a:rPr lang="en-US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ដែល</a:t>
            </a:r>
            <a:r>
              <a:rPr lang="en-US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​ thread </a:t>
            </a:r>
            <a:r>
              <a:rPr lang="en-US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នីមួយៗអាចចូលដំណើរការ</a:t>
            </a:r>
            <a:r>
              <a:rPr lang="en-US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Queue </a:t>
            </a:r>
            <a:r>
              <a:rPr lang="en-US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ក្នុងពេលដំណាលគ្នា</a:t>
            </a:r>
            <a:r>
              <a:rPr lang="en-US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។</a:t>
            </a:r>
          </a:p>
          <a:p>
            <a:pPr algn="l">
              <a:lnSpc>
                <a:spcPct val="150000"/>
              </a:lnSpc>
              <a:spcBef>
                <a:spcPts val="1500"/>
              </a:spcBef>
            </a:pPr>
            <a:r>
              <a:rPr lang="en-US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  </a:t>
            </a:r>
            <a:r>
              <a:rPr lang="en-US" dirty="0" err="1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LinkedBlockingQueue</a:t>
            </a:r>
            <a:r>
              <a:rPr lang="en-US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/ </a:t>
            </a:r>
            <a:r>
              <a:rPr lang="en-US" dirty="0" err="1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ArrayBlockingQueue</a:t>
            </a:r>
            <a:r>
              <a:rPr lang="en-US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: </a:t>
            </a:r>
            <a:r>
              <a:rPr lang="en-US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គឺជា</a:t>
            </a:r>
            <a:r>
              <a:rPr lang="km-KH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រចនាសម្ព័នទិន្នន័យ</a:t>
            </a:r>
            <a:r>
              <a:rPr lang="en-US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ដែលមានលក្ខណៈ</a:t>
            </a:r>
            <a:r>
              <a:rPr lang="en-US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thread-safe </a:t>
            </a:r>
            <a:r>
              <a:rPr lang="en-US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ដែលរារាំងប្រតិបត្តិការដោយស្វ័យប្រវត្តិនៅពេល</a:t>
            </a:r>
            <a:r>
              <a:rPr lang="en-US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Queue </a:t>
            </a:r>
            <a:r>
              <a:rPr lang="en-US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ត្រូវបានពេញក្នុងពេលបន្ថែមធាតុចូល</a:t>
            </a:r>
            <a:r>
              <a:rPr lang="en-US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ឫ</a:t>
            </a:r>
            <a:r>
              <a:rPr lang="en-US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Queue </a:t>
            </a:r>
            <a:r>
              <a:rPr lang="en-US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មិនមានធាតុក្នុងពេលដកចេញ</a:t>
            </a:r>
            <a:r>
              <a:rPr lang="en-US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។</a:t>
            </a:r>
          </a:p>
        </p:txBody>
      </p:sp>
    </p:spTree>
    <p:extLst>
      <p:ext uri="{BB962C8B-B14F-4D97-AF65-F5344CB8AC3E}">
        <p14:creationId xmlns:p14="http://schemas.microsoft.com/office/powerpoint/2010/main" val="444674793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5404A66-67F3-D723-54AD-19ED7E4D24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6678DD-B38A-E2C5-A827-D53F309B5EA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701800" y="119781"/>
            <a:ext cx="9144000" cy="789373"/>
          </a:xfrm>
        </p:spPr>
        <p:txBody>
          <a:bodyPr>
            <a:normAutofit/>
          </a:bodyPr>
          <a:lstStyle/>
          <a:p>
            <a:pPr algn="l"/>
            <a:r>
              <a:rPr lang="en-US" sz="3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Collections(</a:t>
            </a:r>
            <a:r>
              <a:rPr lang="en-US" sz="3600" dirty="0" err="1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ត</a:t>
            </a:r>
            <a:r>
              <a:rPr lang="en-US" sz="3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)</a:t>
            </a:r>
            <a:endParaRPr lang="en-KH" sz="3600" dirty="0">
              <a:solidFill>
                <a:srgbClr val="00206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9142DAA7-E884-9798-42A6-5C0BEB0280E5}"/>
              </a:ext>
            </a:extLst>
          </p:cNvPr>
          <p:cNvCxnSpPr/>
          <p:nvPr/>
        </p:nvCxnSpPr>
        <p:spPr>
          <a:xfrm>
            <a:off x="0" y="1050468"/>
            <a:ext cx="12192000" cy="0"/>
          </a:xfrm>
          <a:prstGeom prst="line">
            <a:avLst/>
          </a:prstGeom>
          <a:ln w="57150">
            <a:solidFill>
              <a:srgbClr val="D49B0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660460A3-E514-43AE-65C6-F6F22305FD83}"/>
              </a:ext>
            </a:extLst>
          </p:cNvPr>
          <p:cNvCxnSpPr>
            <a:cxnSpLocks/>
          </p:cNvCxnSpPr>
          <p:nvPr/>
        </p:nvCxnSpPr>
        <p:spPr>
          <a:xfrm>
            <a:off x="0" y="979812"/>
            <a:ext cx="12192000" cy="0"/>
          </a:xfrm>
          <a:prstGeom prst="line">
            <a:avLst/>
          </a:prstGeom>
          <a:ln w="57150">
            <a:solidFill>
              <a:srgbClr val="1C27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7" name="Picture 46" descr="A blue circle with a yellow and white bird in it&#10;&#10;AI-generated content may be incorrect.">
            <a:extLst>
              <a:ext uri="{FF2B5EF4-FFF2-40B4-BE49-F238E27FC236}">
                <a16:creationId xmlns:a16="http://schemas.microsoft.com/office/drawing/2014/main" id="{8E529744-E11E-4983-6784-5171E5245D0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5438" y="219712"/>
            <a:ext cx="606500" cy="606500"/>
          </a:xfrm>
          <a:prstGeom prst="rect">
            <a:avLst/>
          </a:prstGeom>
        </p:spPr>
      </p:pic>
      <p:sp>
        <p:nvSpPr>
          <p:cNvPr id="6" name="Subtitle 2">
            <a:extLst>
              <a:ext uri="{FF2B5EF4-FFF2-40B4-BE49-F238E27FC236}">
                <a16:creationId xmlns:a16="http://schemas.microsoft.com/office/drawing/2014/main" id="{2A6C1829-0F94-3740-7264-72175A0E807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51353" y="1154761"/>
            <a:ext cx="10459234" cy="5510306"/>
          </a:xfrm>
        </p:spPr>
        <p:txBody>
          <a:bodyPr>
            <a:noAutofit/>
          </a:bodyPr>
          <a:lstStyle/>
          <a:p>
            <a:pPr algn="l">
              <a:lnSpc>
                <a:spcPct val="100000"/>
              </a:lnSpc>
              <a:spcBef>
                <a:spcPts val="1500"/>
              </a:spcBef>
            </a:pPr>
            <a:r>
              <a:rPr lang="en-US" sz="2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  </a:t>
            </a:r>
            <a:r>
              <a:rPr lang="en-US" sz="20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Queue method </a:t>
            </a:r>
            <a:r>
              <a:rPr lang="en-US" sz="2000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មានដូចជា</a:t>
            </a:r>
            <a:r>
              <a:rPr lang="en-US" sz="20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៖</a:t>
            </a:r>
          </a:p>
          <a:p>
            <a:pPr marL="800100" lvl="1" indent="-342900" algn="l">
              <a:lnSpc>
                <a:spcPct val="100000"/>
              </a:lnSpc>
              <a:spcBef>
                <a:spcPts val="1500"/>
              </a:spcBef>
              <a:buFont typeface="Wingdings" pitchFamily="2" charset="2"/>
              <a:buChar char="Ø"/>
            </a:pP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add(E e) </a:t>
            </a:r>
            <a:r>
              <a:rPr lang="en-US" sz="1800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ឫ</a:t>
            </a:r>
            <a:r>
              <a:rPr lang="en-US" sz="18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offer(E e) : </a:t>
            </a:r>
            <a:r>
              <a:rPr lang="en-US" sz="1800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ប្រើសម្រាប់បន្ថែមធាតុ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18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។</a:t>
            </a:r>
          </a:p>
          <a:p>
            <a:pPr lvl="1" algn="l">
              <a:lnSpc>
                <a:spcPct val="100000"/>
              </a:lnSpc>
              <a:spcBef>
                <a:spcPts val="1500"/>
              </a:spcBef>
            </a:pPr>
            <a:r>
              <a:rPr lang="en-US" sz="18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	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1800" dirty="0" err="1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ឧទាហរណ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៍៖</a:t>
            </a:r>
            <a:r>
              <a:rPr lang="en-US" sz="18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Queue&lt;String&gt; 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queue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=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new LinkedList&lt;&gt;();</a:t>
            </a:r>
            <a:b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</a:b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		 </a:t>
            </a:r>
            <a:r>
              <a:rPr lang="en-US" sz="1800" dirty="0" err="1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queue</a:t>
            </a:r>
            <a:r>
              <a:rPr lang="en-US" sz="1800" dirty="0" err="1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.offer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(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“A”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)</a:t>
            </a:r>
            <a:r>
              <a:rPr lang="en-US" sz="18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;</a:t>
            </a:r>
            <a:endParaRPr lang="en-US" sz="1800" dirty="0">
              <a:solidFill>
                <a:srgbClr val="002060"/>
              </a:solidFill>
              <a:latin typeface="Khmer OS Content" panose="02000500000000020004" pitchFamily="2" charset="77"/>
              <a:cs typeface="Khmer OS Content" panose="02000500000000020004" pitchFamily="2" charset="77"/>
            </a:endParaRPr>
          </a:p>
          <a:p>
            <a:pPr marL="800100" lvl="1" indent="-342900" algn="l">
              <a:lnSpc>
                <a:spcPct val="100000"/>
              </a:lnSpc>
              <a:spcBef>
                <a:spcPts val="1500"/>
              </a:spcBef>
              <a:buFont typeface="Wingdings" pitchFamily="2" charset="2"/>
              <a:buChar char="Ø"/>
            </a:pP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remove() </a:t>
            </a:r>
            <a:r>
              <a:rPr lang="en-US" sz="1800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ឫ</a:t>
            </a:r>
            <a:r>
              <a:rPr lang="en-US" sz="18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poll() : </a:t>
            </a:r>
            <a:r>
              <a:rPr lang="en-US" sz="1800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ប្រើសម្រាប់ចាប់យក</a:t>
            </a:r>
            <a:r>
              <a:rPr lang="en-US" sz="18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1800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ឫលុបធាតុដែលនៅលើគេបំផុតនៃ</a:t>
            </a:r>
            <a:r>
              <a:rPr lang="en-US" sz="18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Queue។</a:t>
            </a:r>
          </a:p>
          <a:p>
            <a:pPr lvl="1" algn="l">
              <a:lnSpc>
                <a:spcPct val="100000"/>
              </a:lnSpc>
              <a:spcBef>
                <a:spcPts val="1500"/>
              </a:spcBef>
            </a:pP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	 </a:t>
            </a:r>
            <a:r>
              <a:rPr lang="en-US" sz="1800" dirty="0" err="1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ឧទាហរណ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៍៖</a:t>
            </a:r>
            <a:r>
              <a:rPr lang="en-US" sz="18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Queue&lt;String&gt; 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queue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=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new LinkedList&lt;&gt;()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; </a:t>
            </a:r>
          </a:p>
          <a:p>
            <a:pPr lvl="1" algn="l">
              <a:lnSpc>
                <a:spcPct val="100000"/>
              </a:lnSpc>
              <a:spcBef>
                <a:spcPts val="1500"/>
              </a:spcBef>
            </a:pP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		 </a:t>
            </a:r>
            <a:r>
              <a:rPr lang="en-US" sz="1800" dirty="0" err="1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queue</a:t>
            </a:r>
            <a:r>
              <a:rPr lang="en-US" sz="1800" dirty="0" err="1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.offer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(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“A”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)</a:t>
            </a:r>
            <a:r>
              <a:rPr lang="en-US" sz="18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; </a:t>
            </a:r>
            <a:r>
              <a:rPr lang="en-US" sz="1800" dirty="0" err="1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queue</a:t>
            </a:r>
            <a:r>
              <a:rPr lang="en-US" sz="1800" dirty="0" err="1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.offer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(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“B”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)</a:t>
            </a:r>
            <a:r>
              <a:rPr lang="en-US" sz="18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; </a:t>
            </a:r>
            <a:r>
              <a:rPr lang="en-US" sz="1800" dirty="0" err="1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queue</a:t>
            </a:r>
            <a:r>
              <a:rPr lang="en-US" sz="1800" dirty="0" err="1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.offer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(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“C”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)</a:t>
            </a:r>
            <a:r>
              <a:rPr lang="en-US" sz="18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;</a:t>
            </a:r>
            <a:b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</a:b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		 </a:t>
            </a:r>
            <a:r>
              <a:rPr lang="en-US" sz="1800" dirty="0" err="1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queue</a:t>
            </a:r>
            <a:r>
              <a:rPr lang="en-US" sz="1800" dirty="0" err="1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.remove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(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“B”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)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;</a:t>
            </a:r>
          </a:p>
          <a:p>
            <a:pPr marL="800100" lvl="1" indent="-342900" algn="l">
              <a:lnSpc>
                <a:spcPct val="100000"/>
              </a:lnSpc>
              <a:spcBef>
                <a:spcPts val="1500"/>
              </a:spcBef>
              <a:buFont typeface="Wingdings" pitchFamily="2" charset="2"/>
              <a:buChar char="Ø"/>
            </a:pP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element() </a:t>
            </a:r>
            <a:r>
              <a:rPr lang="en-US" sz="1800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ឫ</a:t>
            </a:r>
            <a:r>
              <a:rPr lang="en-US" sz="18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peek() : </a:t>
            </a:r>
            <a:r>
              <a:rPr lang="en-US" sz="1800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ប្រើសម្រាប់ចាប់យកធាតុដែលនៅលើគេបំផុតនៃ</a:t>
            </a:r>
            <a:r>
              <a:rPr lang="en-US" sz="18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Queue។ </a:t>
            </a:r>
            <a:r>
              <a:rPr lang="en-US" sz="1800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ប៉ន្តែមិនលុបធាតុនោះទេ</a:t>
            </a:r>
            <a:r>
              <a:rPr lang="en-US" sz="18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។</a:t>
            </a:r>
          </a:p>
          <a:p>
            <a:pPr lvl="1" algn="l">
              <a:lnSpc>
                <a:spcPct val="100000"/>
              </a:lnSpc>
              <a:spcBef>
                <a:spcPts val="1500"/>
              </a:spcBef>
            </a:pP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	 </a:t>
            </a:r>
            <a:r>
              <a:rPr lang="en-US" sz="1800" dirty="0" err="1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ឧទាហរណ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៍៖</a:t>
            </a:r>
            <a:r>
              <a:rPr lang="en-US" sz="18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Queue&lt;String&gt; 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queue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=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new LinkedList&lt;&gt;()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;</a:t>
            </a:r>
          </a:p>
          <a:p>
            <a:pPr lvl="1" algn="l">
              <a:lnSpc>
                <a:spcPct val="150000"/>
              </a:lnSpc>
              <a:spcBef>
                <a:spcPts val="1500"/>
              </a:spcBef>
            </a:pP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		 </a:t>
            </a:r>
            <a:r>
              <a:rPr lang="en-US" sz="1800" dirty="0" err="1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queue</a:t>
            </a:r>
            <a:r>
              <a:rPr lang="en-US" sz="1800" dirty="0" err="1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.add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(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“A”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)</a:t>
            </a:r>
            <a:r>
              <a:rPr lang="en-US" sz="18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; </a:t>
            </a:r>
            <a:r>
              <a:rPr lang="en-US" sz="1800" dirty="0" err="1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queue</a:t>
            </a:r>
            <a:r>
              <a:rPr lang="en-US" sz="1800" dirty="0" err="1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.add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(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“B”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)</a:t>
            </a:r>
            <a:r>
              <a:rPr lang="en-US" sz="18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; </a:t>
            </a:r>
            <a:r>
              <a:rPr lang="en-US" sz="1800" dirty="0" err="1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queue</a:t>
            </a:r>
            <a:r>
              <a:rPr lang="en-US" sz="1800" dirty="0" err="1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.add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(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“C”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)</a:t>
            </a:r>
            <a:r>
              <a:rPr lang="en-US" sz="18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;</a:t>
            </a:r>
            <a:b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</a:b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		​ String </a:t>
            </a:r>
            <a:r>
              <a:rPr lang="en-US" sz="1800" dirty="0" err="1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nextElement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=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1800" dirty="0" err="1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queue</a:t>
            </a:r>
            <a:r>
              <a:rPr lang="en-US" sz="1800" dirty="0" err="1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.peek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()</a:t>
            </a:r>
            <a:r>
              <a:rPr lang="en-US" sz="18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;</a:t>
            </a:r>
            <a:endParaRPr lang="en-US" sz="1800" dirty="0">
              <a:solidFill>
                <a:srgbClr val="002060"/>
              </a:solidFill>
              <a:latin typeface="Khmer OS Content" panose="02000500000000020004" pitchFamily="2" charset="77"/>
              <a:cs typeface="Khmer OS Content" panose="02000500000000020004" pitchFamily="2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2648642037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BE38F5E-58C9-83CD-DB01-C157B9C6C5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83A648-DB73-55AB-753F-8A932EE54F3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701800" y="119781"/>
            <a:ext cx="9144000" cy="789373"/>
          </a:xfrm>
        </p:spPr>
        <p:txBody>
          <a:bodyPr>
            <a:normAutofit/>
          </a:bodyPr>
          <a:lstStyle/>
          <a:p>
            <a:pPr algn="l"/>
            <a:r>
              <a:rPr lang="en-US" sz="3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Collections(</a:t>
            </a:r>
            <a:r>
              <a:rPr lang="en-US" sz="3600" dirty="0" err="1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ត</a:t>
            </a:r>
            <a:r>
              <a:rPr lang="en-US" sz="3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)</a:t>
            </a:r>
            <a:endParaRPr lang="en-KH" sz="3600" dirty="0">
              <a:solidFill>
                <a:srgbClr val="00206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4AA36DEB-339A-CA30-4C5C-CDDC5238EB5A}"/>
              </a:ext>
            </a:extLst>
          </p:cNvPr>
          <p:cNvCxnSpPr/>
          <p:nvPr/>
        </p:nvCxnSpPr>
        <p:spPr>
          <a:xfrm>
            <a:off x="0" y="1050468"/>
            <a:ext cx="12192000" cy="0"/>
          </a:xfrm>
          <a:prstGeom prst="line">
            <a:avLst/>
          </a:prstGeom>
          <a:ln w="57150">
            <a:solidFill>
              <a:srgbClr val="D49B0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4990B4AC-8EDD-8F17-4C95-4FA40B366B0B}"/>
              </a:ext>
            </a:extLst>
          </p:cNvPr>
          <p:cNvCxnSpPr>
            <a:cxnSpLocks/>
          </p:cNvCxnSpPr>
          <p:nvPr/>
        </p:nvCxnSpPr>
        <p:spPr>
          <a:xfrm>
            <a:off x="0" y="979812"/>
            <a:ext cx="12192000" cy="0"/>
          </a:xfrm>
          <a:prstGeom prst="line">
            <a:avLst/>
          </a:prstGeom>
          <a:ln w="57150">
            <a:solidFill>
              <a:srgbClr val="1C27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7" name="Picture 46" descr="A blue circle with a yellow and white bird in it&#10;&#10;AI-generated content may be incorrect.">
            <a:extLst>
              <a:ext uri="{FF2B5EF4-FFF2-40B4-BE49-F238E27FC236}">
                <a16:creationId xmlns:a16="http://schemas.microsoft.com/office/drawing/2014/main" id="{06C52372-09E3-A402-4A08-44F75BF1598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5438" y="219712"/>
            <a:ext cx="606500" cy="606500"/>
          </a:xfrm>
          <a:prstGeom prst="rect">
            <a:avLst/>
          </a:prstGeom>
        </p:spPr>
      </p:pic>
      <p:sp>
        <p:nvSpPr>
          <p:cNvPr id="5" name="Subtitle 2">
            <a:extLst>
              <a:ext uri="{FF2B5EF4-FFF2-40B4-BE49-F238E27FC236}">
                <a16:creationId xmlns:a16="http://schemas.microsoft.com/office/drawing/2014/main" id="{73972562-8A26-B34C-EF86-C53A06FB658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33626" y="1237024"/>
            <a:ext cx="11330006" cy="5272951"/>
          </a:xfrm>
        </p:spPr>
        <p:txBody>
          <a:bodyPr>
            <a:noAutofit/>
          </a:bodyPr>
          <a:lstStyle/>
          <a:p>
            <a:pPr algn="l">
              <a:lnSpc>
                <a:spcPct val="150000"/>
              </a:lnSpc>
              <a:spcBef>
                <a:spcPts val="1500"/>
              </a:spcBef>
            </a:pPr>
            <a:r>
              <a:rPr lang="en-US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Map: </a:t>
            </a:r>
            <a:r>
              <a:rPr lang="en-US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គឺជា</a:t>
            </a:r>
            <a:r>
              <a:rPr lang="en-US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interface </a:t>
            </a:r>
            <a:r>
              <a:rPr lang="en-US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មូលដ្ឋានមួយនៅក្នុង</a:t>
            </a:r>
            <a:r>
              <a:rPr lang="en-US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Java Collections Framework ប្រើប្រាស់សម្រាប់ផ្ទុកទិន្នន័យដែលផ្គូរផ្គងតម្លៃតាមរយៈពាក្យគន្លឹះ (key-value pairs)។ </a:t>
            </a:r>
            <a:r>
              <a:rPr lang="en-US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ពាក្យគន្លឹះ</a:t>
            </a:r>
            <a:r>
              <a:rPr lang="en-US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(key)</a:t>
            </a:r>
            <a:r>
              <a:rPr lang="en-US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នីមួយ</a:t>
            </a:r>
            <a:r>
              <a:rPr lang="en-US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ៗ </a:t>
            </a:r>
            <a:r>
              <a:rPr lang="en-US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គឺខុសៗគ្នា</a:t>
            </a:r>
            <a:r>
              <a:rPr lang="en-US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ប៉ុន្តែតម្លៃអាចស្ទួនគ្នាបាន</a:t>
            </a:r>
            <a:r>
              <a:rPr lang="en-US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។</a:t>
            </a:r>
            <a:br>
              <a:rPr lang="en-US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</a:br>
            <a:r>
              <a:rPr lang="en-KH" dirty="0"/>
              <a:t>👉 </a:t>
            </a:r>
            <a:r>
              <a:rPr lang="en-US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Class </a:t>
            </a:r>
            <a:r>
              <a:rPr lang="en-US" dirty="0" err="1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សម្រាប់ការអនុវត្តទូរទៅនៃ</a:t>
            </a:r>
            <a:r>
              <a:rPr lang="en-US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​ Map​ (common implementations)</a:t>
            </a:r>
            <a:r>
              <a:rPr lang="en-US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dirty="0" err="1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មានដូចជា</a:t>
            </a:r>
            <a:r>
              <a:rPr lang="en-US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៖</a:t>
            </a:r>
          </a:p>
          <a:p>
            <a:pPr marL="342900" indent="-342900" algn="l">
              <a:lnSpc>
                <a:spcPct val="100000"/>
              </a:lnSpc>
              <a:spcBef>
                <a:spcPts val="1500"/>
              </a:spcBef>
              <a:buFont typeface="Wingdings" pitchFamily="2" charset="2"/>
              <a:buChar char="Ø"/>
            </a:pPr>
            <a:r>
              <a:rPr lang="en-US" sz="20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HashMap</a:t>
            </a:r>
            <a:endParaRPr lang="en-US" sz="2000" dirty="0">
              <a:solidFill>
                <a:srgbClr val="0070C0"/>
              </a:solidFill>
              <a:latin typeface="Khmer OS Content" panose="02000500000000020004" pitchFamily="2" charset="77"/>
              <a:cs typeface="Khmer OS Content" panose="02000500000000020004" pitchFamily="2" charset="77"/>
            </a:endParaRPr>
          </a:p>
          <a:p>
            <a:pPr algn="l">
              <a:lnSpc>
                <a:spcPct val="100000"/>
              </a:lnSpc>
              <a:spcBef>
                <a:spcPts val="1500"/>
              </a:spcBef>
            </a:pPr>
            <a:r>
              <a:rPr lang="en-US" sz="20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      </a:t>
            </a:r>
            <a:r>
              <a:rPr lang="en-US" sz="2000" dirty="0" err="1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ទម្រង់ប្រើប្រាស</a:t>
            </a:r>
            <a:r>
              <a:rPr lang="en-US" sz="20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់៖</a:t>
            </a:r>
            <a:r>
              <a:rPr lang="en-US" sz="20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20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Map&lt;</a:t>
            </a:r>
            <a:r>
              <a:rPr lang="en-US" sz="2000" dirty="0" err="1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ប្រភេទទិន្នន័យ</a:t>
            </a:r>
            <a:r>
              <a:rPr lang="en-US" sz="20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, </a:t>
            </a:r>
            <a:r>
              <a:rPr lang="en-US" sz="2000" dirty="0" err="1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ប្រភេទទិន្នន័យ</a:t>
            </a:r>
            <a:r>
              <a:rPr lang="en-US" sz="20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&gt;</a:t>
            </a:r>
            <a:r>
              <a:rPr lang="en-US" sz="20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2000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variableName</a:t>
            </a:r>
            <a:r>
              <a:rPr lang="en-US" sz="20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= </a:t>
            </a:r>
            <a:r>
              <a:rPr lang="en-US" sz="20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new</a:t>
            </a:r>
            <a:r>
              <a:rPr lang="en-US" sz="20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20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HashMap&lt;&gt;()</a:t>
            </a:r>
            <a:r>
              <a:rPr lang="en-US" sz="20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; </a:t>
            </a:r>
          </a:p>
          <a:p>
            <a:pPr marL="342900" indent="-342900" algn="l">
              <a:lnSpc>
                <a:spcPct val="100000"/>
              </a:lnSpc>
              <a:spcBef>
                <a:spcPts val="1500"/>
              </a:spcBef>
              <a:buFont typeface="Wingdings" pitchFamily="2" charset="2"/>
              <a:buChar char="Ø"/>
            </a:pPr>
            <a:r>
              <a:rPr lang="en-US" sz="2000" dirty="0" err="1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LinkedHashMap</a:t>
            </a:r>
            <a:endParaRPr lang="en-US" sz="2000" dirty="0">
              <a:solidFill>
                <a:srgbClr val="FF0000"/>
              </a:solidFill>
              <a:latin typeface="Khmer OS Content" panose="02000500000000020004" pitchFamily="2" charset="77"/>
              <a:cs typeface="Khmer OS Content" panose="02000500000000020004" pitchFamily="2" charset="77"/>
            </a:endParaRPr>
          </a:p>
          <a:p>
            <a:pPr algn="l">
              <a:lnSpc>
                <a:spcPct val="100000"/>
              </a:lnSpc>
              <a:spcBef>
                <a:spcPts val="1500"/>
              </a:spcBef>
            </a:pPr>
            <a:r>
              <a:rPr lang="en-US" sz="20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      </a:t>
            </a:r>
            <a:r>
              <a:rPr lang="en-US" sz="2000" dirty="0" err="1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ទម្រង់ប្រើប្រាស</a:t>
            </a:r>
            <a:r>
              <a:rPr lang="en-US" sz="20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់៖</a:t>
            </a:r>
            <a:r>
              <a:rPr lang="en-US" sz="20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20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Map&lt;</a:t>
            </a:r>
            <a:r>
              <a:rPr lang="en-US" sz="2000" dirty="0" err="1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ប្រភេទទិន្នន័យ</a:t>
            </a:r>
            <a:r>
              <a:rPr lang="en-US" sz="20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, </a:t>
            </a:r>
            <a:r>
              <a:rPr lang="en-US" sz="2000" dirty="0" err="1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ប្រភេទទិន្នន័យ</a:t>
            </a:r>
            <a:r>
              <a:rPr lang="en-US" sz="20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&gt; </a:t>
            </a:r>
            <a:r>
              <a:rPr lang="en-US" sz="2000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variableName</a:t>
            </a:r>
            <a:r>
              <a:rPr lang="en-US" sz="20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20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=</a:t>
            </a:r>
            <a:r>
              <a:rPr lang="en-US" sz="20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new </a:t>
            </a:r>
            <a:r>
              <a:rPr lang="en-US" sz="2000" dirty="0" err="1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LinkedHashMap</a:t>
            </a:r>
            <a:r>
              <a:rPr lang="en-US" sz="20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&lt;&gt;()</a:t>
            </a:r>
            <a:r>
              <a:rPr lang="en-US" sz="20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;</a:t>
            </a:r>
          </a:p>
          <a:p>
            <a:pPr marL="342900" indent="-342900" algn="l">
              <a:lnSpc>
                <a:spcPct val="100000"/>
              </a:lnSpc>
              <a:spcBef>
                <a:spcPts val="1500"/>
              </a:spcBef>
              <a:buFont typeface="Wingdings" pitchFamily="2" charset="2"/>
              <a:buChar char="Ø"/>
            </a:pPr>
            <a:r>
              <a:rPr lang="en-US" sz="2000" dirty="0" err="1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TreeMap</a:t>
            </a:r>
            <a:endParaRPr lang="en-US" sz="2000" dirty="0">
              <a:solidFill>
                <a:srgbClr val="FF0000"/>
              </a:solidFill>
              <a:latin typeface="Khmer OS Content" panose="02000500000000020004" pitchFamily="2" charset="77"/>
              <a:cs typeface="Khmer OS Content" panose="02000500000000020004" pitchFamily="2" charset="77"/>
            </a:endParaRPr>
          </a:p>
          <a:p>
            <a:pPr algn="l">
              <a:lnSpc>
                <a:spcPct val="100000"/>
              </a:lnSpc>
              <a:spcBef>
                <a:spcPts val="1500"/>
              </a:spcBef>
            </a:pPr>
            <a:r>
              <a:rPr lang="en-US" sz="20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      </a:t>
            </a:r>
            <a:r>
              <a:rPr lang="en-US" sz="2000" dirty="0" err="1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ទម្រង់ប្រើប្រាស</a:t>
            </a:r>
            <a:r>
              <a:rPr lang="en-US" sz="20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់៖</a:t>
            </a:r>
            <a:r>
              <a:rPr lang="en-US" sz="20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2000" dirty="0" err="1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SortedMap</a:t>
            </a:r>
            <a:r>
              <a:rPr lang="en-US" sz="20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&lt;</a:t>
            </a:r>
            <a:r>
              <a:rPr lang="en-US" sz="2000" dirty="0" err="1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ប្រភេទទិន្នន័យ</a:t>
            </a:r>
            <a:r>
              <a:rPr lang="en-US" sz="20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, </a:t>
            </a:r>
            <a:r>
              <a:rPr lang="en-US" sz="2000" dirty="0" err="1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ប្រភេទទិន្នន័យ</a:t>
            </a:r>
            <a:r>
              <a:rPr lang="en-US" sz="20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&gt;</a:t>
            </a:r>
            <a:r>
              <a:rPr lang="en-US" sz="20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2000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variableName</a:t>
            </a:r>
            <a:r>
              <a:rPr lang="en-US" sz="20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= </a:t>
            </a:r>
            <a:r>
              <a:rPr lang="en-US" sz="20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new</a:t>
            </a:r>
            <a:r>
              <a:rPr lang="en-US" sz="20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2000" dirty="0" err="1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TreeMap</a:t>
            </a:r>
            <a:r>
              <a:rPr lang="en-US" sz="20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&lt;&gt;()</a:t>
            </a:r>
            <a:r>
              <a:rPr lang="en-US" sz="20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; </a:t>
            </a:r>
          </a:p>
          <a:p>
            <a:pPr lvl="1" algn="l">
              <a:lnSpc>
                <a:spcPct val="150000"/>
              </a:lnSpc>
              <a:spcBef>
                <a:spcPts val="1500"/>
              </a:spcBef>
            </a:pPr>
            <a:endParaRPr lang="en-US" dirty="0">
              <a:solidFill>
                <a:srgbClr val="002060"/>
              </a:solidFill>
              <a:latin typeface="Khmer OS Content" panose="02000500000000020004" pitchFamily="2" charset="77"/>
              <a:cs typeface="Khmer OS Content" panose="02000500000000020004" pitchFamily="2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1959210163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CDD00AA-07EA-D8D7-CB50-C6A285A4C3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335227-6A0C-DDCE-D627-25B80D5208A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701800" y="119781"/>
            <a:ext cx="9144000" cy="789373"/>
          </a:xfrm>
        </p:spPr>
        <p:txBody>
          <a:bodyPr>
            <a:normAutofit/>
          </a:bodyPr>
          <a:lstStyle/>
          <a:p>
            <a:pPr algn="l"/>
            <a:r>
              <a:rPr lang="en-US" sz="3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Collections(</a:t>
            </a:r>
            <a:r>
              <a:rPr lang="en-US" sz="3600" dirty="0" err="1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ត</a:t>
            </a:r>
            <a:r>
              <a:rPr lang="en-US" sz="3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)</a:t>
            </a:r>
            <a:endParaRPr lang="en-KH" sz="3600" dirty="0">
              <a:solidFill>
                <a:srgbClr val="00206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AC011E06-0808-8C33-C6B1-B14C0B6B90BC}"/>
              </a:ext>
            </a:extLst>
          </p:cNvPr>
          <p:cNvCxnSpPr/>
          <p:nvPr/>
        </p:nvCxnSpPr>
        <p:spPr>
          <a:xfrm>
            <a:off x="0" y="1050468"/>
            <a:ext cx="12192000" cy="0"/>
          </a:xfrm>
          <a:prstGeom prst="line">
            <a:avLst/>
          </a:prstGeom>
          <a:ln w="57150">
            <a:solidFill>
              <a:srgbClr val="D49B0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581516E2-9163-E085-68EF-D109B2FD1C90}"/>
              </a:ext>
            </a:extLst>
          </p:cNvPr>
          <p:cNvCxnSpPr>
            <a:cxnSpLocks/>
          </p:cNvCxnSpPr>
          <p:nvPr/>
        </p:nvCxnSpPr>
        <p:spPr>
          <a:xfrm>
            <a:off x="0" y="979812"/>
            <a:ext cx="12192000" cy="0"/>
          </a:xfrm>
          <a:prstGeom prst="line">
            <a:avLst/>
          </a:prstGeom>
          <a:ln w="57150">
            <a:solidFill>
              <a:srgbClr val="1C27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7" name="Picture 46" descr="A blue circle with a yellow and white bird in it&#10;&#10;AI-generated content may be incorrect.">
            <a:extLst>
              <a:ext uri="{FF2B5EF4-FFF2-40B4-BE49-F238E27FC236}">
                <a16:creationId xmlns:a16="http://schemas.microsoft.com/office/drawing/2014/main" id="{7F92122B-3A86-11BB-FE06-850976F0B63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5438" y="219712"/>
            <a:ext cx="606500" cy="606500"/>
          </a:xfrm>
          <a:prstGeom prst="rect">
            <a:avLst/>
          </a:prstGeom>
        </p:spPr>
      </p:pic>
      <p:sp>
        <p:nvSpPr>
          <p:cNvPr id="6" name="Subtitle 2">
            <a:extLst>
              <a:ext uri="{FF2B5EF4-FFF2-40B4-BE49-F238E27FC236}">
                <a16:creationId xmlns:a16="http://schemas.microsoft.com/office/drawing/2014/main" id="{7AA6C1D4-7C25-13B3-595E-B01AA9101D1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51352" y="1088213"/>
            <a:ext cx="10791005" cy="5055309"/>
          </a:xfrm>
        </p:spPr>
        <p:txBody>
          <a:bodyPr>
            <a:noAutofit/>
          </a:bodyPr>
          <a:lstStyle/>
          <a:p>
            <a:pPr algn="l">
              <a:lnSpc>
                <a:spcPct val="150000"/>
              </a:lnSpc>
              <a:spcBef>
                <a:spcPts val="1500"/>
              </a:spcBef>
            </a:pPr>
            <a:r>
              <a:rPr lang="en-US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20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HashMap: </a:t>
            </a:r>
            <a:r>
              <a:rPr lang="en-US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គឺជាការអនុវត្តនៃ</a:t>
            </a:r>
            <a:r>
              <a:rPr lang="en-US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Map </a:t>
            </a:r>
            <a:r>
              <a:rPr lang="en-US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ដែលមិនធានានូវការរក្សាលំដាប់លំដោយនៃធាតុដែលបានផ្ទុកឡើយ</a:t>
            </a:r>
            <a:r>
              <a:rPr lang="en-US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។</a:t>
            </a:r>
          </a:p>
          <a:p>
            <a:pPr algn="l">
              <a:lnSpc>
                <a:spcPct val="150000"/>
              </a:lnSpc>
              <a:spcBef>
                <a:spcPts val="1500"/>
              </a:spcBef>
            </a:pPr>
            <a:r>
              <a:rPr lang="en-US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 </a:t>
            </a:r>
            <a:r>
              <a:rPr lang="en-US" dirty="0" err="1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LinkedHashMap</a:t>
            </a:r>
            <a:r>
              <a:rPr lang="en-US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: </a:t>
            </a:r>
            <a:r>
              <a:rPr lang="en-US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គឺជាការអនុវត្តនៃ</a:t>
            </a:r>
            <a:r>
              <a:rPr lang="en-US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Map ដែលធានានូវការរក្សាលំដាប់លំដោយនៃការបញ្ចូលរបស់ធាតុនីមួយៗដែលត្រូវបានផ្ទុក។</a:t>
            </a:r>
          </a:p>
          <a:p>
            <a:pPr algn="l">
              <a:lnSpc>
                <a:spcPct val="150000"/>
              </a:lnSpc>
              <a:spcBef>
                <a:spcPts val="1500"/>
              </a:spcBef>
            </a:pPr>
            <a:r>
              <a:rPr lang="en-US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  </a:t>
            </a:r>
            <a:r>
              <a:rPr lang="en-US" dirty="0" err="1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TreeMap</a:t>
            </a:r>
            <a:r>
              <a:rPr lang="en-US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: </a:t>
            </a:r>
            <a:r>
              <a:rPr lang="en-US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គឺជាការអនុវត្តនៃ</a:t>
            </a:r>
            <a:r>
              <a:rPr lang="en-US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Map </a:t>
            </a:r>
            <a:r>
              <a:rPr lang="en-US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ដែលធ្វើការតម្រៀបធាតុដោយស្វ័យប្រវត្តតាមរយៈពាក្យគន្លឹះ</a:t>
            </a:r>
            <a:r>
              <a:rPr lang="en-US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(key) </a:t>
            </a:r>
            <a:r>
              <a:rPr lang="en-US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ដែលលំនាំដើ</a:t>
            </a:r>
            <a:r>
              <a:rPr lang="en-US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​</a:t>
            </a:r>
            <a:r>
              <a:rPr lang="en-US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មនៃការតម្រៀបគឺពីតូចទៅធំ</a:t>
            </a:r>
            <a:r>
              <a:rPr lang="en-US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។ </a:t>
            </a:r>
            <a:r>
              <a:rPr lang="en-US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យើងអាចធ្វើការកំណត់ជា</a:t>
            </a:r>
            <a:r>
              <a:rPr lang="en-US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Thread-Safe </a:t>
            </a:r>
            <a:r>
              <a:rPr lang="en-US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បានដោយប្រើ</a:t>
            </a:r>
            <a:r>
              <a:rPr lang="en-US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2000" dirty="0" err="1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Collections.synchronizedSortedMap</a:t>
            </a:r>
            <a:r>
              <a:rPr lang="en-US" sz="20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(new </a:t>
            </a:r>
            <a:r>
              <a:rPr lang="en-US" sz="2000" dirty="0" err="1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TreeMap</a:t>
            </a:r>
            <a:r>
              <a:rPr lang="en-US" sz="20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&lt;&gt;());</a:t>
            </a:r>
            <a:r>
              <a:rPr lang="en-US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។</a:t>
            </a:r>
          </a:p>
        </p:txBody>
      </p:sp>
    </p:spTree>
    <p:extLst>
      <p:ext uri="{BB962C8B-B14F-4D97-AF65-F5344CB8AC3E}">
        <p14:creationId xmlns:p14="http://schemas.microsoft.com/office/powerpoint/2010/main" val="1643222305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EA9A127-46AB-7075-0004-37D56C58E0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42F23F-EF7B-040B-5A59-1C30E962A4B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701800" y="119781"/>
            <a:ext cx="9144000" cy="789373"/>
          </a:xfrm>
        </p:spPr>
        <p:txBody>
          <a:bodyPr>
            <a:normAutofit/>
          </a:bodyPr>
          <a:lstStyle/>
          <a:p>
            <a:pPr algn="l"/>
            <a:r>
              <a:rPr lang="en-US" sz="3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Collections(</a:t>
            </a:r>
            <a:r>
              <a:rPr lang="en-US" sz="3600" dirty="0" err="1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ត</a:t>
            </a:r>
            <a:r>
              <a:rPr lang="en-US" sz="3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)</a:t>
            </a:r>
            <a:endParaRPr lang="en-KH" sz="3600" dirty="0">
              <a:solidFill>
                <a:srgbClr val="00206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5CC6B7CE-A3BE-64A7-1421-04EBB7DA816C}"/>
              </a:ext>
            </a:extLst>
          </p:cNvPr>
          <p:cNvCxnSpPr/>
          <p:nvPr/>
        </p:nvCxnSpPr>
        <p:spPr>
          <a:xfrm>
            <a:off x="0" y="1050468"/>
            <a:ext cx="12192000" cy="0"/>
          </a:xfrm>
          <a:prstGeom prst="line">
            <a:avLst/>
          </a:prstGeom>
          <a:ln w="57150">
            <a:solidFill>
              <a:srgbClr val="D49B0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5787613C-0BE9-120D-59DD-5E22F80DC304}"/>
              </a:ext>
            </a:extLst>
          </p:cNvPr>
          <p:cNvCxnSpPr>
            <a:cxnSpLocks/>
          </p:cNvCxnSpPr>
          <p:nvPr/>
        </p:nvCxnSpPr>
        <p:spPr>
          <a:xfrm>
            <a:off x="0" y="979812"/>
            <a:ext cx="12192000" cy="0"/>
          </a:xfrm>
          <a:prstGeom prst="line">
            <a:avLst/>
          </a:prstGeom>
          <a:ln w="57150">
            <a:solidFill>
              <a:srgbClr val="1C27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7" name="Picture 46" descr="A blue circle with a yellow and white bird in it&#10;&#10;AI-generated content may be incorrect.">
            <a:extLst>
              <a:ext uri="{FF2B5EF4-FFF2-40B4-BE49-F238E27FC236}">
                <a16:creationId xmlns:a16="http://schemas.microsoft.com/office/drawing/2014/main" id="{F9086B30-B0DC-8B19-2164-FA475745076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5438" y="219712"/>
            <a:ext cx="606500" cy="606500"/>
          </a:xfrm>
          <a:prstGeom prst="rect">
            <a:avLst/>
          </a:prstGeom>
        </p:spPr>
      </p:pic>
      <p:sp>
        <p:nvSpPr>
          <p:cNvPr id="5" name="Subtitle 2">
            <a:extLst>
              <a:ext uri="{FF2B5EF4-FFF2-40B4-BE49-F238E27FC236}">
                <a16:creationId xmlns:a16="http://schemas.microsoft.com/office/drawing/2014/main" id="{DF987F94-4288-14B6-0533-A2F8545E817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51353" y="1154761"/>
            <a:ext cx="10459234" cy="5510306"/>
          </a:xfrm>
        </p:spPr>
        <p:txBody>
          <a:bodyPr>
            <a:noAutofit/>
          </a:bodyPr>
          <a:lstStyle/>
          <a:p>
            <a:pPr algn="l">
              <a:lnSpc>
                <a:spcPct val="100000"/>
              </a:lnSpc>
              <a:spcBef>
                <a:spcPts val="1500"/>
              </a:spcBef>
            </a:pPr>
            <a:r>
              <a:rPr lang="en-US" sz="2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  </a:t>
            </a:r>
            <a:r>
              <a:rPr lang="en-US" sz="20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Map method </a:t>
            </a:r>
            <a:r>
              <a:rPr lang="en-US" sz="2000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មានដូចជា</a:t>
            </a:r>
            <a:r>
              <a:rPr lang="en-US" sz="20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៖</a:t>
            </a:r>
          </a:p>
          <a:p>
            <a:pPr marL="800100" lvl="1" indent="-342900" algn="l">
              <a:lnSpc>
                <a:spcPct val="100000"/>
              </a:lnSpc>
              <a:spcBef>
                <a:spcPts val="1500"/>
              </a:spcBef>
              <a:buFont typeface="Wingdings" pitchFamily="2" charset="2"/>
              <a:buChar char="Ø"/>
            </a:pP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put(key, value) : </a:t>
            </a:r>
            <a:r>
              <a:rPr lang="en-US" sz="1800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ប្រើសម្រាប់បញ្ចូលធាតុទៅក្នុង</a:t>
            </a:r>
            <a:r>
              <a:rPr lang="en-US" sz="18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Map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18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។</a:t>
            </a:r>
          </a:p>
          <a:p>
            <a:pPr lvl="1" algn="l">
              <a:lnSpc>
                <a:spcPct val="100000"/>
              </a:lnSpc>
              <a:spcBef>
                <a:spcPts val="1500"/>
              </a:spcBef>
            </a:pPr>
            <a:r>
              <a:rPr lang="en-US" sz="18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	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1800" dirty="0" err="1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ឧទាហរណ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៍៖</a:t>
            </a:r>
            <a:r>
              <a:rPr lang="en-US" sz="18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Map&lt;String, Integer&gt; 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map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=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new HashMap&lt;&gt;()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;</a:t>
            </a:r>
            <a:b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</a:b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		     </a:t>
            </a:r>
            <a:r>
              <a:rPr lang="en-US" sz="1800" dirty="0" err="1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map</a:t>
            </a:r>
            <a:r>
              <a:rPr lang="en-US" sz="1800" dirty="0" err="1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.put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(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“A”, 1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)</a:t>
            </a:r>
            <a:r>
              <a:rPr lang="en-US" sz="18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;</a:t>
            </a:r>
            <a:endParaRPr lang="en-US" sz="1800" dirty="0">
              <a:solidFill>
                <a:srgbClr val="002060"/>
              </a:solidFill>
              <a:latin typeface="Khmer OS Content" panose="02000500000000020004" pitchFamily="2" charset="77"/>
              <a:cs typeface="Khmer OS Content" panose="02000500000000020004" pitchFamily="2" charset="77"/>
            </a:endParaRPr>
          </a:p>
          <a:p>
            <a:pPr marL="800100" lvl="1" indent="-342900" algn="l">
              <a:lnSpc>
                <a:spcPct val="100000"/>
              </a:lnSpc>
              <a:spcBef>
                <a:spcPts val="1500"/>
              </a:spcBef>
              <a:buFont typeface="Wingdings" pitchFamily="2" charset="2"/>
              <a:buChar char="Ø"/>
            </a:pP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get(Object key) : </a:t>
            </a:r>
            <a:r>
              <a:rPr lang="en-US" sz="1800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ប្រើសម្រាប់ចាប់យកធាតុតាមរយៈពាក្យគន្លឹះ</a:t>
            </a:r>
            <a:r>
              <a:rPr lang="en-US" sz="18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(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key</a:t>
            </a:r>
            <a:r>
              <a:rPr lang="en-US" sz="18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)។</a:t>
            </a:r>
          </a:p>
          <a:p>
            <a:pPr lvl="1" algn="l">
              <a:lnSpc>
                <a:spcPct val="100000"/>
              </a:lnSpc>
              <a:spcBef>
                <a:spcPts val="1500"/>
              </a:spcBef>
            </a:pP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	 </a:t>
            </a:r>
            <a:r>
              <a:rPr lang="en-US" sz="1800" dirty="0" err="1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ឧទាហរណ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៍៖</a:t>
            </a:r>
            <a:r>
              <a:rPr lang="en-US" sz="18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Map&lt;String, Integer&gt; 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map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=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new HashMap&lt;&gt;()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; </a:t>
            </a:r>
            <a:r>
              <a:rPr lang="en-US" sz="1800" dirty="0" err="1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map</a:t>
            </a:r>
            <a:r>
              <a:rPr lang="en-US" sz="1800" dirty="0" err="1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.put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(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“A”, 1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)</a:t>
            </a:r>
            <a:r>
              <a:rPr lang="en-US" sz="18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;</a:t>
            </a:r>
            <a:endParaRPr lang="en-US" sz="1800" dirty="0">
              <a:solidFill>
                <a:srgbClr val="002060"/>
              </a:solidFill>
              <a:latin typeface="Khmer OS Content" panose="02000500000000020004" pitchFamily="2" charset="77"/>
              <a:cs typeface="Khmer OS Content" panose="02000500000000020004" pitchFamily="2" charset="77"/>
            </a:endParaRPr>
          </a:p>
          <a:p>
            <a:pPr lvl="1" algn="l">
              <a:lnSpc>
                <a:spcPct val="100000"/>
              </a:lnSpc>
              <a:spcBef>
                <a:spcPts val="1500"/>
              </a:spcBef>
            </a:pP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		     </a:t>
            </a:r>
            <a:r>
              <a:rPr lang="en-US" sz="1800" dirty="0" err="1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map</a:t>
            </a:r>
            <a:r>
              <a:rPr lang="en-US" sz="1800" dirty="0" err="1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.get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(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“A”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)</a:t>
            </a:r>
            <a:r>
              <a:rPr lang="en-US" sz="18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; </a:t>
            </a:r>
            <a:endParaRPr lang="en-US" sz="1800" dirty="0">
              <a:solidFill>
                <a:srgbClr val="002060"/>
              </a:solidFill>
              <a:latin typeface="Khmer OS Content" panose="02000500000000020004" pitchFamily="2" charset="77"/>
              <a:cs typeface="Khmer OS Content" panose="02000500000000020004" pitchFamily="2" charset="77"/>
            </a:endParaRPr>
          </a:p>
          <a:p>
            <a:pPr marL="800100" lvl="1" indent="-342900" algn="l">
              <a:lnSpc>
                <a:spcPct val="100000"/>
              </a:lnSpc>
              <a:spcBef>
                <a:spcPts val="1500"/>
              </a:spcBef>
              <a:buFont typeface="Wingdings" pitchFamily="2" charset="2"/>
              <a:buChar char="Ø"/>
            </a:pP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remove(Object key) : </a:t>
            </a:r>
            <a:r>
              <a:rPr lang="en-US" sz="1800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ប្រើសម្រាប់លុបធាតុតាមរយៈពាក្យគន្លឹះ</a:t>
            </a:r>
            <a:r>
              <a:rPr lang="en-US" sz="18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(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key</a:t>
            </a:r>
            <a:r>
              <a:rPr lang="en-US" sz="18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) ។</a:t>
            </a:r>
          </a:p>
          <a:p>
            <a:pPr lvl="1" algn="l">
              <a:lnSpc>
                <a:spcPct val="100000"/>
              </a:lnSpc>
              <a:spcBef>
                <a:spcPts val="1500"/>
              </a:spcBef>
            </a:pP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	 </a:t>
            </a:r>
            <a:r>
              <a:rPr lang="en-US" sz="1800" dirty="0" err="1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ឧទាហរណ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៍៖</a:t>
            </a:r>
            <a:r>
              <a:rPr lang="en-US" sz="18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Map&lt;String, Integer&gt; 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map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=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new HashMap&lt;&gt;()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; </a:t>
            </a:r>
            <a:r>
              <a:rPr lang="en-US" sz="1800" dirty="0" err="1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map</a:t>
            </a:r>
            <a:r>
              <a:rPr lang="en-US" sz="1800" dirty="0" err="1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.put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(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“A”, 1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)</a:t>
            </a:r>
            <a:r>
              <a:rPr lang="en-US" sz="18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;</a:t>
            </a:r>
            <a:endParaRPr lang="en-US" sz="1800" dirty="0">
              <a:solidFill>
                <a:srgbClr val="002060"/>
              </a:solidFill>
              <a:latin typeface="Khmer OS Content" panose="02000500000000020004" pitchFamily="2" charset="77"/>
              <a:cs typeface="Khmer OS Content" panose="02000500000000020004" pitchFamily="2" charset="77"/>
            </a:endParaRPr>
          </a:p>
          <a:p>
            <a:pPr lvl="1" algn="l">
              <a:lnSpc>
                <a:spcPct val="150000"/>
              </a:lnSpc>
              <a:spcBef>
                <a:spcPts val="1500"/>
              </a:spcBef>
            </a:pP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		 </a:t>
            </a:r>
            <a:r>
              <a:rPr lang="en-US" sz="1800" dirty="0" err="1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map</a:t>
            </a:r>
            <a:r>
              <a:rPr lang="en-US" sz="1800" dirty="0" err="1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.remove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(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“A”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)</a:t>
            </a:r>
            <a:r>
              <a:rPr lang="en-US" sz="18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; </a:t>
            </a:r>
            <a:endParaRPr lang="en-US" sz="1800" dirty="0">
              <a:solidFill>
                <a:srgbClr val="002060"/>
              </a:solidFill>
              <a:latin typeface="Khmer OS Content" panose="02000500000000020004" pitchFamily="2" charset="77"/>
              <a:cs typeface="Khmer OS Content" panose="02000500000000020004" pitchFamily="2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1601231243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7E7D476-70B5-6CD9-8066-DDF7E1F2FF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4E8FAE-288A-DDB1-2D33-7ED723DA402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701800" y="119781"/>
            <a:ext cx="9144000" cy="789373"/>
          </a:xfrm>
        </p:spPr>
        <p:txBody>
          <a:bodyPr>
            <a:normAutofit/>
          </a:bodyPr>
          <a:lstStyle/>
          <a:p>
            <a:pPr algn="l"/>
            <a:r>
              <a:rPr lang="en-US" sz="3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Collections(</a:t>
            </a:r>
            <a:r>
              <a:rPr lang="en-US" sz="3600" dirty="0" err="1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ត</a:t>
            </a:r>
            <a:r>
              <a:rPr lang="en-US" sz="3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)</a:t>
            </a:r>
            <a:endParaRPr lang="en-KH" sz="3600" dirty="0">
              <a:solidFill>
                <a:srgbClr val="00206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E2EBE53E-3DA8-A834-41E9-EA044A03AC0E}"/>
              </a:ext>
            </a:extLst>
          </p:cNvPr>
          <p:cNvCxnSpPr/>
          <p:nvPr/>
        </p:nvCxnSpPr>
        <p:spPr>
          <a:xfrm>
            <a:off x="0" y="1050468"/>
            <a:ext cx="12192000" cy="0"/>
          </a:xfrm>
          <a:prstGeom prst="line">
            <a:avLst/>
          </a:prstGeom>
          <a:ln w="57150">
            <a:solidFill>
              <a:srgbClr val="D49B0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98DA3318-0806-B152-4D1A-807FBC11AC29}"/>
              </a:ext>
            </a:extLst>
          </p:cNvPr>
          <p:cNvCxnSpPr>
            <a:cxnSpLocks/>
          </p:cNvCxnSpPr>
          <p:nvPr/>
        </p:nvCxnSpPr>
        <p:spPr>
          <a:xfrm>
            <a:off x="0" y="979812"/>
            <a:ext cx="12192000" cy="0"/>
          </a:xfrm>
          <a:prstGeom prst="line">
            <a:avLst/>
          </a:prstGeom>
          <a:ln w="57150">
            <a:solidFill>
              <a:srgbClr val="1C27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7" name="Picture 46" descr="A blue circle with a yellow and white bird in it&#10;&#10;AI-generated content may be incorrect.">
            <a:extLst>
              <a:ext uri="{FF2B5EF4-FFF2-40B4-BE49-F238E27FC236}">
                <a16:creationId xmlns:a16="http://schemas.microsoft.com/office/drawing/2014/main" id="{8FB7759F-C288-E2C2-E9DD-C92F8AA1150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5438" y="219712"/>
            <a:ext cx="606500" cy="606500"/>
          </a:xfrm>
          <a:prstGeom prst="rect">
            <a:avLst/>
          </a:prstGeom>
        </p:spPr>
      </p:pic>
      <p:sp>
        <p:nvSpPr>
          <p:cNvPr id="5" name="Subtitle 2">
            <a:extLst>
              <a:ext uri="{FF2B5EF4-FFF2-40B4-BE49-F238E27FC236}">
                <a16:creationId xmlns:a16="http://schemas.microsoft.com/office/drawing/2014/main" id="{D9D2999C-EFAB-64E0-08F6-C2E88C91E18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51353" y="1154761"/>
            <a:ext cx="10459234" cy="5119037"/>
          </a:xfrm>
        </p:spPr>
        <p:txBody>
          <a:bodyPr>
            <a:noAutofit/>
          </a:bodyPr>
          <a:lstStyle/>
          <a:p>
            <a:pPr marL="742950" lvl="1" indent="-285750" algn="l">
              <a:lnSpc>
                <a:spcPct val="100000"/>
              </a:lnSpc>
              <a:spcBef>
                <a:spcPts val="1500"/>
              </a:spcBef>
              <a:buFont typeface="Wingdings" pitchFamily="2" charset="2"/>
              <a:buChar char="Ø"/>
            </a:pPr>
            <a:r>
              <a:rPr lang="en-US" sz="1800" dirty="0" err="1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containsKey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(Object key) : </a:t>
            </a:r>
            <a:r>
              <a:rPr lang="en-US" sz="1800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ប្រើសម្រាប់ស្វែងរកធាតុក្នុង</a:t>
            </a:r>
            <a:r>
              <a:rPr lang="en-US" sz="18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Map </a:t>
            </a:r>
            <a:r>
              <a:rPr lang="en-US" sz="1800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តាមរយៈពាក្យគន្លឹះ</a:t>
            </a:r>
            <a:r>
              <a:rPr lang="en-US" sz="18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(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key</a:t>
            </a:r>
            <a:r>
              <a:rPr lang="en-US" sz="18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) </a:t>
            </a:r>
            <a:r>
              <a:rPr lang="en-US" sz="1800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និងលទ្ធផលដែលទទួលបានជា</a:t>
            </a:r>
            <a:r>
              <a:rPr lang="en-US" sz="18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1800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boolean</a:t>
            </a:r>
            <a:r>
              <a:rPr lang="en-US" sz="18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។</a:t>
            </a:r>
          </a:p>
          <a:p>
            <a:pPr lvl="1" algn="l">
              <a:lnSpc>
                <a:spcPct val="100000"/>
              </a:lnSpc>
              <a:spcBef>
                <a:spcPts val="1500"/>
              </a:spcBef>
            </a:pPr>
            <a:r>
              <a:rPr lang="en-US" sz="18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	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1800" dirty="0" err="1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ឧទាហរណ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៍៖</a:t>
            </a:r>
            <a:r>
              <a:rPr lang="en-US" sz="18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Map&lt;String, Integer&gt; 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map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=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new HashMap&lt;&gt;()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; </a:t>
            </a:r>
            <a:r>
              <a:rPr lang="en-US" sz="1800" dirty="0" err="1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map</a:t>
            </a:r>
            <a:r>
              <a:rPr lang="en-US" sz="1800" dirty="0" err="1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.put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(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“A”, 1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)</a:t>
            </a:r>
            <a:r>
              <a:rPr lang="en-US" sz="18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;</a:t>
            </a:r>
            <a:b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</a:b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		     </a:t>
            </a:r>
            <a:r>
              <a:rPr lang="en-US" sz="1800" dirty="0" err="1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map</a:t>
            </a:r>
            <a:r>
              <a:rPr lang="en-US" sz="1800" dirty="0" err="1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.containsKey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(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“A”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);</a:t>
            </a:r>
            <a:endParaRPr lang="en-US" sz="1800" dirty="0">
              <a:solidFill>
                <a:srgbClr val="002060"/>
              </a:solidFill>
              <a:latin typeface="Khmer OS Content" panose="02000500000000020004" pitchFamily="2" charset="77"/>
              <a:cs typeface="Khmer OS Content" panose="02000500000000020004" pitchFamily="2" charset="77"/>
            </a:endParaRPr>
          </a:p>
          <a:p>
            <a:pPr marL="800100" lvl="1" indent="-342900" algn="l">
              <a:lnSpc>
                <a:spcPct val="100000"/>
              </a:lnSpc>
              <a:spcBef>
                <a:spcPts val="1500"/>
              </a:spcBef>
              <a:buFont typeface="Wingdings" pitchFamily="2" charset="2"/>
              <a:buChar char="Ø"/>
            </a:pPr>
            <a:r>
              <a:rPr lang="en-US" sz="1800" dirty="0" err="1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keySet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() : </a:t>
            </a:r>
            <a:r>
              <a:rPr lang="en-US" sz="1800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ប្រើសម្រាប់ចាប់យកពាក្យគន្លឹះ</a:t>
            </a:r>
            <a:r>
              <a:rPr lang="en-US" sz="18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(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key</a:t>
            </a:r>
            <a:r>
              <a:rPr lang="en-US" sz="18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) </a:t>
            </a:r>
            <a:r>
              <a:rPr lang="en-US" sz="1800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ទាំងអស់ដែលមាននៅក្នុង</a:t>
            </a:r>
            <a:r>
              <a:rPr lang="en-US" sz="18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Map </a:t>
            </a:r>
            <a:r>
              <a:rPr lang="en-US" sz="1800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និងលទ្ធផលដែលទទួលបានជា</a:t>
            </a:r>
            <a:r>
              <a:rPr lang="en-US" sz="18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Set</a:t>
            </a:r>
            <a:r>
              <a:rPr lang="en-US" sz="18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។</a:t>
            </a:r>
          </a:p>
          <a:p>
            <a:pPr lvl="1" algn="l">
              <a:lnSpc>
                <a:spcPct val="100000"/>
              </a:lnSpc>
              <a:spcBef>
                <a:spcPts val="1500"/>
              </a:spcBef>
            </a:pP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	 </a:t>
            </a:r>
            <a:r>
              <a:rPr lang="en-US" sz="1800" dirty="0" err="1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ឧទាហរណ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៍៖</a:t>
            </a:r>
            <a:r>
              <a:rPr lang="en-US" sz="18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Map&lt;String, Integer&gt; 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map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=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new HashMap&lt;&gt;()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; </a:t>
            </a:r>
            <a:r>
              <a:rPr lang="en-US" sz="1800" dirty="0" err="1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map</a:t>
            </a:r>
            <a:r>
              <a:rPr lang="en-US" sz="1800" dirty="0" err="1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.put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(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“A”, 1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)</a:t>
            </a:r>
            <a:r>
              <a:rPr lang="en-US" sz="18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;</a:t>
            </a:r>
            <a:endParaRPr lang="en-US" sz="1800" dirty="0">
              <a:solidFill>
                <a:srgbClr val="002060"/>
              </a:solidFill>
              <a:latin typeface="Khmer OS Content" panose="02000500000000020004" pitchFamily="2" charset="77"/>
              <a:cs typeface="Khmer OS Content" panose="02000500000000020004" pitchFamily="2" charset="77"/>
            </a:endParaRPr>
          </a:p>
          <a:p>
            <a:pPr lvl="1" algn="l">
              <a:lnSpc>
                <a:spcPct val="100000"/>
              </a:lnSpc>
              <a:spcBef>
                <a:spcPts val="1500"/>
              </a:spcBef>
            </a:pP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		     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Set&lt;String&gt; </a:t>
            </a:r>
            <a:r>
              <a:rPr lang="en-US" sz="1800" dirty="0" err="1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keysName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= </a:t>
            </a:r>
            <a:r>
              <a:rPr lang="en-US" sz="1800" dirty="0" err="1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map</a:t>
            </a:r>
            <a:r>
              <a:rPr lang="en-US" sz="1800" dirty="0" err="1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.keySet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()</a:t>
            </a:r>
            <a:r>
              <a:rPr lang="en-US" sz="18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; </a:t>
            </a:r>
            <a:endParaRPr lang="en-US" sz="1800" dirty="0">
              <a:solidFill>
                <a:srgbClr val="002060"/>
              </a:solidFill>
              <a:latin typeface="Khmer OS Content" panose="02000500000000020004" pitchFamily="2" charset="77"/>
              <a:cs typeface="Khmer OS Content" panose="02000500000000020004" pitchFamily="2" charset="77"/>
            </a:endParaRPr>
          </a:p>
          <a:p>
            <a:pPr marL="800100" lvl="1" indent="-342900" algn="l">
              <a:lnSpc>
                <a:spcPct val="100000"/>
              </a:lnSpc>
              <a:spcBef>
                <a:spcPts val="1500"/>
              </a:spcBef>
              <a:buFont typeface="Wingdings" pitchFamily="2" charset="2"/>
              <a:buChar char="Ø"/>
            </a:pP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values() : </a:t>
            </a:r>
            <a:r>
              <a:rPr lang="en-US" sz="1800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ប្រើសម្រាប់ចាប់យកតម្លៃទាំងអស</a:t>
            </a:r>
            <a:r>
              <a:rPr lang="en-US" sz="18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់ (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values</a:t>
            </a:r>
            <a:r>
              <a:rPr lang="en-US" sz="18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) </a:t>
            </a:r>
            <a:r>
              <a:rPr lang="en-US" sz="1800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ដែលមាននៅក្នុង</a:t>
            </a:r>
            <a:r>
              <a:rPr lang="en-US" sz="18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Map </a:t>
            </a:r>
            <a:r>
              <a:rPr lang="en-US" sz="1800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និងលទ្ធផលដែលទទួលបានជា</a:t>
            </a:r>
            <a:r>
              <a:rPr lang="en-US" sz="18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Collections ។</a:t>
            </a:r>
          </a:p>
          <a:p>
            <a:pPr lvl="1" algn="l">
              <a:lnSpc>
                <a:spcPct val="100000"/>
              </a:lnSpc>
              <a:spcBef>
                <a:spcPts val="1500"/>
              </a:spcBef>
            </a:pP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	 </a:t>
            </a:r>
            <a:r>
              <a:rPr lang="en-US" sz="1800" dirty="0" err="1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ឧទាហរណ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៍៖</a:t>
            </a:r>
            <a:r>
              <a:rPr lang="en-US" sz="18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Map&lt;String, Integer&gt; 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map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=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new HashMap&lt;&gt;()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; </a:t>
            </a:r>
            <a:r>
              <a:rPr lang="en-US" sz="1800" dirty="0" err="1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map</a:t>
            </a:r>
            <a:r>
              <a:rPr lang="en-US" sz="1800" dirty="0" err="1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.put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(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“A”, 1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)</a:t>
            </a:r>
            <a:r>
              <a:rPr lang="en-US" sz="18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;</a:t>
            </a:r>
            <a:endParaRPr lang="en-US" sz="1800" dirty="0">
              <a:solidFill>
                <a:srgbClr val="002060"/>
              </a:solidFill>
              <a:latin typeface="Khmer OS Content" panose="02000500000000020004" pitchFamily="2" charset="77"/>
              <a:cs typeface="Khmer OS Content" panose="02000500000000020004" pitchFamily="2" charset="77"/>
            </a:endParaRPr>
          </a:p>
          <a:p>
            <a:pPr lvl="1" algn="l">
              <a:lnSpc>
                <a:spcPct val="150000"/>
              </a:lnSpc>
              <a:spcBef>
                <a:spcPts val="1500"/>
              </a:spcBef>
            </a:pP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		     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Collection&lt;Integer&gt;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values = </a:t>
            </a:r>
            <a:r>
              <a:rPr lang="en-US" sz="1800" dirty="0" err="1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map</a:t>
            </a:r>
            <a:r>
              <a:rPr lang="en-US" sz="1800" dirty="0" err="1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.values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()</a:t>
            </a:r>
            <a:r>
              <a:rPr lang="en-US" sz="18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; </a:t>
            </a:r>
            <a:endParaRPr lang="en-US" sz="1800" dirty="0">
              <a:solidFill>
                <a:srgbClr val="002060"/>
              </a:solidFill>
              <a:latin typeface="Khmer OS Content" panose="02000500000000020004" pitchFamily="2" charset="77"/>
              <a:cs typeface="Khmer OS Content" panose="02000500000000020004" pitchFamily="2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774716547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F1B86E4-EE0D-43B8-47E6-76B0CC9973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BBF6F8-8AA9-9BAD-54F0-9273F6236C1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701800" y="119781"/>
            <a:ext cx="9144000" cy="789373"/>
          </a:xfrm>
        </p:spPr>
        <p:txBody>
          <a:bodyPr>
            <a:normAutofit/>
          </a:bodyPr>
          <a:lstStyle/>
          <a:p>
            <a:pPr algn="l"/>
            <a:r>
              <a:rPr lang="en-US" sz="3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Collections(</a:t>
            </a:r>
            <a:r>
              <a:rPr lang="en-US" sz="3600" dirty="0" err="1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ត</a:t>
            </a:r>
            <a:r>
              <a:rPr lang="en-US" sz="3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)</a:t>
            </a:r>
            <a:endParaRPr lang="en-KH" sz="3600" dirty="0">
              <a:solidFill>
                <a:srgbClr val="00206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EE53D1A7-9CC4-3591-54F9-17294876D2A2}"/>
              </a:ext>
            </a:extLst>
          </p:cNvPr>
          <p:cNvCxnSpPr/>
          <p:nvPr/>
        </p:nvCxnSpPr>
        <p:spPr>
          <a:xfrm>
            <a:off x="0" y="1050468"/>
            <a:ext cx="12192000" cy="0"/>
          </a:xfrm>
          <a:prstGeom prst="line">
            <a:avLst/>
          </a:prstGeom>
          <a:ln w="57150">
            <a:solidFill>
              <a:srgbClr val="D49B0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160C5BCC-969C-5388-9BFC-4B1B592D10DC}"/>
              </a:ext>
            </a:extLst>
          </p:cNvPr>
          <p:cNvCxnSpPr>
            <a:cxnSpLocks/>
          </p:cNvCxnSpPr>
          <p:nvPr/>
        </p:nvCxnSpPr>
        <p:spPr>
          <a:xfrm>
            <a:off x="0" y="979812"/>
            <a:ext cx="12192000" cy="0"/>
          </a:xfrm>
          <a:prstGeom prst="line">
            <a:avLst/>
          </a:prstGeom>
          <a:ln w="57150">
            <a:solidFill>
              <a:srgbClr val="1C27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7" name="Picture 46" descr="A blue circle with a yellow and white bird in it&#10;&#10;AI-generated content may be incorrect.">
            <a:extLst>
              <a:ext uri="{FF2B5EF4-FFF2-40B4-BE49-F238E27FC236}">
                <a16:creationId xmlns:a16="http://schemas.microsoft.com/office/drawing/2014/main" id="{A793AA89-292F-2BB0-AEE5-4133959989D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5438" y="219712"/>
            <a:ext cx="606500" cy="606500"/>
          </a:xfrm>
          <a:prstGeom prst="rect">
            <a:avLst/>
          </a:prstGeom>
        </p:spPr>
      </p:pic>
      <p:sp>
        <p:nvSpPr>
          <p:cNvPr id="5" name="Subtitle 2">
            <a:extLst>
              <a:ext uri="{FF2B5EF4-FFF2-40B4-BE49-F238E27FC236}">
                <a16:creationId xmlns:a16="http://schemas.microsoft.com/office/drawing/2014/main" id="{FC27530F-F541-919F-3E8A-34CCEB0B32E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51353" y="1378424"/>
            <a:ext cx="10459234" cy="4429107"/>
          </a:xfrm>
        </p:spPr>
        <p:txBody>
          <a:bodyPr>
            <a:noAutofit/>
          </a:bodyPr>
          <a:lstStyle/>
          <a:p>
            <a:pPr algn="l">
              <a:lnSpc>
                <a:spcPct val="100000"/>
              </a:lnSpc>
              <a:spcBef>
                <a:spcPts val="1500"/>
              </a:spcBef>
            </a:pPr>
            <a:endParaRPr lang="en-US" sz="2000" dirty="0">
              <a:solidFill>
                <a:srgbClr val="0070C0"/>
              </a:solidFill>
              <a:latin typeface="Khmer OS Content" panose="02000500000000020004" pitchFamily="2" charset="77"/>
              <a:cs typeface="Khmer OS Content" panose="02000500000000020004" pitchFamily="2" charset="77"/>
            </a:endParaRPr>
          </a:p>
          <a:p>
            <a:pPr marL="800100" lvl="1" indent="-342900" algn="l">
              <a:lnSpc>
                <a:spcPct val="100000"/>
              </a:lnSpc>
              <a:spcBef>
                <a:spcPts val="1500"/>
              </a:spcBef>
              <a:buFont typeface="Wingdings" pitchFamily="2" charset="2"/>
              <a:buChar char="Ø"/>
            </a:pPr>
            <a:r>
              <a:rPr lang="en-US" sz="1800" dirty="0" err="1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entrySet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() : </a:t>
            </a:r>
            <a:r>
              <a:rPr lang="en-US" sz="1800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ប្រើចាប់យកធាតុទាំងអស</a:t>
            </a:r>
            <a:r>
              <a:rPr lang="en-US" sz="18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់ (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entries</a:t>
            </a:r>
            <a:r>
              <a:rPr lang="en-US" sz="18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) </a:t>
            </a:r>
            <a:r>
              <a:rPr lang="en-US" sz="1800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ដែលមាននៅក្នុង</a:t>
            </a:r>
            <a:r>
              <a:rPr lang="en-US" sz="18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Map </a:t>
            </a:r>
            <a:r>
              <a:rPr lang="en-US" sz="1800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និងលទ្ធផលដែលទទួលបានជា</a:t>
            </a:r>
            <a:r>
              <a:rPr lang="en-US" sz="18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Set</a:t>
            </a:r>
            <a:r>
              <a:rPr lang="en-US" sz="18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។</a:t>
            </a:r>
          </a:p>
          <a:p>
            <a:pPr lvl="1" algn="l">
              <a:lnSpc>
                <a:spcPct val="100000"/>
              </a:lnSpc>
              <a:spcBef>
                <a:spcPts val="1500"/>
              </a:spcBef>
            </a:pPr>
            <a:r>
              <a:rPr lang="en-US" sz="18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	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1800" dirty="0" err="1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ឧទាហរណ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៍៖</a:t>
            </a:r>
            <a:r>
              <a:rPr lang="en-US" sz="18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Map&lt;String, Integer&gt; 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map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=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new HashMap&lt;&gt;()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; </a:t>
            </a:r>
            <a:r>
              <a:rPr lang="en-US" sz="1800" dirty="0" err="1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map</a:t>
            </a:r>
            <a:r>
              <a:rPr lang="en-US" sz="1800" dirty="0" err="1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.put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(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“A”, 1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)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;</a:t>
            </a:r>
            <a:b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</a:b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		     Set&lt;Entry&lt;String, Object&gt;&gt; 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entries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=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1800" dirty="0" err="1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map</a:t>
            </a:r>
            <a:r>
              <a:rPr lang="en-US" sz="1800" dirty="0" err="1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.entrySet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()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;</a:t>
            </a:r>
          </a:p>
        </p:txBody>
      </p:sp>
    </p:spTree>
    <p:extLst>
      <p:ext uri="{BB962C8B-B14F-4D97-AF65-F5344CB8AC3E}">
        <p14:creationId xmlns:p14="http://schemas.microsoft.com/office/powerpoint/2010/main" val="2932560227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9E4EA66-EF9D-9A51-7622-131ECC9473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C62B0C-7BB7-278E-946D-508CFC111D8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701800" y="119781"/>
            <a:ext cx="9144000" cy="789373"/>
          </a:xfrm>
        </p:spPr>
        <p:txBody>
          <a:bodyPr>
            <a:normAutofit/>
          </a:bodyPr>
          <a:lstStyle/>
          <a:p>
            <a:pPr algn="l"/>
            <a:r>
              <a:rPr lang="en-US" sz="3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Object-Oriented Programming (OOP)</a:t>
            </a:r>
            <a:endParaRPr lang="en-KH" sz="3600" dirty="0">
              <a:solidFill>
                <a:srgbClr val="00206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031AAA30-65CE-B479-501D-F7BE954160D1}"/>
              </a:ext>
            </a:extLst>
          </p:cNvPr>
          <p:cNvCxnSpPr/>
          <p:nvPr/>
        </p:nvCxnSpPr>
        <p:spPr>
          <a:xfrm>
            <a:off x="0" y="1050468"/>
            <a:ext cx="12192000" cy="0"/>
          </a:xfrm>
          <a:prstGeom prst="line">
            <a:avLst/>
          </a:prstGeom>
          <a:ln w="57150">
            <a:solidFill>
              <a:srgbClr val="D49B0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87DC6C88-AD38-5079-EACB-5A806309D6FE}"/>
              </a:ext>
            </a:extLst>
          </p:cNvPr>
          <p:cNvCxnSpPr>
            <a:cxnSpLocks/>
          </p:cNvCxnSpPr>
          <p:nvPr/>
        </p:nvCxnSpPr>
        <p:spPr>
          <a:xfrm>
            <a:off x="0" y="979812"/>
            <a:ext cx="12192000" cy="0"/>
          </a:xfrm>
          <a:prstGeom prst="line">
            <a:avLst/>
          </a:prstGeom>
          <a:ln w="57150">
            <a:solidFill>
              <a:srgbClr val="1C27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7" name="Picture 46" descr="A blue circle with a yellow and white bird in it&#10;&#10;AI-generated content may be incorrect.">
            <a:extLst>
              <a:ext uri="{FF2B5EF4-FFF2-40B4-BE49-F238E27FC236}">
                <a16:creationId xmlns:a16="http://schemas.microsoft.com/office/drawing/2014/main" id="{E9A1001A-E5F8-7B31-F1FA-66D5A2C268B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5438" y="219712"/>
            <a:ext cx="606500" cy="606500"/>
          </a:xfrm>
          <a:prstGeom prst="rect">
            <a:avLst/>
          </a:prstGeom>
        </p:spPr>
      </p:pic>
      <p:sp>
        <p:nvSpPr>
          <p:cNvPr id="5" name="Subtitle 2">
            <a:extLst>
              <a:ext uri="{FF2B5EF4-FFF2-40B4-BE49-F238E27FC236}">
                <a16:creationId xmlns:a16="http://schemas.microsoft.com/office/drawing/2014/main" id="{1316890B-EC56-EB21-796A-904DBD59967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51353" y="1378424"/>
            <a:ext cx="10459234" cy="4429107"/>
          </a:xfrm>
        </p:spPr>
        <p:txBody>
          <a:bodyPr>
            <a:noAutofit/>
          </a:bodyPr>
          <a:lstStyle/>
          <a:p>
            <a:pPr algn="l">
              <a:lnSpc>
                <a:spcPct val="150000"/>
              </a:lnSpc>
              <a:spcBef>
                <a:spcPts val="1500"/>
              </a:spcBef>
            </a:pPr>
            <a:r>
              <a:rPr lang="en-US" sz="2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  </a:t>
            </a:r>
            <a:r>
              <a:rPr lang="en-US" sz="32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Object-Oriented Programing </a:t>
            </a:r>
            <a:r>
              <a:rPr lang="en-US" sz="3200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គឺជាគំរូនៃការអភិវឌ្ឍន</a:t>
            </a:r>
            <a:r>
              <a:rPr lang="en-US" sz="32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៍ software </a:t>
            </a:r>
            <a:r>
              <a:rPr lang="en-US" sz="3200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ដោយការបង្កើតជាគំរូតំណាងឱ្យវត្ថុពិតផ្សេងៗហៅថា</a:t>
            </a:r>
            <a:r>
              <a:rPr lang="en-US" sz="32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”objects” </a:t>
            </a:r>
            <a:r>
              <a:rPr lang="en-US" sz="3200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ដែលជាការ</a:t>
            </a:r>
            <a:r>
              <a:rPr lang="en-US" sz="32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instances </a:t>
            </a:r>
            <a:r>
              <a:rPr lang="en-US" sz="3200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នៃ</a:t>
            </a:r>
            <a:r>
              <a:rPr lang="en-US" sz="32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class </a:t>
            </a:r>
            <a:r>
              <a:rPr lang="en-US" sz="3200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ដែលរួមគ្នាបញ្ចូលទាំង</a:t>
            </a:r>
            <a:r>
              <a:rPr lang="en-US" sz="32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32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data</a:t>
            </a:r>
            <a:r>
              <a:rPr lang="en-US" sz="32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(fields/attributes) </a:t>
            </a:r>
            <a:r>
              <a:rPr lang="en-US" sz="3200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និង</a:t>
            </a:r>
            <a:r>
              <a:rPr lang="en-US" sz="32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32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behavior</a:t>
            </a:r>
            <a:r>
              <a:rPr lang="en-US" sz="32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(methods) </a:t>
            </a:r>
            <a:r>
              <a:rPr lang="en-US" sz="3200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នៅក្នុងមួយឯកតា</a:t>
            </a:r>
            <a:r>
              <a:rPr lang="en-US" sz="32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។ </a:t>
            </a:r>
          </a:p>
        </p:txBody>
      </p:sp>
    </p:spTree>
    <p:extLst>
      <p:ext uri="{BB962C8B-B14F-4D97-AF65-F5344CB8AC3E}">
        <p14:creationId xmlns:p14="http://schemas.microsoft.com/office/powerpoint/2010/main" val="2940227239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161F571-876C-9F82-369B-919F227ADF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97B84A-CDF0-0E4A-E831-6AA878E4EBB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701800" y="119781"/>
            <a:ext cx="9144000" cy="789373"/>
          </a:xfrm>
        </p:spPr>
        <p:txBody>
          <a:bodyPr>
            <a:normAutofit/>
          </a:bodyPr>
          <a:lstStyle/>
          <a:p>
            <a:pPr algn="l"/>
            <a:r>
              <a:rPr lang="km-KH" sz="3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គោលគំនិតស្នូលនៃ </a:t>
            </a:r>
            <a:r>
              <a:rPr lang="en-US" sz="3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OOP</a:t>
            </a:r>
            <a:endParaRPr lang="en-KH" sz="3600" dirty="0">
              <a:solidFill>
                <a:srgbClr val="00206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F8F4DA52-A8CF-837E-0832-820A6393B703}"/>
              </a:ext>
            </a:extLst>
          </p:cNvPr>
          <p:cNvCxnSpPr/>
          <p:nvPr/>
        </p:nvCxnSpPr>
        <p:spPr>
          <a:xfrm>
            <a:off x="0" y="1050468"/>
            <a:ext cx="12192000" cy="0"/>
          </a:xfrm>
          <a:prstGeom prst="line">
            <a:avLst/>
          </a:prstGeom>
          <a:ln w="57150">
            <a:solidFill>
              <a:srgbClr val="D49B0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EA6A2317-F2F6-20E3-0659-11E0D4AC9392}"/>
              </a:ext>
            </a:extLst>
          </p:cNvPr>
          <p:cNvCxnSpPr>
            <a:cxnSpLocks/>
          </p:cNvCxnSpPr>
          <p:nvPr/>
        </p:nvCxnSpPr>
        <p:spPr>
          <a:xfrm>
            <a:off x="0" y="979812"/>
            <a:ext cx="12192000" cy="0"/>
          </a:xfrm>
          <a:prstGeom prst="line">
            <a:avLst/>
          </a:prstGeom>
          <a:ln w="57150">
            <a:solidFill>
              <a:srgbClr val="1C27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7" name="Picture 46" descr="A blue circle with a yellow and white bird in it&#10;&#10;AI-generated content may be incorrect.">
            <a:extLst>
              <a:ext uri="{FF2B5EF4-FFF2-40B4-BE49-F238E27FC236}">
                <a16:creationId xmlns:a16="http://schemas.microsoft.com/office/drawing/2014/main" id="{92A0B7BE-549C-8D9B-58F2-BCCFCB2F854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5438" y="219712"/>
            <a:ext cx="606500" cy="606500"/>
          </a:xfrm>
          <a:prstGeom prst="rect">
            <a:avLst/>
          </a:prstGeom>
        </p:spPr>
      </p:pic>
      <p:sp>
        <p:nvSpPr>
          <p:cNvPr id="5" name="Subtitle 2">
            <a:extLst>
              <a:ext uri="{FF2B5EF4-FFF2-40B4-BE49-F238E27FC236}">
                <a16:creationId xmlns:a16="http://schemas.microsoft.com/office/drawing/2014/main" id="{533248E5-EC44-B427-1703-897E39BACEC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51353" y="1378424"/>
            <a:ext cx="10459234" cy="4429107"/>
          </a:xfrm>
        </p:spPr>
        <p:txBody>
          <a:bodyPr>
            <a:noAutofit/>
          </a:bodyPr>
          <a:lstStyle/>
          <a:p>
            <a:pPr algn="l">
              <a:lnSpc>
                <a:spcPct val="150000"/>
              </a:lnSpc>
              <a:spcBef>
                <a:spcPts val="1500"/>
              </a:spcBef>
            </a:pPr>
            <a:r>
              <a:rPr lang="en-US" sz="2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 </a:t>
            </a:r>
            <a:r>
              <a:rPr lang="en-KH" dirty="0"/>
              <a:t>👉 </a:t>
            </a:r>
            <a:r>
              <a:rPr lang="km-KH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គោលគំនិតស្នូលនៃ </a:t>
            </a:r>
            <a:r>
              <a:rPr lang="en-US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OOP </a:t>
            </a:r>
            <a:r>
              <a:rPr lang="km-KH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នៅក្នុង </a:t>
            </a:r>
            <a:r>
              <a:rPr lang="en-US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Java </a:t>
            </a:r>
            <a:r>
              <a:rPr lang="en-US" dirty="0" err="1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មានដូចជា</a:t>
            </a:r>
            <a:r>
              <a:rPr lang="en-US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៖ </a:t>
            </a:r>
          </a:p>
          <a:p>
            <a:pPr marL="1257300" lvl="2" indent="-342900" algn="l">
              <a:lnSpc>
                <a:spcPct val="150000"/>
              </a:lnSpc>
              <a:spcBef>
                <a:spcPts val="1500"/>
              </a:spcBef>
              <a:buFont typeface="Wingdings" pitchFamily="2" charset="2"/>
              <a:buChar char="Ø"/>
            </a:pPr>
            <a:r>
              <a:rPr lang="en-US" sz="24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Class</a:t>
            </a:r>
          </a:p>
          <a:p>
            <a:pPr marL="1257300" lvl="2" indent="-342900" algn="l">
              <a:lnSpc>
                <a:spcPct val="150000"/>
              </a:lnSpc>
              <a:spcBef>
                <a:spcPts val="1500"/>
              </a:spcBef>
              <a:buFont typeface="Wingdings" pitchFamily="2" charset="2"/>
              <a:buChar char="Ø"/>
            </a:pPr>
            <a:r>
              <a:rPr lang="en-US" sz="24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Object</a:t>
            </a:r>
          </a:p>
          <a:p>
            <a:pPr marL="1257300" lvl="2" indent="-342900" algn="l">
              <a:lnSpc>
                <a:spcPct val="150000"/>
              </a:lnSpc>
              <a:spcBef>
                <a:spcPts val="1500"/>
              </a:spcBef>
              <a:buFont typeface="Wingdings" pitchFamily="2" charset="2"/>
              <a:buChar char="Ø"/>
            </a:pPr>
            <a:r>
              <a:rPr lang="en-US" sz="24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Constructors</a:t>
            </a:r>
          </a:p>
          <a:p>
            <a:pPr marL="1257300" lvl="2" indent="-342900" algn="l">
              <a:lnSpc>
                <a:spcPct val="150000"/>
              </a:lnSpc>
              <a:spcBef>
                <a:spcPts val="1500"/>
              </a:spcBef>
              <a:buFont typeface="Wingdings" pitchFamily="2" charset="2"/>
              <a:buChar char="Ø"/>
            </a:pPr>
            <a:r>
              <a:rPr lang="en-US" sz="24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Interfaces</a:t>
            </a:r>
          </a:p>
          <a:p>
            <a:pPr marL="1257300" lvl="2" indent="-342900" algn="l">
              <a:lnSpc>
                <a:spcPct val="150000"/>
              </a:lnSpc>
              <a:spcBef>
                <a:spcPts val="1500"/>
              </a:spcBef>
              <a:buFont typeface="Wingdings" pitchFamily="2" charset="2"/>
              <a:buChar char="Ø"/>
            </a:pPr>
            <a:r>
              <a:rPr lang="en-US" sz="24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Access Modifiers</a:t>
            </a:r>
          </a:p>
        </p:txBody>
      </p:sp>
    </p:spTree>
    <p:extLst>
      <p:ext uri="{BB962C8B-B14F-4D97-AF65-F5344CB8AC3E}">
        <p14:creationId xmlns:p14="http://schemas.microsoft.com/office/powerpoint/2010/main" val="3887962548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A39DA89-6F06-436D-6CE0-C65B87AD51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6E0322-C81A-2A43-4089-0CD1DEEC99C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701800" y="119781"/>
            <a:ext cx="9144000" cy="789373"/>
          </a:xfrm>
        </p:spPr>
        <p:txBody>
          <a:bodyPr>
            <a:normAutofit/>
          </a:bodyPr>
          <a:lstStyle/>
          <a:p>
            <a:pPr algn="l"/>
            <a:r>
              <a:rPr lang="en-US" sz="36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Class</a:t>
            </a:r>
            <a:endParaRPr lang="en-KH" sz="3600" dirty="0">
              <a:solidFill>
                <a:srgbClr val="00206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3EFD7E47-5788-3C4D-9DF9-A47E3ED56F82}"/>
              </a:ext>
            </a:extLst>
          </p:cNvPr>
          <p:cNvCxnSpPr/>
          <p:nvPr/>
        </p:nvCxnSpPr>
        <p:spPr>
          <a:xfrm>
            <a:off x="0" y="1050468"/>
            <a:ext cx="12192000" cy="0"/>
          </a:xfrm>
          <a:prstGeom prst="line">
            <a:avLst/>
          </a:prstGeom>
          <a:ln w="57150">
            <a:solidFill>
              <a:srgbClr val="D49B0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26B5680D-1057-67DF-85CC-460378C5695D}"/>
              </a:ext>
            </a:extLst>
          </p:cNvPr>
          <p:cNvCxnSpPr>
            <a:cxnSpLocks/>
          </p:cNvCxnSpPr>
          <p:nvPr/>
        </p:nvCxnSpPr>
        <p:spPr>
          <a:xfrm>
            <a:off x="0" y="979812"/>
            <a:ext cx="12192000" cy="0"/>
          </a:xfrm>
          <a:prstGeom prst="line">
            <a:avLst/>
          </a:prstGeom>
          <a:ln w="57150">
            <a:solidFill>
              <a:srgbClr val="1C27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7" name="Picture 46" descr="A blue circle with a yellow and white bird in it&#10;&#10;AI-generated content may be incorrect.">
            <a:extLst>
              <a:ext uri="{FF2B5EF4-FFF2-40B4-BE49-F238E27FC236}">
                <a16:creationId xmlns:a16="http://schemas.microsoft.com/office/drawing/2014/main" id="{CDF13ACF-3EFD-0BA6-E71F-7CBF38CC3B7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5438" y="219712"/>
            <a:ext cx="606500" cy="606500"/>
          </a:xfrm>
          <a:prstGeom prst="rect">
            <a:avLst/>
          </a:prstGeom>
        </p:spPr>
      </p:pic>
      <p:sp>
        <p:nvSpPr>
          <p:cNvPr id="6" name="Subtitle 2">
            <a:extLst>
              <a:ext uri="{FF2B5EF4-FFF2-40B4-BE49-F238E27FC236}">
                <a16:creationId xmlns:a16="http://schemas.microsoft.com/office/drawing/2014/main" id="{4B307DE5-8C95-1D98-9085-40FA4D070FE6}"/>
              </a:ext>
            </a:extLst>
          </p:cNvPr>
          <p:cNvSpPr txBox="1">
            <a:spLocks/>
          </p:cNvSpPr>
          <p:nvPr/>
        </p:nvSpPr>
        <p:spPr>
          <a:xfrm>
            <a:off x="803753" y="1133413"/>
            <a:ext cx="10459234" cy="5178481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lnSpc>
                <a:spcPct val="150000"/>
              </a:lnSpc>
              <a:spcBef>
                <a:spcPts val="1500"/>
              </a:spcBef>
            </a:pPr>
            <a:r>
              <a:rPr lang="en-US" sz="2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  </a:t>
            </a:r>
            <a:r>
              <a:rPr lang="en-US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Class </a:t>
            </a:r>
            <a:r>
              <a:rPr lang="en-US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គឺជាប្លង់មេ</a:t>
            </a:r>
            <a:r>
              <a:rPr lang="en-US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ឫជាគំរូមួយដែលកំណត់រចនាសម្ព័ន្ធទិន្នន័យ</a:t>
            </a:r>
            <a:r>
              <a:rPr lang="en-US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(</a:t>
            </a:r>
            <a:r>
              <a:rPr lang="en-US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Data Structure</a:t>
            </a:r>
            <a:r>
              <a:rPr lang="en-US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) </a:t>
            </a:r>
            <a:r>
              <a:rPr lang="en-US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និងអាកប្បកិរិយា</a:t>
            </a:r>
            <a:r>
              <a:rPr lang="en-US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(</a:t>
            </a:r>
            <a:r>
              <a:rPr lang="en-US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Behavior</a:t>
            </a:r>
            <a:r>
              <a:rPr lang="en-US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) </a:t>
            </a:r>
            <a:r>
              <a:rPr lang="en-US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នៃវត្ថុមួយ</a:t>
            </a:r>
            <a:r>
              <a:rPr lang="en-US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។</a:t>
            </a:r>
            <a:endParaRPr lang="en-US" sz="2800" dirty="0">
              <a:solidFill>
                <a:srgbClr val="0070C0"/>
              </a:solidFill>
              <a:latin typeface="Khmer OS Content" panose="02000500000000020004" pitchFamily="2" charset="77"/>
              <a:cs typeface="Khmer OS Content" panose="02000500000000020004" pitchFamily="2" charset="77"/>
            </a:endParaRPr>
          </a:p>
          <a:p>
            <a:pPr algn="l">
              <a:lnSpc>
                <a:spcPct val="150000"/>
              </a:lnSpc>
              <a:spcBef>
                <a:spcPts val="1500"/>
              </a:spcBef>
            </a:pPr>
            <a:r>
              <a:rPr lang="en-KH" dirty="0"/>
              <a:t>👉 </a:t>
            </a:r>
            <a:r>
              <a:rPr lang="en-US" dirty="0" err="1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ទម្រង់នៃការបង្កើត</a:t>
            </a:r>
            <a:r>
              <a:rPr lang="en-US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Class៖</a:t>
            </a:r>
            <a:br>
              <a:rPr lang="en-US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</a:br>
            <a:r>
              <a:rPr lang="en-US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AccessModifier</a:t>
            </a:r>
            <a:r>
              <a:rPr lang="en-US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class</a:t>
            </a:r>
            <a:r>
              <a:rPr lang="en-US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ClassName</a:t>
            </a:r>
            <a:r>
              <a:rPr lang="en-US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{</a:t>
            </a:r>
          </a:p>
          <a:p>
            <a:pPr algn="l">
              <a:lnSpc>
                <a:spcPct val="100000"/>
              </a:lnSpc>
              <a:spcBef>
                <a:spcPts val="1500"/>
              </a:spcBef>
            </a:pPr>
            <a:r>
              <a:rPr lang="en-US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	</a:t>
            </a:r>
            <a:r>
              <a:rPr lang="en-US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//Fields/Attributes</a:t>
            </a:r>
            <a:br>
              <a:rPr lang="en-US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</a:br>
            <a:r>
              <a:rPr lang="en-US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	</a:t>
            </a:r>
            <a:r>
              <a:rPr lang="en-US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variables</a:t>
            </a:r>
            <a:br>
              <a:rPr lang="en-US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</a:br>
            <a:br>
              <a:rPr lang="en-US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</a:br>
            <a:r>
              <a:rPr lang="en-US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	</a:t>
            </a:r>
            <a:r>
              <a:rPr lang="en-US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//Behavior</a:t>
            </a:r>
            <a:br>
              <a:rPr lang="en-US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</a:br>
            <a:r>
              <a:rPr lang="en-US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	</a:t>
            </a:r>
            <a:r>
              <a:rPr lang="en-US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method</a:t>
            </a:r>
            <a:endParaRPr lang="en-US" dirty="0">
              <a:solidFill>
                <a:srgbClr val="002060"/>
              </a:solidFill>
              <a:latin typeface="Khmer OS Content" panose="02000500000000020004" pitchFamily="2" charset="77"/>
              <a:cs typeface="Khmer OS Content" panose="02000500000000020004" pitchFamily="2" charset="77"/>
            </a:endParaRPr>
          </a:p>
          <a:p>
            <a:pPr algn="l">
              <a:lnSpc>
                <a:spcPct val="100000"/>
              </a:lnSpc>
              <a:spcBef>
                <a:spcPts val="1500"/>
              </a:spcBef>
            </a:pPr>
            <a:r>
              <a:rPr lang="en-US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588061650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9ACB10E-2738-63F3-8C1E-15B72FA202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285206-F9C8-C990-C050-15DB4A41142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701800" y="119781"/>
            <a:ext cx="9144000" cy="789373"/>
          </a:xfrm>
        </p:spPr>
        <p:txBody>
          <a:bodyPr>
            <a:normAutofit/>
          </a:bodyPr>
          <a:lstStyle/>
          <a:p>
            <a:pPr algn="l"/>
            <a:r>
              <a:rPr lang="en-US" sz="36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Object</a:t>
            </a:r>
            <a:endParaRPr lang="en-KH" sz="3600" dirty="0">
              <a:solidFill>
                <a:srgbClr val="00206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F1C19251-331B-3A29-A36A-99A92CFFE2CA}"/>
              </a:ext>
            </a:extLst>
          </p:cNvPr>
          <p:cNvCxnSpPr/>
          <p:nvPr/>
        </p:nvCxnSpPr>
        <p:spPr>
          <a:xfrm>
            <a:off x="0" y="1050468"/>
            <a:ext cx="12192000" cy="0"/>
          </a:xfrm>
          <a:prstGeom prst="line">
            <a:avLst/>
          </a:prstGeom>
          <a:ln w="57150">
            <a:solidFill>
              <a:srgbClr val="D49B0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1E5E5320-003C-7D9B-C62B-CEA76789A31B}"/>
              </a:ext>
            </a:extLst>
          </p:cNvPr>
          <p:cNvCxnSpPr>
            <a:cxnSpLocks/>
          </p:cNvCxnSpPr>
          <p:nvPr/>
        </p:nvCxnSpPr>
        <p:spPr>
          <a:xfrm>
            <a:off x="0" y="979812"/>
            <a:ext cx="12192000" cy="0"/>
          </a:xfrm>
          <a:prstGeom prst="line">
            <a:avLst/>
          </a:prstGeom>
          <a:ln w="57150">
            <a:solidFill>
              <a:srgbClr val="1C27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7" name="Picture 46" descr="A blue circle with a yellow and white bird in it&#10;&#10;AI-generated content may be incorrect.">
            <a:extLst>
              <a:ext uri="{FF2B5EF4-FFF2-40B4-BE49-F238E27FC236}">
                <a16:creationId xmlns:a16="http://schemas.microsoft.com/office/drawing/2014/main" id="{4B858181-8E7E-CD51-1A84-BC51C19720D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5438" y="219712"/>
            <a:ext cx="606500" cy="606500"/>
          </a:xfrm>
          <a:prstGeom prst="rect">
            <a:avLst/>
          </a:prstGeom>
        </p:spPr>
      </p:pic>
      <p:sp>
        <p:nvSpPr>
          <p:cNvPr id="6" name="Subtitle 2">
            <a:extLst>
              <a:ext uri="{FF2B5EF4-FFF2-40B4-BE49-F238E27FC236}">
                <a16:creationId xmlns:a16="http://schemas.microsoft.com/office/drawing/2014/main" id="{867A4DEE-6FDC-8978-8FC5-E41A8EE53256}"/>
              </a:ext>
            </a:extLst>
          </p:cNvPr>
          <p:cNvSpPr txBox="1">
            <a:spLocks/>
          </p:cNvSpPr>
          <p:nvPr/>
        </p:nvSpPr>
        <p:spPr>
          <a:xfrm>
            <a:off x="803753" y="1133414"/>
            <a:ext cx="10459234" cy="4403786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lnSpc>
                <a:spcPct val="150000"/>
              </a:lnSpc>
              <a:spcBef>
                <a:spcPts val="1500"/>
              </a:spcBef>
            </a:pPr>
            <a:r>
              <a:rPr lang="en-US" sz="2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  Object</a:t>
            </a:r>
            <a:r>
              <a:rPr lang="en-US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គឺជាវត្ថុពិតប្រាកដមួយ</a:t>
            </a:r>
            <a:r>
              <a:rPr lang="en-US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និងជាការ</a:t>
            </a:r>
            <a:r>
              <a:rPr lang="en-US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2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instance​ </a:t>
            </a:r>
            <a:r>
              <a:rPr lang="en-US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នៃ</a:t>
            </a:r>
            <a:r>
              <a:rPr lang="en-US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2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class</a:t>
            </a:r>
            <a:r>
              <a:rPr lang="en-US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មួយ</a:t>
            </a:r>
            <a:r>
              <a:rPr lang="en-US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។ </a:t>
            </a:r>
            <a:r>
              <a:rPr lang="en-US" sz="2800" dirty="0" err="1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ឧទាហរណ</a:t>
            </a:r>
            <a:r>
              <a:rPr lang="en-US" sz="2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៍៖</a:t>
            </a:r>
            <a:r>
              <a:rPr lang="en-US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2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User</a:t>
            </a:r>
            <a:r>
              <a:rPr lang="en-US" sz="28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user = </a:t>
            </a:r>
            <a:r>
              <a:rPr lang="en-US" sz="2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new</a:t>
            </a:r>
            <a:r>
              <a:rPr lang="en-US" sz="28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2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User</a:t>
            </a:r>
            <a:r>
              <a:rPr lang="en-US" sz="28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;</a:t>
            </a:r>
          </a:p>
          <a:p>
            <a:pPr marL="800100" lvl="1" indent="-342900" algn="l">
              <a:lnSpc>
                <a:spcPct val="150000"/>
              </a:lnSpc>
              <a:spcBef>
                <a:spcPts val="1500"/>
              </a:spcBef>
              <a:buFont typeface="Wingdings" pitchFamily="2" charset="2"/>
              <a:buChar char="Ø"/>
            </a:pPr>
            <a:r>
              <a:rPr lang="en-US" sz="24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User </a:t>
            </a:r>
            <a:r>
              <a:rPr lang="en-US" sz="2400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គឺជា</a:t>
            </a:r>
            <a:r>
              <a:rPr lang="en-US" sz="24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class </a:t>
            </a:r>
            <a:r>
              <a:rPr lang="en-US" sz="2400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មួយ</a:t>
            </a:r>
            <a:r>
              <a:rPr lang="en-US" sz="24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។</a:t>
            </a:r>
          </a:p>
          <a:p>
            <a:pPr marL="800100" lvl="1" indent="-342900" algn="l">
              <a:lnSpc>
                <a:spcPct val="150000"/>
              </a:lnSpc>
              <a:spcBef>
                <a:spcPts val="1500"/>
              </a:spcBef>
              <a:buFont typeface="Wingdings" pitchFamily="2" charset="2"/>
              <a:buChar char="Ø"/>
            </a:pPr>
            <a:r>
              <a:rPr lang="en-US" sz="24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new</a:t>
            </a:r>
            <a:r>
              <a:rPr lang="en-US" sz="24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24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User </a:t>
            </a:r>
            <a:r>
              <a:rPr lang="en-US" sz="2400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គឺជា</a:t>
            </a:r>
            <a:r>
              <a:rPr lang="en-US" sz="24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24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Object</a:t>
            </a:r>
            <a:r>
              <a:rPr lang="en-US" sz="24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2400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ដែលកើតឡើងពីការ</a:t>
            </a:r>
            <a:r>
              <a:rPr lang="en-US" sz="24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​</a:t>
            </a:r>
            <a:r>
              <a:rPr lang="en-US" sz="24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instance​ </a:t>
            </a:r>
            <a:r>
              <a:rPr lang="en-US" sz="2400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នៃ</a:t>
            </a:r>
            <a:r>
              <a:rPr lang="en-US" sz="24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24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class</a:t>
            </a:r>
            <a:r>
              <a:rPr lang="en-US" sz="24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24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User </a:t>
            </a:r>
            <a:r>
              <a:rPr lang="en-US" sz="24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។</a:t>
            </a:r>
          </a:p>
          <a:p>
            <a:pPr marL="800100" lvl="1" indent="-342900" algn="l">
              <a:lnSpc>
                <a:spcPct val="150000"/>
              </a:lnSpc>
              <a:spcBef>
                <a:spcPts val="1500"/>
              </a:spcBef>
              <a:buFont typeface="Wingdings" pitchFamily="2" charset="2"/>
              <a:buChar char="Ø"/>
            </a:pPr>
            <a:r>
              <a:rPr lang="en-US" sz="24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user </a:t>
            </a:r>
            <a:r>
              <a:rPr lang="en-US" sz="2400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គឺជា</a:t>
            </a:r>
            <a:r>
              <a:rPr lang="en-US" sz="24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variable </a:t>
            </a:r>
            <a:r>
              <a:rPr lang="en-US" sz="2400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មួយដែលចាំទទួល</a:t>
            </a:r>
            <a:r>
              <a:rPr lang="en-US" sz="24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24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Object </a:t>
            </a:r>
            <a:r>
              <a:rPr lang="en-US" sz="2400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ដែលកើតឡើងពីការ</a:t>
            </a:r>
            <a:r>
              <a:rPr lang="en-US" sz="24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​</a:t>
            </a:r>
            <a:r>
              <a:rPr lang="en-US" sz="24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instance​ </a:t>
            </a:r>
            <a:r>
              <a:rPr lang="en-US" sz="2400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នៃ</a:t>
            </a:r>
            <a:r>
              <a:rPr lang="en-US" sz="24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24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class</a:t>
            </a:r>
            <a:r>
              <a:rPr lang="en-US" sz="24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24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User</a:t>
            </a:r>
            <a:r>
              <a:rPr lang="en-US" sz="24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។</a:t>
            </a:r>
            <a:endParaRPr lang="en-US" sz="2400" dirty="0">
              <a:solidFill>
                <a:srgbClr val="002060"/>
              </a:solidFill>
              <a:latin typeface="Khmer OS Content" panose="02000500000000020004" pitchFamily="2" charset="77"/>
              <a:cs typeface="Khmer OS Content" panose="02000500000000020004" pitchFamily="2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3981315529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1EC6660-D62D-F66A-F820-147C37F637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8AB1B3-2D63-7F5E-F122-E9E508FA262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701800" y="119781"/>
            <a:ext cx="9144000" cy="789373"/>
          </a:xfrm>
        </p:spPr>
        <p:txBody>
          <a:bodyPr>
            <a:normAutofit/>
          </a:bodyPr>
          <a:lstStyle/>
          <a:p>
            <a:pPr algn="l"/>
            <a:r>
              <a:rPr lang="en-US" sz="36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Constructors</a:t>
            </a:r>
            <a:endParaRPr lang="en-KH" sz="3600" dirty="0">
              <a:solidFill>
                <a:srgbClr val="00206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8101B906-B43B-8C3E-1D3E-B498217851B4}"/>
              </a:ext>
            </a:extLst>
          </p:cNvPr>
          <p:cNvCxnSpPr/>
          <p:nvPr/>
        </p:nvCxnSpPr>
        <p:spPr>
          <a:xfrm>
            <a:off x="0" y="1050468"/>
            <a:ext cx="12192000" cy="0"/>
          </a:xfrm>
          <a:prstGeom prst="line">
            <a:avLst/>
          </a:prstGeom>
          <a:ln w="57150">
            <a:solidFill>
              <a:srgbClr val="D49B0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17DC92AF-A042-CCE3-0305-D4F28ABC56D9}"/>
              </a:ext>
            </a:extLst>
          </p:cNvPr>
          <p:cNvCxnSpPr>
            <a:cxnSpLocks/>
          </p:cNvCxnSpPr>
          <p:nvPr/>
        </p:nvCxnSpPr>
        <p:spPr>
          <a:xfrm>
            <a:off x="0" y="979812"/>
            <a:ext cx="12192000" cy="0"/>
          </a:xfrm>
          <a:prstGeom prst="line">
            <a:avLst/>
          </a:prstGeom>
          <a:ln w="57150">
            <a:solidFill>
              <a:srgbClr val="1C27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7" name="Picture 46" descr="A blue circle with a yellow and white bird in it&#10;&#10;AI-generated content may be incorrect.">
            <a:extLst>
              <a:ext uri="{FF2B5EF4-FFF2-40B4-BE49-F238E27FC236}">
                <a16:creationId xmlns:a16="http://schemas.microsoft.com/office/drawing/2014/main" id="{400A3A72-02E6-FAA9-ECB4-EE35A006D79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5438" y="219712"/>
            <a:ext cx="606500" cy="606500"/>
          </a:xfrm>
          <a:prstGeom prst="rect">
            <a:avLst/>
          </a:prstGeom>
        </p:spPr>
      </p:pic>
      <p:sp>
        <p:nvSpPr>
          <p:cNvPr id="6" name="Subtitle 2">
            <a:extLst>
              <a:ext uri="{FF2B5EF4-FFF2-40B4-BE49-F238E27FC236}">
                <a16:creationId xmlns:a16="http://schemas.microsoft.com/office/drawing/2014/main" id="{D6D50EE2-2335-28AD-AC0E-FC57C5069229}"/>
              </a:ext>
            </a:extLst>
          </p:cNvPr>
          <p:cNvSpPr txBox="1">
            <a:spLocks/>
          </p:cNvSpPr>
          <p:nvPr/>
        </p:nvSpPr>
        <p:spPr>
          <a:xfrm>
            <a:off x="803753" y="1133414"/>
            <a:ext cx="10459234" cy="5504874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lnSpc>
                <a:spcPct val="150000"/>
              </a:lnSpc>
              <a:spcBef>
                <a:spcPts val="1500"/>
              </a:spcBef>
            </a:pPr>
            <a:r>
              <a:rPr lang="en-US" sz="2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 </a:t>
            </a:r>
            <a:r>
              <a:rPr lang="en-US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20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Constructors </a:t>
            </a:r>
            <a:r>
              <a:rPr lang="en-US" sz="2000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គឺជា</a:t>
            </a:r>
            <a:r>
              <a:rPr lang="en-US" sz="20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methods </a:t>
            </a:r>
            <a:r>
              <a:rPr lang="en-US" sz="2000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ពិសេសដែលមានឈ្មោះដូច</a:t>
            </a:r>
            <a:r>
              <a:rPr lang="en-US" sz="20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20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class </a:t>
            </a:r>
            <a:r>
              <a:rPr lang="en-US" sz="2000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ដែលមិនមាន</a:t>
            </a:r>
            <a:r>
              <a:rPr lang="en-US" sz="20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20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Return Type</a:t>
            </a:r>
            <a:r>
              <a:rPr lang="en-US" sz="20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2000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ឫ</a:t>
            </a:r>
            <a:r>
              <a:rPr lang="en-US" sz="20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20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void</a:t>
            </a:r>
            <a:r>
              <a:rPr lang="en-US" sz="20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។ </a:t>
            </a:r>
            <a:r>
              <a:rPr lang="en-US" sz="2000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វាត្រូវបានហៅនៅពេលដែល</a:t>
            </a:r>
            <a:r>
              <a:rPr lang="en-US" sz="20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20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Object </a:t>
            </a:r>
            <a:r>
              <a:rPr lang="en-US" sz="2000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ត្រូវបានបង្កើតដើម្បីចាប់ផ្តើមសម្រាប់ការប្រើប្រាស</a:t>
            </a:r>
            <a:r>
              <a:rPr lang="en-US" sz="20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់។</a:t>
            </a:r>
            <a:br>
              <a:rPr lang="en-US" sz="20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</a:br>
            <a:r>
              <a:rPr lang="en-US" sz="1800" dirty="0" err="1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ឧទាហរណ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៍៖  public class User{</a:t>
            </a:r>
          </a:p>
          <a:p>
            <a:pPr lvl="3" algn="l">
              <a:lnSpc>
                <a:spcPct val="100000"/>
              </a:lnSpc>
              <a:spcBef>
                <a:spcPts val="1500"/>
              </a:spcBef>
            </a:pP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   private int </a:t>
            </a:r>
            <a:r>
              <a:rPr lang="en-US" sz="1800" dirty="0" err="1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userId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;</a:t>
            </a:r>
          </a:p>
          <a:p>
            <a:pPr lvl="3" algn="l">
              <a:lnSpc>
                <a:spcPct val="100000"/>
              </a:lnSpc>
              <a:spcBef>
                <a:spcPts val="1500"/>
              </a:spcBef>
            </a:pP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   private String username;</a:t>
            </a:r>
          </a:p>
          <a:p>
            <a:pPr lvl="3" algn="l">
              <a:lnSpc>
                <a:spcPct val="100000"/>
              </a:lnSpc>
              <a:spcBef>
                <a:spcPts val="1500"/>
              </a:spcBef>
            </a:pP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   public 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User()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{}</a:t>
            </a:r>
            <a:b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</a:b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   </a:t>
            </a:r>
            <a:b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</a:b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   public 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User(int </a:t>
            </a:r>
            <a:r>
              <a:rPr lang="en-US" sz="1800" dirty="0" err="1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userId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, String </a:t>
            </a:r>
            <a:r>
              <a:rPr lang="en-US" sz="1800" dirty="0" err="1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userName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)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{</a:t>
            </a:r>
          </a:p>
          <a:p>
            <a:pPr lvl="3" algn="l">
              <a:lnSpc>
                <a:spcPct val="100000"/>
              </a:lnSpc>
              <a:spcBef>
                <a:spcPts val="1500"/>
              </a:spcBef>
            </a:pP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       </a:t>
            </a:r>
            <a:r>
              <a:rPr lang="en-US" sz="1800" dirty="0" err="1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this.userId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= </a:t>
            </a:r>
            <a:r>
              <a:rPr lang="en-US" sz="1800" dirty="0" err="1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userId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;</a:t>
            </a:r>
          </a:p>
          <a:p>
            <a:pPr lvl="3" algn="l">
              <a:lnSpc>
                <a:spcPct val="100000"/>
              </a:lnSpc>
              <a:spcBef>
                <a:spcPts val="1500"/>
              </a:spcBef>
            </a:pP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       </a:t>
            </a:r>
            <a:r>
              <a:rPr lang="en-US" sz="1800" dirty="0" err="1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this.username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= 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username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;</a:t>
            </a:r>
          </a:p>
          <a:p>
            <a:pPr lvl="3" algn="l">
              <a:lnSpc>
                <a:spcPct val="100000"/>
              </a:lnSpc>
              <a:spcBef>
                <a:spcPts val="1500"/>
              </a:spcBef>
            </a:pP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   }</a:t>
            </a:r>
          </a:p>
          <a:p>
            <a:pPr lvl="3" algn="l">
              <a:lnSpc>
                <a:spcPct val="100000"/>
              </a:lnSpc>
              <a:spcBef>
                <a:spcPts val="1500"/>
              </a:spcBef>
            </a:pP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}</a:t>
            </a:r>
            <a:br>
              <a:rPr lang="en-US" sz="20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</a:br>
            <a:br>
              <a:rPr lang="en-US" sz="20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</a:br>
            <a:br>
              <a:rPr lang="en-US" sz="20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</a:br>
            <a:endParaRPr lang="en-US" sz="2000" dirty="0">
              <a:solidFill>
                <a:srgbClr val="002060"/>
              </a:solidFill>
              <a:latin typeface="Khmer OS Content" panose="02000500000000020004" pitchFamily="2" charset="77"/>
              <a:cs typeface="Khmer OS Content" panose="02000500000000020004" pitchFamily="2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536488673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4051F9F-B4A1-BD7B-6146-4E33D6A8BA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9A52B8-C601-DFEF-D4C2-E7F0C6CF44C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701800" y="119781"/>
            <a:ext cx="9144000" cy="789373"/>
          </a:xfrm>
        </p:spPr>
        <p:txBody>
          <a:bodyPr>
            <a:normAutofit/>
          </a:bodyPr>
          <a:lstStyle/>
          <a:p>
            <a:pPr algn="l"/>
            <a:r>
              <a:rPr lang="en-US" sz="36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Interfaces</a:t>
            </a:r>
            <a:endParaRPr lang="en-KH" sz="3600" dirty="0">
              <a:solidFill>
                <a:srgbClr val="00206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2F24C1B0-C2CF-C4D5-9C8D-F64E90427D29}"/>
              </a:ext>
            </a:extLst>
          </p:cNvPr>
          <p:cNvCxnSpPr/>
          <p:nvPr/>
        </p:nvCxnSpPr>
        <p:spPr>
          <a:xfrm>
            <a:off x="0" y="1050468"/>
            <a:ext cx="12192000" cy="0"/>
          </a:xfrm>
          <a:prstGeom prst="line">
            <a:avLst/>
          </a:prstGeom>
          <a:ln w="57150">
            <a:solidFill>
              <a:srgbClr val="D49B0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BB8BC246-3BDF-23BE-EC28-CC781F995BB8}"/>
              </a:ext>
            </a:extLst>
          </p:cNvPr>
          <p:cNvCxnSpPr>
            <a:cxnSpLocks/>
          </p:cNvCxnSpPr>
          <p:nvPr/>
        </p:nvCxnSpPr>
        <p:spPr>
          <a:xfrm>
            <a:off x="0" y="979812"/>
            <a:ext cx="12192000" cy="0"/>
          </a:xfrm>
          <a:prstGeom prst="line">
            <a:avLst/>
          </a:prstGeom>
          <a:ln w="57150">
            <a:solidFill>
              <a:srgbClr val="1C27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7" name="Picture 46" descr="A blue circle with a yellow and white bird in it&#10;&#10;AI-generated content may be incorrect.">
            <a:extLst>
              <a:ext uri="{FF2B5EF4-FFF2-40B4-BE49-F238E27FC236}">
                <a16:creationId xmlns:a16="http://schemas.microsoft.com/office/drawing/2014/main" id="{B718BCDD-F40F-3F65-EB6B-1B7713A131F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5438" y="219712"/>
            <a:ext cx="606500" cy="606500"/>
          </a:xfrm>
          <a:prstGeom prst="rect">
            <a:avLst/>
          </a:prstGeom>
        </p:spPr>
      </p:pic>
      <p:sp>
        <p:nvSpPr>
          <p:cNvPr id="6" name="Subtitle 2">
            <a:extLst>
              <a:ext uri="{FF2B5EF4-FFF2-40B4-BE49-F238E27FC236}">
                <a16:creationId xmlns:a16="http://schemas.microsoft.com/office/drawing/2014/main" id="{DF7F629C-724A-20B2-7CDE-D210AD8F11A3}"/>
              </a:ext>
            </a:extLst>
          </p:cNvPr>
          <p:cNvSpPr txBox="1">
            <a:spLocks/>
          </p:cNvSpPr>
          <p:nvPr/>
        </p:nvSpPr>
        <p:spPr>
          <a:xfrm>
            <a:off x="803753" y="1133414"/>
            <a:ext cx="10459234" cy="5504874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lnSpc>
                <a:spcPct val="150000"/>
              </a:lnSpc>
              <a:spcBef>
                <a:spcPts val="1500"/>
              </a:spcBef>
            </a:pPr>
            <a:r>
              <a:rPr lang="en-US" sz="2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 </a:t>
            </a:r>
            <a:r>
              <a:rPr lang="en-US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20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Interfaces </a:t>
            </a:r>
            <a:r>
              <a:rPr lang="en-US" sz="2000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គឺជាការ</a:t>
            </a:r>
            <a:r>
              <a:rPr lang="km-KH" sz="20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កំណត់កិច្ចសន្យាសម្រាប់</a:t>
            </a:r>
            <a:r>
              <a:rPr lang="en-US" sz="20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20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class</a:t>
            </a:r>
            <a:r>
              <a:rPr lang="en-US" sz="20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km-KH" sz="20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ដែលត្រូវប្រកាន់ខ្ជាប់</a:t>
            </a:r>
            <a:r>
              <a:rPr lang="en-US" sz="20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។ </a:t>
            </a:r>
            <a:r>
              <a:rPr lang="en-US" sz="2000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វា</a:t>
            </a:r>
            <a:r>
              <a:rPr lang="km-KH" sz="20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បើកទម្រង់នៃមរតក</a:t>
            </a:r>
            <a:r>
              <a:rPr lang="en-US" sz="2000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ជា</a:t>
            </a:r>
            <a:r>
              <a:rPr lang="km-KH" sz="20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ច្រើនដែល </a:t>
            </a:r>
            <a:r>
              <a:rPr lang="en-US" sz="20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Java </a:t>
            </a:r>
            <a:r>
              <a:rPr lang="km-KH" sz="20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មិនគាំទ្រជាមួយ</a:t>
            </a:r>
            <a:r>
              <a:rPr lang="en-US" sz="2000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ការប្រើ</a:t>
            </a:r>
            <a:r>
              <a:rPr lang="en-US" sz="20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20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class</a:t>
            </a:r>
            <a:r>
              <a:rPr lang="en-US" sz="20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km-KH" sz="20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តែមួយ</a:t>
            </a:r>
            <a:r>
              <a:rPr lang="en-US" sz="2000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នោះទេ</a:t>
            </a:r>
            <a:r>
              <a:rPr lang="en-US" sz="20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។</a:t>
            </a:r>
            <a:br>
              <a:rPr lang="en-US" sz="20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</a:br>
            <a:r>
              <a:rPr lang="en-KH" sz="1800" dirty="0"/>
              <a:t>👉 </a:t>
            </a:r>
            <a:r>
              <a:rPr lang="en-US" sz="1800" dirty="0" err="1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ទម្រង់នៃការបង្កើត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Interface ៖ </a:t>
            </a:r>
          </a:p>
          <a:p>
            <a:pPr algn="l">
              <a:lnSpc>
                <a:spcPct val="100000"/>
              </a:lnSpc>
              <a:spcBef>
                <a:spcPts val="1500"/>
              </a:spcBef>
            </a:pP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AccessModifier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interface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1800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InterfaceName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{</a:t>
            </a:r>
            <a:b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</a:b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	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1800" dirty="0" err="1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DataType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/void </a:t>
            </a:r>
            <a:r>
              <a:rPr lang="en-US" sz="1800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methodName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();</a:t>
            </a:r>
          </a:p>
          <a:p>
            <a:pPr algn="l">
              <a:lnSpc>
                <a:spcPct val="100000"/>
              </a:lnSpc>
              <a:spcBef>
                <a:spcPts val="1500"/>
              </a:spcBef>
            </a:pP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}</a:t>
            </a:r>
          </a:p>
          <a:p>
            <a:pPr algn="l">
              <a:lnSpc>
                <a:spcPct val="100000"/>
              </a:lnSpc>
              <a:spcBef>
                <a:spcPts val="1500"/>
              </a:spcBef>
            </a:pPr>
            <a:r>
              <a:rPr lang="en-KH" sz="1800" dirty="0"/>
              <a:t>👉 </a:t>
            </a:r>
            <a:r>
              <a:rPr lang="en-US" sz="1800" dirty="0" err="1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ទម្រង់នៃការបង្កើត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class </a:t>
            </a:r>
            <a:r>
              <a:rPr lang="en-US" sz="1800" dirty="0" err="1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ដើម្បីអនុវត្តទៅតាម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Interface ៖</a:t>
            </a:r>
            <a:br>
              <a:rPr lang="en-US" sz="20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</a:b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AccessModifier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class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1800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ClassName</a:t>
            </a:r>
            <a:r>
              <a:rPr lang="en-US" sz="18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implements</a:t>
            </a:r>
            <a:r>
              <a:rPr lang="en-US" sz="18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1800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InterfaceName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{</a:t>
            </a:r>
          </a:p>
          <a:p>
            <a:pPr algn="l">
              <a:lnSpc>
                <a:spcPct val="100000"/>
              </a:lnSpc>
              <a:spcBef>
                <a:spcPts val="1500"/>
              </a:spcBef>
            </a:pP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	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@Override</a:t>
            </a:r>
            <a:b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</a:b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	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public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1800" dirty="0" err="1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DataType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/void </a:t>
            </a:r>
            <a:r>
              <a:rPr lang="en-US" sz="1800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methodName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(){</a:t>
            </a:r>
          </a:p>
          <a:p>
            <a:pPr algn="l">
              <a:lnSpc>
                <a:spcPct val="100000"/>
              </a:lnSpc>
              <a:spcBef>
                <a:spcPts val="1500"/>
              </a:spcBef>
            </a:pPr>
            <a:r>
              <a:rPr lang="en-US" sz="18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	     //Code to do something</a:t>
            </a:r>
          </a:p>
          <a:p>
            <a:pPr algn="l">
              <a:lnSpc>
                <a:spcPct val="100000"/>
              </a:lnSpc>
              <a:spcBef>
                <a:spcPts val="1500"/>
              </a:spcBef>
            </a:pPr>
            <a:r>
              <a:rPr lang="en-US" sz="18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	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}</a:t>
            </a:r>
          </a:p>
          <a:p>
            <a:pPr algn="l">
              <a:lnSpc>
                <a:spcPct val="100000"/>
              </a:lnSpc>
              <a:spcBef>
                <a:spcPts val="1500"/>
              </a:spcBef>
            </a:pP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1887490943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B02A63A-6667-54C7-91F4-F4C2B11265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7B2746-1960-34E2-174E-D91FB051710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701800" y="119781"/>
            <a:ext cx="9144000" cy="789373"/>
          </a:xfrm>
        </p:spPr>
        <p:txBody>
          <a:bodyPr>
            <a:normAutofit/>
          </a:bodyPr>
          <a:lstStyle/>
          <a:p>
            <a:pPr algn="l"/>
            <a:r>
              <a:rPr lang="en-US" sz="36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Access Modifiers</a:t>
            </a:r>
            <a:endParaRPr lang="en-KH" sz="3600" dirty="0">
              <a:solidFill>
                <a:srgbClr val="00206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39C9E8D4-D8B2-6321-0BA1-594B8E13D4F1}"/>
              </a:ext>
            </a:extLst>
          </p:cNvPr>
          <p:cNvCxnSpPr/>
          <p:nvPr/>
        </p:nvCxnSpPr>
        <p:spPr>
          <a:xfrm>
            <a:off x="0" y="1050468"/>
            <a:ext cx="12192000" cy="0"/>
          </a:xfrm>
          <a:prstGeom prst="line">
            <a:avLst/>
          </a:prstGeom>
          <a:ln w="57150">
            <a:solidFill>
              <a:srgbClr val="D49B0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90EB1913-E9AA-109E-E21E-7B7853A8A9EC}"/>
              </a:ext>
            </a:extLst>
          </p:cNvPr>
          <p:cNvCxnSpPr>
            <a:cxnSpLocks/>
          </p:cNvCxnSpPr>
          <p:nvPr/>
        </p:nvCxnSpPr>
        <p:spPr>
          <a:xfrm>
            <a:off x="0" y="979812"/>
            <a:ext cx="12192000" cy="0"/>
          </a:xfrm>
          <a:prstGeom prst="line">
            <a:avLst/>
          </a:prstGeom>
          <a:ln w="57150">
            <a:solidFill>
              <a:srgbClr val="1C27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7" name="Picture 46" descr="A blue circle with a yellow and white bird in it&#10;&#10;AI-generated content may be incorrect.">
            <a:extLst>
              <a:ext uri="{FF2B5EF4-FFF2-40B4-BE49-F238E27FC236}">
                <a16:creationId xmlns:a16="http://schemas.microsoft.com/office/drawing/2014/main" id="{59E8423A-10E8-392C-0C44-3224590AC20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5438" y="219712"/>
            <a:ext cx="606500" cy="606500"/>
          </a:xfrm>
          <a:prstGeom prst="rect">
            <a:avLst/>
          </a:prstGeom>
        </p:spPr>
      </p:pic>
      <p:sp>
        <p:nvSpPr>
          <p:cNvPr id="6" name="Subtitle 2">
            <a:extLst>
              <a:ext uri="{FF2B5EF4-FFF2-40B4-BE49-F238E27FC236}">
                <a16:creationId xmlns:a16="http://schemas.microsoft.com/office/drawing/2014/main" id="{5DC52B1D-9415-1FF6-C74C-8CD366980E04}"/>
              </a:ext>
            </a:extLst>
          </p:cNvPr>
          <p:cNvSpPr txBox="1">
            <a:spLocks/>
          </p:cNvSpPr>
          <p:nvPr/>
        </p:nvSpPr>
        <p:spPr>
          <a:xfrm>
            <a:off x="803753" y="1133414"/>
            <a:ext cx="10459234" cy="5504874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lnSpc>
                <a:spcPct val="150000"/>
              </a:lnSpc>
              <a:spcBef>
                <a:spcPts val="1500"/>
              </a:spcBef>
            </a:pPr>
            <a:r>
              <a:rPr lang="en-US" sz="2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Access Modifiers </a:t>
            </a:r>
            <a:r>
              <a:rPr lang="en-US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គឺជាពាក្យគន្លឹះសម្រាប់គ្រប់គ្រងការបង្ហាញ</a:t>
            </a:r>
            <a:r>
              <a:rPr lang="en-US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និងការចូលប្រើ</a:t>
            </a:r>
            <a:r>
              <a:rPr lang="en-US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class </a:t>
            </a:r>
            <a:r>
              <a:rPr lang="en-US" dirty="0" err="1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memebers</a:t>
            </a:r>
            <a:r>
              <a:rPr lang="en-US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។ </a:t>
            </a:r>
          </a:p>
          <a:p>
            <a:pPr algn="l">
              <a:lnSpc>
                <a:spcPct val="150000"/>
              </a:lnSpc>
              <a:spcBef>
                <a:spcPts val="1500"/>
              </a:spcBef>
            </a:pPr>
            <a:r>
              <a:rPr lang="en-KH" dirty="0"/>
              <a:t>👉 </a:t>
            </a:r>
            <a:r>
              <a:rPr lang="en-US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Access Modifiers </a:t>
            </a:r>
            <a:r>
              <a:rPr lang="en-US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មានដូចជា</a:t>
            </a:r>
            <a:r>
              <a:rPr lang="en-US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៖</a:t>
            </a:r>
          </a:p>
          <a:p>
            <a:pPr marL="800100" lvl="1" indent="-342900" algn="l">
              <a:lnSpc>
                <a:spcPct val="150000"/>
              </a:lnSpc>
              <a:spcBef>
                <a:spcPts val="1500"/>
              </a:spcBef>
              <a:buFont typeface="Wingdings" pitchFamily="2" charset="2"/>
              <a:buChar char="Ø"/>
            </a:pPr>
            <a:r>
              <a:rPr lang="en-US" sz="24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public</a:t>
            </a:r>
            <a:endParaRPr lang="en-US" sz="2400" dirty="0">
              <a:solidFill>
                <a:srgbClr val="0070C0"/>
              </a:solidFill>
              <a:latin typeface="Khmer OS Content" panose="02000500000000020004" pitchFamily="2" charset="77"/>
              <a:cs typeface="Khmer OS Content" panose="02000500000000020004" pitchFamily="2" charset="77"/>
            </a:endParaRPr>
          </a:p>
          <a:p>
            <a:pPr marL="800100" lvl="1" indent="-342900" algn="l">
              <a:lnSpc>
                <a:spcPct val="150000"/>
              </a:lnSpc>
              <a:spcBef>
                <a:spcPts val="1500"/>
              </a:spcBef>
              <a:buFont typeface="Wingdings" pitchFamily="2" charset="2"/>
              <a:buChar char="Ø"/>
            </a:pPr>
            <a:r>
              <a:rPr lang="en-US" sz="24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private</a:t>
            </a:r>
            <a:r>
              <a:rPr lang="en-US" sz="2400" dirty="0"/>
              <a:t>​</a:t>
            </a:r>
            <a:endParaRPr lang="en-US" sz="2400" dirty="0">
              <a:solidFill>
                <a:srgbClr val="0070C0"/>
              </a:solidFill>
              <a:latin typeface="Khmer OS Content" panose="02000500000000020004" pitchFamily="2" charset="77"/>
              <a:cs typeface="Khmer OS Content" panose="02000500000000020004" pitchFamily="2" charset="77"/>
            </a:endParaRPr>
          </a:p>
          <a:p>
            <a:pPr marL="800100" lvl="1" indent="-342900" algn="l">
              <a:lnSpc>
                <a:spcPct val="150000"/>
              </a:lnSpc>
              <a:spcBef>
                <a:spcPts val="1500"/>
              </a:spcBef>
              <a:buFont typeface="Wingdings" pitchFamily="2" charset="2"/>
              <a:buChar char="Ø"/>
            </a:pPr>
            <a:r>
              <a:rPr lang="en-US" sz="24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protected</a:t>
            </a:r>
          </a:p>
        </p:txBody>
      </p:sp>
    </p:spTree>
    <p:extLst>
      <p:ext uri="{BB962C8B-B14F-4D97-AF65-F5344CB8AC3E}">
        <p14:creationId xmlns:p14="http://schemas.microsoft.com/office/powerpoint/2010/main" val="2379688951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704FF9A-EDA6-DDA2-A270-570D1AA732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42BDF9-58B5-E4CC-A033-A3C502FD2A9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701800" y="119781"/>
            <a:ext cx="9144000" cy="789373"/>
          </a:xfrm>
        </p:spPr>
        <p:txBody>
          <a:bodyPr>
            <a:normAutofit/>
          </a:bodyPr>
          <a:lstStyle/>
          <a:p>
            <a:pPr algn="l"/>
            <a:r>
              <a:rPr lang="en-US" sz="3600" dirty="0" err="1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គន្លឹះនៃការករសាងរបស</a:t>
            </a:r>
            <a:r>
              <a:rPr lang="en-US" sz="3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់ OOP(key building)</a:t>
            </a:r>
            <a:endParaRPr lang="en-KH" sz="3600" dirty="0">
              <a:solidFill>
                <a:srgbClr val="00206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3222139F-B74F-F06A-980A-DE556736A531}"/>
              </a:ext>
            </a:extLst>
          </p:cNvPr>
          <p:cNvCxnSpPr/>
          <p:nvPr/>
        </p:nvCxnSpPr>
        <p:spPr>
          <a:xfrm>
            <a:off x="0" y="1050468"/>
            <a:ext cx="12192000" cy="0"/>
          </a:xfrm>
          <a:prstGeom prst="line">
            <a:avLst/>
          </a:prstGeom>
          <a:ln w="57150">
            <a:solidFill>
              <a:srgbClr val="D49B0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E0B6C8CF-49ED-6B20-B7B7-FD19F8007BA7}"/>
              </a:ext>
            </a:extLst>
          </p:cNvPr>
          <p:cNvCxnSpPr>
            <a:cxnSpLocks/>
          </p:cNvCxnSpPr>
          <p:nvPr/>
        </p:nvCxnSpPr>
        <p:spPr>
          <a:xfrm>
            <a:off x="0" y="979812"/>
            <a:ext cx="12192000" cy="0"/>
          </a:xfrm>
          <a:prstGeom prst="line">
            <a:avLst/>
          </a:prstGeom>
          <a:ln w="57150">
            <a:solidFill>
              <a:srgbClr val="1C27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7" name="Picture 46" descr="A blue circle with a yellow and white bird in it&#10;&#10;AI-generated content may be incorrect.">
            <a:extLst>
              <a:ext uri="{FF2B5EF4-FFF2-40B4-BE49-F238E27FC236}">
                <a16:creationId xmlns:a16="http://schemas.microsoft.com/office/drawing/2014/main" id="{DE055D1C-49A9-0E63-71A8-286DC719D81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5438" y="219712"/>
            <a:ext cx="606500" cy="606500"/>
          </a:xfrm>
          <a:prstGeom prst="rect">
            <a:avLst/>
          </a:prstGeom>
        </p:spPr>
      </p:pic>
      <p:sp>
        <p:nvSpPr>
          <p:cNvPr id="5" name="Subtitle 2">
            <a:extLst>
              <a:ext uri="{FF2B5EF4-FFF2-40B4-BE49-F238E27FC236}">
                <a16:creationId xmlns:a16="http://schemas.microsoft.com/office/drawing/2014/main" id="{D1925E91-DAB7-035D-5BD6-D2D13144712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51353" y="1378424"/>
            <a:ext cx="10459234" cy="4429107"/>
          </a:xfrm>
        </p:spPr>
        <p:txBody>
          <a:bodyPr>
            <a:noAutofit/>
          </a:bodyPr>
          <a:lstStyle/>
          <a:p>
            <a:pPr algn="l">
              <a:lnSpc>
                <a:spcPct val="150000"/>
              </a:lnSpc>
              <a:spcBef>
                <a:spcPts val="1500"/>
              </a:spcBef>
            </a:pPr>
            <a:r>
              <a:rPr lang="en-US" sz="2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 </a:t>
            </a:r>
            <a:r>
              <a:rPr lang="en-KH" dirty="0"/>
              <a:t>👉 </a:t>
            </a:r>
            <a:r>
              <a:rPr lang="en-US" dirty="0" err="1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គន្លឹះ</a:t>
            </a:r>
            <a:r>
              <a:rPr lang="km-KH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នៃ</a:t>
            </a:r>
            <a:r>
              <a:rPr lang="en-US" dirty="0" err="1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ការកសាងរបស</a:t>
            </a:r>
            <a:r>
              <a:rPr lang="en-US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់</a:t>
            </a:r>
            <a:r>
              <a:rPr lang="km-KH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OOP </a:t>
            </a:r>
            <a:r>
              <a:rPr lang="km-KH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នៅក្នុង </a:t>
            </a:r>
            <a:r>
              <a:rPr lang="en-US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Java </a:t>
            </a:r>
            <a:r>
              <a:rPr lang="en-US" dirty="0" err="1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មានដូចជា</a:t>
            </a:r>
            <a:r>
              <a:rPr lang="en-US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៖ </a:t>
            </a:r>
          </a:p>
          <a:p>
            <a:pPr marL="1257300" lvl="2" indent="-342900" algn="l">
              <a:lnSpc>
                <a:spcPct val="150000"/>
              </a:lnSpc>
              <a:spcBef>
                <a:spcPts val="1500"/>
              </a:spcBef>
              <a:buFont typeface="Wingdings" pitchFamily="2" charset="2"/>
              <a:buChar char="Ø"/>
            </a:pPr>
            <a:r>
              <a:rPr lang="en-US" sz="2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Encapsulation</a:t>
            </a:r>
          </a:p>
          <a:p>
            <a:pPr marL="1257300" lvl="2" indent="-342900" algn="l">
              <a:lnSpc>
                <a:spcPct val="150000"/>
              </a:lnSpc>
              <a:spcBef>
                <a:spcPts val="1500"/>
              </a:spcBef>
              <a:buFont typeface="Wingdings" pitchFamily="2" charset="2"/>
              <a:buChar char="Ø"/>
            </a:pPr>
            <a:r>
              <a:rPr lang="en-US" sz="2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Inheritance</a:t>
            </a:r>
          </a:p>
          <a:p>
            <a:pPr marL="1257300" lvl="2" indent="-342900" algn="l">
              <a:lnSpc>
                <a:spcPct val="150000"/>
              </a:lnSpc>
              <a:spcBef>
                <a:spcPts val="1500"/>
              </a:spcBef>
              <a:buFont typeface="Wingdings" pitchFamily="2" charset="2"/>
              <a:buChar char="Ø"/>
            </a:pPr>
            <a:r>
              <a:rPr lang="en-US" sz="2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Polymorphism</a:t>
            </a:r>
          </a:p>
          <a:p>
            <a:pPr marL="1257300" lvl="2" indent="-342900" algn="l">
              <a:lnSpc>
                <a:spcPct val="150000"/>
              </a:lnSpc>
              <a:spcBef>
                <a:spcPts val="1500"/>
              </a:spcBef>
              <a:buFont typeface="Wingdings" pitchFamily="2" charset="2"/>
              <a:buChar char="Ø"/>
            </a:pPr>
            <a:r>
              <a:rPr lang="en-US" sz="2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Abstraction</a:t>
            </a:r>
          </a:p>
        </p:txBody>
      </p:sp>
    </p:spTree>
    <p:extLst>
      <p:ext uri="{BB962C8B-B14F-4D97-AF65-F5344CB8AC3E}">
        <p14:creationId xmlns:p14="http://schemas.microsoft.com/office/powerpoint/2010/main" val="275057671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2995</TotalTime>
  <Words>7945</Words>
  <Application>Microsoft Macintosh PowerPoint</Application>
  <PresentationFormat>Widescreen</PresentationFormat>
  <Paragraphs>606</Paragraphs>
  <Slides>73</Slides>
  <Notes>41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73</vt:i4>
      </vt:variant>
    </vt:vector>
  </HeadingPairs>
  <TitlesOfParts>
    <vt:vector size="81" baseType="lpstr">
      <vt:lpstr>Aptos</vt:lpstr>
      <vt:lpstr>Aptos Display</vt:lpstr>
      <vt:lpstr>Arial</vt:lpstr>
      <vt:lpstr>Kh Battambang</vt:lpstr>
      <vt:lpstr>Khmer OS Battambang</vt:lpstr>
      <vt:lpstr>Khmer OS Content</vt:lpstr>
      <vt:lpstr>Wingdings</vt:lpstr>
      <vt:lpstr>Office Theme</vt:lpstr>
      <vt:lpstr>   សម្រាប់អ្នកចាប់ផ្តើមដំបូង   </vt:lpstr>
      <vt:lpstr>មាតិកា</vt:lpstr>
      <vt:lpstr>អ្វីទៅជា Java?</vt:lpstr>
      <vt:lpstr>ប្រវត្តិនៃ Java</vt:lpstr>
      <vt:lpstr>Java Virtual Machine (JVM)</vt:lpstr>
      <vt:lpstr>Java Development Kit(JDK)</vt:lpstr>
      <vt:lpstr>Java Compiler</vt:lpstr>
      <vt:lpstr>ឧបករណ៍សម្រាប់សរសេរភាសា Java(IDE)</vt:lpstr>
      <vt:lpstr>ប្រយោគនៃភាសា Java (Java statements)</vt:lpstr>
      <vt:lpstr>ប្រភេទទិន្នន័យ (Data Type)</vt:lpstr>
      <vt:lpstr>ប្រភេទទិន្នន័យ (Data Type) (ត)</vt:lpstr>
      <vt:lpstr>ប្រភេទទិន្នន័យ (Data Type) (ត)</vt:lpstr>
      <vt:lpstr>Variable</vt:lpstr>
      <vt:lpstr>Operator</vt:lpstr>
      <vt:lpstr>Arithmetic Operators</vt:lpstr>
      <vt:lpstr>Assignment Operators</vt:lpstr>
      <vt:lpstr>Relational Operators</vt:lpstr>
      <vt:lpstr>Logical Operators</vt:lpstr>
      <vt:lpstr>Unary Operators</vt:lpstr>
      <vt:lpstr>Ternary Operator</vt:lpstr>
      <vt:lpstr>instanceof Operator</vt:lpstr>
      <vt:lpstr>Control Flow</vt:lpstr>
      <vt:lpstr>ប្រយោគបង្កើតការសម្រចចិត្ត</vt:lpstr>
      <vt:lpstr>ប្រយោគបង្កើតការសម្រចចិត្ត (ត)</vt:lpstr>
      <vt:lpstr>ប្រយោគបង្កើតការសម្រចចិត្ត (ត)</vt:lpstr>
      <vt:lpstr>ប្រយោគបង្កើតការសម្រចចិត្ត (ត)</vt:lpstr>
      <vt:lpstr>ប្រយោគរង្វិលជុំ(Loop Statements)</vt:lpstr>
      <vt:lpstr>for loop</vt:lpstr>
      <vt:lpstr>for loop(ត)</vt:lpstr>
      <vt:lpstr>for-each loop</vt:lpstr>
      <vt:lpstr>while loop</vt:lpstr>
      <vt:lpstr>do-while loop</vt:lpstr>
      <vt:lpstr>ប្រយោគផ្លោះ(Jump Statement)</vt:lpstr>
      <vt:lpstr>Exception Handling</vt:lpstr>
      <vt:lpstr>static</vt:lpstr>
      <vt:lpstr>Instance</vt:lpstr>
      <vt:lpstr>Methods និងParameters</vt:lpstr>
      <vt:lpstr>Methods និងParameters</vt:lpstr>
      <vt:lpstr>Methods និងParameters</vt:lpstr>
      <vt:lpstr>Methods និងParameters</vt:lpstr>
      <vt:lpstr>Arrays</vt:lpstr>
      <vt:lpstr>Arrays (ត)</vt:lpstr>
      <vt:lpstr>Arrays (ត)</vt:lpstr>
      <vt:lpstr>Arrays (ត)</vt:lpstr>
      <vt:lpstr>Arrays (ត)</vt:lpstr>
      <vt:lpstr>Arrays (ត)</vt:lpstr>
      <vt:lpstr>Collections</vt:lpstr>
      <vt:lpstr>Collections(ត)</vt:lpstr>
      <vt:lpstr>Collections(ត)</vt:lpstr>
      <vt:lpstr>Collections(ត)</vt:lpstr>
      <vt:lpstr>Collections(ត)</vt:lpstr>
      <vt:lpstr>Collections(ត)</vt:lpstr>
      <vt:lpstr>Collections(ត)</vt:lpstr>
      <vt:lpstr>Collections(ត)</vt:lpstr>
      <vt:lpstr>Collections(ត)</vt:lpstr>
      <vt:lpstr>Collections(ត)</vt:lpstr>
      <vt:lpstr>Collections(ត)</vt:lpstr>
      <vt:lpstr>Collections(ត)</vt:lpstr>
      <vt:lpstr>Collections(ត)</vt:lpstr>
      <vt:lpstr>Collections(ត)</vt:lpstr>
      <vt:lpstr>Collections(ត)</vt:lpstr>
      <vt:lpstr>Collections(ត)</vt:lpstr>
      <vt:lpstr>Collections(ត)</vt:lpstr>
      <vt:lpstr>Collections(ត)</vt:lpstr>
      <vt:lpstr>Collections(ត)</vt:lpstr>
      <vt:lpstr>Object-Oriented Programming (OOP)</vt:lpstr>
      <vt:lpstr>គោលគំនិតស្នូលនៃ OOP</vt:lpstr>
      <vt:lpstr>Class</vt:lpstr>
      <vt:lpstr>Object</vt:lpstr>
      <vt:lpstr>Constructors</vt:lpstr>
      <vt:lpstr>Interfaces</vt:lpstr>
      <vt:lpstr>Access Modifiers</vt:lpstr>
      <vt:lpstr>គន្លឹះនៃការករសាងរបស់ OOP(key building)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Ngoun Chheng Hy</dc:creator>
  <cp:lastModifiedBy>Ngoun Chheng Hy</cp:lastModifiedBy>
  <cp:revision>1146</cp:revision>
  <cp:lastPrinted>2026-01-11T04:09:46Z</cp:lastPrinted>
  <dcterms:created xsi:type="dcterms:W3CDTF">2026-01-06T12:55:20Z</dcterms:created>
  <dcterms:modified xsi:type="dcterms:W3CDTF">2026-02-19T07:51:16Z</dcterms:modified>
</cp:coreProperties>
</file>