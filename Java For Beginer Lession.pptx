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47"/>
  </p:notesMasterIdLst>
  <p:sldIdLst>
    <p:sldId id="257" r:id="rId2"/>
    <p:sldId id="285" r:id="rId3"/>
    <p:sldId id="256" r:id="rId4"/>
    <p:sldId id="259" r:id="rId5"/>
    <p:sldId id="258" r:id="rId6"/>
    <p:sldId id="260" r:id="rId7"/>
    <p:sldId id="278" r:id="rId8"/>
    <p:sldId id="261" r:id="rId9"/>
    <p:sldId id="262" r:id="rId10"/>
    <p:sldId id="277" r:id="rId11"/>
    <p:sldId id="263" r:id="rId12"/>
    <p:sldId id="264" r:id="rId13"/>
    <p:sldId id="265" r:id="rId14"/>
    <p:sldId id="266" r:id="rId15"/>
    <p:sldId id="279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6" r:id="rId24"/>
    <p:sldId id="274" r:id="rId25"/>
    <p:sldId id="275" r:id="rId26"/>
    <p:sldId id="280" r:id="rId27"/>
    <p:sldId id="281" r:id="rId28"/>
    <p:sldId id="282" r:id="rId29"/>
    <p:sldId id="283" r:id="rId30"/>
    <p:sldId id="286" r:id="rId31"/>
    <p:sldId id="287" r:id="rId32"/>
    <p:sldId id="288" r:id="rId33"/>
    <p:sldId id="289" r:id="rId34"/>
    <p:sldId id="290" r:id="rId35"/>
    <p:sldId id="291" r:id="rId36"/>
    <p:sldId id="292" r:id="rId37"/>
    <p:sldId id="293" r:id="rId38"/>
    <p:sldId id="294" r:id="rId39"/>
    <p:sldId id="295" r:id="rId40"/>
    <p:sldId id="296" r:id="rId41"/>
    <p:sldId id="297" r:id="rId42"/>
    <p:sldId id="298" r:id="rId43"/>
    <p:sldId id="299" r:id="rId44"/>
    <p:sldId id="300" r:id="rId45"/>
    <p:sldId id="301" r:id="rId46"/>
  </p:sldIdLst>
  <p:sldSz cx="12192000" cy="6858000"/>
  <p:notesSz cx="6858000" cy="9144000"/>
  <p:defaultTextStyle>
    <a:defPPr>
      <a:defRPr lang="en-KH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D49B06"/>
    <a:srgbClr val="1C27CF"/>
    <a:srgbClr val="FBB902"/>
    <a:srgbClr val="FF9300"/>
    <a:srgbClr val="F7D2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2884"/>
    <p:restoredTop sz="94717"/>
  </p:normalViewPr>
  <p:slideViewPr>
    <p:cSldViewPr snapToGrid="0">
      <p:cViewPr varScale="1">
        <p:scale>
          <a:sx n="107" d="100"/>
          <a:sy n="107" d="100"/>
        </p:scale>
        <p:origin x="176" y="160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notesMaster" Target="notesMasters/notesMaster1.xml"/><Relationship Id="rId50" Type="http://schemas.openxmlformats.org/officeDocument/2006/relationships/theme" Target="theme/theme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presProps" Target="presProps.xml"/><Relationship Id="rId8" Type="http://schemas.openxmlformats.org/officeDocument/2006/relationships/slide" Target="slides/slide7.xml"/><Relationship Id="rId51" Type="http://schemas.openxmlformats.org/officeDocument/2006/relationships/tableStyles" Target="tableStyles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KH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4B2FDEF-09AE-D841-82B5-B8C57D3BE67B}" type="datetimeFigureOut">
              <a:rPr lang="en-KH" smtClean="0"/>
              <a:t>26/1/26</a:t>
            </a:fld>
            <a:endParaRPr lang="en-KH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KH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KH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KH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4DABFE7-2B72-E34A-B8CF-9CC2D7D3F47E}" type="slidenum">
              <a:rPr lang="en-KH" smtClean="0"/>
              <a:t>‹#›</a:t>
            </a:fld>
            <a:endParaRPr lang="en-KH"/>
          </a:p>
        </p:txBody>
      </p:sp>
    </p:spTree>
    <p:extLst>
      <p:ext uri="{BB962C8B-B14F-4D97-AF65-F5344CB8AC3E}">
        <p14:creationId xmlns:p14="http://schemas.microsoft.com/office/powerpoint/2010/main" val="189156073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KH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4DABFE7-2B72-E34A-B8CF-9CC2D7D3F47E}" type="slidenum">
              <a:rPr lang="en-KH" smtClean="0"/>
              <a:t>1</a:t>
            </a:fld>
            <a:endParaRPr lang="en-KH"/>
          </a:p>
        </p:txBody>
      </p:sp>
    </p:spTree>
    <p:extLst>
      <p:ext uri="{BB962C8B-B14F-4D97-AF65-F5344CB8AC3E}">
        <p14:creationId xmlns:p14="http://schemas.microsoft.com/office/powerpoint/2010/main" val="714169618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KH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4DABFE7-2B72-E34A-B8CF-9CC2D7D3F47E}" type="slidenum">
              <a:rPr lang="en-KH" smtClean="0"/>
              <a:t>14</a:t>
            </a:fld>
            <a:endParaRPr lang="en-KH"/>
          </a:p>
        </p:txBody>
      </p:sp>
    </p:spTree>
    <p:extLst>
      <p:ext uri="{BB962C8B-B14F-4D97-AF65-F5344CB8AC3E}">
        <p14:creationId xmlns:p14="http://schemas.microsoft.com/office/powerpoint/2010/main" val="1550688180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KH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4DABFE7-2B72-E34A-B8CF-9CC2D7D3F47E}" type="slidenum">
              <a:rPr lang="en-KH" smtClean="0"/>
              <a:t>35</a:t>
            </a:fld>
            <a:endParaRPr lang="en-KH"/>
          </a:p>
        </p:txBody>
      </p:sp>
    </p:spTree>
    <p:extLst>
      <p:ext uri="{BB962C8B-B14F-4D97-AF65-F5344CB8AC3E}">
        <p14:creationId xmlns:p14="http://schemas.microsoft.com/office/powerpoint/2010/main" val="2114024885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5F50405-EA6E-E7C9-0FB1-BE4DD6BD77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DCE1FA3-7CE0-9711-EEE5-B7ECFB06CFB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FFBBAAE-706B-0E6C-4EC7-4E4C579A68B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KH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E00FE22-2D10-12A0-0FBF-A72BBB002A0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4DABFE7-2B72-E34A-B8CF-9CC2D7D3F47E}" type="slidenum">
              <a:rPr lang="en-KH" smtClean="0"/>
              <a:t>36</a:t>
            </a:fld>
            <a:endParaRPr lang="en-KH"/>
          </a:p>
        </p:txBody>
      </p:sp>
    </p:spTree>
    <p:extLst>
      <p:ext uri="{BB962C8B-B14F-4D97-AF65-F5344CB8AC3E}">
        <p14:creationId xmlns:p14="http://schemas.microsoft.com/office/powerpoint/2010/main" val="2428133503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FFDE283-5004-EDFE-E284-418BADCFD1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DF24B57-B88F-A610-7A8D-C70500F5FBA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5EA1662-94C7-3A95-F22F-E7689C1DC27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KH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E5ABE0E-EB76-80D7-5DAD-D73AACF8973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4DABFE7-2B72-E34A-B8CF-9CC2D7D3F47E}" type="slidenum">
              <a:rPr lang="en-KH" smtClean="0"/>
              <a:t>37</a:t>
            </a:fld>
            <a:endParaRPr lang="en-KH"/>
          </a:p>
        </p:txBody>
      </p:sp>
    </p:spTree>
    <p:extLst>
      <p:ext uri="{BB962C8B-B14F-4D97-AF65-F5344CB8AC3E}">
        <p14:creationId xmlns:p14="http://schemas.microsoft.com/office/powerpoint/2010/main" val="309202255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4D363E8-59E2-C8BB-5CA7-74DE5190532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2985A76-7024-17A8-96EE-FD0AC6C266D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7B60A10-C287-7F89-55F7-108743D8261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KH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48A6232-3E57-1C7B-15D2-27E0569F264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4DABFE7-2B72-E34A-B8CF-9CC2D7D3F47E}" type="slidenum">
              <a:rPr lang="en-KH" smtClean="0"/>
              <a:t>38</a:t>
            </a:fld>
            <a:endParaRPr lang="en-KH"/>
          </a:p>
        </p:txBody>
      </p:sp>
    </p:spTree>
    <p:extLst>
      <p:ext uri="{BB962C8B-B14F-4D97-AF65-F5344CB8AC3E}">
        <p14:creationId xmlns:p14="http://schemas.microsoft.com/office/powerpoint/2010/main" val="438321169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6FF4739-DACE-B04A-8DDA-59A86FBD81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B8D71B6-CA73-21CD-F878-519FC534045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CF047CE-1D9D-1C5D-DB8E-67DD8205D7E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KH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84CDC08-6028-E4C0-131C-C85A04C07D9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4DABFE7-2B72-E34A-B8CF-9CC2D7D3F47E}" type="slidenum">
              <a:rPr lang="en-KH" smtClean="0"/>
              <a:t>39</a:t>
            </a:fld>
            <a:endParaRPr lang="en-KH"/>
          </a:p>
        </p:txBody>
      </p:sp>
    </p:spTree>
    <p:extLst>
      <p:ext uri="{BB962C8B-B14F-4D97-AF65-F5344CB8AC3E}">
        <p14:creationId xmlns:p14="http://schemas.microsoft.com/office/powerpoint/2010/main" val="2702184970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F407BA6-33D2-0678-9B24-97F53DBCFA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C7C6A34-0BE4-679C-BCFF-D5E5D8A9688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909A8C3-51E6-9018-4B4D-F7B3812337C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KH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97BD51D-3E34-C369-6D4E-0905E484887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4DABFE7-2B72-E34A-B8CF-9CC2D7D3F47E}" type="slidenum">
              <a:rPr lang="en-KH" smtClean="0"/>
              <a:t>40</a:t>
            </a:fld>
            <a:endParaRPr lang="en-KH"/>
          </a:p>
        </p:txBody>
      </p:sp>
    </p:spTree>
    <p:extLst>
      <p:ext uri="{BB962C8B-B14F-4D97-AF65-F5344CB8AC3E}">
        <p14:creationId xmlns:p14="http://schemas.microsoft.com/office/powerpoint/2010/main" val="1779144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C6308FD-81B4-3104-8BF0-0F47DE1BD8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81E55AF-C792-996D-7026-A94AF3ED302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41B95B1-1FBD-5FBA-5022-F35048AE0D6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KH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218853D-931F-B944-1396-C65C4BC146E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4DABFE7-2B72-E34A-B8CF-9CC2D7D3F47E}" type="slidenum">
              <a:rPr lang="en-KH" smtClean="0"/>
              <a:t>41</a:t>
            </a:fld>
            <a:endParaRPr lang="en-KH"/>
          </a:p>
        </p:txBody>
      </p:sp>
    </p:spTree>
    <p:extLst>
      <p:ext uri="{BB962C8B-B14F-4D97-AF65-F5344CB8AC3E}">
        <p14:creationId xmlns:p14="http://schemas.microsoft.com/office/powerpoint/2010/main" val="691101784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A873601-A223-BAE3-6ED2-B605EDAECF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73AFCA3-60DD-09BE-EBA8-A2021E7F5EF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43E2ED4-D1C0-A138-8A7D-4C4E2646371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KH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9DDF1FD-8DB3-DDC6-E160-E123FC0AC64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4DABFE7-2B72-E34A-B8CF-9CC2D7D3F47E}" type="slidenum">
              <a:rPr lang="en-KH" smtClean="0"/>
              <a:t>42</a:t>
            </a:fld>
            <a:endParaRPr lang="en-KH"/>
          </a:p>
        </p:txBody>
      </p:sp>
    </p:spTree>
    <p:extLst>
      <p:ext uri="{BB962C8B-B14F-4D97-AF65-F5344CB8AC3E}">
        <p14:creationId xmlns:p14="http://schemas.microsoft.com/office/powerpoint/2010/main" val="558506598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1BBE7EB-43AF-C2E4-36ED-D4DC00DB6F2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C5C7A92-A94D-7CB6-4767-6A44B94B1BA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131E1AC-8E5F-BECD-91D8-ABDEBDE9994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KH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12761C0-D103-476C-545E-92355F1DF26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4DABFE7-2B72-E34A-B8CF-9CC2D7D3F47E}" type="slidenum">
              <a:rPr lang="en-KH" smtClean="0"/>
              <a:t>43</a:t>
            </a:fld>
            <a:endParaRPr lang="en-KH"/>
          </a:p>
        </p:txBody>
      </p:sp>
    </p:spTree>
    <p:extLst>
      <p:ext uri="{BB962C8B-B14F-4D97-AF65-F5344CB8AC3E}">
        <p14:creationId xmlns:p14="http://schemas.microsoft.com/office/powerpoint/2010/main" val="373906698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AD4DA4E-AC9B-6B5A-6C2E-19EDC89606E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B7521A7-6F5B-3267-4476-9A1DF6A156C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B192D46-32A6-D480-060D-78F03D364A4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KH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6E395BE-9677-4790-7858-513151E647C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4DABFE7-2B72-E34A-B8CF-9CC2D7D3F47E}" type="slidenum">
              <a:rPr lang="en-KH" smtClean="0"/>
              <a:t>44</a:t>
            </a:fld>
            <a:endParaRPr lang="en-KH"/>
          </a:p>
        </p:txBody>
      </p:sp>
    </p:spTree>
    <p:extLst>
      <p:ext uri="{BB962C8B-B14F-4D97-AF65-F5344CB8AC3E}">
        <p14:creationId xmlns:p14="http://schemas.microsoft.com/office/powerpoint/2010/main" val="3575924583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F0D41F5-4DAF-CDEB-11C2-8436EDA3E2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46D71B7-A8E8-4A3E-BBBB-02374FD058F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7546D64-630E-435F-8910-0215ACF4137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KH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720DADF-EA0E-61F6-E4B1-AB5C3E12266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4DABFE7-2B72-E34A-B8CF-9CC2D7D3F47E}" type="slidenum">
              <a:rPr lang="en-KH" smtClean="0"/>
              <a:t>45</a:t>
            </a:fld>
            <a:endParaRPr lang="en-KH"/>
          </a:p>
        </p:txBody>
      </p:sp>
    </p:spTree>
    <p:extLst>
      <p:ext uri="{BB962C8B-B14F-4D97-AF65-F5344CB8AC3E}">
        <p14:creationId xmlns:p14="http://schemas.microsoft.com/office/powerpoint/2010/main" val="354573475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7A92B20-97B0-BFE8-33A8-6ED6EF0D964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KH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3B3A344-7B9B-A86D-C38C-B6663E9ECF8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KH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685DA2D-97F9-996E-1A7F-053671A6E04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F7A51AF-933C-9446-AB7C-4A14F59AF2F3}" type="datetimeFigureOut">
              <a:rPr lang="en-KH" smtClean="0"/>
              <a:t>26/1/26</a:t>
            </a:fld>
            <a:endParaRPr lang="en-KH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3C6F87E-8ED6-2EC1-128A-C0C4AD76E4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K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5E212E0-D388-FE97-F524-B75760D440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3312EF-28A4-0246-9A95-0A9CE360A7B2}" type="slidenum">
              <a:rPr lang="en-KH" smtClean="0"/>
              <a:t>‹#›</a:t>
            </a:fld>
            <a:endParaRPr lang="en-KH"/>
          </a:p>
        </p:txBody>
      </p:sp>
    </p:spTree>
    <p:extLst>
      <p:ext uri="{BB962C8B-B14F-4D97-AF65-F5344CB8AC3E}">
        <p14:creationId xmlns:p14="http://schemas.microsoft.com/office/powerpoint/2010/main" val="378805841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8D45033-11D5-AACD-36DD-6A5A404DBF8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KH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EB0BD3A-8858-736F-BB1B-431733E4560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KH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5C0283A-9327-9628-574C-612C2DA9A6F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F7A51AF-933C-9446-AB7C-4A14F59AF2F3}" type="datetimeFigureOut">
              <a:rPr lang="en-KH" smtClean="0"/>
              <a:t>26/1/26</a:t>
            </a:fld>
            <a:endParaRPr lang="en-KH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A88B789-84FF-3F91-EF3A-357C7F57801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K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AD225E5-510D-6A0A-7044-806F896529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3312EF-28A4-0246-9A95-0A9CE360A7B2}" type="slidenum">
              <a:rPr lang="en-KH" smtClean="0"/>
              <a:t>‹#›</a:t>
            </a:fld>
            <a:endParaRPr lang="en-KH"/>
          </a:p>
        </p:txBody>
      </p:sp>
    </p:spTree>
    <p:extLst>
      <p:ext uri="{BB962C8B-B14F-4D97-AF65-F5344CB8AC3E}">
        <p14:creationId xmlns:p14="http://schemas.microsoft.com/office/powerpoint/2010/main" val="31382345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E64BF2D-27B8-22F6-E2D1-49CD6A4F3BB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KH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42890CE-1BF6-21FA-1C62-24D67E65BC7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01EF9CE-E4DB-CFAF-6B77-B78A603EED1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F7A51AF-933C-9446-AB7C-4A14F59AF2F3}" type="datetimeFigureOut">
              <a:rPr lang="en-KH" smtClean="0"/>
              <a:t>26/1/26</a:t>
            </a:fld>
            <a:endParaRPr lang="en-KH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43C8D6A-23C8-7A30-CCB1-09BD88E99F9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K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0426B7D-E582-17D8-3321-401FC4D59F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3312EF-28A4-0246-9A95-0A9CE360A7B2}" type="slidenum">
              <a:rPr lang="en-KH" smtClean="0"/>
              <a:t>‹#›</a:t>
            </a:fld>
            <a:endParaRPr lang="en-KH"/>
          </a:p>
        </p:txBody>
      </p:sp>
    </p:spTree>
    <p:extLst>
      <p:ext uri="{BB962C8B-B14F-4D97-AF65-F5344CB8AC3E}">
        <p14:creationId xmlns:p14="http://schemas.microsoft.com/office/powerpoint/2010/main" val="345737542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382CF3F-78E9-AA6D-4948-732FA9E3129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KH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58F34FD-6E08-D45D-177D-8E7E72DDF0B9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KH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54195D7-018E-6BB1-598D-AF306C25591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KH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A8468ED-74DE-9272-347C-B9F780A224B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F7A51AF-933C-9446-AB7C-4A14F59AF2F3}" type="datetimeFigureOut">
              <a:rPr lang="en-KH" smtClean="0"/>
              <a:t>26/1/26</a:t>
            </a:fld>
            <a:endParaRPr lang="en-KH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475A200-39CD-EF7E-0187-F37CCE9B26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KH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20B3CE2-5082-8512-ED0D-FC78EBB3A62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3312EF-28A4-0246-9A95-0A9CE360A7B2}" type="slidenum">
              <a:rPr lang="en-KH" smtClean="0"/>
              <a:t>‹#›</a:t>
            </a:fld>
            <a:endParaRPr lang="en-KH"/>
          </a:p>
        </p:txBody>
      </p:sp>
    </p:spTree>
    <p:extLst>
      <p:ext uri="{BB962C8B-B14F-4D97-AF65-F5344CB8AC3E}">
        <p14:creationId xmlns:p14="http://schemas.microsoft.com/office/powerpoint/2010/main" val="285026492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7EDDB90-FFDD-52A8-6C54-BFFF5C1F4B7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KH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2D170F8-EC63-79CB-4B50-05C84AEF8CF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8ED119D-A17D-777C-2944-2E0C0462DC4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KH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560A5507-9F48-BD1B-4FB6-1285A1EA7E8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6C47E10D-9A3C-D69B-E36D-3ED811FED943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KH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90E4C588-3075-74BC-0FF9-EC3F1035D96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F7A51AF-933C-9446-AB7C-4A14F59AF2F3}" type="datetimeFigureOut">
              <a:rPr lang="en-KH" smtClean="0"/>
              <a:t>26/1/26</a:t>
            </a:fld>
            <a:endParaRPr lang="en-KH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8C570D63-AE1F-50C1-5089-2BBD015D3A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KH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CAE86FB9-3142-04A9-8F46-EEE231EA62E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3312EF-28A4-0246-9A95-0A9CE360A7B2}" type="slidenum">
              <a:rPr lang="en-KH" smtClean="0"/>
              <a:t>‹#›</a:t>
            </a:fld>
            <a:endParaRPr lang="en-KH"/>
          </a:p>
        </p:txBody>
      </p:sp>
    </p:spTree>
    <p:extLst>
      <p:ext uri="{BB962C8B-B14F-4D97-AF65-F5344CB8AC3E}">
        <p14:creationId xmlns:p14="http://schemas.microsoft.com/office/powerpoint/2010/main" val="334552276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668A0DA-EF88-A891-9F84-F8396C11C38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KH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CFA44A92-6CB6-5FC8-C40A-8216978D91F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F7A51AF-933C-9446-AB7C-4A14F59AF2F3}" type="datetimeFigureOut">
              <a:rPr lang="en-KH" smtClean="0"/>
              <a:t>26/1/26</a:t>
            </a:fld>
            <a:endParaRPr lang="en-KH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BFCEEBE-3A6F-6309-B07F-8BC14F749BC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KH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A27192F-FB9E-FC80-8ACE-F2D8744246D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3312EF-28A4-0246-9A95-0A9CE360A7B2}" type="slidenum">
              <a:rPr lang="en-KH" smtClean="0"/>
              <a:t>‹#›</a:t>
            </a:fld>
            <a:endParaRPr lang="en-KH"/>
          </a:p>
        </p:txBody>
      </p:sp>
    </p:spTree>
    <p:extLst>
      <p:ext uri="{BB962C8B-B14F-4D97-AF65-F5344CB8AC3E}">
        <p14:creationId xmlns:p14="http://schemas.microsoft.com/office/powerpoint/2010/main" val="393208871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0AA8E491-E1F8-8751-8252-11FCE4A69D2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F7A51AF-933C-9446-AB7C-4A14F59AF2F3}" type="datetimeFigureOut">
              <a:rPr lang="en-KH" smtClean="0"/>
              <a:t>26/1/26</a:t>
            </a:fld>
            <a:endParaRPr lang="en-KH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F2182E04-D7B8-01A9-0FFD-03FF9F8E8DF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KH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CC2186F-9254-9D89-55D8-75C414CE86C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3312EF-28A4-0246-9A95-0A9CE360A7B2}" type="slidenum">
              <a:rPr lang="en-KH" smtClean="0"/>
              <a:t>‹#›</a:t>
            </a:fld>
            <a:endParaRPr lang="en-KH"/>
          </a:p>
        </p:txBody>
      </p:sp>
    </p:spTree>
    <p:extLst>
      <p:ext uri="{BB962C8B-B14F-4D97-AF65-F5344CB8AC3E}">
        <p14:creationId xmlns:p14="http://schemas.microsoft.com/office/powerpoint/2010/main" val="368384010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3941F4-FC4D-AD9F-340A-60400B381BE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KH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B1635C5-0D68-7984-C398-8FF9D26B2AF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KH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5A0C6B4-2BFE-AACD-3C8F-791644B46B3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0830EEE-36C9-C890-AA6E-C7D41AFFBBC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F7A51AF-933C-9446-AB7C-4A14F59AF2F3}" type="datetimeFigureOut">
              <a:rPr lang="en-KH" smtClean="0"/>
              <a:t>26/1/26</a:t>
            </a:fld>
            <a:endParaRPr lang="en-KH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2804BD5-1B0C-A6A1-CB1E-7F3088E14B8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KH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D92806C-198E-9B48-60B9-8D100B7089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3312EF-28A4-0246-9A95-0A9CE360A7B2}" type="slidenum">
              <a:rPr lang="en-KH" smtClean="0"/>
              <a:t>‹#›</a:t>
            </a:fld>
            <a:endParaRPr lang="en-KH"/>
          </a:p>
        </p:txBody>
      </p:sp>
    </p:spTree>
    <p:extLst>
      <p:ext uri="{BB962C8B-B14F-4D97-AF65-F5344CB8AC3E}">
        <p14:creationId xmlns:p14="http://schemas.microsoft.com/office/powerpoint/2010/main" val="356507983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8FD7767-5206-B51A-F11B-94BAE866EA1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KH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984E6E24-1F13-33C8-CA09-CF8C3D8FECB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KH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E9867FE-C012-5FD3-F77C-DE609CB6CDB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D0F4DA8-DA37-E3B9-C1F8-DA37D22C33F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F7A51AF-933C-9446-AB7C-4A14F59AF2F3}" type="datetimeFigureOut">
              <a:rPr lang="en-KH" smtClean="0"/>
              <a:t>26/1/26</a:t>
            </a:fld>
            <a:endParaRPr lang="en-KH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CE1ADDC-871E-7F98-022B-FE66B287B3F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KH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33DF440-5BE5-49FE-16CA-3E163353A1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3312EF-28A4-0246-9A95-0A9CE360A7B2}" type="slidenum">
              <a:rPr lang="en-KH" smtClean="0"/>
              <a:t>‹#›</a:t>
            </a:fld>
            <a:endParaRPr lang="en-KH"/>
          </a:p>
        </p:txBody>
      </p:sp>
    </p:spTree>
    <p:extLst>
      <p:ext uri="{BB962C8B-B14F-4D97-AF65-F5344CB8AC3E}">
        <p14:creationId xmlns:p14="http://schemas.microsoft.com/office/powerpoint/2010/main" val="342673539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8ECCA5-B5B9-71EF-30B5-652D0A9E85E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KH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E81F8E4-CB5E-2DAD-CDA3-7C753D96098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KH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F1DCF3F-7F37-C3FE-F2FC-DF200465AC5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F7A51AF-933C-9446-AB7C-4A14F59AF2F3}" type="datetimeFigureOut">
              <a:rPr lang="en-KH" smtClean="0"/>
              <a:t>26/1/26</a:t>
            </a:fld>
            <a:endParaRPr lang="en-KH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417EB44-3DA1-1DB8-DDBD-991061BD9F3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K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258CE1A-B5C5-A4C6-303E-54C9263D10B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3312EF-28A4-0246-9A95-0A9CE360A7B2}" type="slidenum">
              <a:rPr lang="en-KH" smtClean="0"/>
              <a:t>‹#›</a:t>
            </a:fld>
            <a:endParaRPr lang="en-KH"/>
          </a:p>
        </p:txBody>
      </p:sp>
    </p:spTree>
    <p:extLst>
      <p:ext uri="{BB962C8B-B14F-4D97-AF65-F5344CB8AC3E}">
        <p14:creationId xmlns:p14="http://schemas.microsoft.com/office/powerpoint/2010/main" val="417384281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625D7DAB-DDDE-8643-83A3-8B177C3A9E5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KH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356E13D-129B-2C77-FD05-B1BB45BD74B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KH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60D8C85-9541-9EBD-54A6-26A31FEE596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F7A51AF-933C-9446-AB7C-4A14F59AF2F3}" type="datetimeFigureOut">
              <a:rPr lang="en-KH" smtClean="0"/>
              <a:t>26/1/26</a:t>
            </a:fld>
            <a:endParaRPr lang="en-KH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B76762D-DE41-3B0D-37A5-7B3A040DC17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K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E33DBA5-5CC0-FE80-8C83-4E8C6E28FF2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3312EF-28A4-0246-9A95-0A9CE360A7B2}" type="slidenum">
              <a:rPr lang="en-KH" smtClean="0"/>
              <a:t>‹#›</a:t>
            </a:fld>
            <a:endParaRPr lang="en-KH"/>
          </a:p>
        </p:txBody>
      </p:sp>
    </p:spTree>
    <p:extLst>
      <p:ext uri="{BB962C8B-B14F-4D97-AF65-F5344CB8AC3E}">
        <p14:creationId xmlns:p14="http://schemas.microsoft.com/office/powerpoint/2010/main" val="153768499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3DB53CF3-A869-244F-3FF5-4BEF2238520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KH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3FC56A3-3D0F-1C46-F625-43A6AAF8DE3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KH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6311A31-2AC6-AC57-EDC2-D54C8048BB3C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F7A51AF-933C-9446-AB7C-4A14F59AF2F3}" type="datetimeFigureOut">
              <a:rPr lang="en-KH" smtClean="0"/>
              <a:t>26/1/26</a:t>
            </a:fld>
            <a:endParaRPr lang="en-KH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2C582D2-80F7-CCB1-8D23-DDCA04E8C10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K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96E82A1-1183-9FA9-82EB-0FC03B035B7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33312EF-28A4-0246-9A95-0A9CE360A7B2}" type="slidenum">
              <a:rPr lang="en-KH" smtClean="0"/>
              <a:t>‹#›</a:t>
            </a:fld>
            <a:endParaRPr lang="en-KH"/>
          </a:p>
        </p:txBody>
      </p:sp>
    </p:spTree>
    <p:extLst>
      <p:ext uri="{BB962C8B-B14F-4D97-AF65-F5344CB8AC3E}">
        <p14:creationId xmlns:p14="http://schemas.microsoft.com/office/powerpoint/2010/main" val="390733387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KH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hyperlink" Target="https://www.oracle.com/java/technologies/downloads/" TargetMode="Externa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hyperlink" Target="https://netbeans.apache.org/front/main/download" TargetMode="External"/><Relationship Id="rId2" Type="http://schemas.openxmlformats.org/officeDocument/2006/relationships/hyperlink" Target="https://spring.io/tools#eclipse" TargetMode="Externa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.png"/><Relationship Id="rId5" Type="http://schemas.openxmlformats.org/officeDocument/2006/relationships/hyperlink" Target="https://www.jetbrains.com/idea/download" TargetMode="External"/><Relationship Id="rId4" Type="http://schemas.openxmlformats.org/officeDocument/2006/relationships/hyperlink" Target="https://code.visualstudio.com/download" TargetMode="Externa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Java programming language - ProgKids">
            <a:extLst>
              <a:ext uri="{FF2B5EF4-FFF2-40B4-BE49-F238E27FC236}">
                <a16:creationId xmlns:a16="http://schemas.microsoft.com/office/drawing/2014/main" id="{E15B2BE2-42B3-05E4-B46E-AF9EC81B46C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96356" y="86504"/>
            <a:ext cx="6853818" cy="4283637"/>
          </a:xfrm>
          <a:prstGeom prst="rect">
            <a:avLst/>
          </a:prstGeom>
          <a:noFill/>
          <a:effectLst>
            <a:outerShdw blurRad="50800" dist="50800" dir="5400000" sx="1000" sy="1000" algn="ctr" rotWithShape="0">
              <a:srgbClr val="000000">
                <a:alpha val="43137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E6E77245-BB7E-31F8-2C0A-701588E6249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076700" y="3530601"/>
            <a:ext cx="7073900" cy="1854200"/>
          </a:xfrm>
          <a:effectLst>
            <a:outerShdw blurRad="50800" dist="50800" dir="5400000" sx="1000" sy="1000" algn="ctr" rotWithShape="0">
              <a:srgbClr val="000000">
                <a:alpha val="43137"/>
              </a:srgbClr>
            </a:outerShdw>
          </a:effectLst>
        </p:spPr>
        <p:txBody>
          <a:bodyPr>
            <a:noAutofit/>
          </a:bodyPr>
          <a:lstStyle/>
          <a:p>
            <a:pPr algn="ctr"/>
            <a:br>
              <a:rPr lang="en-KH" sz="6000" dirty="0">
                <a:solidFill>
                  <a:srgbClr val="002060"/>
                </a:solidFill>
                <a:effectLst>
                  <a:innerShdw blurRad="63500" dist="50800" dir="16200000">
                    <a:prstClr val="black">
                      <a:alpha val="50000"/>
                    </a:prstClr>
                  </a:innerShdw>
                </a:effectLst>
                <a:latin typeface="Khmer OS Battambang" panose="02000500000000020004" pitchFamily="2" charset="77"/>
                <a:cs typeface="Khmer OS Battambang" panose="02000500000000020004" pitchFamily="2" charset="77"/>
              </a:rPr>
            </a:br>
            <a:br>
              <a:rPr lang="en-KH" sz="6000" dirty="0">
                <a:solidFill>
                  <a:srgbClr val="002060"/>
                </a:solidFill>
                <a:effectLst>
                  <a:innerShdw blurRad="63500" dist="50800" dir="16200000">
                    <a:prstClr val="black">
                      <a:alpha val="50000"/>
                    </a:prstClr>
                  </a:innerShdw>
                </a:effectLst>
                <a:latin typeface="Khmer OS Battambang" panose="02000500000000020004" pitchFamily="2" charset="77"/>
                <a:cs typeface="Khmer OS Battambang" panose="02000500000000020004" pitchFamily="2" charset="77"/>
              </a:rPr>
            </a:br>
            <a:br>
              <a:rPr lang="en-KH" sz="6000" dirty="0">
                <a:ln w="0"/>
                <a:gradFill>
                  <a:gsLst>
                    <a:gs pos="0">
                      <a:schemeClr val="accent5">
                        <a:lumMod val="50000"/>
                      </a:schemeClr>
                    </a:gs>
                    <a:gs pos="50000">
                      <a:schemeClr val="accent5"/>
                    </a:gs>
                    <a:gs pos="100000">
                      <a:schemeClr val="accent5">
                        <a:lumMod val="60000"/>
                        <a:lumOff val="40000"/>
                      </a:schemeClr>
                    </a:gs>
                  </a:gsLst>
                  <a:lin ang="5400000"/>
                </a:gradFill>
                <a:effectLst>
                  <a:reflection blurRad="6350" stA="53000" endA="300" endPos="35500" dir="5400000" sy="-90000" algn="bl" rotWithShape="0"/>
                </a:effectLst>
                <a:latin typeface="Khmer OS Battambang" panose="02000500000000020004" pitchFamily="2" charset="77"/>
                <a:cs typeface="Khmer OS Battambang" panose="02000500000000020004" pitchFamily="2" charset="77"/>
              </a:rPr>
            </a:br>
            <a:r>
              <a:rPr lang="en-KH" sz="5400" dirty="0">
                <a:ln w="0"/>
                <a:gradFill>
                  <a:gsLst>
                    <a:gs pos="0">
                      <a:schemeClr val="accent5">
                        <a:lumMod val="50000"/>
                      </a:schemeClr>
                    </a:gs>
                    <a:gs pos="50000">
                      <a:schemeClr val="accent5"/>
                    </a:gs>
                    <a:gs pos="100000">
                      <a:schemeClr val="accent5">
                        <a:lumMod val="60000"/>
                        <a:lumOff val="40000"/>
                      </a:schemeClr>
                    </a:gs>
                  </a:gsLst>
                  <a:lin ang="5400000"/>
                </a:gradFill>
                <a:effectLst>
                  <a:reflection blurRad="6350" stA="53000" endA="300" endPos="35500" dir="5400000" sy="-90000" algn="bl" rotWithShape="0"/>
                </a:effectLst>
                <a:latin typeface="Khmer OS Battambang" panose="02000500000000020004" pitchFamily="2" charset="77"/>
                <a:cs typeface="Khmer OS Battambang" panose="02000500000000020004" pitchFamily="2" charset="77"/>
              </a:rPr>
              <a:t>សម្រាប់អ្នកចាប់ផ្តើមដំបូង</a:t>
            </a:r>
            <a:br>
              <a:rPr lang="en-KH" sz="60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</a:br>
            <a:br>
              <a:rPr lang="en-KH" sz="60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</a:br>
            <a:br>
              <a:rPr lang="en-KH" sz="60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</a:br>
            <a:endParaRPr lang="en-KH" sz="6000" dirty="0">
              <a:solidFill>
                <a:srgbClr val="002060"/>
              </a:solidFill>
              <a:latin typeface="Khmer OS Battambang" panose="02000500000000020004" pitchFamily="2" charset="77"/>
              <a:cs typeface="Khmer OS Battambang" panose="02000500000000020004" pitchFamily="2" charset="77"/>
            </a:endParaRPr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0EBDD3B2-F42D-358F-CBF2-3B58D1169800}"/>
              </a:ext>
            </a:extLst>
          </p:cNvPr>
          <p:cNvSpPr txBox="1">
            <a:spLocks/>
          </p:cNvSpPr>
          <p:nvPr/>
        </p:nvSpPr>
        <p:spPr>
          <a:xfrm>
            <a:off x="539750" y="5858956"/>
            <a:ext cx="4895850" cy="761999"/>
          </a:xfrm>
          <a:prstGeom prst="rect">
            <a:avLst/>
          </a:prstGeom>
          <a:effectLst>
            <a:outerShdw blurRad="50800" dist="50800" dir="5400000" sx="1000" sy="1000" algn="ctr" rotWithShape="0">
              <a:srgbClr val="000000">
                <a:alpha val="43137"/>
              </a:srgbClr>
            </a:outerShdw>
          </a:effectLst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KH" sz="2800" dirty="0">
                <a:solidFill>
                  <a:srgbClr val="002060"/>
                </a:solidFill>
                <a:effectLst>
                  <a:innerShdw blurRad="63500" dist="50800" dir="16200000">
                    <a:prstClr val="black">
                      <a:alpha val="50000"/>
                    </a:prstClr>
                  </a:innerShdw>
                </a:effectLst>
                <a:latin typeface="Khmer OS Battambang" panose="02000500000000020004" pitchFamily="2" charset="77"/>
                <a:cs typeface="Khmer OS Battambang" panose="02000500000000020004" pitchFamily="2" charset="77"/>
              </a:rPr>
              <a:t>បង្រៀនដោយ៖ លោក ងួន ឆេងហ៊ី</a:t>
            </a:r>
            <a:endParaRPr lang="en-KH" sz="2800" dirty="0">
              <a:solidFill>
                <a:srgbClr val="002060"/>
              </a:solidFill>
              <a:latin typeface="Khmer OS Battambang" panose="02000500000000020004" pitchFamily="2" charset="77"/>
              <a:cs typeface="Khmer OS Battambang" panose="02000500000000020004" pitchFamily="2" charset="77"/>
            </a:endParaRPr>
          </a:p>
        </p:txBody>
      </p:sp>
    </p:spTree>
    <p:extLst>
      <p:ext uri="{BB962C8B-B14F-4D97-AF65-F5344CB8AC3E}">
        <p14:creationId xmlns:p14="http://schemas.microsoft.com/office/powerpoint/2010/main" val="131243788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1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7" dur="2000"/>
                                        <p:tgtEl>
                                          <p:spTgt spid="10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2000"/>
                            </p:stCondLst>
                            <p:childTnLst>
                              <p:par>
                                <p:cTn id="9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1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" fill="hold">
                            <p:stCondLst>
                              <p:cond delay="2500"/>
                            </p:stCondLst>
                            <p:childTnLst>
                              <p:par>
                                <p:cTn id="15" presetID="41" presetClass="entr" presetSubtype="0" fill="hold" grpId="0" nodeType="afterEffect">
                                  <p:stCondLst>
                                    <p:cond delay="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7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50000">
                                          <p:val>
                                            <p:strVal val="#ppt_x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8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/10"/>
                                          </p:val>
                                        </p:tav>
                                        <p:tav tm="50000">
                                          <p:val>
                                            <p:strVal val="#ppt_h+.01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/10"/>
                                          </p:val>
                                        </p:tav>
                                        <p:tav tm="50000">
                                          <p:val>
                                            <p:strVal val="#ppt_w+.01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1" dur="500" tmFilter="0,0; .5, 1; 1, 1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147E3D8-2A3E-05E8-5FD6-6DB6F5BEB45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701800" y="119781"/>
            <a:ext cx="9144000" cy="789373"/>
          </a:xfrm>
        </p:spPr>
        <p:txBody>
          <a:bodyPr>
            <a:normAutofit/>
          </a:bodyPr>
          <a:lstStyle/>
          <a:p>
            <a:pPr algn="l"/>
            <a:r>
              <a:rPr lang="en-KH" sz="3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មាតិកា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2AAAA15-100F-2D87-E3A6-1E413672A8D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931938" y="1417637"/>
            <a:ext cx="10472662" cy="5125659"/>
          </a:xfrm>
        </p:spPr>
        <p:txBody>
          <a:bodyPr numCol="2">
            <a:normAutofit fontScale="70000" lnSpcReduction="20000"/>
          </a:bodyPr>
          <a:lstStyle/>
          <a:p>
            <a:pPr marL="457200" indent="-457200" algn="l">
              <a:lnSpc>
                <a:spcPct val="150000"/>
              </a:lnSpc>
              <a:buFont typeface="Wingdings" pitchFamily="2" charset="2"/>
              <a:buChar char="v"/>
            </a:pPr>
            <a:r>
              <a:rPr lang="en-KH" sz="32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លក្ខណៈទូរទៅ និងការដំឡើង JDK</a:t>
            </a:r>
          </a:p>
          <a:p>
            <a:pPr marL="457200" indent="-457200" algn="l">
              <a:lnSpc>
                <a:spcPct val="150000"/>
              </a:lnSpc>
              <a:buFont typeface="Wingdings" pitchFamily="2" charset="2"/>
              <a:buChar char="v"/>
            </a:pPr>
            <a:r>
              <a:rPr lang="en-KH" sz="32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ប្រភេទទិន្នន័យ</a:t>
            </a:r>
          </a:p>
          <a:p>
            <a:pPr marL="457200" indent="-457200" algn="l">
              <a:lnSpc>
                <a:spcPct val="150000"/>
              </a:lnSpc>
              <a:buFont typeface="Wingdings" pitchFamily="2" charset="2"/>
              <a:buChar char="v"/>
            </a:pPr>
            <a:r>
              <a:rPr lang="en-KH" sz="32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Variable</a:t>
            </a:r>
          </a:p>
          <a:p>
            <a:pPr marL="457200" indent="-457200" algn="l">
              <a:lnSpc>
                <a:spcPct val="150000"/>
              </a:lnSpc>
              <a:buFont typeface="Wingdings" pitchFamily="2" charset="2"/>
              <a:buChar char="v"/>
            </a:pPr>
            <a:r>
              <a:rPr lang="en-KH" sz="32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ប្រតិបត្តិករ (Operators)</a:t>
            </a:r>
          </a:p>
          <a:p>
            <a:pPr marL="457200" indent="-457200" algn="l">
              <a:lnSpc>
                <a:spcPct val="150000"/>
              </a:lnSpc>
              <a:buFont typeface="Wingdings" pitchFamily="2" charset="2"/>
              <a:buChar char="v"/>
            </a:pPr>
            <a:r>
              <a:rPr lang="en-KH" sz="32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Control Flow</a:t>
            </a:r>
          </a:p>
          <a:p>
            <a:pPr marL="457200" indent="-457200" algn="l">
              <a:lnSpc>
                <a:spcPct val="150000"/>
              </a:lnSpc>
              <a:buFont typeface="Wingdings" pitchFamily="2" charset="2"/>
              <a:buChar char="v"/>
            </a:pPr>
            <a:r>
              <a:rPr lang="en-KH" sz="32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Method និងParameter</a:t>
            </a:r>
          </a:p>
          <a:p>
            <a:pPr marL="457200" indent="-457200" algn="l">
              <a:lnSpc>
                <a:spcPct val="150000"/>
              </a:lnSpc>
              <a:buFont typeface="Wingdings" pitchFamily="2" charset="2"/>
              <a:buChar char="v"/>
            </a:pPr>
            <a:r>
              <a:rPr lang="en-KH" sz="32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Arrays និងមូលដ្ឋាននៃការប្រមូល</a:t>
            </a:r>
          </a:p>
          <a:p>
            <a:pPr marL="457200" indent="-457200" algn="l">
              <a:lnSpc>
                <a:spcPct val="150000"/>
              </a:lnSpc>
              <a:buFont typeface="Wingdings" pitchFamily="2" charset="2"/>
              <a:buChar char="v"/>
            </a:pPr>
            <a:r>
              <a:rPr lang="en-KH" sz="32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OOP Concepts</a:t>
            </a:r>
          </a:p>
          <a:p>
            <a:pPr marL="457200" indent="-457200" algn="l">
              <a:lnSpc>
                <a:spcPct val="150000"/>
              </a:lnSpc>
              <a:buFont typeface="Wingdings" pitchFamily="2" charset="2"/>
              <a:buChar char="v"/>
            </a:pPr>
            <a:r>
              <a:rPr lang="en-KH" sz="32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class និង object</a:t>
            </a:r>
          </a:p>
          <a:p>
            <a:pPr marL="457200" indent="-457200" algn="l">
              <a:lnSpc>
                <a:spcPct val="150000"/>
              </a:lnSpc>
              <a:buFont typeface="Wingdings" pitchFamily="2" charset="2"/>
              <a:buChar char="v"/>
            </a:pPr>
            <a:r>
              <a:rPr lang="en-KH" sz="32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Inheritance</a:t>
            </a:r>
          </a:p>
          <a:p>
            <a:pPr marL="457200" indent="-457200" algn="l">
              <a:lnSpc>
                <a:spcPct val="150000"/>
              </a:lnSpc>
              <a:buFont typeface="Wingdings" pitchFamily="2" charset="2"/>
              <a:buChar char="v"/>
            </a:pPr>
            <a:r>
              <a:rPr lang="en-KH" sz="32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Polymorphism</a:t>
            </a:r>
          </a:p>
          <a:p>
            <a:pPr marL="457200" indent="-457200" algn="l">
              <a:lnSpc>
                <a:spcPct val="150000"/>
              </a:lnSpc>
              <a:buFont typeface="Wingdings" pitchFamily="2" charset="2"/>
              <a:buChar char="v"/>
            </a:pPr>
            <a:r>
              <a:rPr lang="en-KH" sz="32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Abstraction</a:t>
            </a:r>
          </a:p>
          <a:p>
            <a:pPr marL="457200" indent="-457200" algn="l">
              <a:lnSpc>
                <a:spcPct val="150000"/>
              </a:lnSpc>
              <a:buFont typeface="Wingdings" pitchFamily="2" charset="2"/>
              <a:buChar char="v"/>
            </a:pPr>
            <a:r>
              <a:rPr lang="en-KH" sz="32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ការកាន់កាប់ Exception</a:t>
            </a:r>
          </a:p>
          <a:p>
            <a:pPr marL="457200" indent="-457200" algn="l">
              <a:lnSpc>
                <a:spcPct val="150000"/>
              </a:lnSpc>
              <a:buFont typeface="Wingdings" pitchFamily="2" charset="2"/>
              <a:buChar char="v"/>
            </a:pPr>
            <a:r>
              <a:rPr lang="en-KH" sz="32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មូលដ្ឋាននៃ I/O</a:t>
            </a:r>
          </a:p>
          <a:p>
            <a:pPr marL="457200" indent="-457200" algn="l">
              <a:lnSpc>
                <a:spcPct val="150000"/>
              </a:lnSpc>
              <a:buFont typeface="Wingdings" pitchFamily="2" charset="2"/>
              <a:buChar char="v"/>
            </a:pPr>
            <a:r>
              <a:rPr lang="en-KH" sz="32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ការណែនាំអំពី Java Package </a:t>
            </a:r>
          </a:p>
          <a:p>
            <a:pPr marL="457200" indent="-457200" algn="l">
              <a:lnSpc>
                <a:spcPct val="150000"/>
              </a:lnSpc>
              <a:buFont typeface="Wingdings" pitchFamily="2" charset="2"/>
              <a:buChar char="v"/>
            </a:pPr>
            <a:r>
              <a:rPr lang="en-KH" sz="32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ការអនុវត្តន៍ Java Project</a:t>
            </a:r>
          </a:p>
          <a:p>
            <a:pPr marL="457200" indent="-457200" algn="l">
              <a:lnSpc>
                <a:spcPct val="150000"/>
              </a:lnSpc>
              <a:buFont typeface="Wingdings" pitchFamily="2" charset="2"/>
              <a:buChar char="v"/>
            </a:pPr>
            <a:endParaRPr lang="en-KH" sz="3200" dirty="0">
              <a:solidFill>
                <a:srgbClr val="002060"/>
              </a:solidFill>
              <a:latin typeface="Khmer OS Battambang" panose="02000500000000020004" pitchFamily="2" charset="77"/>
              <a:cs typeface="Khmer OS Battambang" panose="02000500000000020004" pitchFamily="2" charset="77"/>
            </a:endParaRPr>
          </a:p>
          <a:p>
            <a:pPr marL="457200" indent="-457200" algn="l">
              <a:lnSpc>
                <a:spcPct val="150000"/>
              </a:lnSpc>
              <a:buFont typeface="Wingdings" pitchFamily="2" charset="2"/>
              <a:buChar char="v"/>
            </a:pPr>
            <a:endParaRPr lang="en-KH" sz="3200" dirty="0">
              <a:solidFill>
                <a:srgbClr val="0070C0"/>
              </a:solidFill>
              <a:latin typeface="Kh Battambang" panose="02000500000000020004" pitchFamily="2" charset="77"/>
              <a:cs typeface="Kh Battambang" panose="02000500000000020004" pitchFamily="2" charset="77"/>
            </a:endParaRP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84ED8EBF-9896-23AD-8846-2B72B1837D16}"/>
              </a:ext>
            </a:extLst>
          </p:cNvPr>
          <p:cNvCxnSpPr/>
          <p:nvPr/>
        </p:nvCxnSpPr>
        <p:spPr>
          <a:xfrm>
            <a:off x="0" y="1050468"/>
            <a:ext cx="12192000" cy="0"/>
          </a:xfrm>
          <a:prstGeom prst="line">
            <a:avLst/>
          </a:prstGeom>
          <a:ln w="57150">
            <a:solidFill>
              <a:srgbClr val="D49B0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062F01DB-C154-4658-5F7F-C4B6AD82BFD8}"/>
              </a:ext>
            </a:extLst>
          </p:cNvPr>
          <p:cNvCxnSpPr>
            <a:cxnSpLocks/>
          </p:cNvCxnSpPr>
          <p:nvPr/>
        </p:nvCxnSpPr>
        <p:spPr>
          <a:xfrm>
            <a:off x="0" y="979812"/>
            <a:ext cx="12192000" cy="0"/>
          </a:xfrm>
          <a:prstGeom prst="line">
            <a:avLst/>
          </a:prstGeom>
          <a:ln w="57150">
            <a:solidFill>
              <a:srgbClr val="1C27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7" name="Picture 46" descr="A blue circle with a yellow and white bird in it&#10;&#10;AI-generated content may be incorrect.">
            <a:extLst>
              <a:ext uri="{FF2B5EF4-FFF2-40B4-BE49-F238E27FC236}">
                <a16:creationId xmlns:a16="http://schemas.microsoft.com/office/drawing/2014/main" id="{3609D81B-335C-FBB0-B76B-6DDCD80E223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5438" y="219712"/>
            <a:ext cx="606500" cy="606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9745051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147E3D8-2A3E-05E8-5FD6-6DB6F5BEB45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701800" y="119781"/>
            <a:ext cx="9144000" cy="789373"/>
          </a:xfrm>
        </p:spPr>
        <p:txBody>
          <a:bodyPr>
            <a:normAutofit/>
          </a:bodyPr>
          <a:lstStyle/>
          <a:p>
            <a:pPr algn="l"/>
            <a:r>
              <a:rPr lang="en-KH" sz="3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អ្វីទៅជា Java?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2AAAA15-100F-2D87-E3A6-1E413672A8D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931938" y="1417638"/>
            <a:ext cx="10472662" cy="4389894"/>
          </a:xfrm>
        </p:spPr>
        <p:txBody>
          <a:bodyPr>
            <a:normAutofit fontScale="92500"/>
          </a:bodyPr>
          <a:lstStyle/>
          <a:p>
            <a:pPr algn="l"/>
            <a:endParaRPr lang="en-KH" dirty="0"/>
          </a:p>
          <a:p>
            <a:pPr algn="l">
              <a:lnSpc>
                <a:spcPct val="150000"/>
              </a:lnSpc>
            </a:pPr>
            <a:r>
              <a:rPr lang="en-KH" dirty="0"/>
              <a:t>	</a:t>
            </a:r>
            <a:r>
              <a:rPr lang="en-KH" sz="32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Java </a:t>
            </a:r>
            <a:r>
              <a:rPr lang="en-KH" sz="3200" dirty="0">
                <a:solidFill>
                  <a:srgbClr val="0070C0"/>
                </a:solidFill>
                <a:latin typeface="Kh Battambang" panose="02000500000000020004" pitchFamily="2" charset="77"/>
                <a:cs typeface="Kh Battambang" panose="02000500000000020004" pitchFamily="2" charset="77"/>
              </a:rPr>
              <a:t>គឺជាភាសាសរសេរកម្មវីធីដ៍ពេញនិយម និងតម្រង់ទិសវត្ថុ(</a:t>
            </a:r>
            <a:r>
              <a:rPr lang="en-US" sz="3200" dirty="0">
                <a:solidFill>
                  <a:srgbClr val="0070C0"/>
                </a:solidFill>
                <a:latin typeface="Kh Battambang" panose="02000500000000020004" pitchFamily="2" charset="77"/>
                <a:cs typeface="Kh Battambang" panose="02000500000000020004" pitchFamily="2" charset="77"/>
              </a:rPr>
              <a:t>Object-Oriented Programing)​ </a:t>
            </a:r>
            <a:r>
              <a:rPr lang="en-US" sz="3200" dirty="0" err="1">
                <a:solidFill>
                  <a:srgbClr val="0070C0"/>
                </a:solidFill>
                <a:latin typeface="Kh Battambang" panose="02000500000000020004" pitchFamily="2" charset="77"/>
                <a:cs typeface="Kh Battambang" panose="02000500000000020004" pitchFamily="2" charset="77"/>
              </a:rPr>
              <a:t>ដែលត្រូវបានបង្កើតឡើងដោយក្រុមហ៊ុន</a:t>
            </a:r>
            <a:r>
              <a:rPr lang="en-US" sz="3200" dirty="0">
                <a:solidFill>
                  <a:srgbClr val="0070C0"/>
                </a:solidFill>
                <a:latin typeface="Kh Battambang" panose="02000500000000020004" pitchFamily="2" charset="77"/>
                <a:cs typeface="Kh Battambang" panose="02000500000000020004" pitchFamily="2" charset="77"/>
              </a:rPr>
              <a:t> Sun Microsystems </a:t>
            </a:r>
            <a:r>
              <a:rPr lang="en-US" sz="3200" dirty="0" err="1">
                <a:solidFill>
                  <a:srgbClr val="0070C0"/>
                </a:solidFill>
                <a:latin typeface="Kh Battambang" panose="02000500000000020004" pitchFamily="2" charset="77"/>
                <a:cs typeface="Kh Battambang" panose="02000500000000020004" pitchFamily="2" charset="77"/>
              </a:rPr>
              <a:t>ដែលបច្ចុប្បន្នត្រូវបានគ្រប់គ្រងដោយក្រុមហ៊ុន</a:t>
            </a:r>
            <a:r>
              <a:rPr lang="en-US" sz="3200" dirty="0">
                <a:solidFill>
                  <a:srgbClr val="0070C0"/>
                </a:solidFill>
                <a:latin typeface="Kh Battambang" panose="02000500000000020004" pitchFamily="2" charset="77"/>
                <a:cs typeface="Kh Battambang" panose="02000500000000020004" pitchFamily="2" charset="77"/>
              </a:rPr>
              <a:t> Oracle។ </a:t>
            </a:r>
            <a:r>
              <a:rPr lang="en-US" sz="3200" dirty="0" err="1">
                <a:solidFill>
                  <a:srgbClr val="0070C0"/>
                </a:solidFill>
                <a:latin typeface="Kh Battambang" panose="02000500000000020004" pitchFamily="2" charset="77"/>
                <a:cs typeface="Kh Battambang" panose="02000500000000020004" pitchFamily="2" charset="77"/>
              </a:rPr>
              <a:t>កម្មវីធីដែលសរសេរដោយភាសា</a:t>
            </a:r>
            <a:r>
              <a:rPr lang="en-US" sz="3200" dirty="0">
                <a:solidFill>
                  <a:srgbClr val="0070C0"/>
                </a:solidFill>
                <a:latin typeface="Kh Battambang" panose="02000500000000020004" pitchFamily="2" charset="77"/>
                <a:cs typeface="Kh Battambang" panose="02000500000000020004" pitchFamily="2" charset="77"/>
              </a:rPr>
              <a:t> Java </a:t>
            </a:r>
            <a:r>
              <a:rPr lang="en-US" sz="3200" dirty="0" err="1">
                <a:solidFill>
                  <a:srgbClr val="0070C0"/>
                </a:solidFill>
                <a:latin typeface="Kh Battambang" panose="02000500000000020004" pitchFamily="2" charset="77"/>
                <a:cs typeface="Kh Battambang" panose="02000500000000020004" pitchFamily="2" charset="77"/>
              </a:rPr>
              <a:t>អាចដំណើរការលើគ្រប់ឧបករណ៍ណាដែលមាន</a:t>
            </a:r>
            <a:r>
              <a:rPr lang="en-US" sz="3200" dirty="0">
                <a:solidFill>
                  <a:srgbClr val="0070C0"/>
                </a:solidFill>
                <a:latin typeface="Kh Battambang" panose="02000500000000020004" pitchFamily="2" charset="77"/>
                <a:cs typeface="Kh Battambang" panose="02000500000000020004" pitchFamily="2" charset="77"/>
              </a:rPr>
              <a:t> Java Virtual Machine (JVM)។</a:t>
            </a:r>
            <a:endParaRPr lang="en-KH" sz="3200" dirty="0">
              <a:solidFill>
                <a:srgbClr val="0070C0"/>
              </a:solidFill>
              <a:latin typeface="Kh Battambang" panose="02000500000000020004" pitchFamily="2" charset="77"/>
              <a:cs typeface="Kh Battambang" panose="02000500000000020004" pitchFamily="2" charset="77"/>
            </a:endParaRP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84ED8EBF-9896-23AD-8846-2B72B1837D16}"/>
              </a:ext>
            </a:extLst>
          </p:cNvPr>
          <p:cNvCxnSpPr/>
          <p:nvPr/>
        </p:nvCxnSpPr>
        <p:spPr>
          <a:xfrm>
            <a:off x="0" y="1050468"/>
            <a:ext cx="12192000" cy="0"/>
          </a:xfrm>
          <a:prstGeom prst="line">
            <a:avLst/>
          </a:prstGeom>
          <a:ln w="57150">
            <a:solidFill>
              <a:srgbClr val="D49B0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062F01DB-C154-4658-5F7F-C4B6AD82BFD8}"/>
              </a:ext>
            </a:extLst>
          </p:cNvPr>
          <p:cNvCxnSpPr>
            <a:cxnSpLocks/>
          </p:cNvCxnSpPr>
          <p:nvPr/>
        </p:nvCxnSpPr>
        <p:spPr>
          <a:xfrm>
            <a:off x="0" y="979812"/>
            <a:ext cx="12192000" cy="0"/>
          </a:xfrm>
          <a:prstGeom prst="line">
            <a:avLst/>
          </a:prstGeom>
          <a:ln w="57150">
            <a:solidFill>
              <a:srgbClr val="1C27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7" name="Picture 46" descr="A blue circle with a yellow and white bird in it&#10;&#10;AI-generated content may be incorrect.">
            <a:extLst>
              <a:ext uri="{FF2B5EF4-FFF2-40B4-BE49-F238E27FC236}">
                <a16:creationId xmlns:a16="http://schemas.microsoft.com/office/drawing/2014/main" id="{3609D81B-335C-FBB0-B76B-6DDCD80E223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5438" y="219712"/>
            <a:ext cx="606500" cy="606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704107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C3E2073-4B55-5AB1-4A05-4BFA987B50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CD053E6-4CA8-AD7E-AC0C-3B2CE38F9C8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701800" y="119781"/>
            <a:ext cx="9144000" cy="789373"/>
          </a:xfrm>
        </p:spPr>
        <p:txBody>
          <a:bodyPr>
            <a:normAutofit/>
          </a:bodyPr>
          <a:lstStyle/>
          <a:p>
            <a:pPr algn="l"/>
            <a:r>
              <a:rPr lang="en-KH" sz="3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ប្រវត្តិនៃ Java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CB93D69-B108-5836-CD61-38CCB64F06E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931938" y="1195957"/>
            <a:ext cx="10472662" cy="5320581"/>
          </a:xfrm>
        </p:spPr>
        <p:txBody>
          <a:bodyPr>
            <a:normAutofit fontScale="32500" lnSpcReduction="20000"/>
          </a:bodyPr>
          <a:lstStyle/>
          <a:p>
            <a:pPr algn="l">
              <a:lnSpc>
                <a:spcPct val="150000"/>
              </a:lnSpc>
            </a:pPr>
            <a:r>
              <a:rPr lang="en-KH" sz="32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    </a:t>
            </a:r>
            <a:r>
              <a:rPr lang="en-KH" sz="44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</a:t>
            </a:r>
            <a:r>
              <a:rPr lang="en-KH" sz="74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Java </a:t>
            </a:r>
            <a:r>
              <a:rPr lang="en-KH" sz="74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ត្រូវាបានអភិវឌ្ឍជាភាសាថ្មីមួយ(ផ្អែកលើ C++) ចាប់ពីឆ្នាំ 1991 ដល់ 1994 ​ដោយលោក </a:t>
            </a:r>
            <a:r>
              <a:rPr lang="en-US" sz="74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James Gosling​, </a:t>
            </a:r>
            <a:r>
              <a:rPr lang="en-US" sz="74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លោក</a:t>
            </a:r>
            <a:r>
              <a:rPr lang="en-US" sz="74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Mike Sheridan </a:t>
            </a:r>
            <a:r>
              <a:rPr lang="en-US" sz="74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និងលោក</a:t>
            </a:r>
            <a:r>
              <a:rPr lang="en-US" sz="74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Patrick Naughton និងដាក់ឲ្យប្រើប្រាស់ជាផ្លូវការនៅឆ្នាំ1995។</a:t>
            </a:r>
            <a:br>
              <a:rPr lang="en-US" sz="74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</a:br>
            <a:r>
              <a:rPr lang="en-US" sz="74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    Sun Microsystems </a:t>
            </a:r>
            <a:r>
              <a:rPr lang="en-US" sz="74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បានដាក់ឲ្យប្រើប្រាស់ជាផ្លូវការនូវ</a:t>
            </a:r>
            <a:r>
              <a:rPr lang="en-US" sz="74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 Java 1.0 </a:t>
            </a:r>
            <a:r>
              <a:rPr lang="en-US" sz="74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ក្នុងឆ្នាំ</a:t>
            </a:r>
            <a:r>
              <a:rPr lang="en-US" sz="74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1996 </a:t>
            </a:r>
            <a:r>
              <a:rPr lang="en-US" sz="74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ជាមួយ</a:t>
            </a:r>
            <a:r>
              <a:rPr lang="en-US" sz="74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Web Applets </a:t>
            </a:r>
            <a:r>
              <a:rPr lang="en-US" sz="74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ដែលធ្វើឲ្យ</a:t>
            </a:r>
            <a:r>
              <a:rPr lang="en-US" sz="74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Java </a:t>
            </a:r>
            <a:r>
              <a:rPr lang="en-US" sz="74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កាន់តែមានភាពពេញនិយមសម្រាប</a:t>
            </a:r>
            <a:r>
              <a:rPr lang="en-US" sz="74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់ Dynamic Web Content។ </a:t>
            </a:r>
            <a:r>
              <a:rPr lang="en-US" sz="74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ក្រោយមកទៀត</a:t>
            </a:r>
            <a:r>
              <a:rPr lang="en-US" sz="74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Java 2(J2SE 1.2) </a:t>
            </a:r>
            <a:r>
              <a:rPr lang="en-US" sz="74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ដែលមាន</a:t>
            </a:r>
            <a:r>
              <a:rPr lang="en-US" sz="74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J2EE </a:t>
            </a:r>
            <a:r>
              <a:rPr lang="en-US" sz="74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សម្រាប់សហគ្រាស</a:t>
            </a:r>
            <a:r>
              <a:rPr lang="en-US" sz="74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</a:t>
            </a:r>
            <a:r>
              <a:rPr lang="en-US" sz="74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និង</a:t>
            </a:r>
            <a:r>
              <a:rPr lang="en-US" sz="74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J2ME </a:t>
            </a:r>
            <a:r>
              <a:rPr lang="en-US" sz="74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សម្រាប</a:t>
            </a:r>
            <a:r>
              <a:rPr lang="en-US" sz="74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់ Mobile </a:t>
            </a:r>
            <a:r>
              <a:rPr lang="en-US" sz="74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ត្រូវបានដាក់ឲ្យប្រើប្រាស់ជាផ្លូវការនៅឆ្នាំ</a:t>
            </a:r>
            <a:r>
              <a:rPr lang="en-US" sz="74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1998 </a:t>
            </a:r>
            <a:r>
              <a:rPr lang="en-US" sz="74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និង</a:t>
            </a:r>
            <a:r>
              <a:rPr lang="en-US" sz="74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1999។ </a:t>
            </a:r>
            <a:r>
              <a:rPr lang="en-US" sz="74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បន្ទាប់មក</a:t>
            </a:r>
            <a:r>
              <a:rPr lang="en-US" sz="74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</a:t>
            </a:r>
            <a:r>
              <a:rPr lang="en-KH" sz="74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Core JVM ត្រូវបាន Sun ដាក់ឲ្យប្រើប្រាស់ជា          open-source នៅឆ្នាំ 2006។ </a:t>
            </a:r>
            <a:br>
              <a:rPr lang="en-KH" sz="74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</a:br>
            <a:r>
              <a:rPr lang="en-KH" sz="74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    Oracle </a:t>
            </a:r>
            <a:r>
              <a:rPr lang="en-KH" sz="74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ទទួលបាន </a:t>
            </a:r>
            <a:r>
              <a:rPr lang="en-US" sz="74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Sun Microsystems</a:t>
            </a:r>
            <a:r>
              <a:rPr lang="en-KH" sz="74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នៅឆ្នាំ 2010 និងធ្វើការអភិវឌ្ឍបន្តរហូតមកដល់សព្វថ្ងៃ។</a:t>
            </a: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37214E84-2D5A-6F5E-323D-C9F0C90D3114}"/>
              </a:ext>
            </a:extLst>
          </p:cNvPr>
          <p:cNvCxnSpPr/>
          <p:nvPr/>
        </p:nvCxnSpPr>
        <p:spPr>
          <a:xfrm>
            <a:off x="0" y="1050468"/>
            <a:ext cx="12192000" cy="0"/>
          </a:xfrm>
          <a:prstGeom prst="line">
            <a:avLst/>
          </a:prstGeom>
          <a:ln w="57150">
            <a:solidFill>
              <a:srgbClr val="D49B0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4001CFDD-0ABE-8639-99B6-F95E039B4B82}"/>
              </a:ext>
            </a:extLst>
          </p:cNvPr>
          <p:cNvCxnSpPr>
            <a:cxnSpLocks/>
          </p:cNvCxnSpPr>
          <p:nvPr/>
        </p:nvCxnSpPr>
        <p:spPr>
          <a:xfrm>
            <a:off x="0" y="979812"/>
            <a:ext cx="12192000" cy="0"/>
          </a:xfrm>
          <a:prstGeom prst="line">
            <a:avLst/>
          </a:prstGeom>
          <a:ln w="57150">
            <a:solidFill>
              <a:srgbClr val="1C27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7" name="Picture 46" descr="A blue circle with a yellow and white bird in it&#10;&#10;AI-generated content may be incorrect.">
            <a:extLst>
              <a:ext uri="{FF2B5EF4-FFF2-40B4-BE49-F238E27FC236}">
                <a16:creationId xmlns:a16="http://schemas.microsoft.com/office/drawing/2014/main" id="{59A56B10-D991-86D0-48A8-19105FF7773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5438" y="219712"/>
            <a:ext cx="606500" cy="606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2930177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" presetClass="entr" presetSubtype="1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heckerboard(across)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79970FC-2686-5948-92DD-9BA217F1288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8F2CCB-F663-B3FD-0118-5471DF0336D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701800" y="119781"/>
            <a:ext cx="9144000" cy="789373"/>
          </a:xfrm>
        </p:spPr>
        <p:txBody>
          <a:bodyPr>
            <a:normAutofit/>
          </a:bodyPr>
          <a:lstStyle/>
          <a:p>
            <a:pPr algn="l"/>
            <a:r>
              <a:rPr lang="en-US" sz="3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Java Virtual Machine (JVM)</a:t>
            </a:r>
            <a:endParaRPr lang="en-KH" sz="3600" dirty="0">
              <a:solidFill>
                <a:srgbClr val="002060"/>
              </a:solidFill>
              <a:latin typeface="Khmer OS Battambang" panose="02000500000000020004" pitchFamily="2" charset="77"/>
              <a:cs typeface="Khmer OS Battambang" panose="02000500000000020004" pitchFamily="2" charset="77"/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D6DD334-F88C-C46A-BF62-4993741289E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931938" y="1417638"/>
            <a:ext cx="10472662" cy="4389894"/>
          </a:xfrm>
        </p:spPr>
        <p:txBody>
          <a:bodyPr>
            <a:normAutofit/>
          </a:bodyPr>
          <a:lstStyle/>
          <a:p>
            <a:pPr algn="l"/>
            <a:endParaRPr lang="en-KH" dirty="0"/>
          </a:p>
          <a:p>
            <a:pPr algn="l">
              <a:lnSpc>
                <a:spcPct val="150000"/>
              </a:lnSpc>
            </a:pPr>
            <a:r>
              <a:rPr lang="en-KH" dirty="0"/>
              <a:t>	</a:t>
            </a:r>
            <a:r>
              <a:rPr lang="en-US" sz="32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Java Virtual Machine</a:t>
            </a:r>
            <a:r>
              <a:rPr lang="en-KH" sz="32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</a:t>
            </a:r>
            <a:r>
              <a:rPr lang="en-KH" sz="32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គឺជាម៉ាស៊ីននិម្មិតដែលបើកប្រតិបត្តិការនៃ Java bytecode។</a:t>
            </a: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E8301863-0496-1ED0-C49B-37DA6F1C8D28}"/>
              </a:ext>
            </a:extLst>
          </p:cNvPr>
          <p:cNvCxnSpPr/>
          <p:nvPr/>
        </p:nvCxnSpPr>
        <p:spPr>
          <a:xfrm>
            <a:off x="0" y="1050468"/>
            <a:ext cx="12192000" cy="0"/>
          </a:xfrm>
          <a:prstGeom prst="line">
            <a:avLst/>
          </a:prstGeom>
          <a:ln w="57150">
            <a:solidFill>
              <a:srgbClr val="D49B0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3A8143A4-7B3D-B78B-F996-3E97CC2772A6}"/>
              </a:ext>
            </a:extLst>
          </p:cNvPr>
          <p:cNvCxnSpPr>
            <a:cxnSpLocks/>
          </p:cNvCxnSpPr>
          <p:nvPr/>
        </p:nvCxnSpPr>
        <p:spPr>
          <a:xfrm>
            <a:off x="0" y="979812"/>
            <a:ext cx="12192000" cy="0"/>
          </a:xfrm>
          <a:prstGeom prst="line">
            <a:avLst/>
          </a:prstGeom>
          <a:ln w="57150">
            <a:solidFill>
              <a:srgbClr val="1C27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7" name="Picture 46" descr="A blue circle with a yellow and white bird in it&#10;&#10;AI-generated content may be incorrect.">
            <a:extLst>
              <a:ext uri="{FF2B5EF4-FFF2-40B4-BE49-F238E27FC236}">
                <a16:creationId xmlns:a16="http://schemas.microsoft.com/office/drawing/2014/main" id="{E3E03E46-4FD8-44E6-FAE1-79578F9BC9F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5438" y="219712"/>
            <a:ext cx="606500" cy="606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708396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F92DCB6-D9F1-4FAD-25FF-81DB7D7650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43F03AD-6B62-D56F-E81C-5ED3F88800A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701800" y="119781"/>
            <a:ext cx="9144000" cy="789373"/>
          </a:xfrm>
        </p:spPr>
        <p:txBody>
          <a:bodyPr>
            <a:normAutofit/>
          </a:bodyPr>
          <a:lstStyle/>
          <a:p>
            <a:pPr algn="l"/>
            <a:r>
              <a:rPr lang="en-US" sz="3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Java Development Kit(JDK)</a:t>
            </a:r>
            <a:endParaRPr lang="en-KH" sz="3600" dirty="0">
              <a:solidFill>
                <a:srgbClr val="002060"/>
              </a:solidFill>
              <a:latin typeface="Khmer OS Battambang" panose="02000500000000020004" pitchFamily="2" charset="77"/>
              <a:cs typeface="Khmer OS Battambang" panose="02000500000000020004" pitchFamily="2" charset="77"/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840E7FA-EF96-D6C7-2EE7-AFF92DB6F25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931938" y="1417638"/>
            <a:ext cx="10472662" cy="4389894"/>
          </a:xfrm>
        </p:spPr>
        <p:txBody>
          <a:bodyPr>
            <a:normAutofit/>
          </a:bodyPr>
          <a:lstStyle/>
          <a:p>
            <a:pPr algn="l"/>
            <a:endParaRPr lang="en-KH" dirty="0"/>
          </a:p>
          <a:p>
            <a:pPr algn="l">
              <a:lnSpc>
                <a:spcPct val="150000"/>
              </a:lnSpc>
            </a:pPr>
            <a:r>
              <a:rPr lang="en-KH" dirty="0"/>
              <a:t>	</a:t>
            </a:r>
            <a:r>
              <a:rPr lang="en-US" sz="32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Java Development Kit</a:t>
            </a:r>
            <a:r>
              <a:rPr lang="en-KH" sz="32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</a:t>
            </a:r>
            <a:r>
              <a:rPr lang="en-KH" sz="32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គឺកញ្ចប់អភិវឌ្ឍន៍ Software     សម្រាប់ធ្វើការអភិវឌ្ឍកម្មវិធីនៃ Java Platform។</a:t>
            </a:r>
            <a:br>
              <a:rPr lang="en-KH" sz="32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</a:br>
            <a:br>
              <a:rPr lang="en-KH" sz="32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</a:br>
            <a:r>
              <a:rPr lang="en-US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  <a:hlinkClick r:id="rId2"/>
              </a:rPr>
              <a:t>https://www.oracle.com/java/technologies/downloads/</a:t>
            </a:r>
            <a:endParaRPr lang="en-KH" dirty="0">
              <a:solidFill>
                <a:srgbClr val="002060"/>
              </a:solidFill>
              <a:latin typeface="Khmer OS Battambang" panose="02000500000000020004" pitchFamily="2" charset="77"/>
              <a:cs typeface="Khmer OS Battambang" panose="02000500000000020004" pitchFamily="2" charset="77"/>
            </a:endParaRP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8A0096CF-C180-9609-12F9-A147ABC5056D}"/>
              </a:ext>
            </a:extLst>
          </p:cNvPr>
          <p:cNvCxnSpPr/>
          <p:nvPr/>
        </p:nvCxnSpPr>
        <p:spPr>
          <a:xfrm>
            <a:off x="0" y="1050468"/>
            <a:ext cx="12192000" cy="0"/>
          </a:xfrm>
          <a:prstGeom prst="line">
            <a:avLst/>
          </a:prstGeom>
          <a:ln w="57150">
            <a:solidFill>
              <a:srgbClr val="D49B0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520D06D9-01C3-1C77-8DB7-D6FB9E0554B1}"/>
              </a:ext>
            </a:extLst>
          </p:cNvPr>
          <p:cNvCxnSpPr>
            <a:cxnSpLocks/>
          </p:cNvCxnSpPr>
          <p:nvPr/>
        </p:nvCxnSpPr>
        <p:spPr>
          <a:xfrm>
            <a:off x="0" y="979812"/>
            <a:ext cx="12192000" cy="0"/>
          </a:xfrm>
          <a:prstGeom prst="line">
            <a:avLst/>
          </a:prstGeom>
          <a:ln w="57150">
            <a:solidFill>
              <a:srgbClr val="1C27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7" name="Picture 46" descr="A blue circle with a yellow and white bird in it&#10;&#10;AI-generated content may be incorrect.">
            <a:extLst>
              <a:ext uri="{FF2B5EF4-FFF2-40B4-BE49-F238E27FC236}">
                <a16:creationId xmlns:a16="http://schemas.microsoft.com/office/drawing/2014/main" id="{1E409CEC-9E14-AAFE-A778-FA0540CDD0F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5438" y="219712"/>
            <a:ext cx="606500" cy="606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7210039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6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" dur="58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822" tmFilter="0,0; 0.14,0.36; 0.43,0.73; 0.71,0.91; 1.0,1.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-0.25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664" tmFilter="0.0,0.0; 0.25,0.07; 0.50,0.2; 0.75,0.467; 1.0,1.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3">
                                          <p:val>
                                            <p:fltVal val="0.5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" dur="664" tmFilter="0, 0; 0.125,0.2665; 0.25,0.4; 0.375,0.465; 0.5,0.5;  0.625,0.535; 0.75,0.6; 0.875,0.7335; 1,1">
                                          <p:stCondLst>
                                            <p:cond delay="664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9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" dur="332" tmFilter="0, 0; 0.125,0.2665; 0.25,0.4; 0.375,0.465; 0.5,0.5;  0.625,0.535; 0.75,0.6; 0.875,0.7335; 1,1">
                                          <p:stCondLst>
                                            <p:cond delay="1324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27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" dur="164" tmFilter="0, 0; 0.125,0.2665; 0.25,0.4; 0.375,0.465; 0.5,0.5;  0.625,0.535; 0.75,0.6; 0.875,0.7335; 1,1">
                                          <p:stCondLst>
                                            <p:cond delay="1656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81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Scale>
                                      <p:cBhvr>
                                        <p:cTn id="13" dur="26">
                                          <p:stCondLst>
                                            <p:cond delay="65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  <p:to x="100000" y="60000"/>
                                    </p:animScale>
                                    <p:animScale>
                                      <p:cBhvr>
                                        <p:cTn id="14" dur="166" decel="50000">
                                          <p:stCondLst>
                                            <p:cond delay="676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15" dur="26">
                                          <p:stCondLst>
                                            <p:cond delay="1312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  <p:to x="100000" y="80000"/>
                                    </p:animScale>
                                    <p:animScale>
                                      <p:cBhvr>
                                        <p:cTn id="16" dur="166" decel="50000">
                                          <p:stCondLst>
                                            <p:cond delay="1338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17" dur="26">
                                          <p:stCondLst>
                                            <p:cond delay="1642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  <p:to x="100000" y="90000"/>
                                    </p:animScale>
                                    <p:animScale>
                                      <p:cBhvr>
                                        <p:cTn id="18" dur="166" decel="50000">
                                          <p:stCondLst>
                                            <p:cond delay="1668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19" dur="26">
                                          <p:stCondLst>
                                            <p:cond delay="1808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  <p:to x="100000" y="95000"/>
                                    </p:animScale>
                                    <p:animScale>
                                      <p:cBhvr>
                                        <p:cTn id="20" dur="166" decel="50000">
                                          <p:stCondLst>
                                            <p:cond delay="1834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  <p:to x="100000" y="100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E470267-BC5D-F5B7-8088-7B39986250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83D7BC-0AF3-BD90-363A-D39CCEE06E5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701800" y="119781"/>
            <a:ext cx="9144000" cy="789373"/>
          </a:xfrm>
        </p:spPr>
        <p:txBody>
          <a:bodyPr>
            <a:normAutofit/>
          </a:bodyPr>
          <a:lstStyle/>
          <a:p>
            <a:pPr algn="l"/>
            <a:r>
              <a:rPr lang="en-US" sz="3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Java Compiler</a:t>
            </a:r>
            <a:endParaRPr lang="en-KH" sz="3600" dirty="0">
              <a:solidFill>
                <a:srgbClr val="002060"/>
              </a:solidFill>
              <a:latin typeface="Khmer OS Battambang" panose="02000500000000020004" pitchFamily="2" charset="77"/>
              <a:cs typeface="Khmer OS Battambang" panose="02000500000000020004" pitchFamily="2" charset="77"/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8F406E4-2A28-3FC0-3194-2CAC9D517AD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931938" y="1200666"/>
            <a:ext cx="10472662" cy="2332945"/>
          </a:xfrm>
        </p:spPr>
        <p:txBody>
          <a:bodyPr>
            <a:normAutofit fontScale="92500" lnSpcReduction="20000"/>
          </a:bodyPr>
          <a:lstStyle/>
          <a:p>
            <a:pPr algn="l"/>
            <a:endParaRPr lang="en-KH" dirty="0"/>
          </a:p>
          <a:p>
            <a:pPr algn="l">
              <a:lnSpc>
                <a:spcPct val="150000"/>
              </a:lnSpc>
            </a:pPr>
            <a:r>
              <a:rPr lang="en-KH" sz="32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   </a:t>
            </a:r>
            <a:r>
              <a:rPr lang="en-US" sz="32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Java Compiler(</a:t>
            </a:r>
            <a:r>
              <a:rPr lang="en-US" sz="3200" dirty="0" err="1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javac</a:t>
            </a:r>
            <a:r>
              <a:rPr lang="en-US" sz="32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) </a:t>
            </a:r>
            <a:r>
              <a:rPr lang="en-KH" sz="32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គឺ</a:t>
            </a:r>
            <a:r>
              <a:rPr lang="en-US" sz="32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ជាឧបករណ៍ដែលមាននៅក្នុង</a:t>
            </a:r>
            <a:r>
              <a:rPr lang="en-US" sz="32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</a:t>
            </a:r>
            <a:r>
              <a:rPr lang="en-US" sz="32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JDK។វាមានមុខងារក្នុងការបម្លែង</a:t>
            </a:r>
            <a:r>
              <a:rPr lang="en-US" sz="32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Java code </a:t>
            </a:r>
            <a:r>
              <a:rPr lang="en-US" sz="32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ដែលមនុស្សអានបាន</a:t>
            </a:r>
            <a:r>
              <a:rPr lang="en-US" sz="32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(.java) </a:t>
            </a:r>
            <a:r>
              <a:rPr lang="en-US" sz="32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ទៅជា</a:t>
            </a:r>
            <a:r>
              <a:rPr lang="en-US" sz="32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Java bytecode (.class)។</a:t>
            </a:r>
            <a:endParaRPr lang="en-KH" dirty="0">
              <a:solidFill>
                <a:srgbClr val="0070C0"/>
              </a:solidFill>
              <a:latin typeface="Khmer OS Battambang" panose="02000500000000020004" pitchFamily="2" charset="77"/>
              <a:cs typeface="Khmer OS Battambang" panose="02000500000000020004" pitchFamily="2" charset="77"/>
            </a:endParaRP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8D678946-27DF-BB33-F5AA-19516701EDC1}"/>
              </a:ext>
            </a:extLst>
          </p:cNvPr>
          <p:cNvCxnSpPr/>
          <p:nvPr/>
        </p:nvCxnSpPr>
        <p:spPr>
          <a:xfrm>
            <a:off x="0" y="1050468"/>
            <a:ext cx="12192000" cy="0"/>
          </a:xfrm>
          <a:prstGeom prst="line">
            <a:avLst/>
          </a:prstGeom>
          <a:ln w="57150">
            <a:solidFill>
              <a:srgbClr val="D49B0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B21D83C8-8AEE-468B-F0DE-8C946E49CEFB}"/>
              </a:ext>
            </a:extLst>
          </p:cNvPr>
          <p:cNvCxnSpPr>
            <a:cxnSpLocks/>
          </p:cNvCxnSpPr>
          <p:nvPr/>
        </p:nvCxnSpPr>
        <p:spPr>
          <a:xfrm>
            <a:off x="0" y="979812"/>
            <a:ext cx="12192000" cy="0"/>
          </a:xfrm>
          <a:prstGeom prst="line">
            <a:avLst/>
          </a:prstGeom>
          <a:ln w="57150">
            <a:solidFill>
              <a:srgbClr val="1C27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7" name="Picture 46" descr="A blue circle with a yellow and white bird in it&#10;&#10;AI-generated content may be incorrect.">
            <a:extLst>
              <a:ext uri="{FF2B5EF4-FFF2-40B4-BE49-F238E27FC236}">
                <a16:creationId xmlns:a16="http://schemas.microsoft.com/office/drawing/2014/main" id="{BC44DE54-83E8-2B95-E1A5-8AED2C14288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5438" y="219712"/>
            <a:ext cx="606500" cy="606500"/>
          </a:xfrm>
          <a:prstGeom prst="rect">
            <a:avLst/>
          </a:prstGeom>
        </p:spPr>
      </p:pic>
      <p:sp>
        <p:nvSpPr>
          <p:cNvPr id="4" name="Subtitle 2">
            <a:extLst>
              <a:ext uri="{FF2B5EF4-FFF2-40B4-BE49-F238E27FC236}">
                <a16:creationId xmlns:a16="http://schemas.microsoft.com/office/drawing/2014/main" id="{4778E8FC-43F6-52F0-BF36-7C68C1CC498B}"/>
              </a:ext>
            </a:extLst>
          </p:cNvPr>
          <p:cNvSpPr txBox="1">
            <a:spLocks/>
          </p:cNvSpPr>
          <p:nvPr/>
        </p:nvSpPr>
        <p:spPr>
          <a:xfrm>
            <a:off x="1701799" y="3482335"/>
            <a:ext cx="9630531" cy="578226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>
              <a:lnSpc>
                <a:spcPct val="150000"/>
              </a:lnSpc>
            </a:pPr>
            <a:r>
              <a:rPr lang="en-US" sz="2800" dirty="0" err="1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ឧទាហរណ</a:t>
            </a:r>
            <a:r>
              <a:rPr lang="en-US" sz="28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៍៖ </a:t>
            </a:r>
            <a:r>
              <a:rPr lang="en-US" sz="2800" dirty="0" err="1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javac</a:t>
            </a:r>
            <a:r>
              <a:rPr lang="en-US" sz="28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</a:t>
            </a:r>
            <a:r>
              <a:rPr lang="en-US" sz="28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Main.java</a:t>
            </a:r>
            <a:endParaRPr lang="en-KH" sz="2800" dirty="0">
              <a:solidFill>
                <a:srgbClr val="0070C0"/>
              </a:solidFill>
              <a:latin typeface="Khmer OS Battambang" panose="02000500000000020004" pitchFamily="2" charset="77"/>
              <a:cs typeface="Khmer OS Battambang" panose="02000500000000020004" pitchFamily="2" charset="77"/>
            </a:endParaRPr>
          </a:p>
        </p:txBody>
      </p:sp>
      <p:sp>
        <p:nvSpPr>
          <p:cNvPr id="6" name="Subtitle 2">
            <a:extLst>
              <a:ext uri="{FF2B5EF4-FFF2-40B4-BE49-F238E27FC236}">
                <a16:creationId xmlns:a16="http://schemas.microsoft.com/office/drawing/2014/main" id="{0E710ACA-43C3-52A0-4043-0E5371753F24}"/>
              </a:ext>
            </a:extLst>
          </p:cNvPr>
          <p:cNvSpPr txBox="1">
            <a:spLocks/>
          </p:cNvSpPr>
          <p:nvPr/>
        </p:nvSpPr>
        <p:spPr>
          <a:xfrm>
            <a:off x="931938" y="4393385"/>
            <a:ext cx="10472662" cy="149641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>
              <a:lnSpc>
                <a:spcPct val="150000"/>
              </a:lnSpc>
            </a:pPr>
            <a:r>
              <a:rPr lang="en-KH" dirty="0"/>
              <a:t>👉 </a:t>
            </a:r>
            <a:r>
              <a:rPr lang="en-US" sz="28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ដើម្បី</a:t>
            </a:r>
            <a:r>
              <a:rPr lang="en-US" sz="28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run java bytecode(.class) </a:t>
            </a:r>
            <a:r>
              <a:rPr lang="en-US" sz="28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យើងត្រូវប្រើពាក្យបញ្ជា</a:t>
            </a:r>
            <a:r>
              <a:rPr lang="en-US" sz="28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“java”។</a:t>
            </a:r>
            <a:br>
              <a:rPr lang="en-US" sz="28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</a:br>
            <a:r>
              <a:rPr lang="en-US" sz="28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​        </a:t>
            </a:r>
            <a:r>
              <a:rPr lang="en-US" sz="2800" dirty="0" err="1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ឧទាហរណ</a:t>
            </a:r>
            <a:r>
              <a:rPr lang="en-US" sz="28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៍៖ </a:t>
            </a:r>
            <a:r>
              <a:rPr lang="en-US" sz="2800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java</a:t>
            </a:r>
            <a:r>
              <a:rPr lang="en-US" sz="28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</a:t>
            </a:r>
            <a:r>
              <a:rPr lang="en-US" sz="28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Main</a:t>
            </a:r>
            <a:endParaRPr lang="en-KH" sz="2800" dirty="0">
              <a:solidFill>
                <a:srgbClr val="0070C0"/>
              </a:solidFill>
              <a:latin typeface="Khmer OS Battambang" panose="02000500000000020004" pitchFamily="2" charset="77"/>
              <a:cs typeface="Khmer OS Battambang" panose="02000500000000020004" pitchFamily="2" charset="77"/>
            </a:endParaRPr>
          </a:p>
        </p:txBody>
      </p:sp>
    </p:spTree>
    <p:extLst>
      <p:ext uri="{BB962C8B-B14F-4D97-AF65-F5344CB8AC3E}">
        <p14:creationId xmlns:p14="http://schemas.microsoft.com/office/powerpoint/2010/main" val="154249636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8" presetClass="entr" presetSubtype="12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strips(downLeft)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1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37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8" dur="1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" dur="900" decel="100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-.03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100" accel="100000" fill="hold">
                                          <p:stCondLst>
                                            <p:cond delay="90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.0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4" grpId="0"/>
      <p:bldP spid="6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42BE615-A731-8777-9FCE-37E39787EE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8B1A286-29D9-32B1-0B71-BDF86776A6D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701800" y="119781"/>
            <a:ext cx="9144000" cy="789373"/>
          </a:xfrm>
        </p:spPr>
        <p:txBody>
          <a:bodyPr>
            <a:normAutofit/>
          </a:bodyPr>
          <a:lstStyle/>
          <a:p>
            <a:pPr algn="l"/>
            <a:r>
              <a:rPr lang="en-US" sz="3600" dirty="0" err="1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ឧបករណ៍សម្រាប់សរសេរភាសា</a:t>
            </a:r>
            <a:r>
              <a:rPr lang="en-US" sz="3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Java(IDE)</a:t>
            </a:r>
            <a:endParaRPr lang="en-KH" sz="3600" dirty="0">
              <a:solidFill>
                <a:srgbClr val="002060"/>
              </a:solidFill>
              <a:latin typeface="Khmer OS Battambang" panose="02000500000000020004" pitchFamily="2" charset="77"/>
              <a:cs typeface="Khmer OS Battambang" panose="02000500000000020004" pitchFamily="2" charset="77"/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4BB3F26-ED51-A7CE-7F26-9BA6464972E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931938" y="1417638"/>
            <a:ext cx="10472662" cy="4389894"/>
          </a:xfrm>
        </p:spPr>
        <p:txBody>
          <a:bodyPr>
            <a:normAutofit fontScale="85000" lnSpcReduction="20000"/>
          </a:bodyPr>
          <a:lstStyle/>
          <a:p>
            <a:pPr algn="l"/>
            <a:endParaRPr lang="en-KH" dirty="0"/>
          </a:p>
          <a:p>
            <a:pPr marL="342900" indent="-342900" algn="l">
              <a:lnSpc>
                <a:spcPct val="150000"/>
              </a:lnSpc>
              <a:buFontTx/>
              <a:buChar char="-"/>
            </a:pPr>
            <a:r>
              <a:rPr lang="en-US" sz="28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Command line: </a:t>
            </a:r>
            <a:r>
              <a:rPr lang="en-US" sz="28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បង្កើត</a:t>
            </a:r>
            <a:r>
              <a:rPr lang="en-US" sz="28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.java file </a:t>
            </a:r>
            <a:r>
              <a:rPr lang="en-US" sz="28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ដោយប្រើ</a:t>
            </a:r>
            <a:r>
              <a:rPr lang="en-US" sz="28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OS command =&gt; </a:t>
            </a:r>
            <a:r>
              <a:rPr lang="en-US" sz="28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javac</a:t>
            </a:r>
            <a:r>
              <a:rPr lang="en-US" sz="28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</a:t>
            </a:r>
            <a:r>
              <a:rPr lang="en-US" sz="28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Filename.java</a:t>
            </a:r>
            <a:r>
              <a:rPr lang="en-US" sz="28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=&gt; java Filename។</a:t>
            </a:r>
          </a:p>
          <a:p>
            <a:pPr marL="342900" indent="-342900" algn="l">
              <a:lnSpc>
                <a:spcPct val="150000"/>
              </a:lnSpc>
              <a:buFontTx/>
              <a:buChar char="-"/>
            </a:pPr>
            <a:r>
              <a:rPr lang="en-US" sz="28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Eclipse: </a:t>
            </a:r>
            <a:r>
              <a:rPr lang="en-US" sz="28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  <a:hlinkClick r:id="rId2"/>
              </a:rPr>
              <a:t>https://spring.io/tools - eclipse</a:t>
            </a:r>
            <a:endParaRPr lang="en-US" sz="2800" dirty="0">
              <a:solidFill>
                <a:srgbClr val="002060"/>
              </a:solidFill>
              <a:latin typeface="Khmer OS Battambang" panose="02000500000000020004" pitchFamily="2" charset="77"/>
              <a:cs typeface="Khmer OS Battambang" panose="02000500000000020004" pitchFamily="2" charset="77"/>
            </a:endParaRPr>
          </a:p>
          <a:p>
            <a:pPr marL="342900" indent="-342900" algn="l">
              <a:lnSpc>
                <a:spcPct val="150000"/>
              </a:lnSpc>
              <a:buFontTx/>
              <a:buChar char="-"/>
            </a:pPr>
            <a:r>
              <a:rPr lang="en-US" sz="28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NetBeans: </a:t>
            </a:r>
            <a:r>
              <a:rPr lang="en-US" sz="28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  <a:hlinkClick r:id="rId3"/>
              </a:rPr>
              <a:t>https://netbeans.apache.org/front/main/download</a:t>
            </a:r>
            <a:endParaRPr lang="en-US" sz="2800" dirty="0">
              <a:solidFill>
                <a:srgbClr val="002060"/>
              </a:solidFill>
              <a:latin typeface="Khmer OS Battambang" panose="02000500000000020004" pitchFamily="2" charset="77"/>
              <a:cs typeface="Khmer OS Battambang" panose="02000500000000020004" pitchFamily="2" charset="77"/>
            </a:endParaRPr>
          </a:p>
          <a:p>
            <a:pPr marL="342900" indent="-342900" algn="l">
              <a:lnSpc>
                <a:spcPct val="150000"/>
              </a:lnSpc>
              <a:buFontTx/>
              <a:buChar char="-"/>
            </a:pPr>
            <a:r>
              <a:rPr lang="en-US" sz="28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Visual Studio Code (VS Code): </a:t>
            </a:r>
            <a:r>
              <a:rPr lang="en-US" sz="28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  <a:hlinkClick r:id="rId4"/>
              </a:rPr>
              <a:t>https://code.visualstudio.com/download</a:t>
            </a:r>
            <a:endParaRPr lang="en-US" sz="2800" dirty="0">
              <a:solidFill>
                <a:srgbClr val="002060"/>
              </a:solidFill>
              <a:latin typeface="Khmer OS Battambang" panose="02000500000000020004" pitchFamily="2" charset="77"/>
              <a:cs typeface="Khmer OS Battambang" panose="02000500000000020004" pitchFamily="2" charset="77"/>
            </a:endParaRPr>
          </a:p>
          <a:p>
            <a:pPr marL="342900" indent="-342900" algn="l">
              <a:lnSpc>
                <a:spcPct val="150000"/>
              </a:lnSpc>
              <a:buFontTx/>
              <a:buChar char="-"/>
            </a:pPr>
            <a:r>
              <a:rPr lang="en-US" sz="28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IntelliJ IDEA: </a:t>
            </a:r>
            <a:r>
              <a:rPr lang="en-US" sz="28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  <a:hlinkClick r:id="rId5"/>
              </a:rPr>
              <a:t>https://www.jetbrains.com/idea/download</a:t>
            </a:r>
            <a:endParaRPr lang="en-US" sz="2800" dirty="0">
              <a:solidFill>
                <a:srgbClr val="002060"/>
              </a:solidFill>
              <a:latin typeface="Khmer OS Battambang" panose="02000500000000020004" pitchFamily="2" charset="77"/>
              <a:cs typeface="Khmer OS Battambang" panose="02000500000000020004" pitchFamily="2" charset="77"/>
            </a:endParaRPr>
          </a:p>
          <a:p>
            <a:pPr algn="l">
              <a:lnSpc>
                <a:spcPct val="150000"/>
              </a:lnSpc>
            </a:pPr>
            <a:r>
              <a:rPr lang="en-US" sz="28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…</a:t>
            </a:r>
            <a:endParaRPr lang="en-KH" sz="2800" dirty="0">
              <a:solidFill>
                <a:srgbClr val="002060"/>
              </a:solidFill>
              <a:latin typeface="Khmer OS Battambang" panose="02000500000000020004" pitchFamily="2" charset="77"/>
              <a:cs typeface="Khmer OS Battambang" panose="02000500000000020004" pitchFamily="2" charset="77"/>
            </a:endParaRP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84600895-8F39-287A-A8DF-9382D51F114A}"/>
              </a:ext>
            </a:extLst>
          </p:cNvPr>
          <p:cNvCxnSpPr/>
          <p:nvPr/>
        </p:nvCxnSpPr>
        <p:spPr>
          <a:xfrm>
            <a:off x="0" y="1050468"/>
            <a:ext cx="12192000" cy="0"/>
          </a:xfrm>
          <a:prstGeom prst="line">
            <a:avLst/>
          </a:prstGeom>
          <a:ln w="57150">
            <a:solidFill>
              <a:srgbClr val="D49B0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68020AEF-BA18-9478-D0FA-55E7EA5525AF}"/>
              </a:ext>
            </a:extLst>
          </p:cNvPr>
          <p:cNvCxnSpPr>
            <a:cxnSpLocks/>
          </p:cNvCxnSpPr>
          <p:nvPr/>
        </p:nvCxnSpPr>
        <p:spPr>
          <a:xfrm>
            <a:off x="0" y="979812"/>
            <a:ext cx="12192000" cy="0"/>
          </a:xfrm>
          <a:prstGeom prst="line">
            <a:avLst/>
          </a:prstGeom>
          <a:ln w="57150">
            <a:solidFill>
              <a:srgbClr val="1C27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7" name="Picture 46" descr="A blue circle with a yellow and white bird in it&#10;&#10;AI-generated content may be incorrect.">
            <a:extLst>
              <a:ext uri="{FF2B5EF4-FFF2-40B4-BE49-F238E27FC236}">
                <a16:creationId xmlns:a16="http://schemas.microsoft.com/office/drawing/2014/main" id="{06ADD998-39A3-093E-7875-65D68201EEBB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25438" y="219712"/>
            <a:ext cx="606500" cy="606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2476009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2DC70C4-0758-C1ED-AD3E-E9B3CA398F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6375A3-49E6-5330-B5B5-6163C17AAC8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701800" y="119781"/>
            <a:ext cx="9144000" cy="789373"/>
          </a:xfrm>
        </p:spPr>
        <p:txBody>
          <a:bodyPr>
            <a:normAutofit/>
          </a:bodyPr>
          <a:lstStyle/>
          <a:p>
            <a:pPr algn="l"/>
            <a:r>
              <a:rPr lang="en-US" sz="3600" dirty="0" err="1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ប្រយោគនៃភាសា</a:t>
            </a:r>
            <a:r>
              <a:rPr lang="en-US" sz="3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Java (Java statements)</a:t>
            </a:r>
            <a:endParaRPr lang="en-KH" sz="3600" dirty="0">
              <a:solidFill>
                <a:srgbClr val="002060"/>
              </a:solidFill>
              <a:latin typeface="Khmer OS Battambang" panose="02000500000000020004" pitchFamily="2" charset="77"/>
              <a:cs typeface="Khmer OS Battambang" panose="02000500000000020004" pitchFamily="2" charset="77"/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3B9FD26-3259-C683-4DBE-BDA87FAE5D8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24192" y="1417637"/>
            <a:ext cx="10954536" cy="4188030"/>
          </a:xfrm>
        </p:spPr>
        <p:txBody>
          <a:bodyPr>
            <a:normAutofit/>
          </a:bodyPr>
          <a:lstStyle/>
          <a:p>
            <a:pPr algn="l">
              <a:lnSpc>
                <a:spcPct val="150000"/>
              </a:lnSpc>
            </a:pPr>
            <a:r>
              <a:rPr lang="en-KH" sz="2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	</a:t>
            </a:r>
            <a:r>
              <a:rPr lang="en-KH" sz="28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ប្រយោគ (Statement) នៃភាសា Java សំដៅដល់ប្រយោគដែលសរសេរដើម្បីប្រាប់ទៅ Compiler ក្នុងការអនុវត្តនូវអ្វីមួយ ហើយប្រយោគនីមួយៗត្រូវបានខណ្ឌដោយសញ្ញា​ ”;” ។</a:t>
            </a:r>
          </a:p>
          <a:p>
            <a:pPr algn="l">
              <a:lnSpc>
                <a:spcPct val="150000"/>
              </a:lnSpc>
            </a:pPr>
            <a:r>
              <a:rPr lang="en-KH" sz="28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ឧទាហរណ៍៖ </a:t>
            </a:r>
            <a:r>
              <a:rPr lang="en-KH" sz="2800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System.out.println(“Welcome to Java Learning”);</a:t>
            </a:r>
            <a:br>
              <a:rPr lang="en-KH" sz="2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</a:br>
            <a:endParaRPr lang="en-KH" sz="2600" dirty="0">
              <a:solidFill>
                <a:srgbClr val="002060"/>
              </a:solidFill>
              <a:latin typeface="Khmer OS Battambang" panose="02000500000000020004" pitchFamily="2" charset="77"/>
              <a:cs typeface="Khmer OS Battambang" panose="02000500000000020004" pitchFamily="2" charset="77"/>
            </a:endParaRP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73ABD5D0-20BB-FC05-51D4-05DFD4160E89}"/>
              </a:ext>
            </a:extLst>
          </p:cNvPr>
          <p:cNvCxnSpPr/>
          <p:nvPr/>
        </p:nvCxnSpPr>
        <p:spPr>
          <a:xfrm>
            <a:off x="0" y="1050468"/>
            <a:ext cx="12192000" cy="0"/>
          </a:xfrm>
          <a:prstGeom prst="line">
            <a:avLst/>
          </a:prstGeom>
          <a:ln w="57150">
            <a:solidFill>
              <a:srgbClr val="D49B0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FB4109B1-51A3-89A6-0EBC-F5BC97AFE06F}"/>
              </a:ext>
            </a:extLst>
          </p:cNvPr>
          <p:cNvCxnSpPr>
            <a:cxnSpLocks/>
          </p:cNvCxnSpPr>
          <p:nvPr/>
        </p:nvCxnSpPr>
        <p:spPr>
          <a:xfrm>
            <a:off x="0" y="979812"/>
            <a:ext cx="12192000" cy="0"/>
          </a:xfrm>
          <a:prstGeom prst="line">
            <a:avLst/>
          </a:prstGeom>
          <a:ln w="57150">
            <a:solidFill>
              <a:srgbClr val="1C27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7" name="Picture 46" descr="A blue circle with a yellow and white bird in it&#10;&#10;AI-generated content may be incorrect.">
            <a:extLst>
              <a:ext uri="{FF2B5EF4-FFF2-40B4-BE49-F238E27FC236}">
                <a16:creationId xmlns:a16="http://schemas.microsoft.com/office/drawing/2014/main" id="{41CBA71E-B120-6EEF-D945-B20BBC50FE0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5438" y="219712"/>
            <a:ext cx="606500" cy="606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7486696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72D1F00-4E6D-ED97-029E-FA893F5154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092A7D4-2322-3630-5E70-631739880E1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701800" y="119781"/>
            <a:ext cx="9144000" cy="789373"/>
          </a:xfrm>
        </p:spPr>
        <p:txBody>
          <a:bodyPr>
            <a:normAutofit/>
          </a:bodyPr>
          <a:lstStyle/>
          <a:p>
            <a:pPr algn="l"/>
            <a:r>
              <a:rPr lang="en-US" sz="3600" dirty="0" err="1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ប្រភេទទិន្នន័យ</a:t>
            </a:r>
            <a:r>
              <a:rPr lang="en-US" sz="3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(Data Type)</a:t>
            </a:r>
            <a:endParaRPr lang="en-KH" sz="3600" dirty="0">
              <a:solidFill>
                <a:srgbClr val="002060"/>
              </a:solidFill>
              <a:latin typeface="Khmer OS Battambang" panose="02000500000000020004" pitchFamily="2" charset="77"/>
              <a:cs typeface="Khmer OS Battambang" panose="02000500000000020004" pitchFamily="2" charset="77"/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E3DB125-D4AE-9D32-6851-1697C760EA2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24192" y="1265233"/>
            <a:ext cx="10954536" cy="4389894"/>
          </a:xfrm>
        </p:spPr>
        <p:txBody>
          <a:bodyPr>
            <a:normAutofit/>
          </a:bodyPr>
          <a:lstStyle/>
          <a:p>
            <a:pPr algn="l"/>
            <a:r>
              <a:rPr lang="en-KH" sz="2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- ប្រភេទទិន្នន័យបឋម(</a:t>
            </a:r>
            <a:r>
              <a:rPr lang="en-US" sz="2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Primitive Data Types</a:t>
            </a:r>
            <a:r>
              <a:rPr lang="en-KH" sz="2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):</a:t>
            </a:r>
            <a:br>
              <a:rPr lang="en-KH" sz="2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</a:br>
            <a:endParaRPr lang="en-KH" sz="2600" dirty="0">
              <a:solidFill>
                <a:srgbClr val="002060"/>
              </a:solidFill>
              <a:latin typeface="Khmer OS Battambang" panose="02000500000000020004" pitchFamily="2" charset="77"/>
              <a:cs typeface="Khmer OS Battambang" panose="02000500000000020004" pitchFamily="2" charset="77"/>
            </a:endParaRP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EAEE3454-DEED-59E6-772F-7ECFC3DF378B}"/>
              </a:ext>
            </a:extLst>
          </p:cNvPr>
          <p:cNvCxnSpPr/>
          <p:nvPr/>
        </p:nvCxnSpPr>
        <p:spPr>
          <a:xfrm>
            <a:off x="0" y="1050468"/>
            <a:ext cx="12192000" cy="0"/>
          </a:xfrm>
          <a:prstGeom prst="line">
            <a:avLst/>
          </a:prstGeom>
          <a:ln w="57150">
            <a:solidFill>
              <a:srgbClr val="D49B0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71664515-6477-3CE8-871A-4A6592D6A767}"/>
              </a:ext>
            </a:extLst>
          </p:cNvPr>
          <p:cNvCxnSpPr>
            <a:cxnSpLocks/>
          </p:cNvCxnSpPr>
          <p:nvPr/>
        </p:nvCxnSpPr>
        <p:spPr>
          <a:xfrm>
            <a:off x="0" y="979812"/>
            <a:ext cx="12192000" cy="0"/>
          </a:xfrm>
          <a:prstGeom prst="line">
            <a:avLst/>
          </a:prstGeom>
          <a:ln w="57150">
            <a:solidFill>
              <a:srgbClr val="1C27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7" name="Picture 46" descr="A blue circle with a yellow and white bird in it&#10;&#10;AI-generated content may be incorrect.">
            <a:extLst>
              <a:ext uri="{FF2B5EF4-FFF2-40B4-BE49-F238E27FC236}">
                <a16:creationId xmlns:a16="http://schemas.microsoft.com/office/drawing/2014/main" id="{8C1B088F-3A97-86E8-DBD8-C38A46A3FDE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5438" y="219712"/>
            <a:ext cx="606500" cy="606500"/>
          </a:xfrm>
          <a:prstGeom prst="rect">
            <a:avLst/>
          </a:prstGeom>
        </p:spPr>
      </p:pic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099D84DA-C95B-FB22-D93C-574A9C14CAE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86060528"/>
              </p:ext>
            </p:extLst>
          </p:nvPr>
        </p:nvGraphicFramePr>
        <p:xfrm>
          <a:off x="624192" y="1730100"/>
          <a:ext cx="10954537" cy="4823123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755451">
                  <a:extLst>
                    <a:ext uri="{9D8B030D-6E8A-4147-A177-3AD203B41FA5}">
                      <a16:colId xmlns:a16="http://schemas.microsoft.com/office/drawing/2014/main" val="4047497681"/>
                    </a:ext>
                  </a:extLst>
                </a:gridCol>
                <a:gridCol w="2842352">
                  <a:extLst>
                    <a:ext uri="{9D8B030D-6E8A-4147-A177-3AD203B41FA5}">
                      <a16:colId xmlns:a16="http://schemas.microsoft.com/office/drawing/2014/main" val="821048884"/>
                    </a:ext>
                  </a:extLst>
                </a:gridCol>
                <a:gridCol w="1134738">
                  <a:extLst>
                    <a:ext uri="{9D8B030D-6E8A-4147-A177-3AD203B41FA5}">
                      <a16:colId xmlns:a16="http://schemas.microsoft.com/office/drawing/2014/main" val="1256672291"/>
                    </a:ext>
                  </a:extLst>
                </a:gridCol>
                <a:gridCol w="1244906">
                  <a:extLst>
                    <a:ext uri="{9D8B030D-6E8A-4147-A177-3AD203B41FA5}">
                      <a16:colId xmlns:a16="http://schemas.microsoft.com/office/drawing/2014/main" val="3921409523"/>
                    </a:ext>
                  </a:extLst>
                </a:gridCol>
                <a:gridCol w="3977090">
                  <a:extLst>
                    <a:ext uri="{9D8B030D-6E8A-4147-A177-3AD203B41FA5}">
                      <a16:colId xmlns:a16="http://schemas.microsoft.com/office/drawing/2014/main" val="3370400522"/>
                    </a:ext>
                  </a:extLst>
                </a:gridCol>
              </a:tblGrid>
              <a:tr h="434003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lang="en-KH" sz="2000" kern="1200" dirty="0">
                          <a:solidFill>
                            <a:srgbClr val="0070C0"/>
                          </a:solidFill>
                          <a:latin typeface="Khmer OS Battambang" panose="02000500000000020004" pitchFamily="2" charset="77"/>
                          <a:cs typeface="Khmer OS Battambang" panose="02000500000000020004" pitchFamily="2" charset="77"/>
                        </a:rPr>
                        <a:t>ប្រភេទទិន្នន័យ</a:t>
                      </a:r>
                      <a:endParaRPr lang="en-KH" sz="2000" kern="1200" dirty="0">
                        <a:solidFill>
                          <a:srgbClr val="0070C0"/>
                        </a:solidFill>
                        <a:latin typeface="Khmer OS Battambang" panose="02000500000000020004" pitchFamily="2" charset="77"/>
                        <a:ea typeface="+mn-ea"/>
                        <a:cs typeface="Khmer OS Battambang" panose="02000500000000020004" pitchFamily="2" charset="77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lang="en-KH" sz="2000" kern="1200" dirty="0">
                          <a:solidFill>
                            <a:srgbClr val="0070C0"/>
                          </a:solidFill>
                          <a:latin typeface="Khmer OS Battambang" panose="02000500000000020004" pitchFamily="2" charset="77"/>
                          <a:ea typeface="+mn-ea"/>
                          <a:cs typeface="Khmer OS Battambang" panose="02000500000000020004" pitchFamily="2" charset="77"/>
                        </a:rPr>
                        <a:t>បរិយាយ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lang="en-KH" sz="2000" kern="1200" dirty="0">
                          <a:solidFill>
                            <a:srgbClr val="0070C0"/>
                          </a:solidFill>
                          <a:latin typeface="Khmer OS Battambang" panose="02000500000000020004" pitchFamily="2" charset="77"/>
                          <a:ea typeface="+mn-ea"/>
                          <a:cs typeface="Khmer OS Battambang" panose="02000500000000020004" pitchFamily="2" charset="77"/>
                        </a:rPr>
                        <a:t>ទំហំ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lang="en-KH" sz="2000" kern="1200" dirty="0">
                          <a:solidFill>
                            <a:srgbClr val="0070C0"/>
                          </a:solidFill>
                          <a:latin typeface="Khmer OS Battambang" panose="02000500000000020004" pitchFamily="2" charset="77"/>
                          <a:ea typeface="+mn-ea"/>
                          <a:cs typeface="Khmer OS Battambang" panose="02000500000000020004" pitchFamily="2" charset="77"/>
                        </a:rPr>
                        <a:t>តម្លៃដើម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lang="en-KH" sz="2000" kern="1200" dirty="0">
                          <a:solidFill>
                            <a:srgbClr val="0070C0"/>
                          </a:solidFill>
                          <a:latin typeface="Khmer OS Battambang" panose="02000500000000020004" pitchFamily="2" charset="77"/>
                          <a:ea typeface="+mn-ea"/>
                          <a:cs typeface="Khmer OS Battambang" panose="02000500000000020004" pitchFamily="2" charset="77"/>
                        </a:rPr>
                        <a:t>ដែនកំណត់នៃតម្លៃ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9723881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/>
                      <a:r>
                        <a:rPr lang="en-US" sz="2000" kern="1200" dirty="0">
                          <a:solidFill>
                            <a:srgbClr val="D49B06"/>
                          </a:solidFill>
                          <a:latin typeface="Khmer OS Battambang" panose="02000500000000020004" pitchFamily="2" charset="77"/>
                          <a:ea typeface="+mn-ea"/>
                          <a:cs typeface="Khmer OS Battambang" panose="02000500000000020004" pitchFamily="2" charset="77"/>
                        </a:rPr>
                        <a:t>byte</a:t>
                      </a:r>
                      <a:endParaRPr lang="en-KH" sz="2000" kern="1200" dirty="0">
                        <a:solidFill>
                          <a:srgbClr val="D49B06"/>
                        </a:solidFill>
                        <a:latin typeface="Khmer OS Battambang" panose="02000500000000020004" pitchFamily="2" charset="77"/>
                        <a:ea typeface="+mn-ea"/>
                        <a:cs typeface="Khmer OS Battambang" panose="02000500000000020004" pitchFamily="2" charset="77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KH" sz="2000" kern="1200" dirty="0">
                          <a:solidFill>
                            <a:srgbClr val="7030A0"/>
                          </a:solidFill>
                          <a:latin typeface="Khmer OS Battambang" panose="02000500000000020004" pitchFamily="2" charset="77"/>
                          <a:ea typeface="+mn-ea"/>
                          <a:cs typeface="Khmer OS Battambang" panose="02000500000000020004" pitchFamily="2" charset="77"/>
                        </a:rPr>
                        <a:t>ចំនួនគត់ 8-bit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KH" sz="2000" kern="1200" dirty="0">
                          <a:solidFill>
                            <a:srgbClr val="7030A0"/>
                          </a:solidFill>
                          <a:latin typeface="Khmer OS Battambang" panose="02000500000000020004" pitchFamily="2" charset="77"/>
                          <a:ea typeface="+mn-ea"/>
                          <a:cs typeface="Khmer OS Battambang" panose="02000500000000020004" pitchFamily="2" charset="77"/>
                        </a:rPr>
                        <a:t>1 byte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KH" sz="2000" kern="1200" dirty="0">
                          <a:solidFill>
                            <a:srgbClr val="7030A0"/>
                          </a:solidFill>
                          <a:latin typeface="Khmer OS Battambang" panose="02000500000000020004" pitchFamily="2" charset="77"/>
                          <a:ea typeface="+mn-ea"/>
                          <a:cs typeface="Khmer OS Battambang" panose="02000500000000020004" pitchFamily="2" charset="77"/>
                        </a:rPr>
                        <a:t>0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KH" sz="2000" kern="1200" dirty="0">
                          <a:solidFill>
                            <a:srgbClr val="7030A0"/>
                          </a:solidFill>
                          <a:latin typeface="Khmer OS Battambang" panose="02000500000000020004" pitchFamily="2" charset="77"/>
                          <a:ea typeface="+mn-ea"/>
                          <a:cs typeface="Khmer OS Battambang" panose="02000500000000020004" pitchFamily="2" charset="77"/>
                        </a:rPr>
                        <a:t>-128 ដល់ 127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64699798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/>
                      <a:r>
                        <a:rPr lang="en-US" sz="2000" kern="1200" dirty="0">
                          <a:solidFill>
                            <a:srgbClr val="D49B06"/>
                          </a:solidFill>
                          <a:latin typeface="Khmer OS Battambang" panose="02000500000000020004" pitchFamily="2" charset="77"/>
                          <a:ea typeface="+mn-ea"/>
                          <a:cs typeface="Khmer OS Battambang" panose="02000500000000020004" pitchFamily="2" charset="77"/>
                        </a:rPr>
                        <a:t>short</a:t>
                      </a:r>
                      <a:endParaRPr lang="en-KH" sz="2000" kern="1200" dirty="0">
                        <a:solidFill>
                          <a:srgbClr val="D49B06"/>
                        </a:solidFill>
                        <a:latin typeface="Khmer OS Battambang" panose="02000500000000020004" pitchFamily="2" charset="77"/>
                        <a:ea typeface="+mn-ea"/>
                        <a:cs typeface="Khmer OS Battambang" panose="02000500000000020004" pitchFamily="2" charset="77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KH" sz="2000" kern="1200" dirty="0">
                          <a:solidFill>
                            <a:srgbClr val="7030A0"/>
                          </a:solidFill>
                          <a:latin typeface="Khmer OS Battambang" panose="02000500000000020004" pitchFamily="2" charset="77"/>
                          <a:ea typeface="+mn-ea"/>
                          <a:cs typeface="Khmer OS Battambang" panose="02000500000000020004" pitchFamily="2" charset="77"/>
                        </a:rPr>
                        <a:t>ចំនួនគត់ 16-bit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KH" sz="2000" kern="1200" dirty="0">
                          <a:solidFill>
                            <a:srgbClr val="7030A0"/>
                          </a:solidFill>
                          <a:latin typeface="Khmer OS Battambang" panose="02000500000000020004" pitchFamily="2" charset="77"/>
                          <a:ea typeface="+mn-ea"/>
                          <a:cs typeface="Khmer OS Battambang" panose="02000500000000020004" pitchFamily="2" charset="77"/>
                        </a:rPr>
                        <a:t>2 bytes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KH" sz="2000" kern="1200" dirty="0">
                          <a:solidFill>
                            <a:srgbClr val="7030A0"/>
                          </a:solidFill>
                          <a:latin typeface="Khmer OS Battambang" panose="02000500000000020004" pitchFamily="2" charset="77"/>
                          <a:ea typeface="+mn-ea"/>
                          <a:cs typeface="Khmer OS Battambang" panose="02000500000000020004" pitchFamily="2" charset="77"/>
                        </a:rPr>
                        <a:t>0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2000" kern="1200" dirty="0">
                          <a:solidFill>
                            <a:srgbClr val="7030A0"/>
                          </a:solidFill>
                          <a:latin typeface="Khmer OS Battambang" panose="02000500000000020004" pitchFamily="2" charset="77"/>
                          <a:ea typeface="+mn-ea"/>
                          <a:cs typeface="Khmer OS Battambang" panose="02000500000000020004" pitchFamily="2" charset="77"/>
                        </a:rPr>
                        <a:t>-32,768 </a:t>
                      </a:r>
                      <a:r>
                        <a:rPr lang="en-US" sz="2000" kern="1200" dirty="0" err="1">
                          <a:solidFill>
                            <a:srgbClr val="7030A0"/>
                          </a:solidFill>
                          <a:latin typeface="Khmer OS Battambang" panose="02000500000000020004" pitchFamily="2" charset="77"/>
                          <a:ea typeface="+mn-ea"/>
                          <a:cs typeface="Khmer OS Battambang" panose="02000500000000020004" pitchFamily="2" charset="77"/>
                        </a:rPr>
                        <a:t>ដល</a:t>
                      </a:r>
                      <a:r>
                        <a:rPr lang="en-US" sz="2000" kern="1200" dirty="0">
                          <a:solidFill>
                            <a:srgbClr val="7030A0"/>
                          </a:solidFill>
                          <a:latin typeface="Khmer OS Battambang" panose="02000500000000020004" pitchFamily="2" charset="77"/>
                          <a:ea typeface="+mn-ea"/>
                          <a:cs typeface="Khmer OS Battambang" panose="02000500000000020004" pitchFamily="2" charset="77"/>
                        </a:rPr>
                        <a:t>់ 32,767</a:t>
                      </a:r>
                      <a:endParaRPr lang="en-KH" sz="2000" kern="1200" dirty="0">
                        <a:solidFill>
                          <a:srgbClr val="7030A0"/>
                        </a:solidFill>
                        <a:latin typeface="Khmer OS Battambang" panose="02000500000000020004" pitchFamily="2" charset="77"/>
                        <a:ea typeface="+mn-ea"/>
                        <a:cs typeface="Khmer OS Battambang" panose="02000500000000020004" pitchFamily="2" charset="77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13500643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/>
                      <a:r>
                        <a:rPr lang="en-US" sz="2000" kern="1200" dirty="0">
                          <a:solidFill>
                            <a:srgbClr val="D49B06"/>
                          </a:solidFill>
                          <a:latin typeface="Khmer OS Battambang" panose="02000500000000020004" pitchFamily="2" charset="77"/>
                          <a:ea typeface="+mn-ea"/>
                          <a:cs typeface="Khmer OS Battambang" panose="02000500000000020004" pitchFamily="2" charset="77"/>
                        </a:rPr>
                        <a:t>int</a:t>
                      </a:r>
                      <a:endParaRPr lang="en-KH" sz="2000" kern="1200" dirty="0">
                        <a:solidFill>
                          <a:srgbClr val="D49B06"/>
                        </a:solidFill>
                        <a:latin typeface="Khmer OS Battambang" panose="02000500000000020004" pitchFamily="2" charset="77"/>
                        <a:ea typeface="+mn-ea"/>
                        <a:cs typeface="Khmer OS Battambang" panose="02000500000000020004" pitchFamily="2" charset="77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KH" sz="2000" kern="1200" dirty="0">
                          <a:solidFill>
                            <a:srgbClr val="7030A0"/>
                          </a:solidFill>
                          <a:latin typeface="Khmer OS Battambang" panose="02000500000000020004" pitchFamily="2" charset="77"/>
                          <a:ea typeface="+mn-ea"/>
                          <a:cs typeface="Khmer OS Battambang" panose="02000500000000020004" pitchFamily="2" charset="77"/>
                        </a:rPr>
                        <a:t>ចំនួនគត់ 32-bit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KH" sz="2000" kern="1200" dirty="0">
                          <a:solidFill>
                            <a:srgbClr val="7030A0"/>
                          </a:solidFill>
                          <a:latin typeface="Khmer OS Battambang" panose="02000500000000020004" pitchFamily="2" charset="77"/>
                          <a:ea typeface="+mn-ea"/>
                          <a:cs typeface="Khmer OS Battambang" panose="02000500000000020004" pitchFamily="2" charset="77"/>
                        </a:rPr>
                        <a:t>4 bytes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KH" sz="2000" kern="1200" dirty="0">
                          <a:solidFill>
                            <a:srgbClr val="7030A0"/>
                          </a:solidFill>
                          <a:latin typeface="Khmer OS Battambang" panose="02000500000000020004" pitchFamily="2" charset="77"/>
                          <a:ea typeface="+mn-ea"/>
                          <a:cs typeface="Khmer OS Battambang" panose="02000500000000020004" pitchFamily="2" charset="77"/>
                        </a:rPr>
                        <a:t>0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2000" kern="1200" dirty="0">
                          <a:solidFill>
                            <a:srgbClr val="7030A0"/>
                          </a:solidFill>
                          <a:latin typeface="Khmer OS Battambang" panose="02000500000000020004" pitchFamily="2" charset="77"/>
                          <a:ea typeface="+mn-ea"/>
                          <a:cs typeface="Khmer OS Battambang" panose="02000500000000020004" pitchFamily="2" charset="77"/>
                        </a:rPr>
                        <a:t>-2,147,483,648 </a:t>
                      </a:r>
                      <a:r>
                        <a:rPr lang="en-US" sz="2000" kern="1200" dirty="0" err="1">
                          <a:solidFill>
                            <a:srgbClr val="7030A0"/>
                          </a:solidFill>
                          <a:latin typeface="Khmer OS Battambang" panose="02000500000000020004" pitchFamily="2" charset="77"/>
                          <a:ea typeface="+mn-ea"/>
                          <a:cs typeface="Khmer OS Battambang" panose="02000500000000020004" pitchFamily="2" charset="77"/>
                        </a:rPr>
                        <a:t>ដល</a:t>
                      </a:r>
                      <a:r>
                        <a:rPr lang="en-US" sz="2000" kern="1200" dirty="0">
                          <a:solidFill>
                            <a:srgbClr val="7030A0"/>
                          </a:solidFill>
                          <a:latin typeface="Khmer OS Battambang" panose="02000500000000020004" pitchFamily="2" charset="77"/>
                          <a:ea typeface="+mn-ea"/>
                          <a:cs typeface="Khmer OS Battambang" panose="02000500000000020004" pitchFamily="2" charset="77"/>
                        </a:rPr>
                        <a:t>់ 2,147,483,647</a:t>
                      </a:r>
                      <a:endParaRPr lang="en-KH" sz="2000" kern="1200" dirty="0">
                        <a:solidFill>
                          <a:srgbClr val="7030A0"/>
                        </a:solidFill>
                        <a:latin typeface="Khmer OS Battambang" panose="02000500000000020004" pitchFamily="2" charset="77"/>
                        <a:ea typeface="+mn-ea"/>
                        <a:cs typeface="Khmer OS Battambang" panose="02000500000000020004" pitchFamily="2" charset="77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55070855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/>
                      <a:r>
                        <a:rPr lang="en-US" sz="2000" kern="1200" dirty="0">
                          <a:solidFill>
                            <a:srgbClr val="D49B06"/>
                          </a:solidFill>
                          <a:latin typeface="Khmer OS Battambang" panose="02000500000000020004" pitchFamily="2" charset="77"/>
                          <a:ea typeface="+mn-ea"/>
                          <a:cs typeface="Khmer OS Battambang" panose="02000500000000020004" pitchFamily="2" charset="77"/>
                        </a:rPr>
                        <a:t>long</a:t>
                      </a:r>
                      <a:endParaRPr lang="en-KH" sz="2000" kern="1200" dirty="0">
                        <a:solidFill>
                          <a:srgbClr val="D49B06"/>
                        </a:solidFill>
                        <a:latin typeface="Khmer OS Battambang" panose="02000500000000020004" pitchFamily="2" charset="77"/>
                        <a:ea typeface="+mn-ea"/>
                        <a:cs typeface="Khmer OS Battambang" panose="02000500000000020004" pitchFamily="2" charset="77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KH" sz="2000" kern="1200" dirty="0">
                          <a:solidFill>
                            <a:srgbClr val="7030A0"/>
                          </a:solidFill>
                          <a:latin typeface="Khmer OS Battambang" panose="02000500000000020004" pitchFamily="2" charset="77"/>
                          <a:ea typeface="+mn-ea"/>
                          <a:cs typeface="Khmer OS Battambang" panose="02000500000000020004" pitchFamily="2" charset="77"/>
                        </a:rPr>
                        <a:t>ចំនួនគត់ 64-bit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KH" sz="2000" kern="1200" dirty="0">
                          <a:solidFill>
                            <a:srgbClr val="7030A0"/>
                          </a:solidFill>
                          <a:latin typeface="Khmer OS Battambang" panose="02000500000000020004" pitchFamily="2" charset="77"/>
                          <a:ea typeface="+mn-ea"/>
                          <a:cs typeface="Khmer OS Battambang" panose="02000500000000020004" pitchFamily="2" charset="77"/>
                        </a:rPr>
                        <a:t>8 bytes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KH" sz="2000" kern="1200" dirty="0">
                          <a:solidFill>
                            <a:srgbClr val="7030A0"/>
                          </a:solidFill>
                          <a:latin typeface="Khmer OS Battambang" panose="02000500000000020004" pitchFamily="2" charset="77"/>
                          <a:ea typeface="+mn-ea"/>
                          <a:cs typeface="Khmer OS Battambang" panose="02000500000000020004" pitchFamily="2" charset="77"/>
                        </a:rPr>
                        <a:t>0L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2000" kern="1200" dirty="0">
                          <a:solidFill>
                            <a:srgbClr val="7030A0"/>
                          </a:solidFill>
                          <a:latin typeface="Khmer OS Battambang" panose="02000500000000020004" pitchFamily="2" charset="77"/>
                          <a:ea typeface="+mn-ea"/>
                          <a:cs typeface="Khmer OS Battambang" panose="02000500000000020004" pitchFamily="2" charset="77"/>
                        </a:rPr>
                        <a:t>-9,223,372,036,854,775,808 </a:t>
                      </a:r>
                      <a:r>
                        <a:rPr lang="en-US" sz="2000" kern="1200" dirty="0" err="1">
                          <a:solidFill>
                            <a:srgbClr val="7030A0"/>
                          </a:solidFill>
                          <a:latin typeface="Khmer OS Battambang" panose="02000500000000020004" pitchFamily="2" charset="77"/>
                          <a:ea typeface="+mn-ea"/>
                          <a:cs typeface="Khmer OS Battambang" panose="02000500000000020004" pitchFamily="2" charset="77"/>
                        </a:rPr>
                        <a:t>ដល</a:t>
                      </a:r>
                      <a:r>
                        <a:rPr lang="en-US" sz="2000" kern="1200" dirty="0">
                          <a:solidFill>
                            <a:srgbClr val="7030A0"/>
                          </a:solidFill>
                          <a:latin typeface="Khmer OS Battambang" panose="02000500000000020004" pitchFamily="2" charset="77"/>
                          <a:ea typeface="+mn-ea"/>
                          <a:cs typeface="Khmer OS Battambang" panose="02000500000000020004" pitchFamily="2" charset="77"/>
                        </a:rPr>
                        <a:t>់ 9,223,372,036,854,775,807</a:t>
                      </a:r>
                      <a:endParaRPr lang="en-KH" sz="2000" kern="1200" dirty="0">
                        <a:solidFill>
                          <a:srgbClr val="7030A0"/>
                        </a:solidFill>
                        <a:latin typeface="Khmer OS Battambang" panose="02000500000000020004" pitchFamily="2" charset="77"/>
                        <a:ea typeface="+mn-ea"/>
                        <a:cs typeface="Khmer OS Battambang" panose="02000500000000020004" pitchFamily="2" charset="77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31183211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/>
                      <a:r>
                        <a:rPr lang="en-US" sz="2000" kern="1200" dirty="0">
                          <a:solidFill>
                            <a:srgbClr val="D49B06"/>
                          </a:solidFill>
                          <a:latin typeface="Khmer OS Battambang" panose="02000500000000020004" pitchFamily="2" charset="77"/>
                          <a:ea typeface="+mn-ea"/>
                          <a:cs typeface="Khmer OS Battambang" panose="02000500000000020004" pitchFamily="2" charset="77"/>
                        </a:rPr>
                        <a:t>float</a:t>
                      </a:r>
                      <a:endParaRPr lang="en-KH" sz="2000" kern="1200" dirty="0">
                        <a:solidFill>
                          <a:srgbClr val="D49B06"/>
                        </a:solidFill>
                        <a:latin typeface="Khmer OS Battambang" panose="02000500000000020004" pitchFamily="2" charset="77"/>
                        <a:ea typeface="+mn-ea"/>
                        <a:cs typeface="Khmer OS Battambang" panose="02000500000000020004" pitchFamily="2" charset="77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KH" sz="2000" kern="1200" dirty="0">
                          <a:solidFill>
                            <a:srgbClr val="7030A0"/>
                          </a:solidFill>
                          <a:latin typeface="Khmer OS Battambang" panose="02000500000000020004" pitchFamily="2" charset="77"/>
                          <a:ea typeface="+mn-ea"/>
                          <a:cs typeface="Khmer OS Battambang" panose="02000500000000020004" pitchFamily="2" charset="77"/>
                        </a:rPr>
                        <a:t>ចំនួនទសភាគ </a:t>
                      </a:r>
                      <a:r>
                        <a:rPr lang="km-KH" sz="2000" kern="1200" dirty="0">
                          <a:solidFill>
                            <a:srgbClr val="7030A0"/>
                          </a:solidFill>
                          <a:latin typeface="Khmer OS Battambang" panose="02000500000000020004" pitchFamily="2" charset="77"/>
                          <a:ea typeface="+mn-ea"/>
                          <a:cs typeface="Khmer OS Battambang" panose="02000500000000020004" pitchFamily="2" charset="77"/>
                        </a:rPr>
                        <a:t>6 ទៅ</a:t>
                      </a:r>
                      <a:r>
                        <a:rPr lang="en-US" sz="2000" kern="1200" dirty="0">
                          <a:solidFill>
                            <a:srgbClr val="7030A0"/>
                          </a:solidFill>
                          <a:latin typeface="Khmer OS Battambang" panose="02000500000000020004" pitchFamily="2" charset="77"/>
                          <a:ea typeface="+mn-ea"/>
                          <a:cs typeface="Khmer OS Battambang" panose="02000500000000020004" pitchFamily="2" charset="77"/>
                        </a:rPr>
                        <a:t> </a:t>
                      </a:r>
                      <a:r>
                        <a:rPr lang="km-KH" sz="2000" kern="1200" dirty="0">
                          <a:solidFill>
                            <a:srgbClr val="7030A0"/>
                          </a:solidFill>
                          <a:latin typeface="Khmer OS Battambang" panose="02000500000000020004" pitchFamily="2" charset="77"/>
                          <a:ea typeface="+mn-ea"/>
                          <a:cs typeface="Khmer OS Battambang" panose="02000500000000020004" pitchFamily="2" charset="77"/>
                        </a:rPr>
                        <a:t>7</a:t>
                      </a:r>
                      <a:r>
                        <a:rPr lang="en-US" sz="2000" kern="1200" dirty="0">
                          <a:solidFill>
                            <a:srgbClr val="7030A0"/>
                          </a:solidFill>
                          <a:latin typeface="Khmer OS Battambang" panose="02000500000000020004" pitchFamily="2" charset="77"/>
                          <a:ea typeface="+mn-ea"/>
                          <a:cs typeface="Khmer OS Battambang" panose="02000500000000020004" pitchFamily="2" charset="77"/>
                        </a:rPr>
                        <a:t> </a:t>
                      </a:r>
                      <a:r>
                        <a:rPr lang="km-KH" sz="2000" kern="1200" dirty="0">
                          <a:solidFill>
                            <a:srgbClr val="7030A0"/>
                          </a:solidFill>
                          <a:latin typeface="Khmer OS Battambang" panose="02000500000000020004" pitchFamily="2" charset="77"/>
                          <a:ea typeface="+mn-ea"/>
                          <a:cs typeface="Khmer OS Battambang" panose="02000500000000020004" pitchFamily="2" charset="77"/>
                        </a:rPr>
                        <a:t>ខ្ទង់</a:t>
                      </a:r>
                      <a:r>
                        <a:rPr lang="en-KH" sz="2000" kern="1200" dirty="0">
                          <a:solidFill>
                            <a:srgbClr val="7030A0"/>
                          </a:solidFill>
                          <a:latin typeface="Khmer OS Battambang" panose="02000500000000020004" pitchFamily="2" charset="77"/>
                          <a:ea typeface="+mn-ea"/>
                          <a:cs typeface="Khmer OS Battambang" panose="02000500000000020004" pitchFamily="2" charset="77"/>
                        </a:rPr>
                        <a:t> 32-bit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KH" sz="2000" kern="1200" dirty="0">
                          <a:solidFill>
                            <a:srgbClr val="7030A0"/>
                          </a:solidFill>
                          <a:latin typeface="Khmer OS Battambang" panose="02000500000000020004" pitchFamily="2" charset="77"/>
                          <a:ea typeface="+mn-ea"/>
                          <a:cs typeface="Khmer OS Battambang" panose="02000500000000020004" pitchFamily="2" charset="77"/>
                        </a:rPr>
                        <a:t>4 bytes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KH" sz="2000" kern="1200" dirty="0">
                          <a:solidFill>
                            <a:srgbClr val="7030A0"/>
                          </a:solidFill>
                          <a:latin typeface="Khmer OS Battambang" panose="02000500000000020004" pitchFamily="2" charset="77"/>
                          <a:ea typeface="+mn-ea"/>
                          <a:cs typeface="Khmer OS Battambang" panose="02000500000000020004" pitchFamily="2" charset="77"/>
                        </a:rPr>
                        <a:t>0.0f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m-KH" sz="2000" kern="1200" dirty="0">
                          <a:solidFill>
                            <a:srgbClr val="7030A0"/>
                          </a:solidFill>
                          <a:latin typeface="Khmer OS Battambang" panose="02000500000000020004" pitchFamily="2" charset="77"/>
                          <a:ea typeface="+mn-ea"/>
                          <a:cs typeface="Khmer OS Battambang" panose="02000500000000020004" pitchFamily="2" charset="77"/>
                        </a:rPr>
                        <a:t>ប្រែប្រួល ប្រើសម្រាប់រក្សាទុកអង្គចងចាំ </a:t>
                      </a:r>
                      <a:r>
                        <a:rPr lang="en-US" sz="2000" kern="1200" dirty="0" err="1">
                          <a:solidFill>
                            <a:srgbClr val="7030A0"/>
                          </a:solidFill>
                          <a:latin typeface="Khmer OS Battambang" panose="02000500000000020004" pitchFamily="2" charset="77"/>
                          <a:ea typeface="+mn-ea"/>
                          <a:cs typeface="Khmer OS Battambang" panose="02000500000000020004" pitchFamily="2" charset="77"/>
                        </a:rPr>
                        <a:t>និង</a:t>
                      </a:r>
                      <a:r>
                        <a:rPr lang="km-KH" sz="2000" kern="1200" dirty="0">
                          <a:solidFill>
                            <a:srgbClr val="7030A0"/>
                          </a:solidFill>
                          <a:latin typeface="Khmer OS Battambang" panose="02000500000000020004" pitchFamily="2" charset="77"/>
                          <a:ea typeface="+mn-ea"/>
                          <a:cs typeface="Khmer OS Battambang" panose="02000500000000020004" pitchFamily="2" charset="77"/>
                        </a:rPr>
                        <a:t>មិនមែនភាពជាក់លាក់ទេ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75458776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/>
                      <a:r>
                        <a:rPr lang="en-US" sz="2000" kern="1200" dirty="0">
                          <a:solidFill>
                            <a:srgbClr val="D49B06"/>
                          </a:solidFill>
                          <a:latin typeface="Khmer OS Battambang" panose="02000500000000020004" pitchFamily="2" charset="77"/>
                          <a:ea typeface="+mn-ea"/>
                          <a:cs typeface="Khmer OS Battambang" panose="02000500000000020004" pitchFamily="2" charset="77"/>
                        </a:rPr>
                        <a:t>double</a:t>
                      </a:r>
                      <a:endParaRPr lang="en-KH" sz="2000" kern="1200" dirty="0">
                        <a:solidFill>
                          <a:srgbClr val="D49B06"/>
                        </a:solidFill>
                        <a:latin typeface="Khmer OS Battambang" panose="02000500000000020004" pitchFamily="2" charset="77"/>
                        <a:ea typeface="+mn-ea"/>
                        <a:cs typeface="Khmer OS Battambang" panose="02000500000000020004" pitchFamily="2" charset="77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KH" sz="2000" kern="1200" dirty="0">
                          <a:solidFill>
                            <a:srgbClr val="7030A0"/>
                          </a:solidFill>
                          <a:latin typeface="Khmer OS Battambang" panose="02000500000000020004" pitchFamily="2" charset="77"/>
                          <a:ea typeface="+mn-ea"/>
                          <a:cs typeface="Khmer OS Battambang" panose="02000500000000020004" pitchFamily="2" charset="77"/>
                        </a:rPr>
                        <a:t>ចំនួនទសភាគ </a:t>
                      </a:r>
                      <a:r>
                        <a:rPr lang="en-US" sz="2000" kern="1200" dirty="0">
                          <a:solidFill>
                            <a:srgbClr val="7030A0"/>
                          </a:solidFill>
                          <a:latin typeface="Khmer OS Battambang" panose="02000500000000020004" pitchFamily="2" charset="77"/>
                          <a:ea typeface="+mn-ea"/>
                          <a:cs typeface="Khmer OS Battambang" panose="02000500000000020004" pitchFamily="2" charset="77"/>
                        </a:rPr>
                        <a:t>15</a:t>
                      </a:r>
                      <a:r>
                        <a:rPr lang="km-KH" sz="2000" kern="1200" dirty="0">
                          <a:solidFill>
                            <a:srgbClr val="7030A0"/>
                          </a:solidFill>
                          <a:latin typeface="Khmer OS Battambang" panose="02000500000000020004" pitchFamily="2" charset="77"/>
                          <a:ea typeface="+mn-ea"/>
                          <a:cs typeface="Khmer OS Battambang" panose="02000500000000020004" pitchFamily="2" charset="77"/>
                        </a:rPr>
                        <a:t> ទៅ</a:t>
                      </a:r>
                      <a:r>
                        <a:rPr lang="en-US" sz="2000" kern="1200" dirty="0">
                          <a:solidFill>
                            <a:srgbClr val="7030A0"/>
                          </a:solidFill>
                          <a:latin typeface="Khmer OS Battambang" panose="02000500000000020004" pitchFamily="2" charset="77"/>
                          <a:ea typeface="+mn-ea"/>
                          <a:cs typeface="Khmer OS Battambang" panose="02000500000000020004" pitchFamily="2" charset="77"/>
                        </a:rPr>
                        <a:t> 16 </a:t>
                      </a:r>
                      <a:r>
                        <a:rPr lang="km-KH" sz="2000" kern="1200" dirty="0">
                          <a:solidFill>
                            <a:srgbClr val="7030A0"/>
                          </a:solidFill>
                          <a:latin typeface="Khmer OS Battambang" panose="02000500000000020004" pitchFamily="2" charset="77"/>
                          <a:ea typeface="+mn-ea"/>
                          <a:cs typeface="Khmer OS Battambang" panose="02000500000000020004" pitchFamily="2" charset="77"/>
                        </a:rPr>
                        <a:t>ខ្ទង់</a:t>
                      </a:r>
                      <a:r>
                        <a:rPr lang="en-KH" sz="2000" kern="1200" dirty="0">
                          <a:solidFill>
                            <a:srgbClr val="7030A0"/>
                          </a:solidFill>
                          <a:latin typeface="Khmer OS Battambang" panose="02000500000000020004" pitchFamily="2" charset="77"/>
                          <a:ea typeface="+mn-ea"/>
                          <a:cs typeface="Khmer OS Battambang" panose="02000500000000020004" pitchFamily="2" charset="77"/>
                        </a:rPr>
                        <a:t> 32-bit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KH" sz="2000" kern="1200" dirty="0">
                          <a:solidFill>
                            <a:srgbClr val="7030A0"/>
                          </a:solidFill>
                          <a:latin typeface="Khmer OS Battambang" panose="02000500000000020004" pitchFamily="2" charset="77"/>
                          <a:ea typeface="+mn-ea"/>
                          <a:cs typeface="Khmer OS Battambang" panose="02000500000000020004" pitchFamily="2" charset="77"/>
                        </a:rPr>
                        <a:t>8 bytes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KH" sz="2000" kern="1200" dirty="0">
                          <a:solidFill>
                            <a:srgbClr val="7030A0"/>
                          </a:solidFill>
                          <a:latin typeface="Khmer OS Battambang" panose="02000500000000020004" pitchFamily="2" charset="77"/>
                          <a:ea typeface="+mn-ea"/>
                          <a:cs typeface="Khmer OS Battambang" panose="02000500000000020004" pitchFamily="2" charset="77"/>
                        </a:rPr>
                        <a:t>0.0d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m-KH" sz="2000" kern="1200" dirty="0">
                          <a:solidFill>
                            <a:srgbClr val="7030A0"/>
                          </a:solidFill>
                          <a:latin typeface="Khmer OS Battambang" panose="02000500000000020004" pitchFamily="2" charset="77"/>
                          <a:ea typeface="+mn-ea"/>
                          <a:cs typeface="Khmer OS Battambang" panose="02000500000000020004" pitchFamily="2" charset="77"/>
                        </a:rPr>
                        <a:t>ប្រែប្រួល ប្រើសម្រាប់រក្សាទុកអង្គចងចាំ </a:t>
                      </a:r>
                      <a:r>
                        <a:rPr lang="en-US" sz="2000" kern="1200" dirty="0" err="1">
                          <a:solidFill>
                            <a:srgbClr val="7030A0"/>
                          </a:solidFill>
                          <a:latin typeface="Khmer OS Battambang" panose="02000500000000020004" pitchFamily="2" charset="77"/>
                          <a:ea typeface="+mn-ea"/>
                          <a:cs typeface="Khmer OS Battambang" panose="02000500000000020004" pitchFamily="2" charset="77"/>
                        </a:rPr>
                        <a:t>និង</a:t>
                      </a:r>
                      <a:r>
                        <a:rPr lang="km-KH" sz="2000" kern="1200" dirty="0">
                          <a:solidFill>
                            <a:srgbClr val="7030A0"/>
                          </a:solidFill>
                          <a:latin typeface="Khmer OS Battambang" panose="02000500000000020004" pitchFamily="2" charset="77"/>
                          <a:ea typeface="+mn-ea"/>
                          <a:cs typeface="Khmer OS Battambang" panose="02000500000000020004" pitchFamily="2" charset="77"/>
                        </a:rPr>
                        <a:t>មិនមែនភាពជាក់លាក់ទេ</a:t>
                      </a:r>
                      <a:endParaRPr lang="en-KH" sz="2000" kern="1200" dirty="0">
                        <a:solidFill>
                          <a:srgbClr val="7030A0"/>
                        </a:solidFill>
                        <a:latin typeface="Khmer OS Battambang" panose="02000500000000020004" pitchFamily="2" charset="77"/>
                        <a:ea typeface="+mn-ea"/>
                        <a:cs typeface="Khmer OS Battambang" panose="02000500000000020004" pitchFamily="2" charset="77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69138072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/>
                      <a:r>
                        <a:rPr lang="en-US" sz="2000" kern="1200" dirty="0" err="1">
                          <a:solidFill>
                            <a:srgbClr val="D49B06"/>
                          </a:solidFill>
                          <a:latin typeface="Khmer OS Battambang" panose="02000500000000020004" pitchFamily="2" charset="77"/>
                          <a:ea typeface="+mn-ea"/>
                          <a:cs typeface="Khmer OS Battambang" panose="02000500000000020004" pitchFamily="2" charset="77"/>
                        </a:rPr>
                        <a:t>boolean</a:t>
                      </a:r>
                      <a:endParaRPr lang="en-KH" sz="2000" kern="1200" dirty="0">
                        <a:solidFill>
                          <a:srgbClr val="D49B06"/>
                        </a:solidFill>
                        <a:latin typeface="Khmer OS Battambang" panose="02000500000000020004" pitchFamily="2" charset="77"/>
                        <a:ea typeface="+mn-ea"/>
                        <a:cs typeface="Khmer OS Battambang" panose="02000500000000020004" pitchFamily="2" charset="77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m-KH" sz="2000" kern="1200" dirty="0">
                          <a:solidFill>
                            <a:srgbClr val="7030A0"/>
                          </a:solidFill>
                          <a:latin typeface="Khmer OS Battambang" panose="02000500000000020004" pitchFamily="2" charset="77"/>
                          <a:ea typeface="+mn-ea"/>
                          <a:cs typeface="Khmer OS Battambang" panose="02000500000000020004" pitchFamily="2" charset="77"/>
                        </a:rPr>
                        <a:t>ឡូជីខល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2000" kern="1200" dirty="0">
                          <a:solidFill>
                            <a:srgbClr val="7030A0"/>
                          </a:solidFill>
                          <a:latin typeface="Khmer OS Battambang" panose="02000500000000020004" pitchFamily="2" charset="77"/>
                          <a:ea typeface="+mn-ea"/>
                          <a:cs typeface="Khmer OS Battambang" panose="02000500000000020004" pitchFamily="2" charset="77"/>
                        </a:rPr>
                        <a:t>~1 bit</a:t>
                      </a:r>
                      <a:endParaRPr lang="en-KH" sz="2000" kern="1200" dirty="0">
                        <a:solidFill>
                          <a:srgbClr val="7030A0"/>
                        </a:solidFill>
                        <a:latin typeface="Khmer OS Battambang" panose="02000500000000020004" pitchFamily="2" charset="77"/>
                        <a:ea typeface="+mn-ea"/>
                        <a:cs typeface="Khmer OS Battambang" panose="02000500000000020004" pitchFamily="2" charset="77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2000" kern="1200" dirty="0">
                          <a:solidFill>
                            <a:srgbClr val="7030A0"/>
                          </a:solidFill>
                          <a:latin typeface="Khmer OS Battambang" panose="02000500000000020004" pitchFamily="2" charset="77"/>
                          <a:ea typeface="+mn-ea"/>
                          <a:cs typeface="Khmer OS Battambang" panose="02000500000000020004" pitchFamily="2" charset="77"/>
                        </a:rPr>
                        <a:t>false</a:t>
                      </a:r>
                      <a:endParaRPr lang="en-KH" sz="2000" kern="1200" dirty="0">
                        <a:solidFill>
                          <a:srgbClr val="7030A0"/>
                        </a:solidFill>
                        <a:latin typeface="Khmer OS Battambang" panose="02000500000000020004" pitchFamily="2" charset="77"/>
                        <a:ea typeface="+mn-ea"/>
                        <a:cs typeface="Khmer OS Battambang" panose="02000500000000020004" pitchFamily="2" charset="77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2000" kern="1200" dirty="0">
                          <a:solidFill>
                            <a:srgbClr val="7030A0"/>
                          </a:solidFill>
                          <a:latin typeface="Khmer OS Battambang" panose="02000500000000020004" pitchFamily="2" charset="77"/>
                          <a:ea typeface="+mn-ea"/>
                          <a:cs typeface="Khmer OS Battambang" panose="02000500000000020004" pitchFamily="2" charset="77"/>
                        </a:rPr>
                        <a:t>true </a:t>
                      </a:r>
                      <a:r>
                        <a:rPr lang="en-US" sz="2000" kern="1200" dirty="0" err="1">
                          <a:solidFill>
                            <a:srgbClr val="7030A0"/>
                          </a:solidFill>
                          <a:latin typeface="Khmer OS Battambang" panose="02000500000000020004" pitchFamily="2" charset="77"/>
                          <a:ea typeface="+mn-ea"/>
                          <a:cs typeface="Khmer OS Battambang" panose="02000500000000020004" pitchFamily="2" charset="77"/>
                        </a:rPr>
                        <a:t>ឫ</a:t>
                      </a:r>
                      <a:r>
                        <a:rPr lang="en-US" sz="2000" kern="1200" dirty="0">
                          <a:solidFill>
                            <a:srgbClr val="7030A0"/>
                          </a:solidFill>
                          <a:latin typeface="Khmer OS Battambang" panose="02000500000000020004" pitchFamily="2" charset="77"/>
                          <a:ea typeface="+mn-ea"/>
                          <a:cs typeface="Khmer OS Battambang" panose="02000500000000020004" pitchFamily="2" charset="77"/>
                        </a:rPr>
                        <a:t> false</a:t>
                      </a:r>
                      <a:endParaRPr lang="en-KH" sz="2000" kern="1200" dirty="0">
                        <a:solidFill>
                          <a:srgbClr val="7030A0"/>
                        </a:solidFill>
                        <a:latin typeface="Khmer OS Battambang" panose="02000500000000020004" pitchFamily="2" charset="77"/>
                        <a:ea typeface="+mn-ea"/>
                        <a:cs typeface="Khmer OS Battambang" panose="02000500000000020004" pitchFamily="2" charset="77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90418830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/>
                      <a:r>
                        <a:rPr lang="en-US" sz="2000" kern="1200" dirty="0">
                          <a:solidFill>
                            <a:srgbClr val="D49B06"/>
                          </a:solidFill>
                          <a:latin typeface="Khmer OS Battambang" panose="02000500000000020004" pitchFamily="2" charset="77"/>
                          <a:ea typeface="+mn-ea"/>
                          <a:cs typeface="Khmer OS Battambang" panose="02000500000000020004" pitchFamily="2" charset="77"/>
                        </a:rPr>
                        <a:t>char</a:t>
                      </a:r>
                      <a:endParaRPr lang="en-KH" sz="2000" kern="1200" dirty="0">
                        <a:solidFill>
                          <a:srgbClr val="D49B06"/>
                        </a:solidFill>
                        <a:latin typeface="Khmer OS Battambang" panose="02000500000000020004" pitchFamily="2" charset="77"/>
                        <a:ea typeface="+mn-ea"/>
                        <a:cs typeface="Khmer OS Battambang" panose="02000500000000020004" pitchFamily="2" charset="77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m-KH" sz="2000" kern="1200" dirty="0">
                          <a:solidFill>
                            <a:srgbClr val="7030A0"/>
                          </a:solidFill>
                          <a:latin typeface="Khmer OS Battambang" panose="02000500000000020004" pitchFamily="2" charset="77"/>
                          <a:ea typeface="+mn-ea"/>
                          <a:cs typeface="Khmer OS Battambang" panose="02000500000000020004" pitchFamily="2" charset="77"/>
                        </a:rPr>
                        <a:t>តួអក្សរ</a:t>
                      </a:r>
                      <a:r>
                        <a:rPr lang="en-US" sz="2000" kern="1200" dirty="0">
                          <a:solidFill>
                            <a:srgbClr val="7030A0"/>
                          </a:solidFill>
                          <a:latin typeface="Khmer OS Battambang" panose="02000500000000020004" pitchFamily="2" charset="77"/>
                          <a:ea typeface="+mn-ea"/>
                          <a:cs typeface="Khmer OS Battambang" panose="02000500000000020004" pitchFamily="2" charset="77"/>
                        </a:rPr>
                        <a:t> ​Unicode​16-bit</a:t>
                      </a:r>
                      <a:endParaRPr lang="en-KH" sz="2000" kern="1200" dirty="0">
                        <a:solidFill>
                          <a:srgbClr val="7030A0"/>
                        </a:solidFill>
                        <a:latin typeface="Khmer OS Battambang" panose="02000500000000020004" pitchFamily="2" charset="77"/>
                        <a:ea typeface="+mn-ea"/>
                        <a:cs typeface="Khmer OS Battambang" panose="02000500000000020004" pitchFamily="2" charset="77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KH" sz="2000" kern="1200" dirty="0">
                          <a:solidFill>
                            <a:srgbClr val="7030A0"/>
                          </a:solidFill>
                          <a:latin typeface="Khmer OS Battambang" panose="02000500000000020004" pitchFamily="2" charset="77"/>
                          <a:ea typeface="+mn-ea"/>
                          <a:cs typeface="Khmer OS Battambang" panose="02000500000000020004" pitchFamily="2" charset="77"/>
                        </a:rPr>
                        <a:t>2 bytes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KH" sz="2000" kern="1200" dirty="0">
                          <a:solidFill>
                            <a:srgbClr val="7030A0"/>
                          </a:solidFill>
                          <a:latin typeface="Khmer OS Battambang" panose="02000500000000020004" pitchFamily="2" charset="77"/>
                          <a:ea typeface="+mn-ea"/>
                          <a:cs typeface="Khmer OS Battambang" panose="02000500000000020004" pitchFamily="2" charset="77"/>
                        </a:rPr>
                        <a:t>\u0000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KH" sz="2000" kern="1200" dirty="0">
                          <a:solidFill>
                            <a:srgbClr val="7030A0"/>
                          </a:solidFill>
                          <a:latin typeface="Khmer OS Battambang" panose="02000500000000020004" pitchFamily="2" charset="77"/>
                          <a:ea typeface="+mn-ea"/>
                          <a:cs typeface="Khmer OS Battambang" panose="02000500000000020004" pitchFamily="2" charset="77"/>
                        </a:rPr>
                        <a:t>\u000 (0) ដល់ \uffff (65,535)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75060749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97913461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77D0DB0-653A-910E-BE01-F7FC6BB8046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F64523A-087C-1965-07C8-A952DC28D19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701800" y="119781"/>
            <a:ext cx="9144000" cy="789373"/>
          </a:xfrm>
        </p:spPr>
        <p:txBody>
          <a:bodyPr>
            <a:normAutofit/>
          </a:bodyPr>
          <a:lstStyle/>
          <a:p>
            <a:pPr algn="l"/>
            <a:r>
              <a:rPr lang="en-US" sz="3600" dirty="0" err="1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ប្រភេទទិន្នន័យ</a:t>
            </a:r>
            <a:r>
              <a:rPr lang="en-US" sz="3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(Data Type) (</a:t>
            </a:r>
            <a:r>
              <a:rPr lang="en-US" sz="3600" dirty="0" err="1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ត</a:t>
            </a:r>
            <a:r>
              <a:rPr lang="en-US" sz="3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)</a:t>
            </a:r>
            <a:endParaRPr lang="en-KH" sz="3600" dirty="0">
              <a:solidFill>
                <a:srgbClr val="002060"/>
              </a:solidFill>
              <a:latin typeface="Khmer OS Battambang" panose="02000500000000020004" pitchFamily="2" charset="77"/>
              <a:cs typeface="Khmer OS Battambang" panose="02000500000000020004" pitchFamily="2" charset="77"/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3254FD7-03BD-95F6-D76F-E3D044573F2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24192" y="1417638"/>
            <a:ext cx="10954536" cy="4389894"/>
          </a:xfrm>
        </p:spPr>
        <p:txBody>
          <a:bodyPr>
            <a:normAutofit/>
          </a:bodyPr>
          <a:lstStyle/>
          <a:p>
            <a:pPr algn="l"/>
            <a:r>
              <a:rPr lang="en-KH" sz="2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- ប្រភេទទិន្នន័យមិនបឋម(Non-</a:t>
            </a:r>
            <a:r>
              <a:rPr lang="en-US" sz="2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Primitive Data Types</a:t>
            </a:r>
            <a:r>
              <a:rPr lang="en-KH" sz="2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):</a:t>
            </a:r>
            <a:br>
              <a:rPr lang="en-KH" sz="2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</a:br>
            <a:endParaRPr lang="en-KH" sz="2600" dirty="0">
              <a:solidFill>
                <a:srgbClr val="002060"/>
              </a:solidFill>
              <a:latin typeface="Khmer OS Battambang" panose="02000500000000020004" pitchFamily="2" charset="77"/>
              <a:cs typeface="Khmer OS Battambang" panose="02000500000000020004" pitchFamily="2" charset="77"/>
            </a:endParaRP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6442C9F3-7DD8-9D27-A1C8-2D0C2A20F373}"/>
              </a:ext>
            </a:extLst>
          </p:cNvPr>
          <p:cNvCxnSpPr/>
          <p:nvPr/>
        </p:nvCxnSpPr>
        <p:spPr>
          <a:xfrm>
            <a:off x="0" y="1050468"/>
            <a:ext cx="12192000" cy="0"/>
          </a:xfrm>
          <a:prstGeom prst="line">
            <a:avLst/>
          </a:prstGeom>
          <a:ln w="57150">
            <a:solidFill>
              <a:srgbClr val="D49B0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E9915AFF-DFBC-C611-D4D7-A7156B776064}"/>
              </a:ext>
            </a:extLst>
          </p:cNvPr>
          <p:cNvCxnSpPr>
            <a:cxnSpLocks/>
          </p:cNvCxnSpPr>
          <p:nvPr/>
        </p:nvCxnSpPr>
        <p:spPr>
          <a:xfrm>
            <a:off x="0" y="979812"/>
            <a:ext cx="12192000" cy="0"/>
          </a:xfrm>
          <a:prstGeom prst="line">
            <a:avLst/>
          </a:prstGeom>
          <a:ln w="57150">
            <a:solidFill>
              <a:srgbClr val="1C27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7" name="Picture 46" descr="A blue circle with a yellow and white bird in it&#10;&#10;AI-generated content may be incorrect.">
            <a:extLst>
              <a:ext uri="{FF2B5EF4-FFF2-40B4-BE49-F238E27FC236}">
                <a16:creationId xmlns:a16="http://schemas.microsoft.com/office/drawing/2014/main" id="{BA2C05A5-6797-4B99-57B9-C2CA77291FC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5438" y="219712"/>
            <a:ext cx="606500" cy="606500"/>
          </a:xfrm>
          <a:prstGeom prst="rect">
            <a:avLst/>
          </a:prstGeom>
        </p:spPr>
      </p:pic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8D8BA7A4-7565-5AE3-4D68-EAB47880496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16081018"/>
              </p:ext>
            </p:extLst>
          </p:nvPr>
        </p:nvGraphicFramePr>
        <p:xfrm>
          <a:off x="624192" y="2123382"/>
          <a:ext cx="10557928" cy="3787437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656262">
                  <a:extLst>
                    <a:ext uri="{9D8B030D-6E8A-4147-A177-3AD203B41FA5}">
                      <a16:colId xmlns:a16="http://schemas.microsoft.com/office/drawing/2014/main" val="4047497681"/>
                    </a:ext>
                  </a:extLst>
                </a:gridCol>
                <a:gridCol w="4300907">
                  <a:extLst>
                    <a:ext uri="{9D8B030D-6E8A-4147-A177-3AD203B41FA5}">
                      <a16:colId xmlns:a16="http://schemas.microsoft.com/office/drawing/2014/main" val="821048884"/>
                    </a:ext>
                  </a:extLst>
                </a:gridCol>
                <a:gridCol w="1909003">
                  <a:extLst>
                    <a:ext uri="{9D8B030D-6E8A-4147-A177-3AD203B41FA5}">
                      <a16:colId xmlns:a16="http://schemas.microsoft.com/office/drawing/2014/main" val="1256672291"/>
                    </a:ext>
                  </a:extLst>
                </a:gridCol>
                <a:gridCol w="1691756">
                  <a:extLst>
                    <a:ext uri="{9D8B030D-6E8A-4147-A177-3AD203B41FA5}">
                      <a16:colId xmlns:a16="http://schemas.microsoft.com/office/drawing/2014/main" val="3921409523"/>
                    </a:ext>
                  </a:extLst>
                </a:gridCol>
              </a:tblGrid>
              <a:tr h="359595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lang="en-KH" sz="2000" kern="1200" dirty="0">
                          <a:solidFill>
                            <a:srgbClr val="0070C0"/>
                          </a:solidFill>
                          <a:latin typeface="Khmer OS Battambang" panose="02000500000000020004" pitchFamily="2" charset="77"/>
                          <a:cs typeface="Khmer OS Battambang" panose="02000500000000020004" pitchFamily="2" charset="77"/>
                        </a:rPr>
                        <a:t>ប្រភេទទិន្នន័យ</a:t>
                      </a:r>
                      <a:endParaRPr lang="en-KH" sz="2000" kern="1200" dirty="0">
                        <a:solidFill>
                          <a:srgbClr val="0070C0"/>
                        </a:solidFill>
                        <a:latin typeface="Khmer OS Battambang" panose="02000500000000020004" pitchFamily="2" charset="77"/>
                        <a:ea typeface="+mn-ea"/>
                        <a:cs typeface="Khmer OS Battambang" panose="02000500000000020004" pitchFamily="2" charset="77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lang="en-KH" sz="2000" kern="1200" dirty="0">
                          <a:solidFill>
                            <a:srgbClr val="0070C0"/>
                          </a:solidFill>
                          <a:latin typeface="Khmer OS Battambang" panose="02000500000000020004" pitchFamily="2" charset="77"/>
                          <a:ea typeface="+mn-ea"/>
                          <a:cs typeface="Khmer OS Battambang" panose="02000500000000020004" pitchFamily="2" charset="77"/>
                        </a:rPr>
                        <a:t>បរិយាយ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lang="en-KH" sz="2000" kern="1200" dirty="0">
                          <a:solidFill>
                            <a:srgbClr val="0070C0"/>
                          </a:solidFill>
                          <a:latin typeface="Khmer OS Battambang" panose="02000500000000020004" pitchFamily="2" charset="77"/>
                          <a:ea typeface="+mn-ea"/>
                          <a:cs typeface="Khmer OS Battambang" panose="02000500000000020004" pitchFamily="2" charset="77"/>
                        </a:rPr>
                        <a:t>ទំហំ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lang="en-KH" sz="2000" kern="1200" dirty="0">
                          <a:solidFill>
                            <a:srgbClr val="0070C0"/>
                          </a:solidFill>
                          <a:latin typeface="Khmer OS Battambang" panose="02000500000000020004" pitchFamily="2" charset="77"/>
                          <a:ea typeface="+mn-ea"/>
                          <a:cs typeface="Khmer OS Battambang" panose="02000500000000020004" pitchFamily="2" charset="77"/>
                        </a:rPr>
                        <a:t>តម្លៃដើម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972388122"/>
                  </a:ext>
                </a:extLst>
              </a:tr>
              <a:tr h="1327736">
                <a:tc>
                  <a:txBody>
                    <a:bodyPr/>
                    <a:lstStyle/>
                    <a:p>
                      <a:pPr algn="l"/>
                      <a:r>
                        <a:rPr lang="en-US" sz="2000" kern="1200" dirty="0">
                          <a:solidFill>
                            <a:srgbClr val="D49B06"/>
                          </a:solidFill>
                          <a:latin typeface="Khmer OS Battambang" panose="02000500000000020004" pitchFamily="2" charset="77"/>
                          <a:ea typeface="+mn-ea"/>
                          <a:cs typeface="Khmer OS Battambang" panose="02000500000000020004" pitchFamily="2" charset="77"/>
                        </a:rPr>
                        <a:t>Classes</a:t>
                      </a:r>
                      <a:endParaRPr lang="en-KH" sz="2000" kern="1200" dirty="0">
                        <a:solidFill>
                          <a:srgbClr val="D49B06"/>
                        </a:solidFill>
                        <a:latin typeface="Khmer OS Battambang" panose="02000500000000020004" pitchFamily="2" charset="77"/>
                        <a:ea typeface="+mn-ea"/>
                        <a:cs typeface="Khmer OS Battambang" panose="02000500000000020004" pitchFamily="2" charset="77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KH" sz="2000" kern="1200" dirty="0">
                          <a:solidFill>
                            <a:srgbClr val="7030A0"/>
                          </a:solidFill>
                          <a:latin typeface="Khmer OS Battambang" panose="02000500000000020004" pitchFamily="2" charset="77"/>
                          <a:ea typeface="+mn-ea"/>
                          <a:cs typeface="Khmer OS Battambang" panose="02000500000000020004" pitchFamily="2" charset="77"/>
                        </a:rPr>
                        <a:t>  គឺជាការកំណត់របស់អ្នកប្រើប្រាស់ ពី object ដែលត្រូវបានបង្កើត ដោយពួកគេធ្វើការ </a:t>
                      </a:r>
                      <a:r>
                        <a:rPr lang="en-US" sz="2000" kern="1200" dirty="0">
                          <a:solidFill>
                            <a:srgbClr val="7030A0"/>
                          </a:solidFill>
                          <a:latin typeface="Khmer OS Battambang" panose="02000500000000020004" pitchFamily="2" charset="77"/>
                          <a:ea typeface="+mn-ea"/>
                          <a:cs typeface="Khmer OS Battambang" panose="02000500000000020004" pitchFamily="2" charset="77"/>
                        </a:rPr>
                        <a:t>encapsulate data (fields) </a:t>
                      </a:r>
                      <a:r>
                        <a:rPr lang="en-US" sz="2000" kern="1200" dirty="0" err="1">
                          <a:solidFill>
                            <a:srgbClr val="7030A0"/>
                          </a:solidFill>
                          <a:latin typeface="Khmer OS Battambang" panose="02000500000000020004" pitchFamily="2" charset="77"/>
                          <a:ea typeface="+mn-ea"/>
                          <a:cs typeface="Khmer OS Battambang" panose="02000500000000020004" pitchFamily="2" charset="77"/>
                        </a:rPr>
                        <a:t>និង</a:t>
                      </a:r>
                      <a:r>
                        <a:rPr lang="en-US" sz="2000" kern="1200" dirty="0">
                          <a:solidFill>
                            <a:srgbClr val="7030A0"/>
                          </a:solidFill>
                          <a:latin typeface="Khmer OS Battambang" panose="02000500000000020004" pitchFamily="2" charset="77"/>
                          <a:ea typeface="+mn-ea"/>
                          <a:cs typeface="Khmer OS Battambang" panose="02000500000000020004" pitchFamily="2" charset="77"/>
                        </a:rPr>
                        <a:t>  behavior (methods)។</a:t>
                      </a:r>
                      <a:endParaRPr lang="en-KH" sz="2000" kern="1200" dirty="0">
                        <a:solidFill>
                          <a:srgbClr val="7030A0"/>
                        </a:solidFill>
                        <a:latin typeface="Khmer OS Battambang" panose="02000500000000020004" pitchFamily="2" charset="77"/>
                        <a:ea typeface="+mn-ea"/>
                        <a:cs typeface="Khmer OS Battambang" panose="02000500000000020004" pitchFamily="2" charset="77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rowSpan="4">
                  <a:txBody>
                    <a:bodyPr/>
                    <a:lstStyle/>
                    <a:p>
                      <a:pPr algn="l">
                        <a:lnSpc>
                          <a:spcPct val="150000"/>
                        </a:lnSpc>
                      </a:pPr>
                      <a:endParaRPr lang="en-KH" sz="2000" kern="1200" dirty="0">
                        <a:solidFill>
                          <a:srgbClr val="7030A0"/>
                        </a:solidFill>
                        <a:latin typeface="Khmer OS Battambang" panose="02000500000000020004" pitchFamily="2" charset="77"/>
                        <a:ea typeface="+mn-ea"/>
                        <a:cs typeface="Khmer OS Battambang" panose="02000500000000020004" pitchFamily="2" charset="77"/>
                      </a:endParaRPr>
                    </a:p>
                    <a:p>
                      <a:pPr algn="l">
                        <a:lnSpc>
                          <a:spcPct val="150000"/>
                        </a:lnSpc>
                      </a:pPr>
                      <a:endParaRPr lang="en-KH" sz="2000" kern="1200" dirty="0">
                        <a:solidFill>
                          <a:srgbClr val="7030A0"/>
                        </a:solidFill>
                        <a:latin typeface="Khmer OS Battambang" panose="02000500000000020004" pitchFamily="2" charset="77"/>
                        <a:ea typeface="+mn-ea"/>
                        <a:cs typeface="Khmer OS Battambang" panose="02000500000000020004" pitchFamily="2" charset="77"/>
                      </a:endParaRPr>
                    </a:p>
                    <a:p>
                      <a:pPr algn="l">
                        <a:lnSpc>
                          <a:spcPct val="150000"/>
                        </a:lnSpc>
                      </a:pPr>
                      <a:r>
                        <a:rPr lang="en-KH" sz="2000" kern="1200" dirty="0">
                          <a:solidFill>
                            <a:srgbClr val="7030A0"/>
                          </a:solidFill>
                          <a:latin typeface="Khmer OS Battambang" panose="02000500000000020004" pitchFamily="2" charset="77"/>
                          <a:ea typeface="+mn-ea"/>
                          <a:cs typeface="Khmer OS Battambang" panose="02000500000000020004" pitchFamily="2" charset="77"/>
                        </a:rPr>
                        <a:t>ផ្ទុកតម្លៃជាក់ស្តែងដោយផ្ទាល់ក្នុង memory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KH" sz="2000" kern="1200" dirty="0">
                          <a:solidFill>
                            <a:srgbClr val="7030A0"/>
                          </a:solidFill>
                          <a:latin typeface="Khmer OS Battambang" panose="02000500000000020004" pitchFamily="2" charset="77"/>
                          <a:ea typeface="+mn-ea"/>
                          <a:cs typeface="Khmer OS Battambang" panose="02000500000000020004" pitchFamily="2" charset="77"/>
                        </a:rPr>
                        <a:t>null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646997984"/>
                  </a:ext>
                </a:extLst>
              </a:tr>
              <a:tr h="944981">
                <a:tc>
                  <a:txBody>
                    <a:bodyPr/>
                    <a:lstStyle/>
                    <a:p>
                      <a:pPr algn="l"/>
                      <a:r>
                        <a:rPr lang="en-US" sz="2000" kern="1200" dirty="0">
                          <a:solidFill>
                            <a:srgbClr val="D49B06"/>
                          </a:solidFill>
                          <a:latin typeface="Khmer OS Battambang" panose="02000500000000020004" pitchFamily="2" charset="77"/>
                          <a:ea typeface="+mn-ea"/>
                          <a:cs typeface="Khmer OS Battambang" panose="02000500000000020004" pitchFamily="2" charset="77"/>
                        </a:rPr>
                        <a:t>Strings</a:t>
                      </a:r>
                      <a:endParaRPr lang="en-KH" sz="2000" kern="1200" dirty="0">
                        <a:solidFill>
                          <a:srgbClr val="D49B06"/>
                        </a:solidFill>
                        <a:latin typeface="Khmer OS Battambang" panose="02000500000000020004" pitchFamily="2" charset="77"/>
                        <a:ea typeface="+mn-ea"/>
                        <a:cs typeface="Khmer OS Battambang" panose="02000500000000020004" pitchFamily="2" charset="77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kern="1200" dirty="0">
                          <a:solidFill>
                            <a:srgbClr val="7030A0"/>
                          </a:solidFill>
                          <a:latin typeface="Khmer OS Battambang" panose="02000500000000020004" pitchFamily="2" charset="77"/>
                          <a:ea typeface="+mn-ea"/>
                          <a:cs typeface="Khmer OS Battambang" panose="02000500000000020004" pitchFamily="2" charset="77"/>
                        </a:rPr>
                        <a:t>  </a:t>
                      </a:r>
                      <a:r>
                        <a:rPr lang="km-KH" sz="2000" kern="1200" dirty="0">
                          <a:solidFill>
                            <a:srgbClr val="7030A0"/>
                          </a:solidFill>
                          <a:latin typeface="Khmer OS Battambang" panose="02000500000000020004" pitchFamily="2" charset="77"/>
                          <a:ea typeface="+mn-ea"/>
                          <a:cs typeface="Khmer OS Battambang" panose="02000500000000020004" pitchFamily="2" charset="77"/>
                        </a:rPr>
                        <a:t>ជាប្រភេទដែលបានកំណត់ជាមុននៅក្នុង </a:t>
                      </a:r>
                      <a:r>
                        <a:rPr lang="en-US" sz="2000" kern="1200" dirty="0">
                          <a:solidFill>
                            <a:srgbClr val="7030A0"/>
                          </a:solidFill>
                          <a:latin typeface="Khmer OS Battambang" panose="02000500000000020004" pitchFamily="2" charset="77"/>
                          <a:ea typeface="+mn-ea"/>
                          <a:cs typeface="Khmer OS Battambang" panose="02000500000000020004" pitchFamily="2" charset="77"/>
                        </a:rPr>
                        <a:t>Java។ </a:t>
                      </a:r>
                      <a:r>
                        <a:rPr lang="en-US" sz="2000" kern="1200" dirty="0" err="1">
                          <a:solidFill>
                            <a:srgbClr val="7030A0"/>
                          </a:solidFill>
                          <a:latin typeface="Khmer OS Battambang" panose="02000500000000020004" pitchFamily="2" charset="77"/>
                          <a:ea typeface="+mn-ea"/>
                          <a:cs typeface="Khmer OS Battambang" panose="02000500000000020004" pitchFamily="2" charset="77"/>
                        </a:rPr>
                        <a:t>វាគឺជា</a:t>
                      </a:r>
                      <a:r>
                        <a:rPr lang="en-US" sz="2000" kern="1200" dirty="0">
                          <a:solidFill>
                            <a:srgbClr val="7030A0"/>
                          </a:solidFill>
                          <a:latin typeface="Khmer OS Battambang" panose="02000500000000020004" pitchFamily="2" charset="77"/>
                          <a:ea typeface="+mn-ea"/>
                          <a:cs typeface="Khmer OS Battambang" panose="02000500000000020004" pitchFamily="2" charset="77"/>
                        </a:rPr>
                        <a:t> object </a:t>
                      </a:r>
                      <a:r>
                        <a:rPr lang="km-KH" sz="2000" kern="1200" dirty="0">
                          <a:solidFill>
                            <a:srgbClr val="7030A0"/>
                          </a:solidFill>
                          <a:latin typeface="Khmer OS Battambang" panose="02000500000000020004" pitchFamily="2" charset="77"/>
                          <a:ea typeface="+mn-ea"/>
                          <a:cs typeface="Khmer OS Battambang" panose="02000500000000020004" pitchFamily="2" charset="77"/>
                        </a:rPr>
                        <a:t>នៃ</a:t>
                      </a:r>
                      <a:r>
                        <a:rPr lang="en-US" sz="2000" kern="1200" dirty="0">
                          <a:solidFill>
                            <a:srgbClr val="7030A0"/>
                          </a:solidFill>
                          <a:latin typeface="Khmer OS Battambang" panose="02000500000000020004" pitchFamily="2" charset="77"/>
                          <a:ea typeface="+mn-ea"/>
                          <a:cs typeface="Khmer OS Battambang" panose="02000500000000020004" pitchFamily="2" charset="77"/>
                        </a:rPr>
                        <a:t> class String </a:t>
                      </a:r>
                      <a:r>
                        <a:rPr lang="km-KH" sz="2000" kern="1200" dirty="0">
                          <a:solidFill>
                            <a:srgbClr val="7030A0"/>
                          </a:solidFill>
                          <a:latin typeface="Khmer OS Battambang" panose="02000500000000020004" pitchFamily="2" charset="77"/>
                          <a:ea typeface="+mn-ea"/>
                          <a:cs typeface="Khmer OS Battambang" panose="02000500000000020004" pitchFamily="2" charset="77"/>
                        </a:rPr>
                        <a:t>ដែលតំណាងឱ្យលំដាប់នៃតួអក្សរ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vMerge="1">
                  <a:txBody>
                    <a:bodyPr/>
                    <a:lstStyle/>
                    <a:p>
                      <a:pPr algn="l"/>
                      <a:endParaRPr lang="en-KH" sz="1800" kern="1200" dirty="0">
                        <a:solidFill>
                          <a:srgbClr val="7030A0"/>
                        </a:solidFill>
                        <a:latin typeface="Khmer OS Battambang" panose="02000500000000020004" pitchFamily="2" charset="77"/>
                        <a:ea typeface="+mn-ea"/>
                        <a:cs typeface="Khmer OS Battambang" panose="02000500000000020004" pitchFamily="2" charset="77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rowSpan="2">
                  <a:txBody>
                    <a:bodyPr/>
                    <a:lstStyle/>
                    <a:p>
                      <a:pPr algn="l"/>
                      <a:r>
                        <a:rPr lang="en-KH" sz="2000" kern="1200" dirty="0">
                          <a:solidFill>
                            <a:srgbClr val="7030A0"/>
                          </a:solidFill>
                          <a:latin typeface="Khmer OS Battambang" panose="02000500000000020004" pitchFamily="2" charset="77"/>
                          <a:ea typeface="+mn-ea"/>
                          <a:cs typeface="Khmer OS Battambang" panose="02000500000000020004" pitchFamily="2" charset="77"/>
                        </a:rPr>
                        <a:t>null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135006438"/>
                  </a:ext>
                </a:extLst>
              </a:tr>
              <a:tr h="133805">
                <a:tc rowSpan="2">
                  <a:txBody>
                    <a:bodyPr/>
                    <a:lstStyle/>
                    <a:p>
                      <a:pPr algn="l"/>
                      <a:r>
                        <a:rPr lang="en-US" sz="2000" kern="1200">
                          <a:solidFill>
                            <a:srgbClr val="D49B06"/>
                          </a:solidFill>
                          <a:latin typeface="Khmer OS Battambang" panose="02000500000000020004" pitchFamily="2" charset="77"/>
                          <a:ea typeface="+mn-ea"/>
                          <a:cs typeface="Khmer OS Battambang" panose="02000500000000020004" pitchFamily="2" charset="77"/>
                        </a:rPr>
                        <a:t>Arrays</a:t>
                      </a:r>
                      <a:endParaRPr lang="en-KH" sz="2000" kern="1200" dirty="0">
                        <a:solidFill>
                          <a:srgbClr val="D49B06"/>
                        </a:solidFill>
                        <a:latin typeface="Khmer OS Battambang" panose="02000500000000020004" pitchFamily="2" charset="77"/>
                        <a:ea typeface="+mn-ea"/>
                        <a:cs typeface="Khmer OS Battambang" panose="02000500000000020004" pitchFamily="2" charset="77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rowSpan="2"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KH" sz="2000" kern="1200" dirty="0">
                          <a:solidFill>
                            <a:srgbClr val="7030A0"/>
                          </a:solidFill>
                          <a:latin typeface="Khmer OS Battambang" panose="02000500000000020004" pitchFamily="2" charset="77"/>
                          <a:ea typeface="+mn-ea"/>
                          <a:cs typeface="Khmer OS Battambang" panose="02000500000000020004" pitchFamily="2" charset="77"/>
                        </a:rPr>
                        <a:t>  ជាវត្ថុសម្រាប់ផ្ទុកនូវធាតុជាច្រើនដែលមានប្រភេទទិន្នន័យដូចគ្នា និងនៅក្នុង</a:t>
                      </a:r>
                      <a:r>
                        <a:rPr lang="km-KH" sz="2000" kern="1200" dirty="0">
                          <a:solidFill>
                            <a:srgbClr val="7030A0"/>
                          </a:solidFill>
                          <a:latin typeface="Khmer OS Battambang" panose="02000500000000020004" pitchFamily="2" charset="77"/>
                          <a:ea typeface="+mn-ea"/>
                          <a:cs typeface="Khmer OS Battambang" panose="02000500000000020004" pitchFamily="2" charset="77"/>
                        </a:rPr>
                        <a:t>ទីតាំងចងចាំជាប់គ្នា</a:t>
                      </a:r>
                      <a:r>
                        <a:rPr lang="en-US" sz="2000" kern="1200" dirty="0">
                          <a:solidFill>
                            <a:srgbClr val="7030A0"/>
                          </a:solidFill>
                          <a:latin typeface="Khmer OS Battambang" panose="02000500000000020004" pitchFamily="2" charset="77"/>
                          <a:ea typeface="+mn-ea"/>
                          <a:cs typeface="Khmer OS Battambang" panose="02000500000000020004" pitchFamily="2" charset="77"/>
                        </a:rPr>
                        <a:t>។</a:t>
                      </a:r>
                      <a:endParaRPr lang="km-KH" sz="2000" kern="1200" dirty="0">
                        <a:solidFill>
                          <a:srgbClr val="7030A0"/>
                        </a:solidFill>
                        <a:latin typeface="Khmer OS Battambang" panose="02000500000000020004" pitchFamily="2" charset="77"/>
                        <a:ea typeface="+mn-ea"/>
                        <a:cs typeface="Khmer OS Battambang" panose="02000500000000020004" pitchFamily="2" charset="77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vMerge="1">
                  <a:txBody>
                    <a:bodyPr/>
                    <a:lstStyle/>
                    <a:p>
                      <a:endParaRPr lang="en-KH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pPr algn="l"/>
                      <a:endParaRPr lang="en-KH" sz="1800" kern="1200" dirty="0">
                        <a:solidFill>
                          <a:srgbClr val="7030A0"/>
                        </a:solidFill>
                        <a:latin typeface="Khmer OS Battambang" panose="02000500000000020004" pitchFamily="2" charset="77"/>
                        <a:ea typeface="+mn-ea"/>
                        <a:cs typeface="Khmer OS Battambang" panose="02000500000000020004" pitchFamily="2" charset="77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7308684"/>
                  </a:ext>
                </a:extLst>
              </a:tr>
              <a:tr h="923816">
                <a:tc vMerge="1">
                  <a:txBody>
                    <a:bodyPr/>
                    <a:lstStyle/>
                    <a:p>
                      <a:pPr algn="l"/>
                      <a:r>
                        <a:rPr lang="en-US" sz="1800" kern="1200" dirty="0">
                          <a:solidFill>
                            <a:srgbClr val="D49B06"/>
                          </a:solidFill>
                          <a:latin typeface="Khmer OS Battambang" panose="02000500000000020004" pitchFamily="2" charset="77"/>
                          <a:ea typeface="+mn-ea"/>
                          <a:cs typeface="Khmer OS Battambang" panose="02000500000000020004" pitchFamily="2" charset="77"/>
                        </a:rPr>
                        <a:t>Arrays</a:t>
                      </a:r>
                      <a:endParaRPr lang="en-KH" sz="1800" kern="1200" dirty="0">
                        <a:solidFill>
                          <a:srgbClr val="D49B06"/>
                        </a:solidFill>
                        <a:latin typeface="Khmer OS Battambang" panose="02000500000000020004" pitchFamily="2" charset="77"/>
                        <a:ea typeface="+mn-ea"/>
                        <a:cs typeface="Khmer OS Battambang" panose="02000500000000020004" pitchFamily="2" charset="77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vMerge="1"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KH" sz="1800" kern="1200" dirty="0">
                          <a:solidFill>
                            <a:srgbClr val="7030A0"/>
                          </a:solidFill>
                          <a:latin typeface="Khmer OS Battambang" panose="02000500000000020004" pitchFamily="2" charset="77"/>
                          <a:ea typeface="+mn-ea"/>
                          <a:cs typeface="Khmer OS Battambang" panose="02000500000000020004" pitchFamily="2" charset="77"/>
                        </a:rPr>
                        <a:t>  ជាវត្ថុសម្រាប់ផ្ទុកនូវធាតុជាច្រើនដែលមានប្រភេទទិន្នន័យដូចគ្នា និងនៅក្នុង</a:t>
                      </a:r>
                      <a:r>
                        <a:rPr lang="km-KH" sz="1800" kern="1200" dirty="0">
                          <a:solidFill>
                            <a:srgbClr val="7030A0"/>
                          </a:solidFill>
                          <a:latin typeface="Khmer OS Battambang" panose="02000500000000020004" pitchFamily="2" charset="77"/>
                          <a:ea typeface="+mn-ea"/>
                          <a:cs typeface="Khmer OS Battambang" panose="02000500000000020004" pitchFamily="2" charset="77"/>
                        </a:rPr>
                        <a:t>ទីតាំងចងចាំជាប់គ្នា</a:t>
                      </a:r>
                      <a:r>
                        <a:rPr lang="en-US" sz="1800" kern="1200" dirty="0">
                          <a:solidFill>
                            <a:srgbClr val="7030A0"/>
                          </a:solidFill>
                          <a:latin typeface="Khmer OS Battambang" panose="02000500000000020004" pitchFamily="2" charset="77"/>
                          <a:ea typeface="+mn-ea"/>
                          <a:cs typeface="Khmer OS Battambang" panose="02000500000000020004" pitchFamily="2" charset="77"/>
                        </a:rPr>
                        <a:t>។</a:t>
                      </a:r>
                      <a:endParaRPr lang="km-KH" sz="1800" kern="1200" dirty="0">
                        <a:solidFill>
                          <a:srgbClr val="7030A0"/>
                        </a:solidFill>
                        <a:latin typeface="Khmer OS Battambang" panose="02000500000000020004" pitchFamily="2" charset="77"/>
                        <a:ea typeface="+mn-ea"/>
                        <a:cs typeface="Khmer OS Battambang" panose="02000500000000020004" pitchFamily="2" charset="77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vMerge="1">
                  <a:txBody>
                    <a:bodyPr/>
                    <a:lstStyle/>
                    <a:p>
                      <a:pPr algn="l"/>
                      <a:endParaRPr lang="en-KH" sz="1800" kern="1200" dirty="0">
                        <a:solidFill>
                          <a:srgbClr val="7030A0"/>
                        </a:solidFill>
                        <a:latin typeface="Khmer OS Battambang" panose="02000500000000020004" pitchFamily="2" charset="77"/>
                        <a:ea typeface="+mn-ea"/>
                        <a:cs typeface="Khmer OS Battambang" panose="02000500000000020004" pitchFamily="2" charset="77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KH" sz="2000" kern="1200" dirty="0">
                          <a:solidFill>
                            <a:srgbClr val="7030A0"/>
                          </a:solidFill>
                          <a:latin typeface="Khmer OS Battambang" panose="02000500000000020004" pitchFamily="2" charset="77"/>
                          <a:ea typeface="+mn-ea"/>
                          <a:cs typeface="Khmer OS Battambang" panose="02000500000000020004" pitchFamily="2" charset="77"/>
                        </a:rPr>
                        <a:t>null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55070855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33692834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1B2A585-4685-99A1-BF62-DCEA433DFC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D15ECB1-8548-4BC9-FA3F-200A902B208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701800" y="119781"/>
            <a:ext cx="9144000" cy="789373"/>
          </a:xfrm>
        </p:spPr>
        <p:txBody>
          <a:bodyPr>
            <a:normAutofit/>
          </a:bodyPr>
          <a:lstStyle/>
          <a:p>
            <a:pPr algn="l"/>
            <a:r>
              <a:rPr lang="en-US" sz="3600" dirty="0" err="1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ប្រភេទទិន្នន័យ</a:t>
            </a:r>
            <a:r>
              <a:rPr lang="en-US" sz="3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(Data Type) (</a:t>
            </a:r>
            <a:r>
              <a:rPr lang="en-US" sz="3600" dirty="0" err="1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ត</a:t>
            </a:r>
            <a:r>
              <a:rPr lang="en-US" sz="3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)</a:t>
            </a:r>
            <a:endParaRPr lang="en-KH" sz="3600" dirty="0">
              <a:solidFill>
                <a:srgbClr val="002060"/>
              </a:solidFill>
              <a:latin typeface="Khmer OS Battambang" panose="02000500000000020004" pitchFamily="2" charset="77"/>
              <a:cs typeface="Khmer OS Battambang" panose="02000500000000020004" pitchFamily="2" charset="77"/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3E06D49-8DFA-0277-09AA-064AC8C84E0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24192" y="1417638"/>
            <a:ext cx="10954536" cy="4389894"/>
          </a:xfrm>
        </p:spPr>
        <p:txBody>
          <a:bodyPr>
            <a:normAutofit/>
          </a:bodyPr>
          <a:lstStyle/>
          <a:p>
            <a:pPr algn="l"/>
            <a:r>
              <a:rPr lang="en-KH" sz="2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- ប្រភេទទិន្នន័យមិនបឋម(Non-</a:t>
            </a:r>
            <a:r>
              <a:rPr lang="en-US" sz="2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Primitive Data Types</a:t>
            </a:r>
            <a:r>
              <a:rPr lang="en-KH" sz="2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)(ត):</a:t>
            </a:r>
            <a:br>
              <a:rPr lang="en-KH" sz="2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</a:br>
            <a:endParaRPr lang="en-KH" sz="2600" dirty="0">
              <a:solidFill>
                <a:srgbClr val="002060"/>
              </a:solidFill>
              <a:latin typeface="Khmer OS Battambang" panose="02000500000000020004" pitchFamily="2" charset="77"/>
              <a:cs typeface="Khmer OS Battambang" panose="02000500000000020004" pitchFamily="2" charset="77"/>
            </a:endParaRP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1E01AF43-AC4B-A90A-9209-36C24C7A41A8}"/>
              </a:ext>
            </a:extLst>
          </p:cNvPr>
          <p:cNvCxnSpPr/>
          <p:nvPr/>
        </p:nvCxnSpPr>
        <p:spPr>
          <a:xfrm>
            <a:off x="0" y="1050468"/>
            <a:ext cx="12192000" cy="0"/>
          </a:xfrm>
          <a:prstGeom prst="line">
            <a:avLst/>
          </a:prstGeom>
          <a:ln w="57150">
            <a:solidFill>
              <a:srgbClr val="D49B0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4F3B681B-FD27-D455-40F1-4337AFE73D3B}"/>
              </a:ext>
            </a:extLst>
          </p:cNvPr>
          <p:cNvCxnSpPr>
            <a:cxnSpLocks/>
          </p:cNvCxnSpPr>
          <p:nvPr/>
        </p:nvCxnSpPr>
        <p:spPr>
          <a:xfrm>
            <a:off x="0" y="979812"/>
            <a:ext cx="12192000" cy="0"/>
          </a:xfrm>
          <a:prstGeom prst="line">
            <a:avLst/>
          </a:prstGeom>
          <a:ln w="57150">
            <a:solidFill>
              <a:srgbClr val="1C27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7" name="Picture 46" descr="A blue circle with a yellow and white bird in it&#10;&#10;AI-generated content may be incorrect.">
            <a:extLst>
              <a:ext uri="{FF2B5EF4-FFF2-40B4-BE49-F238E27FC236}">
                <a16:creationId xmlns:a16="http://schemas.microsoft.com/office/drawing/2014/main" id="{AB88E863-0DD6-F706-1467-95D547E65C8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5438" y="219712"/>
            <a:ext cx="606500" cy="606500"/>
          </a:xfrm>
          <a:prstGeom prst="rect">
            <a:avLst/>
          </a:prstGeom>
        </p:spPr>
      </p:pic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A66CFB58-18CC-9C8C-2D79-B2B6261E6EB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88265468"/>
              </p:ext>
            </p:extLst>
          </p:nvPr>
        </p:nvGraphicFramePr>
        <p:xfrm>
          <a:off x="624192" y="2090331"/>
          <a:ext cx="10789283" cy="1848874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714468">
                  <a:extLst>
                    <a:ext uri="{9D8B030D-6E8A-4147-A177-3AD203B41FA5}">
                      <a16:colId xmlns:a16="http://schemas.microsoft.com/office/drawing/2014/main" val="4047497681"/>
                    </a:ext>
                  </a:extLst>
                </a:gridCol>
                <a:gridCol w="4395152">
                  <a:extLst>
                    <a:ext uri="{9D8B030D-6E8A-4147-A177-3AD203B41FA5}">
                      <a16:colId xmlns:a16="http://schemas.microsoft.com/office/drawing/2014/main" val="821048884"/>
                    </a:ext>
                  </a:extLst>
                </a:gridCol>
                <a:gridCol w="1770406">
                  <a:extLst>
                    <a:ext uri="{9D8B030D-6E8A-4147-A177-3AD203B41FA5}">
                      <a16:colId xmlns:a16="http://schemas.microsoft.com/office/drawing/2014/main" val="1256672291"/>
                    </a:ext>
                  </a:extLst>
                </a:gridCol>
                <a:gridCol w="1909257">
                  <a:extLst>
                    <a:ext uri="{9D8B030D-6E8A-4147-A177-3AD203B41FA5}">
                      <a16:colId xmlns:a16="http://schemas.microsoft.com/office/drawing/2014/main" val="3921409523"/>
                    </a:ext>
                  </a:extLst>
                </a:gridCol>
              </a:tblGrid>
              <a:tr h="359595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lang="en-KH" sz="2000" kern="1200" dirty="0">
                          <a:solidFill>
                            <a:srgbClr val="0070C0"/>
                          </a:solidFill>
                          <a:latin typeface="Khmer OS Content" panose="02000500000000020004" pitchFamily="2" charset="77"/>
                          <a:cs typeface="Khmer OS Content" panose="02000500000000020004" pitchFamily="2" charset="77"/>
                        </a:rPr>
                        <a:t>ប្រភេទទិន្នន័យ</a:t>
                      </a:r>
                      <a:endParaRPr lang="en-KH" sz="2000" kern="1200" dirty="0">
                        <a:solidFill>
                          <a:srgbClr val="0070C0"/>
                        </a:solidFill>
                        <a:latin typeface="Khmer OS Content" panose="02000500000000020004" pitchFamily="2" charset="77"/>
                        <a:ea typeface="+mn-ea"/>
                        <a:cs typeface="Khmer OS Content" panose="02000500000000020004" pitchFamily="2" charset="77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lang="en-KH" sz="2000" kern="1200" dirty="0">
                          <a:solidFill>
                            <a:srgbClr val="0070C0"/>
                          </a:solidFill>
                          <a:latin typeface="Khmer OS Content" panose="02000500000000020004" pitchFamily="2" charset="77"/>
                          <a:ea typeface="+mn-ea"/>
                          <a:cs typeface="Khmer OS Content" panose="02000500000000020004" pitchFamily="2" charset="77"/>
                        </a:rPr>
                        <a:t>បរិយាយ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lang="en-KH" sz="2000" kern="1200" dirty="0">
                          <a:solidFill>
                            <a:srgbClr val="0070C0"/>
                          </a:solidFill>
                          <a:latin typeface="Khmer OS Content" panose="02000500000000020004" pitchFamily="2" charset="77"/>
                          <a:ea typeface="+mn-ea"/>
                          <a:cs typeface="Khmer OS Content" panose="02000500000000020004" pitchFamily="2" charset="77"/>
                        </a:rPr>
                        <a:t>ទំហំ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lang="en-KH" sz="2000" kern="1200" dirty="0">
                          <a:solidFill>
                            <a:srgbClr val="0070C0"/>
                          </a:solidFill>
                          <a:latin typeface="Khmer OS Content" panose="02000500000000020004" pitchFamily="2" charset="77"/>
                          <a:ea typeface="+mn-ea"/>
                          <a:cs typeface="Khmer OS Content" panose="02000500000000020004" pitchFamily="2" charset="77"/>
                        </a:rPr>
                        <a:t>លំនាំដើម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972388122"/>
                  </a:ext>
                </a:extLst>
              </a:tr>
              <a:tr h="154970">
                <a:tc rowSpan="2">
                  <a:txBody>
                    <a:bodyPr/>
                    <a:lstStyle/>
                    <a:p>
                      <a:pPr algn="l"/>
                      <a:r>
                        <a:rPr lang="en-US" sz="2000" kern="1200" dirty="0">
                          <a:solidFill>
                            <a:srgbClr val="D49B06"/>
                          </a:solidFill>
                          <a:latin typeface="Khmer OS Content" panose="02000500000000020004" pitchFamily="2" charset="77"/>
                          <a:ea typeface="+mn-ea"/>
                          <a:cs typeface="Khmer OS Content" panose="02000500000000020004" pitchFamily="2" charset="77"/>
                        </a:rPr>
                        <a:t>Interfaces</a:t>
                      </a:r>
                      <a:endParaRPr lang="en-KH" sz="2000" kern="1200" dirty="0">
                        <a:solidFill>
                          <a:srgbClr val="D49B06"/>
                        </a:solidFill>
                        <a:latin typeface="Khmer OS Content" panose="02000500000000020004" pitchFamily="2" charset="77"/>
                        <a:ea typeface="+mn-ea"/>
                        <a:cs typeface="Khmer OS Content" panose="02000500000000020004" pitchFamily="2" charset="77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rowSpan="2"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kern="1200" dirty="0">
                          <a:solidFill>
                            <a:srgbClr val="7030A0"/>
                          </a:solidFill>
                          <a:latin typeface="Khmer OS Content" panose="02000500000000020004" pitchFamily="2" charset="77"/>
                          <a:ea typeface="+mn-ea"/>
                          <a:cs typeface="Khmer OS Content" panose="02000500000000020004" pitchFamily="2" charset="77"/>
                        </a:rPr>
                        <a:t> </a:t>
                      </a:r>
                      <a:r>
                        <a:rPr lang="en-US" sz="2000" kern="1200" dirty="0" err="1">
                          <a:solidFill>
                            <a:srgbClr val="7030A0"/>
                          </a:solidFill>
                          <a:latin typeface="Khmer OS Content" panose="02000500000000020004" pitchFamily="2" charset="77"/>
                          <a:ea typeface="+mn-ea"/>
                          <a:cs typeface="Khmer OS Content" panose="02000500000000020004" pitchFamily="2" charset="77"/>
                        </a:rPr>
                        <a:t>ជា</a:t>
                      </a:r>
                      <a:r>
                        <a:rPr lang="km-KH" sz="2000" kern="1200" dirty="0">
                          <a:solidFill>
                            <a:srgbClr val="7030A0"/>
                          </a:solidFill>
                          <a:latin typeface="Khmer OS Content" panose="02000500000000020004" pitchFamily="2" charset="77"/>
                          <a:ea typeface="+mn-ea"/>
                          <a:cs typeface="Khmer OS Content" panose="02000500000000020004" pitchFamily="2" charset="77"/>
                        </a:rPr>
                        <a:t>ប្រភេទអរូបីដែលកំណត់កិច្ចសន្យានៃវិធីសាស្រ្តដែលថ្នាក់ត្រូវអនុវត្ត</a:t>
                      </a:r>
                      <a:r>
                        <a:rPr lang="en-US" sz="2000" kern="1200" dirty="0">
                          <a:solidFill>
                            <a:srgbClr val="7030A0"/>
                          </a:solidFill>
                          <a:latin typeface="Khmer OS Content" panose="02000500000000020004" pitchFamily="2" charset="77"/>
                          <a:ea typeface="+mn-ea"/>
                          <a:cs typeface="Khmer OS Content" panose="02000500000000020004" pitchFamily="2" charset="77"/>
                        </a:rPr>
                        <a:t>។</a:t>
                      </a:r>
                      <a:endParaRPr lang="km-KH" sz="2000" kern="1200" dirty="0">
                        <a:solidFill>
                          <a:srgbClr val="7030A0"/>
                        </a:solidFill>
                        <a:latin typeface="Khmer OS Content" panose="02000500000000020004" pitchFamily="2" charset="77"/>
                        <a:ea typeface="+mn-ea"/>
                        <a:cs typeface="Khmer OS Content" panose="02000500000000020004" pitchFamily="2" charset="77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rowSpan="4">
                  <a:txBody>
                    <a:bodyPr/>
                    <a:lstStyle/>
                    <a:p>
                      <a:endParaRPr lang="en-KH" sz="2000" dirty="0">
                        <a:latin typeface="Khmer OS Content" panose="02000500000000020004" pitchFamily="2" charset="77"/>
                        <a:cs typeface="Khmer OS Content" panose="02000500000000020004" pitchFamily="2" charset="77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KH" sz="2000" kern="1200" dirty="0">
                          <a:solidFill>
                            <a:srgbClr val="7030A0"/>
                          </a:solidFill>
                          <a:latin typeface="Khmer OS Content" panose="02000500000000020004" pitchFamily="2" charset="77"/>
                          <a:ea typeface="+mn-ea"/>
                          <a:cs typeface="Khmer OS Content" panose="02000500000000020004" pitchFamily="2" charset="77"/>
                        </a:rPr>
                        <a:t>null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153679604"/>
                  </a:ext>
                </a:extLst>
              </a:tr>
              <a:tr h="355354">
                <a:tc vMerge="1">
                  <a:txBody>
                    <a:bodyPr/>
                    <a:lstStyle/>
                    <a:p>
                      <a:pPr algn="l"/>
                      <a:r>
                        <a:rPr lang="en-US" sz="1800" kern="1200" dirty="0">
                          <a:solidFill>
                            <a:srgbClr val="D49B06"/>
                          </a:solidFill>
                          <a:latin typeface="Khmer OS Battambang" panose="02000500000000020004" pitchFamily="2" charset="77"/>
                          <a:ea typeface="+mn-ea"/>
                          <a:cs typeface="Khmer OS Battambang" panose="02000500000000020004" pitchFamily="2" charset="77"/>
                        </a:rPr>
                        <a:t>Interfaces</a:t>
                      </a:r>
                      <a:endParaRPr lang="en-KH" sz="1800" kern="1200" dirty="0">
                        <a:solidFill>
                          <a:srgbClr val="D49B06"/>
                        </a:solidFill>
                        <a:latin typeface="Khmer OS Battambang" panose="02000500000000020004" pitchFamily="2" charset="77"/>
                        <a:ea typeface="+mn-ea"/>
                        <a:cs typeface="Khmer OS Battambang" panose="02000500000000020004" pitchFamily="2" charset="77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vMerge="1">
                  <a:txBody>
                    <a:bodyPr/>
                    <a:lstStyle/>
                    <a:p>
                      <a:pPr algn="l"/>
                      <a:endParaRPr lang="en-KH" sz="1800" kern="1200" dirty="0">
                        <a:solidFill>
                          <a:srgbClr val="7030A0"/>
                        </a:solidFill>
                        <a:latin typeface="Khmer OS Battambang" panose="02000500000000020004" pitchFamily="2" charset="77"/>
                        <a:ea typeface="+mn-ea"/>
                        <a:cs typeface="Khmer OS Battambang" panose="02000500000000020004" pitchFamily="2" charset="77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vMerge="1">
                  <a:txBody>
                    <a:bodyPr/>
                    <a:lstStyle/>
                    <a:p>
                      <a:pPr algn="l"/>
                      <a:endParaRPr lang="en-KH" sz="1800" kern="1200" dirty="0">
                        <a:solidFill>
                          <a:srgbClr val="7030A0"/>
                        </a:solidFill>
                        <a:latin typeface="Khmer OS Battambang" panose="02000500000000020004" pitchFamily="2" charset="77"/>
                        <a:ea typeface="+mn-ea"/>
                        <a:cs typeface="Khmer OS Battambang" panose="02000500000000020004" pitchFamily="2" charset="77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rowSpan="2">
                  <a:txBody>
                    <a:bodyPr/>
                    <a:lstStyle/>
                    <a:p>
                      <a:pPr algn="l"/>
                      <a:endParaRPr lang="en-KH" sz="2000" kern="1200" dirty="0">
                        <a:solidFill>
                          <a:srgbClr val="7030A0"/>
                        </a:solidFill>
                        <a:latin typeface="Khmer OS Content" panose="02000500000000020004" pitchFamily="2" charset="77"/>
                        <a:ea typeface="+mn-ea"/>
                        <a:cs typeface="Khmer OS Content" panose="02000500000000020004" pitchFamily="2" charset="77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311832117"/>
                  </a:ext>
                </a:extLst>
              </a:tr>
              <a:tr h="207546">
                <a:tc rowSpan="2">
                  <a:txBody>
                    <a:bodyPr/>
                    <a:lstStyle/>
                    <a:p>
                      <a:pPr algn="l"/>
                      <a:r>
                        <a:rPr lang="en-US" sz="2000" kern="1200">
                          <a:solidFill>
                            <a:srgbClr val="D49B06"/>
                          </a:solidFill>
                          <a:latin typeface="Khmer OS Content" panose="02000500000000020004" pitchFamily="2" charset="77"/>
                          <a:ea typeface="+mn-ea"/>
                          <a:cs typeface="Khmer OS Content" panose="02000500000000020004" pitchFamily="2" charset="77"/>
                        </a:rPr>
                        <a:t>Enums</a:t>
                      </a:r>
                      <a:endParaRPr lang="en-KH" sz="2000" kern="1200" dirty="0">
                        <a:solidFill>
                          <a:srgbClr val="D49B06"/>
                        </a:solidFill>
                        <a:latin typeface="Khmer OS Content" panose="02000500000000020004" pitchFamily="2" charset="77"/>
                        <a:ea typeface="+mn-ea"/>
                        <a:cs typeface="Khmer OS Content" panose="02000500000000020004" pitchFamily="2" charset="77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rowSpan="2"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KH" sz="2000" kern="1200" dirty="0">
                          <a:solidFill>
                            <a:srgbClr val="7030A0"/>
                          </a:solidFill>
                          <a:latin typeface="Khmer OS Content" panose="02000500000000020004" pitchFamily="2" charset="77"/>
                          <a:ea typeface="+mn-ea"/>
                          <a:cs typeface="Khmer OS Content" panose="02000500000000020004" pitchFamily="2" charset="77"/>
                        </a:rPr>
                        <a:t> ជាប្រភេទពិសេសដែលប្រើដើម្បីកំណត់តម្លៃអថេដែលមិនប្រែប្រួល។</a:t>
                      </a:r>
                      <a:endParaRPr lang="km-KH" sz="2000" kern="1200" dirty="0">
                        <a:solidFill>
                          <a:srgbClr val="7030A0"/>
                        </a:solidFill>
                        <a:latin typeface="Khmer OS Content" panose="02000500000000020004" pitchFamily="2" charset="77"/>
                        <a:ea typeface="+mn-ea"/>
                        <a:cs typeface="Khmer OS Content" panose="02000500000000020004" pitchFamily="2" charset="77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vMerge="1">
                  <a:txBody>
                    <a:bodyPr/>
                    <a:lstStyle/>
                    <a:p>
                      <a:endParaRPr lang="en-KH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pPr algn="l"/>
                      <a:endParaRPr lang="en-KH" sz="1800" kern="1200" dirty="0">
                        <a:solidFill>
                          <a:srgbClr val="7030A0"/>
                        </a:solidFill>
                        <a:latin typeface="Khmer OS Battambang" panose="02000500000000020004" pitchFamily="2" charset="77"/>
                        <a:ea typeface="+mn-ea"/>
                        <a:cs typeface="Khmer OS Battambang" panose="02000500000000020004" pitchFamily="2" charset="77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3548077"/>
                  </a:ext>
                </a:extLst>
              </a:tr>
              <a:tr h="331934">
                <a:tc vMerge="1">
                  <a:txBody>
                    <a:bodyPr/>
                    <a:lstStyle/>
                    <a:p>
                      <a:pPr algn="l"/>
                      <a:r>
                        <a:rPr lang="en-US" sz="1800" kern="1200" dirty="0">
                          <a:solidFill>
                            <a:srgbClr val="D49B06"/>
                          </a:solidFill>
                          <a:latin typeface="Khmer OS Battambang" panose="02000500000000020004" pitchFamily="2" charset="77"/>
                          <a:ea typeface="+mn-ea"/>
                          <a:cs typeface="Khmer OS Battambang" panose="02000500000000020004" pitchFamily="2" charset="77"/>
                        </a:rPr>
                        <a:t>Enums</a:t>
                      </a:r>
                      <a:endParaRPr lang="en-KH" sz="1800" kern="1200" dirty="0">
                        <a:solidFill>
                          <a:srgbClr val="D49B06"/>
                        </a:solidFill>
                        <a:latin typeface="Khmer OS Battambang" panose="02000500000000020004" pitchFamily="2" charset="77"/>
                        <a:ea typeface="+mn-ea"/>
                        <a:cs typeface="Khmer OS Battambang" panose="02000500000000020004" pitchFamily="2" charset="77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vMerge="1">
                  <a:txBody>
                    <a:bodyPr/>
                    <a:lstStyle/>
                    <a:p>
                      <a:pPr algn="l"/>
                      <a:r>
                        <a:rPr lang="en-KH" sz="1800" kern="1200" dirty="0">
                          <a:solidFill>
                            <a:srgbClr val="7030A0"/>
                          </a:solidFill>
                          <a:latin typeface="Khmer OS Battambang" panose="02000500000000020004" pitchFamily="2" charset="77"/>
                          <a:ea typeface="+mn-ea"/>
                          <a:cs typeface="Khmer OS Battambang" panose="02000500000000020004" pitchFamily="2" charset="77"/>
                        </a:rPr>
                        <a:t> ជាប្រភេទពិសេសដែលប្រើដើម្បីកំណត់តម្លៃអថេដែលមិនប្រែប្រួល។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vMerge="1">
                  <a:txBody>
                    <a:bodyPr/>
                    <a:lstStyle/>
                    <a:p>
                      <a:pPr algn="l"/>
                      <a:endParaRPr lang="en-KH" sz="1800" kern="1200" dirty="0">
                        <a:solidFill>
                          <a:srgbClr val="7030A0"/>
                        </a:solidFill>
                        <a:latin typeface="Khmer OS Battambang" panose="02000500000000020004" pitchFamily="2" charset="77"/>
                        <a:ea typeface="+mn-ea"/>
                        <a:cs typeface="Khmer OS Battambang" panose="02000500000000020004" pitchFamily="2" charset="77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KH" sz="2000" kern="1200" dirty="0">
                          <a:solidFill>
                            <a:srgbClr val="7030A0"/>
                          </a:solidFill>
                          <a:latin typeface="Khmer OS Content" panose="02000500000000020004" pitchFamily="2" charset="77"/>
                          <a:ea typeface="+mn-ea"/>
                          <a:cs typeface="Khmer OS Content" panose="02000500000000020004" pitchFamily="2" charset="77"/>
                        </a:rPr>
                        <a:t>null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75458776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52128768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E805DA8-021B-CDEE-1DA3-6333145A74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64613E-EAA9-BE10-0DAE-850A6B9468F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701800" y="119781"/>
            <a:ext cx="9144000" cy="789373"/>
          </a:xfrm>
        </p:spPr>
        <p:txBody>
          <a:bodyPr>
            <a:normAutofit/>
          </a:bodyPr>
          <a:lstStyle/>
          <a:p>
            <a:pPr algn="l"/>
            <a:r>
              <a:rPr lang="en-US" sz="3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Variable</a:t>
            </a:r>
            <a:endParaRPr lang="en-KH" sz="3600" dirty="0">
              <a:solidFill>
                <a:srgbClr val="002060"/>
              </a:solidFill>
              <a:latin typeface="Khmer OS Battambang" panose="02000500000000020004" pitchFamily="2" charset="77"/>
              <a:cs typeface="Khmer OS Battambang" panose="02000500000000020004" pitchFamily="2" charset="77"/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9D5DB14E-0CC1-544D-90F8-9962D934614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24192" y="1417637"/>
            <a:ext cx="10954536" cy="4836403"/>
          </a:xfrm>
        </p:spPr>
        <p:txBody>
          <a:bodyPr>
            <a:normAutofit fontScale="77500" lnSpcReduction="20000"/>
          </a:bodyPr>
          <a:lstStyle/>
          <a:p>
            <a:pPr algn="l">
              <a:lnSpc>
                <a:spcPct val="150000"/>
              </a:lnSpc>
            </a:pPr>
            <a:r>
              <a:rPr lang="en-KH" sz="2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 Variable </a:t>
            </a:r>
            <a:r>
              <a:rPr lang="en-KH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គឺជាឈ្មោះអថេរមួយសម្រាប់រក្សាទុកតម្លៃរបស់ទិន្នន័យកំឡុងពេលដំណើរការកម្មវិធី។</a:t>
            </a:r>
          </a:p>
          <a:p>
            <a:pPr marL="457200" indent="-457200" algn="l">
              <a:lnSpc>
                <a:spcPct val="150000"/>
              </a:lnSpc>
              <a:buFontTx/>
              <a:buChar char="-"/>
            </a:pPr>
            <a:r>
              <a:rPr lang="en-KH" sz="2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ការប្រកាស​ Variable ៖ </a:t>
            </a:r>
            <a:r>
              <a:rPr lang="en-KH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(</a:t>
            </a:r>
            <a:r>
              <a:rPr lang="en-KH" sz="2600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ប្រភេទទិន្នន័យ</a:t>
            </a:r>
            <a:r>
              <a:rPr lang="en-KH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)</a:t>
            </a:r>
            <a:r>
              <a:rPr lang="en-KH" sz="2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</a:t>
            </a:r>
            <a:r>
              <a:rPr lang="en-KH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(ឈ្មោះ Variable)</a:t>
            </a:r>
            <a:r>
              <a:rPr lang="en-KH" sz="2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;</a:t>
            </a:r>
            <a:br>
              <a:rPr lang="en-KH" sz="2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</a:br>
            <a:r>
              <a:rPr lang="en-KH" sz="2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​​	ឧទាហរណ៍​៖ </a:t>
            </a:r>
            <a:r>
              <a:rPr lang="en-KH" sz="2600" dirty="0">
                <a:solidFill>
                  <a:srgbClr val="D49B06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double</a:t>
            </a:r>
            <a:r>
              <a:rPr lang="en-KH" sz="2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amount;</a:t>
            </a:r>
          </a:p>
          <a:p>
            <a:pPr marL="457200" indent="-457200" algn="l">
              <a:lnSpc>
                <a:spcPct val="150000"/>
              </a:lnSpc>
              <a:buFontTx/>
              <a:buChar char="-"/>
            </a:pPr>
            <a:r>
              <a:rPr lang="en-KH" sz="2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ការបញ្ចូលតម្លៃទៅឲ្យ Variable៖ </a:t>
            </a:r>
            <a:r>
              <a:rPr lang="en-KH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(ឈ្មោះ Variable) = (</a:t>
            </a:r>
            <a:r>
              <a:rPr lang="en-KH" sz="2600" dirty="0">
                <a:solidFill>
                  <a:srgbClr val="D49B06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តម្លៃ</a:t>
            </a:r>
            <a:r>
              <a:rPr lang="en-KH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);</a:t>
            </a:r>
            <a:br>
              <a:rPr lang="en-KH" sz="2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</a:br>
            <a:r>
              <a:rPr lang="en-KH" sz="2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	ឧទាហរណ៍៖ </a:t>
            </a:r>
            <a:r>
              <a:rPr lang="en-KH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amount = </a:t>
            </a:r>
            <a:r>
              <a:rPr lang="en-KH" sz="2600" dirty="0">
                <a:solidFill>
                  <a:srgbClr val="D49B06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200</a:t>
            </a:r>
            <a:r>
              <a:rPr lang="en-KH" sz="2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;</a:t>
            </a:r>
          </a:p>
          <a:p>
            <a:pPr marL="457200" indent="-457200" algn="l">
              <a:lnSpc>
                <a:spcPct val="150000"/>
              </a:lnSpc>
              <a:buFontTx/>
              <a:buChar char="-"/>
            </a:pPr>
            <a:r>
              <a:rPr lang="en-KH" sz="2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ការប្រកាស Variable និង​កំណត់តម្លៃដំបូង(Initialization)៖ </a:t>
            </a:r>
            <a:r>
              <a:rPr lang="en-KH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(</a:t>
            </a:r>
            <a:r>
              <a:rPr lang="en-KH" sz="2600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ប្រភេទទិន្នន័យ</a:t>
            </a:r>
            <a:r>
              <a:rPr lang="en-KH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) (ឈ្មោះ Variable) = (</a:t>
            </a:r>
            <a:r>
              <a:rPr lang="en-KH" sz="2600" dirty="0">
                <a:solidFill>
                  <a:srgbClr val="D49B06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តម្លៃ</a:t>
            </a:r>
            <a:r>
              <a:rPr lang="en-KH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);     </a:t>
            </a:r>
          </a:p>
          <a:p>
            <a:pPr algn="l">
              <a:lnSpc>
                <a:spcPct val="150000"/>
              </a:lnSpc>
            </a:pPr>
            <a:r>
              <a:rPr lang="en-KH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           </a:t>
            </a:r>
            <a:r>
              <a:rPr lang="en-KH" sz="2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ឧទាហរណ៍៖ </a:t>
            </a:r>
            <a:r>
              <a:rPr lang="en-KH" sz="2600" dirty="0">
                <a:solidFill>
                  <a:srgbClr val="D49B06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double </a:t>
            </a:r>
            <a:r>
              <a:rPr lang="en-KH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amount = </a:t>
            </a:r>
            <a:r>
              <a:rPr lang="en-KH" sz="2600" dirty="0">
                <a:solidFill>
                  <a:srgbClr val="D49B06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200</a:t>
            </a:r>
            <a:r>
              <a:rPr lang="en-KH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;</a:t>
            </a:r>
          </a:p>
          <a:p>
            <a:pPr algn="l">
              <a:lnSpc>
                <a:spcPct val="150000"/>
              </a:lnSpc>
            </a:pPr>
            <a:r>
              <a:rPr lang="en-KH" dirty="0"/>
              <a:t>✍️ </a:t>
            </a:r>
            <a:r>
              <a:rPr lang="en-KH" sz="2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ចំណាំ៖ </a:t>
            </a:r>
            <a:r>
              <a:rPr lang="en-KH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ការប្រកាស Vairable ច្រើនដែលមានប្រភេទទិន្នន័យដូចគ្នា អាចដាក់បន្តបន្ទាប់គ្នាដោយប្រើប្រភេទទិន្នន័យតែមួយ ដោយមានសញ្ញា (</a:t>
            </a:r>
            <a:r>
              <a:rPr lang="en-KH" sz="2600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,</a:t>
            </a:r>
            <a:r>
              <a:rPr lang="en-KH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)</a:t>
            </a:r>
            <a:r>
              <a:rPr lang="en-KH" sz="22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នៅចន្លោះកណ្តាល។ ឧទាហរណ៍៖</a:t>
            </a:r>
            <a:r>
              <a:rPr lang="en-KH" sz="22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</a:t>
            </a:r>
            <a:r>
              <a:rPr lang="en-KH" sz="2200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double</a:t>
            </a:r>
            <a:r>
              <a:rPr lang="en-KH" sz="22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</a:t>
            </a:r>
            <a:r>
              <a:rPr lang="en-KH" sz="22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amount1</a:t>
            </a:r>
            <a:r>
              <a:rPr lang="en-KH" sz="2200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,</a:t>
            </a:r>
            <a:r>
              <a:rPr lang="en-KH" sz="22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</a:t>
            </a:r>
            <a:r>
              <a:rPr lang="en-KH" sz="22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amount2;</a:t>
            </a:r>
            <a:endParaRPr lang="en-KH" sz="2600" dirty="0">
              <a:solidFill>
                <a:srgbClr val="0070C0"/>
              </a:solidFill>
              <a:latin typeface="Khmer OS Battambang" panose="02000500000000020004" pitchFamily="2" charset="77"/>
              <a:cs typeface="Khmer OS Battambang" panose="02000500000000020004" pitchFamily="2" charset="77"/>
            </a:endParaRP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CD30AB15-09DD-66A0-2489-BF7C7FBDDF0C}"/>
              </a:ext>
            </a:extLst>
          </p:cNvPr>
          <p:cNvCxnSpPr/>
          <p:nvPr/>
        </p:nvCxnSpPr>
        <p:spPr>
          <a:xfrm>
            <a:off x="0" y="1050468"/>
            <a:ext cx="12192000" cy="0"/>
          </a:xfrm>
          <a:prstGeom prst="line">
            <a:avLst/>
          </a:prstGeom>
          <a:ln w="57150">
            <a:solidFill>
              <a:srgbClr val="D49B0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9EC37A7C-F4E2-179B-F923-AC9DA76C1D5A}"/>
              </a:ext>
            </a:extLst>
          </p:cNvPr>
          <p:cNvCxnSpPr>
            <a:cxnSpLocks/>
          </p:cNvCxnSpPr>
          <p:nvPr/>
        </p:nvCxnSpPr>
        <p:spPr>
          <a:xfrm>
            <a:off x="0" y="979812"/>
            <a:ext cx="12192000" cy="0"/>
          </a:xfrm>
          <a:prstGeom prst="line">
            <a:avLst/>
          </a:prstGeom>
          <a:ln w="57150">
            <a:solidFill>
              <a:srgbClr val="1C27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7" name="Picture 46" descr="A blue circle with a yellow and white bird in it&#10;&#10;AI-generated content may be incorrect.">
            <a:extLst>
              <a:ext uri="{FF2B5EF4-FFF2-40B4-BE49-F238E27FC236}">
                <a16:creationId xmlns:a16="http://schemas.microsoft.com/office/drawing/2014/main" id="{78826D76-722A-8F7A-494F-581F5574219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5438" y="219712"/>
            <a:ext cx="606500" cy="606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8058545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" dur="10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10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1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2" dur="10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3" dur="10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1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9" dur="10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0" dur="10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1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1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4" dur="1000" fill="hold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5" dur="1000" fill="hold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1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1" dur="1000" fill="hold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2" dur="1000" fill="hold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697DD55-2040-90F1-B111-BBB17E5429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FA26EFC-C41F-7D36-29D5-DB1F67F5D26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701800" y="119781"/>
            <a:ext cx="9144000" cy="789373"/>
          </a:xfrm>
        </p:spPr>
        <p:txBody>
          <a:bodyPr>
            <a:normAutofit/>
          </a:bodyPr>
          <a:lstStyle/>
          <a:p>
            <a:pPr algn="l"/>
            <a:r>
              <a:rPr lang="en-US" sz="3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Operator</a:t>
            </a:r>
            <a:endParaRPr lang="en-KH" sz="3600" dirty="0">
              <a:solidFill>
                <a:srgbClr val="002060"/>
              </a:solidFill>
              <a:latin typeface="Khmer OS Battambang" panose="02000500000000020004" pitchFamily="2" charset="77"/>
              <a:cs typeface="Khmer OS Battambang" panose="02000500000000020004" pitchFamily="2" charset="77"/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25243BE-5AE1-3116-A871-8C7DA04EB78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24192" y="1219212"/>
            <a:ext cx="10954536" cy="5519003"/>
          </a:xfrm>
        </p:spPr>
        <p:txBody>
          <a:bodyPr>
            <a:normAutofit fontScale="85000" lnSpcReduction="20000"/>
          </a:bodyPr>
          <a:lstStyle/>
          <a:p>
            <a:pPr algn="l">
              <a:lnSpc>
                <a:spcPct val="150000"/>
              </a:lnSpc>
            </a:pPr>
            <a:r>
              <a:rPr lang="en-KH" sz="2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	Operator </a:t>
            </a:r>
            <a:r>
              <a:rPr lang="en-KH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គឺជាសញ្ញាពិសេសដែលប្រាប់ compiler  ដើម្បីអនុវត្តនូវភាពជាក់លាក់ក្នុងការគណនាគណិតវិទ្យា ការប្រៀបធៀប ឫប្រតិបត្តិការតក្កវិទ្យា ចំពោះតម្លៃ ឫ Variable។ </a:t>
            </a:r>
          </a:p>
          <a:p>
            <a:pPr algn="l">
              <a:lnSpc>
                <a:spcPct val="150000"/>
              </a:lnSpc>
            </a:pPr>
            <a:r>
              <a:rPr lang="en-KH" sz="2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​​</a:t>
            </a:r>
            <a:r>
              <a:rPr lang="en-KH" sz="2800" dirty="0"/>
              <a:t> 👉 </a:t>
            </a:r>
            <a:r>
              <a:rPr lang="en-KH" sz="2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Operator មានដូចជា៖</a:t>
            </a:r>
          </a:p>
          <a:p>
            <a:pPr algn="l">
              <a:lnSpc>
                <a:spcPct val="150000"/>
              </a:lnSpc>
            </a:pPr>
            <a:r>
              <a:rPr lang="en-US" sz="2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	</a:t>
            </a:r>
            <a:r>
              <a:rPr lang="en-US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- Arithmetic Operators</a:t>
            </a:r>
          </a:p>
          <a:p>
            <a:pPr algn="l">
              <a:lnSpc>
                <a:spcPct val="150000"/>
              </a:lnSpc>
            </a:pPr>
            <a:r>
              <a:rPr lang="en-US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	- Assignment Operators</a:t>
            </a:r>
          </a:p>
          <a:p>
            <a:pPr algn="l">
              <a:lnSpc>
                <a:spcPct val="150000"/>
              </a:lnSpc>
            </a:pPr>
            <a:r>
              <a:rPr lang="en-US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	- Relational (Comparison) Operators</a:t>
            </a:r>
          </a:p>
          <a:p>
            <a:pPr algn="l">
              <a:lnSpc>
                <a:spcPct val="150000"/>
              </a:lnSpc>
            </a:pPr>
            <a:r>
              <a:rPr lang="en-US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	- Logical Operators</a:t>
            </a:r>
          </a:p>
          <a:p>
            <a:pPr algn="l">
              <a:lnSpc>
                <a:spcPct val="150000"/>
              </a:lnSpc>
            </a:pPr>
            <a:r>
              <a:rPr lang="en-US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	- Unary Operators</a:t>
            </a:r>
          </a:p>
          <a:p>
            <a:pPr algn="l">
              <a:lnSpc>
                <a:spcPct val="150000"/>
              </a:lnSpc>
            </a:pPr>
            <a:r>
              <a:rPr lang="en-US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	- </a:t>
            </a:r>
            <a:r>
              <a:rPr lang="en-US" sz="28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Ternary (Conditional) Operator</a:t>
            </a:r>
            <a:br>
              <a:rPr lang="en-US" sz="28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</a:br>
            <a:r>
              <a:rPr lang="en-US" sz="28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	- </a:t>
            </a:r>
            <a:r>
              <a:rPr lang="en-US" sz="26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instanceof</a:t>
            </a:r>
            <a:r>
              <a:rPr lang="en-US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 Operator</a:t>
            </a:r>
            <a:endParaRPr lang="en-KH" sz="2600" dirty="0">
              <a:solidFill>
                <a:srgbClr val="0070C0"/>
              </a:solidFill>
              <a:latin typeface="Khmer OS Battambang" panose="02000500000000020004" pitchFamily="2" charset="77"/>
              <a:cs typeface="Khmer OS Battambang" panose="02000500000000020004" pitchFamily="2" charset="77"/>
            </a:endParaRP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EEEF10A7-DC44-D475-5E65-1BCB2C7A41BB}"/>
              </a:ext>
            </a:extLst>
          </p:cNvPr>
          <p:cNvCxnSpPr/>
          <p:nvPr/>
        </p:nvCxnSpPr>
        <p:spPr>
          <a:xfrm>
            <a:off x="0" y="1050468"/>
            <a:ext cx="12192000" cy="0"/>
          </a:xfrm>
          <a:prstGeom prst="line">
            <a:avLst/>
          </a:prstGeom>
          <a:ln w="57150">
            <a:solidFill>
              <a:srgbClr val="D49B0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83C59F8A-84CC-D8C7-B0FF-7A7276FDBBDC}"/>
              </a:ext>
            </a:extLst>
          </p:cNvPr>
          <p:cNvCxnSpPr>
            <a:cxnSpLocks/>
          </p:cNvCxnSpPr>
          <p:nvPr/>
        </p:nvCxnSpPr>
        <p:spPr>
          <a:xfrm>
            <a:off x="0" y="979812"/>
            <a:ext cx="12192000" cy="0"/>
          </a:xfrm>
          <a:prstGeom prst="line">
            <a:avLst/>
          </a:prstGeom>
          <a:ln w="57150">
            <a:solidFill>
              <a:srgbClr val="1C27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7" name="Picture 46" descr="A blue circle with a yellow and white bird in it&#10;&#10;AI-generated content may be incorrect.">
            <a:extLst>
              <a:ext uri="{FF2B5EF4-FFF2-40B4-BE49-F238E27FC236}">
                <a16:creationId xmlns:a16="http://schemas.microsoft.com/office/drawing/2014/main" id="{11B44003-47F7-E62E-C082-70FE2BD8F19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5438" y="219712"/>
            <a:ext cx="606500" cy="606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4690006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098FFB8-76A0-FD2E-37C3-7E80E3BB4D9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1CEB3D2-153C-C607-6AA5-4AED67C500E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701800" y="119781"/>
            <a:ext cx="9144000" cy="789373"/>
          </a:xfrm>
        </p:spPr>
        <p:txBody>
          <a:bodyPr>
            <a:normAutofit/>
          </a:bodyPr>
          <a:lstStyle/>
          <a:p>
            <a:pPr algn="l"/>
            <a:r>
              <a:rPr lang="en-US" sz="3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Arithmetic Operators</a:t>
            </a:r>
            <a:endParaRPr lang="en-KH" sz="3600" dirty="0">
              <a:solidFill>
                <a:srgbClr val="002060"/>
              </a:solidFill>
              <a:latin typeface="Khmer OS Battambang" panose="02000500000000020004" pitchFamily="2" charset="77"/>
              <a:cs typeface="Khmer OS Battambang" panose="02000500000000020004" pitchFamily="2" charset="77"/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E782AFA-A663-692F-FA12-403D7CB0B2A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24192" y="1219212"/>
            <a:ext cx="10954536" cy="5519003"/>
          </a:xfrm>
        </p:spPr>
        <p:txBody>
          <a:bodyPr>
            <a:normAutofit lnSpcReduction="10000"/>
          </a:bodyPr>
          <a:lstStyle/>
          <a:p>
            <a:pPr algn="l">
              <a:lnSpc>
                <a:spcPct val="150000"/>
              </a:lnSpc>
            </a:pPr>
            <a:r>
              <a:rPr lang="en-KH" sz="2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	</a:t>
            </a:r>
            <a:r>
              <a:rPr lang="en-US" sz="2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Arithmetic Operators</a:t>
            </a:r>
            <a:r>
              <a:rPr lang="en-KH" sz="2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</a:t>
            </a:r>
            <a:r>
              <a:rPr lang="en-KH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គឺជា Operator ប្រើប្រាស់សម្រាប់អនុវត្តប្រតិបត្តិការ គណិតវិទ្យាធម្មតាដូចជា បូក(</a:t>
            </a:r>
            <a:r>
              <a:rPr lang="en-KH" sz="2600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+</a:t>
            </a:r>
            <a:r>
              <a:rPr lang="en-KH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) ដក(</a:t>
            </a:r>
            <a:r>
              <a:rPr lang="en-KH" sz="2600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-</a:t>
            </a:r>
            <a:r>
              <a:rPr lang="en-KH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) គុណ(</a:t>
            </a:r>
            <a:r>
              <a:rPr lang="en-KH" sz="2600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*</a:t>
            </a:r>
            <a:r>
              <a:rPr lang="en-KH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) ចែក(</a:t>
            </a:r>
            <a:r>
              <a:rPr lang="en-KH" sz="2600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/</a:t>
            </a:r>
            <a:r>
              <a:rPr lang="en-KH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)​ និងចែករកសំណល់(</a:t>
            </a:r>
            <a:r>
              <a:rPr lang="en-KH" sz="2600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%</a:t>
            </a:r>
            <a:r>
              <a:rPr lang="en-KH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)។</a:t>
            </a:r>
            <a:br>
              <a:rPr lang="en-KH" sz="2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</a:br>
            <a:r>
              <a:rPr lang="en-KH" sz="2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ឧទាហរណ៍៖</a:t>
            </a:r>
          </a:p>
          <a:p>
            <a:pPr algn="l">
              <a:lnSpc>
                <a:spcPct val="120000"/>
              </a:lnSpc>
            </a:pPr>
            <a:r>
              <a:rPr lang="en-KH" sz="2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	</a:t>
            </a:r>
            <a:r>
              <a:rPr lang="en-KH" sz="2600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double</a:t>
            </a:r>
            <a:r>
              <a:rPr lang="en-KH" sz="2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</a:t>
            </a:r>
            <a:r>
              <a:rPr lang="en-KH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amount1= </a:t>
            </a:r>
            <a:r>
              <a:rPr lang="en-KH" sz="2600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200</a:t>
            </a:r>
            <a:r>
              <a:rPr lang="en-KH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, amount2= </a:t>
            </a:r>
            <a:r>
              <a:rPr lang="en-KH" sz="2600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100</a:t>
            </a:r>
            <a:r>
              <a:rPr lang="en-KH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;</a:t>
            </a:r>
          </a:p>
          <a:p>
            <a:pPr algn="l">
              <a:lnSpc>
                <a:spcPct val="120000"/>
              </a:lnSpc>
            </a:pPr>
            <a:r>
              <a:rPr lang="en-US" b="1" dirty="0"/>
              <a:t>	</a:t>
            </a:r>
            <a:r>
              <a:rPr lang="en-US" sz="2600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double</a:t>
            </a:r>
            <a:r>
              <a:rPr lang="en-US" dirty="0"/>
              <a:t> </a:t>
            </a:r>
            <a:r>
              <a:rPr lang="en-US" sz="26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resultAdd</a:t>
            </a:r>
            <a:r>
              <a:rPr lang="en-US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= amount1</a:t>
            </a:r>
            <a:r>
              <a:rPr lang="en-US" dirty="0"/>
              <a:t> </a:t>
            </a:r>
            <a:r>
              <a:rPr lang="en-US" sz="2600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+</a:t>
            </a:r>
            <a:r>
              <a:rPr lang="en-US" dirty="0"/>
              <a:t> </a:t>
            </a:r>
            <a:r>
              <a:rPr lang="en-US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amount2;</a:t>
            </a:r>
          </a:p>
          <a:p>
            <a:pPr algn="l">
              <a:lnSpc>
                <a:spcPct val="120000"/>
              </a:lnSpc>
            </a:pPr>
            <a:r>
              <a:rPr lang="en-US" sz="2600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	double</a:t>
            </a:r>
            <a:r>
              <a:rPr lang="en-US" sz="2800" dirty="0"/>
              <a:t> </a:t>
            </a:r>
            <a:r>
              <a:rPr lang="en-US" sz="26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resultSubtraction</a:t>
            </a:r>
            <a:r>
              <a:rPr lang="en-US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= amount1</a:t>
            </a:r>
            <a:r>
              <a:rPr lang="en-US" sz="2800" dirty="0"/>
              <a:t> </a:t>
            </a:r>
            <a:r>
              <a:rPr lang="en-US" sz="2600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-</a:t>
            </a:r>
            <a:r>
              <a:rPr lang="en-US" sz="2800" dirty="0"/>
              <a:t> </a:t>
            </a:r>
            <a:r>
              <a:rPr lang="en-US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amount2;</a:t>
            </a:r>
          </a:p>
          <a:p>
            <a:pPr algn="l">
              <a:lnSpc>
                <a:spcPct val="120000"/>
              </a:lnSpc>
            </a:pPr>
            <a:r>
              <a:rPr lang="en-US" sz="2600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	double</a:t>
            </a:r>
            <a:r>
              <a:rPr lang="en-US" sz="2800" dirty="0"/>
              <a:t> </a:t>
            </a:r>
            <a:r>
              <a:rPr lang="en-US" sz="26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resultMultiplication</a:t>
            </a:r>
            <a:r>
              <a:rPr lang="en-US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= amount1</a:t>
            </a:r>
            <a:r>
              <a:rPr lang="en-US" sz="2800" dirty="0"/>
              <a:t> </a:t>
            </a:r>
            <a:r>
              <a:rPr lang="en-US" sz="2600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*</a:t>
            </a:r>
            <a:r>
              <a:rPr lang="en-US" sz="2800" dirty="0"/>
              <a:t> </a:t>
            </a:r>
            <a:r>
              <a:rPr lang="en-US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amount2;</a:t>
            </a:r>
          </a:p>
          <a:p>
            <a:pPr algn="l">
              <a:lnSpc>
                <a:spcPct val="120000"/>
              </a:lnSpc>
            </a:pPr>
            <a:r>
              <a:rPr lang="en-US" sz="2600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	double</a:t>
            </a:r>
            <a:r>
              <a:rPr lang="en-US" sz="2800" dirty="0"/>
              <a:t> </a:t>
            </a:r>
            <a:r>
              <a:rPr lang="en-US" sz="26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resultDivision</a:t>
            </a:r>
            <a:r>
              <a:rPr lang="en-US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= amount1 </a:t>
            </a:r>
            <a:r>
              <a:rPr lang="en-US" sz="2600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/</a:t>
            </a:r>
            <a:r>
              <a:rPr lang="en-US" sz="2800" dirty="0"/>
              <a:t> </a:t>
            </a:r>
            <a:r>
              <a:rPr lang="en-US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amount2;</a:t>
            </a:r>
          </a:p>
          <a:p>
            <a:pPr algn="l">
              <a:lnSpc>
                <a:spcPct val="120000"/>
              </a:lnSpc>
            </a:pPr>
            <a:r>
              <a:rPr lang="en-US" sz="2600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	double</a:t>
            </a:r>
            <a:r>
              <a:rPr lang="en-US" sz="2800" dirty="0"/>
              <a:t> </a:t>
            </a:r>
            <a:r>
              <a:rPr lang="en-US" sz="26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resultModulus</a:t>
            </a:r>
            <a:r>
              <a:rPr lang="en-US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= amount1 </a:t>
            </a:r>
            <a:r>
              <a:rPr lang="en-US" sz="2600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%</a:t>
            </a:r>
            <a:r>
              <a:rPr lang="en-US" sz="2800" dirty="0"/>
              <a:t> </a:t>
            </a:r>
            <a:r>
              <a:rPr lang="en-US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amount2;</a:t>
            </a:r>
            <a:endParaRPr lang="en-KH" sz="2600" dirty="0">
              <a:solidFill>
                <a:srgbClr val="0070C0"/>
              </a:solidFill>
              <a:latin typeface="Khmer OS Battambang" panose="02000500000000020004" pitchFamily="2" charset="77"/>
              <a:cs typeface="Khmer OS Battambang" panose="02000500000000020004" pitchFamily="2" charset="77"/>
            </a:endParaRP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A7A8C777-7494-5788-8C5D-4D4BAD6C7654}"/>
              </a:ext>
            </a:extLst>
          </p:cNvPr>
          <p:cNvCxnSpPr/>
          <p:nvPr/>
        </p:nvCxnSpPr>
        <p:spPr>
          <a:xfrm>
            <a:off x="0" y="1050468"/>
            <a:ext cx="12192000" cy="0"/>
          </a:xfrm>
          <a:prstGeom prst="line">
            <a:avLst/>
          </a:prstGeom>
          <a:ln w="57150">
            <a:solidFill>
              <a:srgbClr val="D49B0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B2BF5ECF-3B50-A128-6BAE-ADF21B214E37}"/>
              </a:ext>
            </a:extLst>
          </p:cNvPr>
          <p:cNvCxnSpPr>
            <a:cxnSpLocks/>
          </p:cNvCxnSpPr>
          <p:nvPr/>
        </p:nvCxnSpPr>
        <p:spPr>
          <a:xfrm>
            <a:off x="0" y="979812"/>
            <a:ext cx="12192000" cy="0"/>
          </a:xfrm>
          <a:prstGeom prst="line">
            <a:avLst/>
          </a:prstGeom>
          <a:ln w="57150">
            <a:solidFill>
              <a:srgbClr val="1C27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7" name="Picture 46" descr="A blue circle with a yellow and white bird in it&#10;&#10;AI-generated content may be incorrect.">
            <a:extLst>
              <a:ext uri="{FF2B5EF4-FFF2-40B4-BE49-F238E27FC236}">
                <a16:creationId xmlns:a16="http://schemas.microsoft.com/office/drawing/2014/main" id="{50461559-F173-1E9F-2C7B-65D4E4F5112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5438" y="219712"/>
            <a:ext cx="606500" cy="606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6996338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4561C95-8981-940C-146E-E05773C0A5E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F368098-E636-12DC-15A5-16C997F1BD5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701800" y="119781"/>
            <a:ext cx="9144000" cy="789373"/>
          </a:xfrm>
        </p:spPr>
        <p:txBody>
          <a:bodyPr>
            <a:normAutofit/>
          </a:bodyPr>
          <a:lstStyle/>
          <a:p>
            <a:pPr algn="l"/>
            <a:r>
              <a:rPr lang="en-US" sz="3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Assignment Operators</a:t>
            </a:r>
            <a:endParaRPr lang="en-KH" sz="3600" dirty="0">
              <a:solidFill>
                <a:srgbClr val="002060"/>
              </a:solidFill>
              <a:latin typeface="Khmer OS Battambang" panose="02000500000000020004" pitchFamily="2" charset="77"/>
              <a:cs typeface="Khmer OS Battambang" panose="02000500000000020004" pitchFamily="2" charset="77"/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4DE7CA9-4F08-E131-8F73-5766F23F5F9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24192" y="1219212"/>
            <a:ext cx="10954536" cy="5419075"/>
          </a:xfrm>
        </p:spPr>
        <p:txBody>
          <a:bodyPr>
            <a:normAutofit fontScale="40000" lnSpcReduction="20000"/>
          </a:bodyPr>
          <a:lstStyle/>
          <a:p>
            <a:pPr algn="l">
              <a:lnSpc>
                <a:spcPct val="150000"/>
              </a:lnSpc>
            </a:pPr>
            <a:r>
              <a:rPr lang="en-US" sz="2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	</a:t>
            </a:r>
            <a:r>
              <a:rPr lang="en-US" sz="50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Assignment Operators</a:t>
            </a:r>
            <a:r>
              <a:rPr lang="en-KH" sz="50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KH" sz="50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គឺជា Operators ប្រើប្រាស់សម្រាប់ចាត់តាំតម្លៃទៅកាន់Variable រួមទាំងការចាត់តាំងសមាសធាតុដែលផ្គួបផ្សំប្រតិបត្តិការជាមួយការចាត់តាំងមួយ។</a:t>
            </a:r>
            <a:r>
              <a:rPr lang="en-KH" sz="50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</a:p>
          <a:p>
            <a:pPr algn="l">
              <a:lnSpc>
                <a:spcPct val="150000"/>
              </a:lnSpc>
            </a:pPr>
            <a:r>
              <a:rPr lang="en-KH" sz="5000" dirty="0">
                <a:latin typeface="Khmer OS Content" panose="02000500000000020004" pitchFamily="2" charset="77"/>
                <a:cs typeface="Khmer OS Content" panose="02000500000000020004" pitchFamily="2" charset="77"/>
              </a:rPr>
              <a:t>👉 </a:t>
            </a:r>
            <a:r>
              <a:rPr lang="en-US" sz="50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Assignment Operators​ </a:t>
            </a:r>
            <a:r>
              <a:rPr lang="en-US" sz="5000" dirty="0" err="1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មានដូចជា</a:t>
            </a:r>
            <a:r>
              <a:rPr lang="en-US" sz="50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៖ </a:t>
            </a:r>
          </a:p>
          <a:p>
            <a:pPr marL="914400" lvl="1" indent="-457200" algn="l">
              <a:lnSpc>
                <a:spcPct val="150000"/>
              </a:lnSpc>
              <a:buFont typeface="Wingdings" pitchFamily="2" charset="2"/>
              <a:buChar char="Ø"/>
            </a:pPr>
            <a:r>
              <a:rPr lang="en-US" sz="42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​</a:t>
            </a:r>
            <a:r>
              <a:rPr lang="en-US" sz="4200" dirty="0" err="1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ការចាត់តាំងតម្លៃធម្មតា</a:t>
            </a:r>
            <a:r>
              <a:rPr lang="en-US" sz="42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(</a:t>
            </a:r>
            <a:r>
              <a:rPr lang="en-US" sz="42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=</a:t>
            </a:r>
            <a:r>
              <a:rPr lang="en-US" sz="42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) </a:t>
            </a:r>
          </a:p>
          <a:p>
            <a:pPr lvl="1" algn="l">
              <a:lnSpc>
                <a:spcPct val="150000"/>
              </a:lnSpc>
            </a:pPr>
            <a:r>
              <a:rPr lang="en-US" sz="42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	</a:t>
            </a:r>
            <a:r>
              <a:rPr lang="en-KH" sz="42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ឧទាហរណ៍៖ </a:t>
            </a:r>
            <a:r>
              <a:rPr lang="en-KH" sz="42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double</a:t>
            </a:r>
            <a:r>
              <a:rPr lang="en-KH" sz="42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KH" sz="42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amount1</a:t>
            </a:r>
            <a:r>
              <a:rPr lang="en-KH" sz="42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=</a:t>
            </a:r>
            <a:r>
              <a:rPr lang="en-KH" sz="42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KH" sz="42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200;</a:t>
            </a:r>
            <a:endParaRPr lang="en-US" sz="4200" dirty="0">
              <a:solidFill>
                <a:srgbClr val="0070C0"/>
              </a:solidFill>
              <a:latin typeface="Khmer OS Content" panose="02000500000000020004" pitchFamily="2" charset="77"/>
              <a:cs typeface="Khmer OS Content" panose="02000500000000020004" pitchFamily="2" charset="77"/>
            </a:endParaRPr>
          </a:p>
          <a:p>
            <a:pPr marL="914400" lvl="1" indent="-457200" algn="l">
              <a:lnSpc>
                <a:spcPct val="150000"/>
              </a:lnSpc>
              <a:buFont typeface="Wingdings" pitchFamily="2" charset="2"/>
              <a:buChar char="Ø"/>
            </a:pPr>
            <a:r>
              <a:rPr lang="en-US" sz="4200" dirty="0" err="1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ការចាត់តាំងតម្លៃសមាសធាតុ</a:t>
            </a:r>
            <a:r>
              <a:rPr lang="en-US" sz="42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(</a:t>
            </a:r>
            <a:r>
              <a:rPr lang="en-KH" sz="42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+=,</a:t>
            </a:r>
            <a:r>
              <a:rPr lang="en-KH" sz="42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KH" sz="42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-=,</a:t>
            </a:r>
            <a:r>
              <a:rPr lang="en-KH" sz="42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KH" sz="42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*=,</a:t>
            </a:r>
            <a:r>
              <a:rPr lang="en-KH" sz="42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KH" sz="42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/=,</a:t>
            </a:r>
            <a:r>
              <a:rPr lang="en-KH" sz="42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KH" sz="42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%=,</a:t>
            </a:r>
            <a:r>
              <a:rPr lang="en-KH" sz="42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US" sz="42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…</a:t>
            </a:r>
            <a:r>
              <a:rPr lang="en-US" sz="42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)</a:t>
            </a:r>
            <a:br>
              <a:rPr lang="en-KH" sz="42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</a:br>
            <a:r>
              <a:rPr lang="en-KH" sz="42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ឧទាហរណ៍៖</a:t>
            </a:r>
          </a:p>
          <a:p>
            <a:pPr algn="l">
              <a:lnSpc>
                <a:spcPct val="120000"/>
              </a:lnSpc>
            </a:pPr>
            <a:r>
              <a:rPr lang="en-KH" sz="42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	 </a:t>
            </a:r>
            <a:r>
              <a:rPr lang="en-KH" sz="42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double</a:t>
            </a:r>
            <a:r>
              <a:rPr lang="en-KH" sz="42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KH" sz="42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amount= </a:t>
            </a:r>
            <a:r>
              <a:rPr lang="en-KH" sz="42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0</a:t>
            </a:r>
            <a:r>
              <a:rPr lang="en-KH" sz="42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;</a:t>
            </a:r>
          </a:p>
          <a:p>
            <a:pPr algn="l">
              <a:lnSpc>
                <a:spcPct val="120000"/>
              </a:lnSpc>
            </a:pPr>
            <a:r>
              <a:rPr lang="en-US" sz="4200" b="1" dirty="0">
                <a:latin typeface="Khmer OS Content" panose="02000500000000020004" pitchFamily="2" charset="77"/>
                <a:cs typeface="Khmer OS Content" panose="02000500000000020004" pitchFamily="2" charset="77"/>
              </a:rPr>
              <a:t>	</a:t>
            </a:r>
            <a:r>
              <a:rPr lang="en-KH" sz="42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KH" sz="42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amount</a:t>
            </a:r>
            <a:r>
              <a:rPr lang="en-US" sz="42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US" sz="42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+=</a:t>
            </a:r>
            <a:r>
              <a:rPr lang="en-US" sz="4200" dirty="0"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US" sz="42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100;</a:t>
            </a:r>
          </a:p>
          <a:p>
            <a:pPr algn="l">
              <a:lnSpc>
                <a:spcPct val="120000"/>
              </a:lnSpc>
            </a:pPr>
            <a:r>
              <a:rPr lang="en-US" sz="42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	</a:t>
            </a:r>
            <a:r>
              <a:rPr lang="en-KH" sz="42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KH" sz="42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amount</a:t>
            </a:r>
            <a:r>
              <a:rPr lang="en-US" sz="4200" dirty="0"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US" sz="42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-= </a:t>
            </a:r>
            <a:r>
              <a:rPr lang="en-US" sz="42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100;</a:t>
            </a:r>
          </a:p>
          <a:p>
            <a:pPr algn="l">
              <a:lnSpc>
                <a:spcPct val="120000"/>
              </a:lnSpc>
            </a:pPr>
            <a:r>
              <a:rPr lang="en-US" sz="42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	</a:t>
            </a:r>
            <a:r>
              <a:rPr lang="en-KH" sz="42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KH" sz="42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amount</a:t>
            </a:r>
            <a:r>
              <a:rPr lang="en-US" sz="4200" dirty="0"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KH" sz="42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*=</a:t>
            </a:r>
            <a:r>
              <a:rPr lang="en-US" sz="4200" dirty="0"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US" sz="42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5;</a:t>
            </a:r>
          </a:p>
          <a:p>
            <a:pPr algn="l">
              <a:lnSpc>
                <a:spcPct val="120000"/>
              </a:lnSpc>
            </a:pPr>
            <a:r>
              <a:rPr lang="en-US" sz="42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	</a:t>
            </a:r>
            <a:r>
              <a:rPr lang="en-KH" sz="42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KH" sz="42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amount</a:t>
            </a:r>
            <a:r>
              <a:rPr lang="en-US" sz="4200" dirty="0"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US" sz="42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/=</a:t>
            </a:r>
            <a:r>
              <a:rPr lang="en-US" sz="4200" dirty="0"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US" sz="42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2;</a:t>
            </a:r>
          </a:p>
          <a:p>
            <a:pPr algn="l">
              <a:lnSpc>
                <a:spcPct val="120000"/>
              </a:lnSpc>
            </a:pPr>
            <a:r>
              <a:rPr lang="en-US" sz="42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	</a:t>
            </a:r>
            <a:r>
              <a:rPr lang="en-KH" sz="42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KH" sz="42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amount</a:t>
            </a:r>
            <a:r>
              <a:rPr lang="en-US" sz="42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US" sz="42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%=</a:t>
            </a:r>
            <a:r>
              <a:rPr lang="en-US" sz="42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US" sz="42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3;</a:t>
            </a:r>
            <a:endParaRPr lang="en-KH" sz="4200" dirty="0">
              <a:solidFill>
                <a:srgbClr val="0070C0"/>
              </a:solidFill>
              <a:latin typeface="Khmer OS Content" panose="02000500000000020004" pitchFamily="2" charset="77"/>
              <a:cs typeface="Khmer OS Content" panose="02000500000000020004" pitchFamily="2" charset="77"/>
            </a:endParaRP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0D6C1350-F877-571D-C5AE-49818C3DD17D}"/>
              </a:ext>
            </a:extLst>
          </p:cNvPr>
          <p:cNvCxnSpPr/>
          <p:nvPr/>
        </p:nvCxnSpPr>
        <p:spPr>
          <a:xfrm>
            <a:off x="0" y="1050468"/>
            <a:ext cx="12192000" cy="0"/>
          </a:xfrm>
          <a:prstGeom prst="line">
            <a:avLst/>
          </a:prstGeom>
          <a:ln w="57150">
            <a:solidFill>
              <a:srgbClr val="D49B0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CC7A785B-E998-B9D7-7AF8-DCEAA860D79D}"/>
              </a:ext>
            </a:extLst>
          </p:cNvPr>
          <p:cNvCxnSpPr>
            <a:cxnSpLocks/>
          </p:cNvCxnSpPr>
          <p:nvPr/>
        </p:nvCxnSpPr>
        <p:spPr>
          <a:xfrm>
            <a:off x="0" y="979812"/>
            <a:ext cx="12192000" cy="0"/>
          </a:xfrm>
          <a:prstGeom prst="line">
            <a:avLst/>
          </a:prstGeom>
          <a:ln w="57150">
            <a:solidFill>
              <a:srgbClr val="1C27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7" name="Picture 46" descr="A blue circle with a yellow and white bird in it&#10;&#10;AI-generated content may be incorrect.">
            <a:extLst>
              <a:ext uri="{FF2B5EF4-FFF2-40B4-BE49-F238E27FC236}">
                <a16:creationId xmlns:a16="http://schemas.microsoft.com/office/drawing/2014/main" id="{B38B1998-E022-F2CA-BA63-0DD3C635906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5438" y="219712"/>
            <a:ext cx="606500" cy="606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57840845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FC63D7B-6701-CE63-F9B3-0E0B3BC63A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F9A0FD1-4D01-EA10-9B8E-EAFC327CBF2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701800" y="119781"/>
            <a:ext cx="9144000" cy="789373"/>
          </a:xfrm>
        </p:spPr>
        <p:txBody>
          <a:bodyPr>
            <a:normAutofit/>
          </a:bodyPr>
          <a:lstStyle/>
          <a:p>
            <a:pPr algn="l"/>
            <a:r>
              <a:rPr lang="en-US" sz="3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Relational Operators</a:t>
            </a:r>
            <a:endParaRPr lang="en-KH" sz="3600" dirty="0">
              <a:solidFill>
                <a:srgbClr val="002060"/>
              </a:solidFill>
              <a:latin typeface="Khmer OS Battambang" panose="02000500000000020004" pitchFamily="2" charset="77"/>
              <a:cs typeface="Khmer OS Battambang" panose="02000500000000020004" pitchFamily="2" charset="77"/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9A0BF7FB-543C-1A6B-CF21-49151AC53DC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24192" y="1219213"/>
            <a:ext cx="10954536" cy="5076080"/>
          </a:xfrm>
        </p:spPr>
        <p:txBody>
          <a:bodyPr>
            <a:normAutofit fontScale="85000" lnSpcReduction="20000"/>
          </a:bodyPr>
          <a:lstStyle/>
          <a:p>
            <a:pPr algn="l">
              <a:lnSpc>
                <a:spcPct val="150000"/>
              </a:lnSpc>
            </a:pPr>
            <a:r>
              <a:rPr lang="en-US" sz="2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	Relational (Comparison) Operators</a:t>
            </a:r>
            <a:r>
              <a:rPr lang="en-KH" sz="2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</a:t>
            </a:r>
            <a:r>
              <a:rPr lang="en-KH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គឺជា Operators ប្រើប្រាស់សម្រាប់ប្រៀបធៀបតម្លៃពីរនិងផ្តល់លទ្ធផលជា boolean(</a:t>
            </a:r>
            <a:r>
              <a:rPr lang="en-KH" sz="2600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true</a:t>
            </a:r>
            <a:r>
              <a:rPr lang="en-KH" sz="2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</a:t>
            </a:r>
            <a:r>
              <a:rPr lang="en-KH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ឫ</a:t>
            </a:r>
            <a:r>
              <a:rPr lang="en-KH" sz="2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</a:t>
            </a:r>
            <a:r>
              <a:rPr lang="en-KH" sz="2600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false</a:t>
            </a:r>
            <a:r>
              <a:rPr lang="en-KH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)។</a:t>
            </a:r>
            <a:r>
              <a:rPr lang="en-KH" sz="2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</a:t>
            </a:r>
            <a:r>
              <a:rPr lang="en-US" sz="2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Relational Operators </a:t>
            </a:r>
            <a:r>
              <a:rPr lang="en-US" sz="26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មានដូចជា</a:t>
            </a:r>
            <a:r>
              <a:rPr lang="en-US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៖</a:t>
            </a:r>
            <a:r>
              <a:rPr lang="en-US" sz="2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</a:t>
            </a:r>
            <a:r>
              <a:rPr lang="en-US" sz="26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ស្មើ</a:t>
            </a:r>
            <a:r>
              <a:rPr lang="en-US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(</a:t>
            </a:r>
            <a:r>
              <a:rPr lang="en-US" sz="2600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==</a:t>
            </a:r>
            <a:r>
              <a:rPr lang="en-US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) </a:t>
            </a:r>
            <a:r>
              <a:rPr lang="en-US" sz="26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មិនស្មើ</a:t>
            </a:r>
            <a:r>
              <a:rPr lang="en-US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(</a:t>
            </a:r>
            <a:r>
              <a:rPr lang="en-US" sz="2600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!=</a:t>
            </a:r>
            <a:r>
              <a:rPr lang="en-US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) </a:t>
            </a:r>
            <a:r>
              <a:rPr lang="en-US" sz="26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ធំជាង</a:t>
            </a:r>
            <a:r>
              <a:rPr lang="en-US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(</a:t>
            </a:r>
            <a:r>
              <a:rPr lang="en-US" sz="2600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&gt;</a:t>
            </a:r>
            <a:r>
              <a:rPr lang="en-US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) </a:t>
            </a:r>
            <a:r>
              <a:rPr lang="en-US" sz="26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តូចជាង</a:t>
            </a:r>
            <a:r>
              <a:rPr lang="en-US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(</a:t>
            </a:r>
            <a:r>
              <a:rPr lang="en-US" sz="2600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&lt;</a:t>
            </a:r>
            <a:r>
              <a:rPr lang="en-US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) </a:t>
            </a:r>
            <a:r>
              <a:rPr lang="en-US" sz="26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ធំជាងឫស្មើ</a:t>
            </a:r>
            <a:r>
              <a:rPr lang="en-US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(</a:t>
            </a:r>
            <a:r>
              <a:rPr lang="en-US" sz="2600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&gt;=</a:t>
            </a:r>
            <a:r>
              <a:rPr lang="en-US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) </a:t>
            </a:r>
            <a:r>
              <a:rPr lang="en-US" sz="26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តូចជាងឫស្មើ</a:t>
            </a:r>
            <a:r>
              <a:rPr lang="en-US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(</a:t>
            </a:r>
            <a:r>
              <a:rPr lang="en-US" sz="2600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&lt;=</a:t>
            </a:r>
            <a:r>
              <a:rPr lang="en-US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)។</a:t>
            </a:r>
            <a:br>
              <a:rPr lang="en-KH" sz="2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</a:br>
            <a:r>
              <a:rPr lang="en-KH" sz="2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ឧទាហរណ៍៖</a:t>
            </a:r>
          </a:p>
          <a:p>
            <a:pPr algn="l">
              <a:lnSpc>
                <a:spcPct val="120000"/>
              </a:lnSpc>
            </a:pPr>
            <a:r>
              <a:rPr lang="en-KH" sz="2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	 </a:t>
            </a:r>
            <a:r>
              <a:rPr lang="en-KH" sz="2600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boolean</a:t>
            </a:r>
            <a:r>
              <a:rPr lang="en-KH" sz="2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</a:t>
            </a:r>
            <a:r>
              <a:rPr lang="en-KH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compare= </a:t>
            </a:r>
            <a:r>
              <a:rPr lang="en-KH" sz="2600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false</a:t>
            </a:r>
            <a:r>
              <a:rPr lang="en-KH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;</a:t>
            </a:r>
          </a:p>
          <a:p>
            <a:pPr algn="l">
              <a:lnSpc>
                <a:spcPct val="120000"/>
              </a:lnSpc>
            </a:pPr>
            <a:r>
              <a:rPr lang="en-US" b="1" dirty="0">
                <a:latin typeface="Khmer OS Battambang" panose="02000500000000020004" pitchFamily="2" charset="77"/>
                <a:cs typeface="Khmer OS Battambang" panose="02000500000000020004" pitchFamily="2" charset="77"/>
              </a:rPr>
              <a:t>	</a:t>
            </a:r>
            <a:r>
              <a:rPr lang="en-KH" sz="2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</a:t>
            </a:r>
            <a:r>
              <a:rPr lang="en-KH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compare</a:t>
            </a:r>
            <a:r>
              <a:rPr lang="en-US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</a:t>
            </a:r>
            <a:r>
              <a:rPr lang="en-US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=</a:t>
            </a:r>
            <a:r>
              <a:rPr lang="en-US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</a:t>
            </a:r>
            <a:r>
              <a:rPr lang="en-US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100</a:t>
            </a:r>
            <a:r>
              <a:rPr lang="en-US" sz="2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</a:t>
            </a:r>
            <a:r>
              <a:rPr lang="en-US" sz="2600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==</a:t>
            </a:r>
            <a:r>
              <a:rPr lang="en-US" sz="2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</a:t>
            </a:r>
            <a:r>
              <a:rPr lang="en-US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100</a:t>
            </a:r>
            <a:r>
              <a:rPr lang="en-US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;</a:t>
            </a:r>
          </a:p>
          <a:p>
            <a:pPr algn="l">
              <a:lnSpc>
                <a:spcPct val="120000"/>
              </a:lnSpc>
            </a:pPr>
            <a:r>
              <a:rPr lang="en-US" sz="2600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	</a:t>
            </a:r>
            <a:r>
              <a:rPr lang="en-KH" sz="2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</a:t>
            </a:r>
            <a:r>
              <a:rPr lang="en-KH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compare</a:t>
            </a:r>
            <a:r>
              <a:rPr lang="en-US" sz="28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</a:t>
            </a:r>
            <a:r>
              <a:rPr lang="en-US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= 10</a:t>
            </a:r>
            <a:r>
              <a:rPr lang="en-US" sz="28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</a:t>
            </a:r>
            <a:r>
              <a:rPr lang="en-US" sz="2800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!=</a:t>
            </a:r>
            <a:r>
              <a:rPr lang="en-US" sz="28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</a:t>
            </a:r>
            <a:r>
              <a:rPr lang="en-US" sz="28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9;</a:t>
            </a:r>
          </a:p>
          <a:p>
            <a:pPr algn="l">
              <a:lnSpc>
                <a:spcPct val="120000"/>
              </a:lnSpc>
            </a:pPr>
            <a:r>
              <a:rPr lang="en-US" sz="2600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	</a:t>
            </a:r>
            <a:r>
              <a:rPr lang="en-KH" sz="2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</a:t>
            </a:r>
            <a:r>
              <a:rPr lang="en-KH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compare</a:t>
            </a:r>
            <a:r>
              <a:rPr lang="en-US" sz="28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</a:t>
            </a:r>
            <a:r>
              <a:rPr lang="en-KH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=</a:t>
            </a:r>
            <a:r>
              <a:rPr lang="en-US" sz="28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</a:t>
            </a:r>
            <a:r>
              <a:rPr lang="en-US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5</a:t>
            </a:r>
            <a:r>
              <a:rPr lang="en-US" sz="2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</a:t>
            </a:r>
            <a:r>
              <a:rPr lang="en-US" sz="2600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&gt;</a:t>
            </a:r>
            <a:r>
              <a:rPr lang="en-US" sz="2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</a:t>
            </a:r>
            <a:r>
              <a:rPr lang="en-US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2</a:t>
            </a:r>
            <a:r>
              <a:rPr lang="en-US" sz="28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;</a:t>
            </a:r>
          </a:p>
          <a:p>
            <a:pPr algn="l">
              <a:lnSpc>
                <a:spcPct val="120000"/>
              </a:lnSpc>
            </a:pPr>
            <a:r>
              <a:rPr lang="en-US" sz="2600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	</a:t>
            </a:r>
            <a:r>
              <a:rPr lang="en-KH" sz="2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</a:t>
            </a:r>
            <a:r>
              <a:rPr lang="en-KH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compare</a:t>
            </a:r>
            <a:r>
              <a:rPr lang="en-US" sz="28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</a:t>
            </a:r>
            <a:r>
              <a:rPr lang="en-US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=</a:t>
            </a:r>
            <a:r>
              <a:rPr lang="en-US" sz="28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</a:t>
            </a:r>
            <a:r>
              <a:rPr lang="en-US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2</a:t>
            </a:r>
            <a:r>
              <a:rPr lang="en-US" sz="2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</a:t>
            </a:r>
            <a:r>
              <a:rPr lang="en-US" sz="2600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&lt;</a:t>
            </a:r>
            <a:r>
              <a:rPr lang="en-US" sz="2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</a:t>
            </a:r>
            <a:r>
              <a:rPr lang="en-US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5</a:t>
            </a:r>
            <a:r>
              <a:rPr lang="en-US" sz="28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;</a:t>
            </a:r>
          </a:p>
          <a:p>
            <a:pPr algn="l">
              <a:lnSpc>
                <a:spcPct val="120000"/>
              </a:lnSpc>
            </a:pPr>
            <a:r>
              <a:rPr lang="en-US" sz="2600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	</a:t>
            </a:r>
            <a:r>
              <a:rPr lang="en-KH" sz="28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</a:t>
            </a:r>
            <a:r>
              <a:rPr lang="en-KH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compare</a:t>
            </a:r>
            <a:r>
              <a:rPr lang="en-US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= 3</a:t>
            </a:r>
            <a:r>
              <a:rPr lang="en-US" sz="2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</a:t>
            </a:r>
            <a:r>
              <a:rPr lang="en-US" sz="2600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&gt;=</a:t>
            </a:r>
            <a:r>
              <a:rPr lang="en-US" sz="2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</a:t>
            </a:r>
            <a:r>
              <a:rPr lang="en-US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3;</a:t>
            </a:r>
            <a:br>
              <a:rPr lang="en-US" sz="2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</a:br>
            <a:r>
              <a:rPr lang="en-US" sz="2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	</a:t>
            </a:r>
            <a:r>
              <a:rPr lang="en-KH" sz="2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</a:t>
            </a:r>
            <a:r>
              <a:rPr lang="en-KH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compare</a:t>
            </a:r>
            <a:r>
              <a:rPr lang="en-US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= 5</a:t>
            </a:r>
            <a:r>
              <a:rPr lang="en-US" sz="2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</a:t>
            </a:r>
            <a:r>
              <a:rPr lang="en-US" sz="2600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&lt;=</a:t>
            </a:r>
            <a:r>
              <a:rPr lang="en-US" sz="2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</a:t>
            </a:r>
            <a:r>
              <a:rPr lang="en-US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5;</a:t>
            </a:r>
            <a:endParaRPr lang="en-KH" sz="2600" dirty="0">
              <a:solidFill>
                <a:srgbClr val="0070C0"/>
              </a:solidFill>
              <a:latin typeface="Khmer OS Battambang" panose="02000500000000020004" pitchFamily="2" charset="77"/>
              <a:cs typeface="Khmer OS Battambang" panose="02000500000000020004" pitchFamily="2" charset="77"/>
            </a:endParaRP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0893152C-7129-32C6-FCEB-E2852A2F3671}"/>
              </a:ext>
            </a:extLst>
          </p:cNvPr>
          <p:cNvCxnSpPr/>
          <p:nvPr/>
        </p:nvCxnSpPr>
        <p:spPr>
          <a:xfrm>
            <a:off x="0" y="1050468"/>
            <a:ext cx="12192000" cy="0"/>
          </a:xfrm>
          <a:prstGeom prst="line">
            <a:avLst/>
          </a:prstGeom>
          <a:ln w="57150">
            <a:solidFill>
              <a:srgbClr val="D49B0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6F838701-69F8-F32A-305D-F33281DDA028}"/>
              </a:ext>
            </a:extLst>
          </p:cNvPr>
          <p:cNvCxnSpPr>
            <a:cxnSpLocks/>
          </p:cNvCxnSpPr>
          <p:nvPr/>
        </p:nvCxnSpPr>
        <p:spPr>
          <a:xfrm>
            <a:off x="0" y="979812"/>
            <a:ext cx="12192000" cy="0"/>
          </a:xfrm>
          <a:prstGeom prst="line">
            <a:avLst/>
          </a:prstGeom>
          <a:ln w="57150">
            <a:solidFill>
              <a:srgbClr val="1C27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7" name="Picture 46" descr="A blue circle with a yellow and white bird in it&#10;&#10;AI-generated content may be incorrect.">
            <a:extLst>
              <a:ext uri="{FF2B5EF4-FFF2-40B4-BE49-F238E27FC236}">
                <a16:creationId xmlns:a16="http://schemas.microsoft.com/office/drawing/2014/main" id="{8A2ADB71-0106-C980-6FB5-C2DF524D17F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5438" y="219712"/>
            <a:ext cx="606500" cy="606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43803309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16F4F00-8471-11A5-275A-24CC256318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91013D-B9F5-9757-C9E1-01AE898DDB4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701800" y="119781"/>
            <a:ext cx="9144000" cy="789373"/>
          </a:xfrm>
        </p:spPr>
        <p:txBody>
          <a:bodyPr>
            <a:normAutofit/>
          </a:bodyPr>
          <a:lstStyle/>
          <a:p>
            <a:pPr algn="l"/>
            <a:r>
              <a:rPr lang="en-US" sz="3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Logical Operators</a:t>
            </a:r>
            <a:endParaRPr lang="en-KH" sz="3600" dirty="0">
              <a:solidFill>
                <a:srgbClr val="002060"/>
              </a:solidFill>
              <a:latin typeface="Khmer OS Battambang" panose="02000500000000020004" pitchFamily="2" charset="77"/>
              <a:cs typeface="Khmer OS Battambang" panose="02000500000000020004" pitchFamily="2" charset="77"/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23CB0B4-9C30-4C8A-92F2-B949865EA43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24192" y="1219213"/>
            <a:ext cx="10954536" cy="5076080"/>
          </a:xfrm>
        </p:spPr>
        <p:txBody>
          <a:bodyPr>
            <a:normAutofit/>
          </a:bodyPr>
          <a:lstStyle/>
          <a:p>
            <a:pPr algn="l">
              <a:lnSpc>
                <a:spcPct val="150000"/>
              </a:lnSpc>
            </a:pPr>
            <a:r>
              <a:rPr lang="en-US" sz="2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	Logical Operators </a:t>
            </a:r>
            <a:r>
              <a:rPr lang="en-KH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គឺជា Operators ប្រើប្រាស់សម្រាប់ផ្សំកន្សោម boolean ទៅកាន់លក្ខណដែលមានទំរង់ស្មុកស្មាញ។</a:t>
            </a:r>
            <a:r>
              <a:rPr lang="en-KH" sz="2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</a:t>
            </a:r>
            <a:r>
              <a:rPr lang="en-US" sz="2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Logical Operators </a:t>
            </a:r>
            <a:r>
              <a:rPr lang="en-US" sz="26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មានដូចជា</a:t>
            </a:r>
            <a:r>
              <a:rPr lang="en-US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៖ </a:t>
            </a:r>
            <a:r>
              <a:rPr lang="en-US" sz="26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និង</a:t>
            </a:r>
            <a:r>
              <a:rPr lang="en-US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(</a:t>
            </a:r>
            <a:r>
              <a:rPr lang="en-US" sz="2600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&amp;&amp;</a:t>
            </a:r>
            <a:r>
              <a:rPr lang="en-US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) </a:t>
            </a:r>
            <a:r>
              <a:rPr lang="en-US" sz="26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ឫ</a:t>
            </a:r>
            <a:r>
              <a:rPr lang="en-US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(</a:t>
            </a:r>
            <a:r>
              <a:rPr lang="en-US" sz="2600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||</a:t>
            </a:r>
            <a:r>
              <a:rPr lang="en-US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) </a:t>
            </a:r>
            <a:r>
              <a:rPr lang="en-US" sz="26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មិន</a:t>
            </a:r>
            <a:r>
              <a:rPr lang="en-US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(</a:t>
            </a:r>
            <a:r>
              <a:rPr lang="en-US" sz="2600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!</a:t>
            </a:r>
            <a:r>
              <a:rPr lang="en-US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)។</a:t>
            </a:r>
            <a:br>
              <a:rPr lang="en-KH" sz="2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</a:br>
            <a:r>
              <a:rPr lang="en-KH" sz="2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ឧទាហរណ៍៖</a:t>
            </a:r>
          </a:p>
          <a:p>
            <a:pPr algn="l">
              <a:lnSpc>
                <a:spcPct val="120000"/>
              </a:lnSpc>
            </a:pPr>
            <a:r>
              <a:rPr lang="en-KH" sz="2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	 </a:t>
            </a:r>
            <a:r>
              <a:rPr lang="en-KH" sz="2600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boolean</a:t>
            </a:r>
            <a:r>
              <a:rPr lang="en-KH" sz="2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</a:t>
            </a:r>
            <a:r>
              <a:rPr lang="en-KH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compare= </a:t>
            </a:r>
            <a:r>
              <a:rPr lang="en-KH" sz="2600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false</a:t>
            </a:r>
            <a:r>
              <a:rPr lang="en-KH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;</a:t>
            </a:r>
          </a:p>
          <a:p>
            <a:pPr algn="l">
              <a:lnSpc>
                <a:spcPct val="120000"/>
              </a:lnSpc>
            </a:pPr>
            <a:r>
              <a:rPr lang="en-US" b="1" dirty="0">
                <a:latin typeface="Khmer OS Battambang" panose="02000500000000020004" pitchFamily="2" charset="77"/>
                <a:cs typeface="Khmer OS Battambang" panose="02000500000000020004" pitchFamily="2" charset="77"/>
              </a:rPr>
              <a:t>	</a:t>
            </a:r>
            <a:r>
              <a:rPr lang="en-KH" sz="2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</a:t>
            </a:r>
            <a:r>
              <a:rPr lang="en-KH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compare</a:t>
            </a:r>
            <a:r>
              <a:rPr lang="en-US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</a:t>
            </a:r>
            <a:r>
              <a:rPr lang="en-US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=</a:t>
            </a:r>
            <a:r>
              <a:rPr lang="en-US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</a:t>
            </a:r>
            <a:r>
              <a:rPr lang="en-US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100 == 100</a:t>
            </a:r>
            <a:r>
              <a:rPr lang="en-US" sz="2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</a:t>
            </a:r>
            <a:r>
              <a:rPr lang="en-US" sz="2600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||</a:t>
            </a:r>
            <a:r>
              <a:rPr lang="en-US" sz="2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</a:t>
            </a:r>
            <a:r>
              <a:rPr lang="en-US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2==2</a:t>
            </a:r>
            <a:r>
              <a:rPr lang="en-US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;</a:t>
            </a:r>
          </a:p>
          <a:p>
            <a:pPr algn="l">
              <a:lnSpc>
                <a:spcPct val="120000"/>
              </a:lnSpc>
            </a:pPr>
            <a:r>
              <a:rPr lang="en-US" sz="2600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	</a:t>
            </a:r>
            <a:r>
              <a:rPr lang="en-KH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compare</a:t>
            </a:r>
            <a:r>
              <a:rPr lang="en-US" sz="28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</a:t>
            </a:r>
            <a:r>
              <a:rPr lang="en-US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= 10</a:t>
            </a:r>
            <a:r>
              <a:rPr lang="en-US" sz="28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</a:t>
            </a:r>
            <a:r>
              <a:rPr lang="en-US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&gt;</a:t>
            </a:r>
            <a:r>
              <a:rPr lang="en-US" sz="28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9 </a:t>
            </a:r>
            <a:r>
              <a:rPr lang="en-US" sz="2800" dirty="0">
                <a:solidFill>
                  <a:srgbClr val="D49B06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&amp;&amp;</a:t>
            </a:r>
            <a:r>
              <a:rPr lang="en-US" sz="28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5 &lt; 6;</a:t>
            </a:r>
          </a:p>
          <a:p>
            <a:pPr algn="l">
              <a:lnSpc>
                <a:spcPct val="120000"/>
              </a:lnSpc>
            </a:pPr>
            <a:r>
              <a:rPr lang="en-US" sz="2600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	</a:t>
            </a:r>
            <a:r>
              <a:rPr lang="en-KH" sz="2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</a:t>
            </a:r>
            <a:r>
              <a:rPr lang="en-KH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compare</a:t>
            </a:r>
            <a:r>
              <a:rPr lang="en-US" sz="28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</a:t>
            </a:r>
            <a:r>
              <a:rPr lang="en-KH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=</a:t>
            </a:r>
            <a:r>
              <a:rPr lang="en-US" sz="2800" dirty="0">
                <a:latin typeface="Khmer OS Battambang" panose="02000500000000020004" pitchFamily="2" charset="77"/>
                <a:cs typeface="Khmer OS Battambang" panose="02000500000000020004" pitchFamily="2" charset="77"/>
              </a:rPr>
              <a:t> </a:t>
            </a:r>
            <a:r>
              <a:rPr lang="en-US" sz="2800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!(</a:t>
            </a:r>
            <a:r>
              <a:rPr lang="en-US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5 &lt; 2</a:t>
            </a:r>
            <a:r>
              <a:rPr lang="en-US" sz="2600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)</a:t>
            </a:r>
            <a:r>
              <a:rPr lang="en-US" sz="28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;</a:t>
            </a:r>
            <a:endParaRPr lang="en-KH" sz="2600" dirty="0">
              <a:solidFill>
                <a:srgbClr val="0070C0"/>
              </a:solidFill>
              <a:latin typeface="Khmer OS Battambang" panose="02000500000000020004" pitchFamily="2" charset="77"/>
              <a:cs typeface="Khmer OS Battambang" panose="02000500000000020004" pitchFamily="2" charset="77"/>
            </a:endParaRP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CCA6477C-FD8E-E2D9-D54A-3E2D2AE36BC2}"/>
              </a:ext>
            </a:extLst>
          </p:cNvPr>
          <p:cNvCxnSpPr/>
          <p:nvPr/>
        </p:nvCxnSpPr>
        <p:spPr>
          <a:xfrm>
            <a:off x="0" y="1050468"/>
            <a:ext cx="12192000" cy="0"/>
          </a:xfrm>
          <a:prstGeom prst="line">
            <a:avLst/>
          </a:prstGeom>
          <a:ln w="57150">
            <a:solidFill>
              <a:srgbClr val="D49B0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14282677-83E0-B9BC-7370-A5B9704C8A81}"/>
              </a:ext>
            </a:extLst>
          </p:cNvPr>
          <p:cNvCxnSpPr>
            <a:cxnSpLocks/>
          </p:cNvCxnSpPr>
          <p:nvPr/>
        </p:nvCxnSpPr>
        <p:spPr>
          <a:xfrm>
            <a:off x="0" y="979812"/>
            <a:ext cx="12192000" cy="0"/>
          </a:xfrm>
          <a:prstGeom prst="line">
            <a:avLst/>
          </a:prstGeom>
          <a:ln w="57150">
            <a:solidFill>
              <a:srgbClr val="1C27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7" name="Picture 46" descr="A blue circle with a yellow and white bird in it&#10;&#10;AI-generated content may be incorrect.">
            <a:extLst>
              <a:ext uri="{FF2B5EF4-FFF2-40B4-BE49-F238E27FC236}">
                <a16:creationId xmlns:a16="http://schemas.microsoft.com/office/drawing/2014/main" id="{92DC21F0-C8F8-CA00-E62D-82750A50177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5438" y="219712"/>
            <a:ext cx="606500" cy="606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40026948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7426059-6FDD-61AA-0E80-A1DC991558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255A9C-6CAF-FA6A-BB9B-296FACA6D96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701800" y="119781"/>
            <a:ext cx="9144000" cy="789373"/>
          </a:xfrm>
        </p:spPr>
        <p:txBody>
          <a:bodyPr>
            <a:normAutofit/>
          </a:bodyPr>
          <a:lstStyle/>
          <a:p>
            <a:pPr algn="l"/>
            <a:r>
              <a:rPr lang="en-US" sz="3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Unary Operators</a:t>
            </a:r>
            <a:endParaRPr lang="en-KH" sz="3600" dirty="0">
              <a:solidFill>
                <a:srgbClr val="002060"/>
              </a:solidFill>
              <a:latin typeface="Khmer OS Battambang" panose="02000500000000020004" pitchFamily="2" charset="77"/>
              <a:cs typeface="Khmer OS Battambang" panose="02000500000000020004" pitchFamily="2" charset="77"/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13AEB4B-C127-FBF0-DC87-89AFAD293DB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24192" y="1219213"/>
            <a:ext cx="10954536" cy="5076080"/>
          </a:xfrm>
        </p:spPr>
        <p:txBody>
          <a:bodyPr>
            <a:normAutofit fontScale="92500" lnSpcReduction="20000"/>
          </a:bodyPr>
          <a:lstStyle/>
          <a:p>
            <a:pPr algn="l">
              <a:lnSpc>
                <a:spcPct val="150000"/>
              </a:lnSpc>
            </a:pPr>
            <a:r>
              <a:rPr lang="en-US" sz="2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	Unary Operators</a:t>
            </a:r>
            <a:r>
              <a:rPr lang="en-KH" sz="2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</a:t>
            </a:r>
            <a:r>
              <a:rPr lang="en-KH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គឺជា Operators ប្រើប្រាស់សម្រាប់ធ្វើការជាមួយប្រតិបត្តិករតែមួយដើម្បីបង្កើន បន្ថែម </a:t>
            </a:r>
            <a:r>
              <a:rPr lang="en-KH" sz="260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ឫបដិសេធ ស្ថានភា</a:t>
            </a:r>
            <a:r>
              <a:rPr lang="en-KH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ពតម្លៃ។</a:t>
            </a:r>
            <a:r>
              <a:rPr lang="en-KH" sz="2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</a:t>
            </a:r>
            <a:r>
              <a:rPr lang="en-US" sz="2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Unary Operators </a:t>
            </a:r>
            <a:r>
              <a:rPr lang="en-US" sz="26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មានដូចជា</a:t>
            </a:r>
            <a:r>
              <a:rPr lang="en-US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៖</a:t>
            </a:r>
            <a:r>
              <a:rPr lang="en-US" sz="2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</a:t>
            </a:r>
            <a:r>
              <a:rPr lang="en-KH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បង្កើន (</a:t>
            </a:r>
            <a:r>
              <a:rPr lang="en-KH" sz="2600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++</a:t>
            </a:r>
            <a:r>
              <a:rPr lang="en-KH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), បន្ថយ (</a:t>
            </a:r>
            <a:r>
              <a:rPr lang="en-KH" sz="2600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--</a:t>
            </a:r>
            <a:r>
              <a:rPr lang="en-KH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), តក្កវិទ្យាបំពេញបន្តែម(</a:t>
            </a:r>
            <a:r>
              <a:rPr lang="en-KH" sz="2600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!</a:t>
            </a:r>
            <a:r>
              <a:rPr lang="en-KH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)។ល។</a:t>
            </a:r>
          </a:p>
          <a:p>
            <a:pPr algn="l">
              <a:lnSpc>
                <a:spcPct val="150000"/>
              </a:lnSpc>
            </a:pPr>
            <a:r>
              <a:rPr lang="en-KH" sz="22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ឧទាហរណ៍៖</a:t>
            </a:r>
          </a:p>
          <a:p>
            <a:pPr lvl="1" algn="l">
              <a:lnSpc>
                <a:spcPct val="150000"/>
              </a:lnSpc>
            </a:pPr>
            <a:r>
              <a:rPr lang="en-US" sz="22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	</a:t>
            </a:r>
            <a:r>
              <a:rPr lang="en-US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int a = 1;</a:t>
            </a:r>
            <a:br>
              <a:rPr lang="en-US" sz="2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</a:br>
            <a:r>
              <a:rPr lang="en-US" sz="2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	</a:t>
            </a:r>
            <a:r>
              <a:rPr lang="en-US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a</a:t>
            </a:r>
            <a:r>
              <a:rPr lang="en-US" sz="2600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++</a:t>
            </a:r>
            <a:r>
              <a:rPr lang="en-US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;</a:t>
            </a:r>
            <a:br>
              <a:rPr lang="en-US" sz="2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</a:br>
            <a:r>
              <a:rPr lang="en-US" sz="2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	</a:t>
            </a:r>
            <a:r>
              <a:rPr lang="en-US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a</a:t>
            </a:r>
            <a:r>
              <a:rPr lang="en-US" sz="2600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--</a:t>
            </a:r>
            <a:r>
              <a:rPr lang="en-US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;</a:t>
            </a:r>
            <a:br>
              <a:rPr lang="en-US" sz="2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</a:br>
            <a:r>
              <a:rPr lang="en-US" sz="2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	</a:t>
            </a:r>
            <a:r>
              <a:rPr lang="en-US" sz="26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boolean</a:t>
            </a:r>
            <a:r>
              <a:rPr lang="en-US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</a:t>
            </a:r>
            <a:r>
              <a:rPr lang="en-US" sz="26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isIncorrect</a:t>
            </a:r>
            <a:r>
              <a:rPr lang="en-US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= false;</a:t>
            </a:r>
          </a:p>
          <a:p>
            <a:pPr lvl="1" algn="l">
              <a:lnSpc>
                <a:spcPct val="150000"/>
              </a:lnSpc>
            </a:pPr>
            <a:r>
              <a:rPr lang="en-KH" sz="2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	</a:t>
            </a:r>
            <a:r>
              <a:rPr lang="en-KH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boolean isCorrect =</a:t>
            </a:r>
            <a:r>
              <a:rPr lang="en-KH" sz="2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</a:t>
            </a:r>
            <a:r>
              <a:rPr lang="en-KH" sz="2600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! </a:t>
            </a:r>
            <a:r>
              <a:rPr lang="en-KH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isIncorrect;</a:t>
            </a:r>
          </a:p>
          <a:p>
            <a:pPr lvl="1" algn="l">
              <a:lnSpc>
                <a:spcPct val="150000"/>
              </a:lnSpc>
            </a:pPr>
            <a:r>
              <a:rPr lang="en-KH" sz="22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​</a:t>
            </a: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505C94F6-E5D6-3AD6-F7F7-931FC0C0EA31}"/>
              </a:ext>
            </a:extLst>
          </p:cNvPr>
          <p:cNvCxnSpPr/>
          <p:nvPr/>
        </p:nvCxnSpPr>
        <p:spPr>
          <a:xfrm>
            <a:off x="0" y="1050468"/>
            <a:ext cx="12192000" cy="0"/>
          </a:xfrm>
          <a:prstGeom prst="line">
            <a:avLst/>
          </a:prstGeom>
          <a:ln w="57150">
            <a:solidFill>
              <a:srgbClr val="D49B0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2BCE5EB0-1680-C545-AA2F-95EFB80D8B73}"/>
              </a:ext>
            </a:extLst>
          </p:cNvPr>
          <p:cNvCxnSpPr>
            <a:cxnSpLocks/>
          </p:cNvCxnSpPr>
          <p:nvPr/>
        </p:nvCxnSpPr>
        <p:spPr>
          <a:xfrm>
            <a:off x="0" y="979812"/>
            <a:ext cx="12192000" cy="0"/>
          </a:xfrm>
          <a:prstGeom prst="line">
            <a:avLst/>
          </a:prstGeom>
          <a:ln w="57150">
            <a:solidFill>
              <a:srgbClr val="1C27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7" name="Picture 46" descr="A blue circle with a yellow and white bird in it&#10;&#10;AI-generated content may be incorrect.">
            <a:extLst>
              <a:ext uri="{FF2B5EF4-FFF2-40B4-BE49-F238E27FC236}">
                <a16:creationId xmlns:a16="http://schemas.microsoft.com/office/drawing/2014/main" id="{4A2510FF-1669-CBFC-DC74-DE64F619214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5438" y="219712"/>
            <a:ext cx="606500" cy="606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9633810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CE724B9-C62D-B7EC-D411-9B865866D0E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8434A87-B323-C03F-D0EB-3E59F30C3FA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701800" y="119781"/>
            <a:ext cx="9144000" cy="789373"/>
          </a:xfrm>
        </p:spPr>
        <p:txBody>
          <a:bodyPr>
            <a:normAutofit/>
          </a:bodyPr>
          <a:lstStyle/>
          <a:p>
            <a:pPr algn="l"/>
            <a:r>
              <a:rPr lang="en-US" sz="3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Ternary Operator</a:t>
            </a:r>
            <a:endParaRPr lang="en-KH" sz="3600" dirty="0">
              <a:solidFill>
                <a:srgbClr val="002060"/>
              </a:solidFill>
              <a:latin typeface="Khmer OS Battambang" panose="02000500000000020004" pitchFamily="2" charset="77"/>
              <a:cs typeface="Khmer OS Battambang" panose="02000500000000020004" pitchFamily="2" charset="77"/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EE706DA-5B28-31B8-A5B5-C5187DDBACD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24192" y="1219213"/>
            <a:ext cx="10954536" cy="5098458"/>
          </a:xfrm>
        </p:spPr>
        <p:txBody>
          <a:bodyPr>
            <a:noAutofit/>
          </a:bodyPr>
          <a:lstStyle/>
          <a:p>
            <a:pPr algn="l">
              <a:lnSpc>
                <a:spcPct val="150000"/>
              </a:lnSpc>
            </a:pPr>
            <a:r>
              <a:rPr lang="en-US" sz="20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	</a:t>
            </a:r>
            <a:r>
              <a:rPr lang="en-US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Ternary (Conditional) Operator </a:t>
            </a:r>
            <a:r>
              <a:rPr lang="en-KH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គឺជាការ</a:t>
            </a:r>
            <a:r>
              <a:rPr lang="en-US" dirty="0" err="1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សរសេកាត់នៅក្នុងប្រយោគតែមួយសម្រាប</a:t>
            </a:r>
            <a:r>
              <a:rPr lang="en-US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់ if-else statement ដោយវាយតម្លៃលើលក្ខណនិងកំណត់តម្លៃដែលផ្តល់ត្រឡប់មកវិញដោយផ្អែកលើលទ្ធផល</a:t>
            </a:r>
            <a:r>
              <a:rPr lang="en-US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US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true</a:t>
            </a:r>
            <a:r>
              <a:rPr lang="en-US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US" dirty="0" err="1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ឫ</a:t>
            </a:r>
            <a:r>
              <a:rPr lang="en-US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US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false</a:t>
            </a:r>
            <a:r>
              <a:rPr lang="en-KH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។ </a:t>
            </a:r>
          </a:p>
          <a:p>
            <a:pPr algn="l">
              <a:lnSpc>
                <a:spcPct val="150000"/>
              </a:lnSpc>
            </a:pPr>
            <a:r>
              <a:rPr lang="en-KH" dirty="0">
                <a:latin typeface="Khmer OS Content" panose="02000500000000020004" pitchFamily="2" charset="77"/>
                <a:cs typeface="Khmer OS Content" panose="02000500000000020004" pitchFamily="2" charset="77"/>
              </a:rPr>
              <a:t>👉 </a:t>
            </a:r>
            <a:r>
              <a:rPr lang="en-US" dirty="0" err="1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ទម្រង់នៃការប្រើប្រាស</a:t>
            </a:r>
            <a:r>
              <a:rPr lang="en-US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់(Syntax)៖ </a:t>
            </a:r>
            <a:r>
              <a:rPr lang="en-US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(</a:t>
            </a:r>
            <a:r>
              <a:rPr lang="en-US" dirty="0" err="1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លក្ខណ</a:t>
            </a:r>
            <a:r>
              <a:rPr lang="en-US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)</a:t>
            </a:r>
            <a:r>
              <a:rPr lang="en-US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US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?</a:t>
            </a:r>
            <a:r>
              <a:rPr lang="en-US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US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(</a:t>
            </a:r>
            <a:r>
              <a:rPr lang="en-US" dirty="0" err="1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តម្លៃនៅពេលលទ្ធផល</a:t>
            </a:r>
            <a:r>
              <a:rPr lang="en-US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 </a:t>
            </a:r>
            <a:r>
              <a:rPr lang="en-US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true</a:t>
            </a:r>
            <a:r>
              <a:rPr lang="en-US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)</a:t>
            </a:r>
            <a:r>
              <a:rPr lang="en-US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US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:</a:t>
            </a:r>
            <a:r>
              <a:rPr lang="en-US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US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(</a:t>
            </a:r>
            <a:r>
              <a:rPr lang="en-US" dirty="0" err="1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តម្លៃនៅពេលលទ្ធផល</a:t>
            </a:r>
            <a:r>
              <a:rPr lang="en-US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 </a:t>
            </a:r>
            <a:r>
              <a:rPr lang="en-US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false</a:t>
            </a:r>
            <a:r>
              <a:rPr lang="en-US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);</a:t>
            </a:r>
          </a:p>
          <a:p>
            <a:pPr algn="l">
              <a:lnSpc>
                <a:spcPct val="150000"/>
              </a:lnSpc>
            </a:pPr>
            <a:r>
              <a:rPr lang="en-KH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     ឧទាហរណ៍៖ </a:t>
            </a:r>
          </a:p>
          <a:p>
            <a:pPr lvl="1" algn="l">
              <a:lnSpc>
                <a:spcPct val="150000"/>
              </a:lnSpc>
            </a:pPr>
            <a:r>
              <a:rPr lang="en-US" sz="24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i</a:t>
            </a:r>
            <a:r>
              <a:rPr lang="en-KH" sz="24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nt a = 1, b = 2;</a:t>
            </a:r>
          </a:p>
          <a:p>
            <a:pPr lvl="1" algn="l">
              <a:lnSpc>
                <a:spcPct val="150000"/>
              </a:lnSpc>
            </a:pPr>
            <a:r>
              <a:rPr lang="en-KH" sz="24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int amount =</a:t>
            </a:r>
            <a:r>
              <a:rPr lang="en-KH" sz="24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KH" sz="24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a &lt; b ?</a:t>
            </a:r>
            <a:r>
              <a:rPr lang="en-KH" sz="24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KH" sz="24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100</a:t>
            </a:r>
            <a:r>
              <a:rPr lang="en-KH" sz="24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KH" sz="24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:</a:t>
            </a:r>
            <a:r>
              <a:rPr lang="en-KH" sz="24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KH" sz="24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0 ;</a:t>
            </a: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65886F14-88C5-E50F-9699-1CD52578237C}"/>
              </a:ext>
            </a:extLst>
          </p:cNvPr>
          <p:cNvCxnSpPr/>
          <p:nvPr/>
        </p:nvCxnSpPr>
        <p:spPr>
          <a:xfrm>
            <a:off x="0" y="1050468"/>
            <a:ext cx="12192000" cy="0"/>
          </a:xfrm>
          <a:prstGeom prst="line">
            <a:avLst/>
          </a:prstGeom>
          <a:ln w="57150">
            <a:solidFill>
              <a:srgbClr val="D49B0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760D7CC2-CC97-3383-3C93-9FF34B6ABC87}"/>
              </a:ext>
            </a:extLst>
          </p:cNvPr>
          <p:cNvCxnSpPr>
            <a:cxnSpLocks/>
          </p:cNvCxnSpPr>
          <p:nvPr/>
        </p:nvCxnSpPr>
        <p:spPr>
          <a:xfrm>
            <a:off x="0" y="979812"/>
            <a:ext cx="12192000" cy="0"/>
          </a:xfrm>
          <a:prstGeom prst="line">
            <a:avLst/>
          </a:prstGeom>
          <a:ln w="57150">
            <a:solidFill>
              <a:srgbClr val="1C27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7" name="Picture 46" descr="A blue circle with a yellow and white bird in it&#10;&#10;AI-generated content may be incorrect.">
            <a:extLst>
              <a:ext uri="{FF2B5EF4-FFF2-40B4-BE49-F238E27FC236}">
                <a16:creationId xmlns:a16="http://schemas.microsoft.com/office/drawing/2014/main" id="{5194BB0A-A3D5-612D-EFAB-F830C137204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5438" y="219712"/>
            <a:ext cx="606500" cy="606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92040135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77DF9B2-578B-86BE-AC30-8562F0F0CA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01E6D06-CC66-B24C-9B7C-C600010B57F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701800" y="119781"/>
            <a:ext cx="9144000" cy="789373"/>
          </a:xfrm>
        </p:spPr>
        <p:txBody>
          <a:bodyPr>
            <a:normAutofit/>
          </a:bodyPr>
          <a:lstStyle/>
          <a:p>
            <a:pPr algn="l"/>
            <a:r>
              <a:rPr lang="en-US" sz="3600" dirty="0" err="1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instanceof</a:t>
            </a:r>
            <a:r>
              <a:rPr lang="en-US" sz="3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 Operator</a:t>
            </a:r>
            <a:endParaRPr lang="en-KH" sz="3600" dirty="0">
              <a:solidFill>
                <a:srgbClr val="002060"/>
              </a:solidFill>
              <a:latin typeface="Khmer OS Battambang" panose="02000500000000020004" pitchFamily="2" charset="77"/>
              <a:cs typeface="Khmer OS Battambang" panose="02000500000000020004" pitchFamily="2" charset="77"/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D65973B-B0E8-B941-5DA9-5479ACD2F8C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24192" y="1219212"/>
            <a:ext cx="10954536" cy="5419075"/>
          </a:xfrm>
        </p:spPr>
        <p:txBody>
          <a:bodyPr>
            <a:normAutofit fontScale="25000" lnSpcReduction="20000"/>
          </a:bodyPr>
          <a:lstStyle/>
          <a:p>
            <a:pPr algn="l">
              <a:lnSpc>
                <a:spcPct val="150000"/>
              </a:lnSpc>
            </a:pPr>
            <a:r>
              <a:rPr lang="en-US" sz="2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	</a:t>
            </a:r>
            <a:r>
              <a:rPr lang="en-US" sz="8000" dirty="0" err="1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instanceof</a:t>
            </a:r>
            <a:r>
              <a:rPr lang="en-US" sz="80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 Operator </a:t>
            </a:r>
            <a:r>
              <a:rPr lang="en-KH" sz="80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គឺជា Operator សម្រាប់ធ្វើការត្រួតពិនិត្យប្រភេទទិន្នន័យដើម្បីសាកល្បងថាតើវត្ថុមួយគឺជា instance នៃ class ឫ </a:t>
            </a:r>
            <a:r>
              <a:rPr lang="en-US" sz="80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interface </a:t>
            </a:r>
            <a:r>
              <a:rPr lang="en-US" sz="8000" dirty="0" err="1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ជាក់លាក់មួយឬទេ</a:t>
            </a:r>
            <a:r>
              <a:rPr lang="en-KH" sz="80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។ </a:t>
            </a:r>
          </a:p>
          <a:p>
            <a:pPr algn="l">
              <a:lnSpc>
                <a:spcPct val="150000"/>
              </a:lnSpc>
            </a:pPr>
            <a:r>
              <a:rPr lang="en-KH" sz="8000" dirty="0">
                <a:latin typeface="Khmer OS Content" panose="02000500000000020004" pitchFamily="2" charset="77"/>
                <a:cs typeface="Khmer OS Content" panose="02000500000000020004" pitchFamily="2" charset="77"/>
              </a:rPr>
              <a:t>👉 </a:t>
            </a:r>
            <a:r>
              <a:rPr lang="en-US" sz="8000" dirty="0" err="1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ទម្រង់នៃការប្រើប្រាស</a:t>
            </a:r>
            <a:r>
              <a:rPr lang="en-US" sz="80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់(Syntax)៖ </a:t>
            </a:r>
            <a:r>
              <a:rPr lang="en-US" sz="8000" dirty="0" err="1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វត្ថុយោង</a:t>
            </a:r>
            <a:r>
              <a:rPr lang="en-US" sz="80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(object)</a:t>
            </a:r>
            <a:r>
              <a:rPr lang="en-US" sz="80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US" sz="8000" dirty="0" err="1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instanceof</a:t>
            </a:r>
            <a:r>
              <a:rPr lang="en-US" sz="80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US" sz="8000" dirty="0" err="1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ប្រភេទទិន្នន័យ</a:t>
            </a:r>
            <a:r>
              <a:rPr lang="en-US" sz="80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(Data type);</a:t>
            </a:r>
            <a:endParaRPr lang="en-KH" sz="8000" dirty="0">
              <a:solidFill>
                <a:srgbClr val="0070C0"/>
              </a:solidFill>
              <a:latin typeface="Khmer OS Content" panose="02000500000000020004" pitchFamily="2" charset="77"/>
              <a:cs typeface="Khmer OS Content" panose="02000500000000020004" pitchFamily="2" charset="77"/>
            </a:endParaRPr>
          </a:p>
          <a:p>
            <a:pPr algn="l">
              <a:lnSpc>
                <a:spcPct val="150000"/>
              </a:lnSpc>
            </a:pPr>
            <a:r>
              <a:rPr lang="en-KH" sz="80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    ឧទាហរណ៍៖</a:t>
            </a:r>
          </a:p>
          <a:p>
            <a:pPr lvl="1" algn="l">
              <a:lnSpc>
                <a:spcPct val="150000"/>
              </a:lnSpc>
            </a:pPr>
            <a:r>
              <a:rPr lang="en-KH" sz="72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class Car{}</a:t>
            </a:r>
          </a:p>
          <a:p>
            <a:pPr lvl="1" algn="l">
              <a:lnSpc>
                <a:spcPct val="150000"/>
              </a:lnSpc>
            </a:pPr>
            <a:r>
              <a:rPr lang="en-KH" sz="72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class Lexus extends Car{}</a:t>
            </a:r>
          </a:p>
          <a:p>
            <a:pPr lvl="1" algn="l">
              <a:lnSpc>
                <a:spcPct val="150000"/>
              </a:lnSpc>
            </a:pPr>
            <a:r>
              <a:rPr lang="en-KH" sz="72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Car mycar = new Lexus();</a:t>
            </a:r>
          </a:p>
          <a:p>
            <a:pPr lvl="1" algn="l">
              <a:lnSpc>
                <a:spcPct val="150000"/>
              </a:lnSpc>
            </a:pPr>
            <a:r>
              <a:rPr lang="en-US" sz="72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if (</a:t>
            </a:r>
            <a:r>
              <a:rPr lang="en-KH" sz="72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mycar</a:t>
            </a:r>
            <a:r>
              <a:rPr lang="en-US" sz="72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US" sz="7200" dirty="0" err="1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instanceof</a:t>
            </a:r>
            <a:r>
              <a:rPr lang="en-US" sz="72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KH" sz="72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Lexus</a:t>
            </a:r>
            <a:r>
              <a:rPr lang="en-US" sz="72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) {</a:t>
            </a:r>
          </a:p>
          <a:p>
            <a:pPr lvl="1" algn="l">
              <a:lnSpc>
                <a:spcPct val="150000"/>
              </a:lnSpc>
            </a:pPr>
            <a:r>
              <a:rPr lang="en-US" sz="72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	…</a:t>
            </a:r>
          </a:p>
          <a:p>
            <a:pPr lvl="1" algn="l">
              <a:lnSpc>
                <a:spcPct val="150000"/>
              </a:lnSpc>
            </a:pPr>
            <a:r>
              <a:rPr lang="en-US" sz="72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} else {</a:t>
            </a:r>
            <a:br>
              <a:rPr lang="en-US" sz="72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</a:br>
            <a:r>
              <a:rPr lang="en-US" sz="72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	…</a:t>
            </a:r>
          </a:p>
          <a:p>
            <a:pPr lvl="1" algn="l">
              <a:lnSpc>
                <a:spcPct val="150000"/>
              </a:lnSpc>
            </a:pPr>
            <a:r>
              <a:rPr lang="en-US" sz="72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}</a:t>
            </a:r>
          </a:p>
          <a:p>
            <a:pPr lvl="1" algn="l">
              <a:lnSpc>
                <a:spcPct val="150000"/>
              </a:lnSpc>
            </a:pPr>
            <a:endParaRPr lang="en-KH" sz="2200" dirty="0">
              <a:solidFill>
                <a:srgbClr val="002060"/>
              </a:solidFill>
              <a:latin typeface="Khmer OS Battambang" panose="02000500000000020004" pitchFamily="2" charset="77"/>
              <a:cs typeface="Khmer OS Battambang" panose="02000500000000020004" pitchFamily="2" charset="77"/>
            </a:endParaRP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0689E53A-3256-A5A7-AD3F-FB773D47B31E}"/>
              </a:ext>
            </a:extLst>
          </p:cNvPr>
          <p:cNvCxnSpPr/>
          <p:nvPr/>
        </p:nvCxnSpPr>
        <p:spPr>
          <a:xfrm>
            <a:off x="0" y="1050468"/>
            <a:ext cx="12192000" cy="0"/>
          </a:xfrm>
          <a:prstGeom prst="line">
            <a:avLst/>
          </a:prstGeom>
          <a:ln w="57150">
            <a:solidFill>
              <a:srgbClr val="D49B0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6B21BD3A-38D5-7266-AEA2-E6496E9E3F0E}"/>
              </a:ext>
            </a:extLst>
          </p:cNvPr>
          <p:cNvCxnSpPr>
            <a:cxnSpLocks/>
          </p:cNvCxnSpPr>
          <p:nvPr/>
        </p:nvCxnSpPr>
        <p:spPr>
          <a:xfrm>
            <a:off x="0" y="979812"/>
            <a:ext cx="12192000" cy="0"/>
          </a:xfrm>
          <a:prstGeom prst="line">
            <a:avLst/>
          </a:prstGeom>
          <a:ln w="57150">
            <a:solidFill>
              <a:srgbClr val="1C27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7" name="Picture 46" descr="A blue circle with a yellow and white bird in it&#10;&#10;AI-generated content may be incorrect.">
            <a:extLst>
              <a:ext uri="{FF2B5EF4-FFF2-40B4-BE49-F238E27FC236}">
                <a16:creationId xmlns:a16="http://schemas.microsoft.com/office/drawing/2014/main" id="{2FF01774-D685-00F4-0DB1-013C437FA7C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5438" y="219712"/>
            <a:ext cx="606500" cy="606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12616596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8C72877-4C83-F5A8-4403-ED24EE9806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6BFC23-F35E-C99C-358D-1414DA5B6B1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701800" y="119781"/>
            <a:ext cx="9144000" cy="789373"/>
          </a:xfrm>
        </p:spPr>
        <p:txBody>
          <a:bodyPr>
            <a:normAutofit/>
          </a:bodyPr>
          <a:lstStyle/>
          <a:p>
            <a:pPr algn="l"/>
            <a:r>
              <a:rPr lang="en-US" sz="3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Control Flow</a:t>
            </a:r>
            <a:endParaRPr lang="en-KH" sz="3600" dirty="0">
              <a:solidFill>
                <a:srgbClr val="002060"/>
              </a:solidFill>
              <a:latin typeface="Khmer OS Battambang" panose="02000500000000020004" pitchFamily="2" charset="77"/>
              <a:cs typeface="Khmer OS Battambang" panose="02000500000000020004" pitchFamily="2" charset="77"/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4C89C24-7C34-93FE-8F97-6B4446EAFA4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24192" y="1168413"/>
            <a:ext cx="10954536" cy="5146416"/>
          </a:xfrm>
        </p:spPr>
        <p:txBody>
          <a:bodyPr>
            <a:normAutofit fontScale="92500" lnSpcReduction="10000"/>
          </a:bodyPr>
          <a:lstStyle/>
          <a:p>
            <a:pPr algn="l">
              <a:lnSpc>
                <a:spcPct val="150000"/>
              </a:lnSpc>
            </a:pPr>
            <a:r>
              <a:rPr lang="en-US" sz="2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    	</a:t>
            </a:r>
            <a:r>
              <a:rPr lang="en-US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Control Flow </a:t>
            </a:r>
            <a:r>
              <a:rPr lang="en-US" dirty="0" err="1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សំដៅលើការគ្រប់គ្រងលំហូដំណើរការនៃ</a:t>
            </a:r>
            <a:r>
              <a:rPr lang="en-US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Code </a:t>
            </a:r>
            <a:r>
              <a:rPr lang="en-US" dirty="0" err="1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នៅក្នុងកម្មវិធី</a:t>
            </a:r>
            <a:r>
              <a:rPr lang="en-US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។</a:t>
            </a:r>
            <a:r>
              <a:rPr lang="en-US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</a:p>
          <a:p>
            <a:pPr algn="l">
              <a:lnSpc>
                <a:spcPct val="150000"/>
              </a:lnSpc>
            </a:pPr>
            <a:r>
              <a:rPr lang="en-KH" dirty="0">
                <a:latin typeface="Khmer OS Content" panose="02000500000000020004" pitchFamily="2" charset="77"/>
                <a:cs typeface="Khmer OS Content" panose="02000500000000020004" pitchFamily="2" charset="77"/>
              </a:rPr>
              <a:t>👉 </a:t>
            </a:r>
            <a:r>
              <a:rPr lang="en-US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Control Flow </a:t>
            </a:r>
            <a:r>
              <a:rPr lang="en-US" dirty="0" err="1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មានដូចជា</a:t>
            </a:r>
            <a:r>
              <a:rPr lang="en-US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៖</a:t>
            </a:r>
          </a:p>
          <a:p>
            <a:pPr algn="l">
              <a:lnSpc>
                <a:spcPct val="170000"/>
              </a:lnSpc>
            </a:pPr>
            <a:r>
              <a:rPr lang="en-US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	</a:t>
            </a:r>
            <a:r>
              <a:rPr lang="en-US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- </a:t>
            </a:r>
            <a:r>
              <a:rPr lang="en-US" dirty="0" err="1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ប្រយោគបង្កើតការសម្រចចិត្ត</a:t>
            </a:r>
            <a:r>
              <a:rPr lang="en-US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(Decision-Making Statements)</a:t>
            </a:r>
            <a:br>
              <a:rPr lang="en-US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</a:br>
            <a:r>
              <a:rPr lang="en-US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	- </a:t>
            </a:r>
            <a:r>
              <a:rPr lang="en-US" dirty="0" err="1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ប្រយោគរង្វិលជុំ</a:t>
            </a:r>
            <a:r>
              <a:rPr lang="en-US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(Loop Statements)</a:t>
            </a:r>
          </a:p>
          <a:p>
            <a:pPr algn="l">
              <a:lnSpc>
                <a:spcPct val="170000"/>
              </a:lnSpc>
            </a:pPr>
            <a:r>
              <a:rPr lang="en-US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	- </a:t>
            </a:r>
            <a:r>
              <a:rPr lang="en-US" dirty="0" err="1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ប្រយោគផ្លោះ</a:t>
            </a:r>
            <a:r>
              <a:rPr lang="en-US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(Jump Statements)</a:t>
            </a:r>
          </a:p>
          <a:p>
            <a:pPr algn="l">
              <a:lnSpc>
                <a:spcPct val="170000"/>
              </a:lnSpc>
            </a:pPr>
            <a:r>
              <a:rPr lang="en-US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	- Exception Handling</a:t>
            </a:r>
          </a:p>
          <a:p>
            <a:pPr algn="l">
              <a:lnSpc>
                <a:spcPct val="170000"/>
              </a:lnSpc>
            </a:pPr>
            <a:r>
              <a:rPr lang="en-US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	- Static</a:t>
            </a:r>
          </a:p>
          <a:p>
            <a:pPr algn="l">
              <a:lnSpc>
                <a:spcPct val="170000"/>
              </a:lnSpc>
            </a:pPr>
            <a:r>
              <a:rPr lang="en-US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	- Instance</a:t>
            </a:r>
            <a:endParaRPr lang="km-KH" dirty="0">
              <a:solidFill>
                <a:srgbClr val="0070C0"/>
              </a:solidFill>
              <a:latin typeface="Khmer OS Content" panose="02000500000000020004" pitchFamily="2" charset="77"/>
              <a:cs typeface="Khmer OS Content" panose="02000500000000020004" pitchFamily="2" charset="77"/>
            </a:endParaRP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BDAFB8AC-A03C-54D9-6899-0B92EE99BB43}"/>
              </a:ext>
            </a:extLst>
          </p:cNvPr>
          <p:cNvCxnSpPr/>
          <p:nvPr/>
        </p:nvCxnSpPr>
        <p:spPr>
          <a:xfrm>
            <a:off x="0" y="1050468"/>
            <a:ext cx="12192000" cy="0"/>
          </a:xfrm>
          <a:prstGeom prst="line">
            <a:avLst/>
          </a:prstGeom>
          <a:ln w="57150">
            <a:solidFill>
              <a:srgbClr val="D49B0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EEFB60B7-6572-7DBB-7A44-B70309CDAB0B}"/>
              </a:ext>
            </a:extLst>
          </p:cNvPr>
          <p:cNvCxnSpPr>
            <a:cxnSpLocks/>
          </p:cNvCxnSpPr>
          <p:nvPr/>
        </p:nvCxnSpPr>
        <p:spPr>
          <a:xfrm>
            <a:off x="0" y="979812"/>
            <a:ext cx="12192000" cy="0"/>
          </a:xfrm>
          <a:prstGeom prst="line">
            <a:avLst/>
          </a:prstGeom>
          <a:ln w="57150">
            <a:solidFill>
              <a:srgbClr val="1C27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7" name="Picture 46" descr="A blue circle with a yellow and white bird in it&#10;&#10;AI-generated content may be incorrect.">
            <a:extLst>
              <a:ext uri="{FF2B5EF4-FFF2-40B4-BE49-F238E27FC236}">
                <a16:creationId xmlns:a16="http://schemas.microsoft.com/office/drawing/2014/main" id="{C03F132C-18C2-87DD-934B-6F84BA6CC86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5438" y="219712"/>
            <a:ext cx="606500" cy="606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33864709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55743BD-B0A3-0CF4-7FBC-E8FE4158A3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C6C4D27-D040-C41B-D7DB-83008F10567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701800" y="119781"/>
            <a:ext cx="9144000" cy="789373"/>
          </a:xfrm>
        </p:spPr>
        <p:txBody>
          <a:bodyPr>
            <a:normAutofit/>
          </a:bodyPr>
          <a:lstStyle/>
          <a:p>
            <a:pPr algn="l"/>
            <a:r>
              <a:rPr lang="en-KH" sz="3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ប្រយោគបង្កើតការសម្រចចិត្ត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68B202E-1588-5961-61F4-AA9F6E6A353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24192" y="1168413"/>
            <a:ext cx="10954536" cy="5146416"/>
          </a:xfrm>
        </p:spPr>
        <p:txBody>
          <a:bodyPr>
            <a:normAutofit fontScale="25000" lnSpcReduction="20000"/>
          </a:bodyPr>
          <a:lstStyle/>
          <a:p>
            <a:pPr algn="l">
              <a:lnSpc>
                <a:spcPct val="150000"/>
              </a:lnSpc>
            </a:pPr>
            <a:r>
              <a:rPr lang="en-US" sz="2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    	</a:t>
            </a:r>
            <a:r>
              <a:rPr lang="en-US" sz="96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ប្រយោគបង្កើតការសម្រេចចិត្តនៅក្នុងភាសា</a:t>
            </a:r>
            <a:r>
              <a:rPr lang="en-US" sz="9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Java </a:t>
            </a:r>
            <a:r>
              <a:rPr lang="en-US" sz="96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មានដូចជា</a:t>
            </a:r>
            <a:r>
              <a:rPr lang="en-US" sz="9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៖</a:t>
            </a:r>
            <a:r>
              <a:rPr lang="en-US" sz="9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​ </a:t>
            </a:r>
            <a:r>
              <a:rPr lang="en-US" sz="9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if, if-else, if-else-if </a:t>
            </a:r>
            <a:r>
              <a:rPr lang="en-US" sz="96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និង</a:t>
            </a:r>
            <a:r>
              <a:rPr lang="en-US" sz="9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switch។</a:t>
            </a:r>
          </a:p>
          <a:p>
            <a:pPr algn="l">
              <a:lnSpc>
                <a:spcPct val="170000"/>
              </a:lnSpc>
            </a:pPr>
            <a:r>
              <a:rPr lang="en-US" sz="9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- if: </a:t>
            </a:r>
            <a:r>
              <a:rPr lang="en-US" sz="96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គឺជា</a:t>
            </a:r>
            <a:r>
              <a:rPr lang="km-KH" sz="9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លំហូរ</a:t>
            </a:r>
            <a:r>
              <a:rPr lang="en-US" sz="96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នៃ</a:t>
            </a:r>
            <a:r>
              <a:rPr lang="km-KH" sz="9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ការត្រួតពិនិត្យជាមូលដ្ឋានដែលអនុញ្ញាតឱ្យកម្មវិធីធ្វើការសម្រេចចិត្ត</a:t>
            </a:r>
            <a:r>
              <a:rPr lang="en-US" sz="9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</a:t>
            </a:r>
            <a:r>
              <a:rPr lang="en-US" sz="96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និងប្រតិបត្តិ</a:t>
            </a:r>
            <a:r>
              <a:rPr lang="en-US" sz="9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(execute) </a:t>
            </a:r>
            <a:r>
              <a:rPr lang="en-US" sz="96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នូវប្លុក</a:t>
            </a:r>
            <a:r>
              <a:rPr lang="en-US" sz="9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code </a:t>
            </a:r>
            <a:r>
              <a:rPr lang="en-US" sz="96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ជាក់លាក់លុះត្រាតែការវាយតម្លៃលក្ខណដែលបានផ្តល់ឲ្យស្មើនិង</a:t>
            </a:r>
            <a:r>
              <a:rPr lang="en-US" sz="9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</a:t>
            </a:r>
            <a:r>
              <a:rPr lang="en-US" sz="9600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true </a:t>
            </a:r>
            <a:r>
              <a:rPr lang="en-US" sz="96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តែប៉ុណ្ណោះ</a:t>
            </a:r>
            <a:r>
              <a:rPr lang="en-US" sz="9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។</a:t>
            </a:r>
            <a:br>
              <a:rPr lang="en-US" sz="9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</a:br>
            <a:r>
              <a:rPr lang="en-KH" sz="9600" dirty="0"/>
              <a:t>👉 </a:t>
            </a:r>
            <a:r>
              <a:rPr lang="en-US" sz="9600" dirty="0" err="1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ទម្រង់នៃការប្រើប្រាស</a:t>
            </a:r>
            <a:r>
              <a:rPr lang="en-US" sz="9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់(Syntax)៖</a:t>
            </a:r>
            <a:br>
              <a:rPr lang="en-US" sz="9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</a:br>
            <a:r>
              <a:rPr lang="en-US" sz="9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   	</a:t>
            </a:r>
            <a:r>
              <a:rPr lang="en-US" sz="9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if( </a:t>
            </a:r>
            <a:r>
              <a:rPr lang="en-US" sz="96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លក្ខណ</a:t>
            </a:r>
            <a:r>
              <a:rPr lang="en-US" sz="9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){</a:t>
            </a:r>
          </a:p>
          <a:p>
            <a:pPr algn="l">
              <a:lnSpc>
                <a:spcPct val="120000"/>
              </a:lnSpc>
            </a:pPr>
            <a:r>
              <a:rPr lang="en-US" sz="9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        		//Statement </a:t>
            </a:r>
            <a:r>
              <a:rPr lang="en-US" sz="96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ដែលត្រូវប្រតិបត្តិ</a:t>
            </a:r>
            <a:r>
              <a:rPr lang="en-US" sz="9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</a:t>
            </a:r>
            <a:r>
              <a:rPr lang="en-US" sz="96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ប្រសិនបើលក្ខណស្មើ</a:t>
            </a:r>
            <a:r>
              <a:rPr lang="en-US" sz="9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</a:t>
            </a:r>
            <a:r>
              <a:rPr lang="en-US" sz="9600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true</a:t>
            </a:r>
          </a:p>
          <a:p>
            <a:pPr algn="l">
              <a:lnSpc>
                <a:spcPct val="120000"/>
              </a:lnSpc>
            </a:pPr>
            <a:r>
              <a:rPr lang="en-US" sz="9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   	</a:t>
            </a:r>
            <a:r>
              <a:rPr lang="en-US" sz="9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}</a:t>
            </a:r>
            <a:endParaRPr lang="km-KH" sz="9600" dirty="0">
              <a:solidFill>
                <a:srgbClr val="0070C0"/>
              </a:solidFill>
              <a:latin typeface="Khmer OS Battambang" panose="02000500000000020004" pitchFamily="2" charset="77"/>
              <a:cs typeface="Khmer OS Battambang" panose="02000500000000020004" pitchFamily="2" charset="77"/>
            </a:endParaRP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2D1986F8-F7DD-3AD0-6B74-5E89B685247F}"/>
              </a:ext>
            </a:extLst>
          </p:cNvPr>
          <p:cNvCxnSpPr/>
          <p:nvPr/>
        </p:nvCxnSpPr>
        <p:spPr>
          <a:xfrm>
            <a:off x="0" y="1050468"/>
            <a:ext cx="12192000" cy="0"/>
          </a:xfrm>
          <a:prstGeom prst="line">
            <a:avLst/>
          </a:prstGeom>
          <a:ln w="57150">
            <a:solidFill>
              <a:srgbClr val="D49B0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E9E51B28-085E-F607-6F39-D74B79BD1E5D}"/>
              </a:ext>
            </a:extLst>
          </p:cNvPr>
          <p:cNvCxnSpPr>
            <a:cxnSpLocks/>
          </p:cNvCxnSpPr>
          <p:nvPr/>
        </p:nvCxnSpPr>
        <p:spPr>
          <a:xfrm>
            <a:off x="0" y="979812"/>
            <a:ext cx="12192000" cy="0"/>
          </a:xfrm>
          <a:prstGeom prst="line">
            <a:avLst/>
          </a:prstGeom>
          <a:ln w="57150">
            <a:solidFill>
              <a:srgbClr val="1C27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7" name="Picture 46" descr="A blue circle with a yellow and white bird in it&#10;&#10;AI-generated content may be incorrect.">
            <a:extLst>
              <a:ext uri="{FF2B5EF4-FFF2-40B4-BE49-F238E27FC236}">
                <a16:creationId xmlns:a16="http://schemas.microsoft.com/office/drawing/2014/main" id="{BBA359F1-EA10-DA2A-52DC-6F408C31674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5438" y="219712"/>
            <a:ext cx="606500" cy="606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01314849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CD801F8-0D67-890F-57FD-B7A2B7539F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9F23A6-0081-E42C-E366-96AA111D1AE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701800" y="119781"/>
            <a:ext cx="9144000" cy="789373"/>
          </a:xfrm>
        </p:spPr>
        <p:txBody>
          <a:bodyPr>
            <a:normAutofit/>
          </a:bodyPr>
          <a:lstStyle/>
          <a:p>
            <a:pPr algn="l"/>
            <a:r>
              <a:rPr lang="en-KH" sz="3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ប្រយោគបង្កើតការសម្រចចិត្ត</a:t>
            </a:r>
            <a:r>
              <a:rPr lang="en-US" sz="3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(</a:t>
            </a:r>
            <a:r>
              <a:rPr lang="en-US" sz="3600" dirty="0" err="1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ត</a:t>
            </a:r>
            <a:r>
              <a:rPr lang="en-US" sz="3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)</a:t>
            </a:r>
            <a:endParaRPr lang="en-KH" sz="3600" dirty="0">
              <a:solidFill>
                <a:srgbClr val="002060"/>
              </a:solidFill>
              <a:latin typeface="Khmer OS Battambang" panose="02000500000000020004" pitchFamily="2" charset="77"/>
              <a:cs typeface="Khmer OS Battambang" panose="02000500000000020004" pitchFamily="2" charset="77"/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9B612210-D8F8-B315-B381-8264F241753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24192" y="1219213"/>
            <a:ext cx="10954536" cy="5146416"/>
          </a:xfrm>
        </p:spPr>
        <p:txBody>
          <a:bodyPr>
            <a:normAutofit lnSpcReduction="10000"/>
          </a:bodyPr>
          <a:lstStyle/>
          <a:p>
            <a:pPr algn="l">
              <a:lnSpc>
                <a:spcPct val="150000"/>
              </a:lnSpc>
            </a:pPr>
            <a:r>
              <a:rPr lang="en-US" sz="2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- if-else : </a:t>
            </a:r>
            <a:r>
              <a:rPr lang="en-US" sz="26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គឺជា</a:t>
            </a:r>
            <a:r>
              <a:rPr lang="km-KH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លំហូរ</a:t>
            </a:r>
            <a:r>
              <a:rPr lang="en-US" sz="26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នៃ</a:t>
            </a:r>
            <a:r>
              <a:rPr lang="km-KH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ការត្រួតពិនិត្យជាមូលដ្ឋានដែលអនុញ្ញាតឱ្យកម្មវិធីធ្វើការសម្រេចចិត្ត</a:t>
            </a:r>
            <a:r>
              <a:rPr lang="en-US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</a:t>
            </a:r>
            <a:r>
              <a:rPr lang="en-US" sz="26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និងប្រតិបត្តិ</a:t>
            </a:r>
            <a:r>
              <a:rPr lang="en-US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(execute) </a:t>
            </a:r>
            <a:r>
              <a:rPr lang="en-US" sz="26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នូវប្លុក</a:t>
            </a:r>
            <a:r>
              <a:rPr lang="en-US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code ជាក់លាក់ក្នុងការវាយតម្លៃលក្ខណដែលបានផ្តល់ឲ្យស្មើ</a:t>
            </a:r>
            <a:r>
              <a:rPr lang="en-US" sz="2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</a:t>
            </a:r>
            <a:r>
              <a:rPr lang="en-US" sz="2600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true </a:t>
            </a:r>
            <a:r>
              <a:rPr lang="en-US" sz="26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និង</a:t>
            </a:r>
            <a:r>
              <a:rPr lang="en-US" sz="2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</a:t>
            </a:r>
            <a:r>
              <a:rPr lang="en-US" sz="2600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false</a:t>
            </a:r>
            <a:r>
              <a:rPr lang="en-US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។</a:t>
            </a:r>
            <a:br>
              <a:rPr lang="en-US" sz="2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</a:br>
            <a:r>
              <a:rPr lang="en-KH" sz="2800" dirty="0"/>
              <a:t>👉 </a:t>
            </a:r>
            <a:r>
              <a:rPr lang="en-US" sz="2600" dirty="0" err="1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ទម្រង់នៃការប្រើប្រាស</a:t>
            </a:r>
            <a:r>
              <a:rPr lang="en-US" sz="2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់(Syntax)៖</a:t>
            </a:r>
            <a:br>
              <a:rPr lang="en-US" sz="2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</a:br>
            <a:r>
              <a:rPr lang="en-US" sz="2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   	</a:t>
            </a:r>
            <a:r>
              <a:rPr lang="en-US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if( </a:t>
            </a:r>
            <a:r>
              <a:rPr lang="en-US" sz="26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លក្ខណ</a:t>
            </a:r>
            <a:r>
              <a:rPr lang="en-US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){</a:t>
            </a:r>
          </a:p>
          <a:p>
            <a:pPr algn="l">
              <a:lnSpc>
                <a:spcPct val="100000"/>
              </a:lnSpc>
            </a:pPr>
            <a:r>
              <a:rPr lang="en-US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        		//Statement </a:t>
            </a:r>
            <a:r>
              <a:rPr lang="en-US" sz="26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ដែលត្រូវប្រតិបត្តិ</a:t>
            </a:r>
            <a:r>
              <a:rPr lang="en-US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</a:t>
            </a:r>
            <a:r>
              <a:rPr lang="en-US" sz="26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ប្រសិនបើលក្ខណស្មើ</a:t>
            </a:r>
            <a:r>
              <a:rPr lang="en-US" sz="2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</a:t>
            </a:r>
            <a:r>
              <a:rPr lang="en-US" sz="2600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true</a:t>
            </a:r>
          </a:p>
          <a:p>
            <a:pPr algn="l">
              <a:lnSpc>
                <a:spcPct val="100000"/>
              </a:lnSpc>
            </a:pPr>
            <a:r>
              <a:rPr lang="en-US" sz="2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   	</a:t>
            </a:r>
            <a:r>
              <a:rPr lang="en-US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} else {</a:t>
            </a:r>
          </a:p>
          <a:p>
            <a:pPr algn="l">
              <a:lnSpc>
                <a:spcPct val="100000"/>
              </a:lnSpc>
            </a:pPr>
            <a:r>
              <a:rPr lang="en-US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		 //Statement </a:t>
            </a:r>
            <a:r>
              <a:rPr lang="en-US" sz="26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ដែលត្រូវប្រតិបត្តិ</a:t>
            </a:r>
            <a:r>
              <a:rPr lang="en-US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</a:t>
            </a:r>
            <a:r>
              <a:rPr lang="en-US" sz="26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ប្រសិនបើលក្ខណស្មើ</a:t>
            </a:r>
            <a:r>
              <a:rPr lang="en-US" sz="2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</a:t>
            </a:r>
            <a:r>
              <a:rPr lang="en-US" sz="2600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false</a:t>
            </a:r>
            <a:endParaRPr lang="en-US" sz="2600" dirty="0">
              <a:solidFill>
                <a:srgbClr val="002060"/>
              </a:solidFill>
              <a:latin typeface="Khmer OS Battambang" panose="02000500000000020004" pitchFamily="2" charset="77"/>
              <a:cs typeface="Khmer OS Battambang" panose="02000500000000020004" pitchFamily="2" charset="77"/>
            </a:endParaRPr>
          </a:p>
          <a:p>
            <a:pPr algn="l">
              <a:lnSpc>
                <a:spcPct val="100000"/>
              </a:lnSpc>
            </a:pPr>
            <a:r>
              <a:rPr lang="en-US" sz="2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	</a:t>
            </a:r>
            <a:r>
              <a:rPr lang="en-US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}</a:t>
            </a:r>
            <a:endParaRPr lang="km-KH" sz="2600" dirty="0">
              <a:solidFill>
                <a:srgbClr val="0070C0"/>
              </a:solidFill>
              <a:latin typeface="Khmer OS Battambang" panose="02000500000000020004" pitchFamily="2" charset="77"/>
              <a:cs typeface="Khmer OS Battambang" panose="02000500000000020004" pitchFamily="2" charset="77"/>
            </a:endParaRP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F0EF3543-B7E8-52C4-BFFD-EEAF0F2AA2A6}"/>
              </a:ext>
            </a:extLst>
          </p:cNvPr>
          <p:cNvCxnSpPr/>
          <p:nvPr/>
        </p:nvCxnSpPr>
        <p:spPr>
          <a:xfrm>
            <a:off x="0" y="1050468"/>
            <a:ext cx="12192000" cy="0"/>
          </a:xfrm>
          <a:prstGeom prst="line">
            <a:avLst/>
          </a:prstGeom>
          <a:ln w="57150">
            <a:solidFill>
              <a:srgbClr val="D49B0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DCACC6F3-4951-1CCE-06B6-2ED8335B6D8E}"/>
              </a:ext>
            </a:extLst>
          </p:cNvPr>
          <p:cNvCxnSpPr>
            <a:cxnSpLocks/>
          </p:cNvCxnSpPr>
          <p:nvPr/>
        </p:nvCxnSpPr>
        <p:spPr>
          <a:xfrm>
            <a:off x="0" y="979812"/>
            <a:ext cx="12192000" cy="0"/>
          </a:xfrm>
          <a:prstGeom prst="line">
            <a:avLst/>
          </a:prstGeom>
          <a:ln w="57150">
            <a:solidFill>
              <a:srgbClr val="1C27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7" name="Picture 46" descr="A blue circle with a yellow and white bird in it&#10;&#10;AI-generated content may be incorrect.">
            <a:extLst>
              <a:ext uri="{FF2B5EF4-FFF2-40B4-BE49-F238E27FC236}">
                <a16:creationId xmlns:a16="http://schemas.microsoft.com/office/drawing/2014/main" id="{F6A33DCE-B7BA-A585-6C69-21B556FD4EA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5438" y="219712"/>
            <a:ext cx="606500" cy="606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26808300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3A5A418-D202-4E60-E032-9A809AF0365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9CE1114-7FC4-E1E5-0039-5FAAD7859DF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701800" y="119781"/>
            <a:ext cx="9144000" cy="789373"/>
          </a:xfrm>
        </p:spPr>
        <p:txBody>
          <a:bodyPr>
            <a:normAutofit/>
          </a:bodyPr>
          <a:lstStyle/>
          <a:p>
            <a:pPr algn="l"/>
            <a:r>
              <a:rPr lang="en-KH" sz="3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ប្រយោគបង្កើតការសម្រចចិត្ត</a:t>
            </a:r>
            <a:r>
              <a:rPr lang="en-US" sz="3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(</a:t>
            </a:r>
            <a:r>
              <a:rPr lang="en-US" sz="3600" dirty="0" err="1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ត</a:t>
            </a:r>
            <a:r>
              <a:rPr lang="en-US" sz="3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)</a:t>
            </a:r>
            <a:endParaRPr lang="en-KH" sz="3600" dirty="0">
              <a:solidFill>
                <a:srgbClr val="002060"/>
              </a:solidFill>
              <a:latin typeface="Khmer OS Battambang" panose="02000500000000020004" pitchFamily="2" charset="77"/>
              <a:cs typeface="Khmer OS Battambang" panose="02000500000000020004" pitchFamily="2" charset="77"/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C820791-D29E-F21E-0A2E-63E792DA235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24192" y="1219213"/>
            <a:ext cx="10954536" cy="5146416"/>
          </a:xfrm>
        </p:spPr>
        <p:txBody>
          <a:bodyPr>
            <a:normAutofit fontScale="77500" lnSpcReduction="20000"/>
          </a:bodyPr>
          <a:lstStyle/>
          <a:p>
            <a:pPr algn="l">
              <a:lnSpc>
                <a:spcPct val="170000"/>
              </a:lnSpc>
            </a:pPr>
            <a:r>
              <a:rPr lang="en-US" sz="2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- if-else-if : </a:t>
            </a:r>
            <a:r>
              <a:rPr lang="en-US" sz="26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គឺជា</a:t>
            </a:r>
            <a:r>
              <a:rPr lang="km-KH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លំហូរ</a:t>
            </a:r>
            <a:r>
              <a:rPr lang="en-US" sz="26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នៃ</a:t>
            </a:r>
            <a:r>
              <a:rPr lang="km-KH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ការត្រួតពិនិត្យជាមូលដ្ឋានដែលអនុញ្ញាតឱ្យកម្មវិធីធ្វើការសម្រេចចិត្ត</a:t>
            </a:r>
            <a:r>
              <a:rPr lang="en-US" sz="26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នូវលក្ខណច្រើនបន្តបន្ទាប់គ្នា</a:t>
            </a:r>
            <a:r>
              <a:rPr lang="en-US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</a:t>
            </a:r>
            <a:r>
              <a:rPr lang="en-US" sz="26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និងប្រតិបត្តិ</a:t>
            </a:r>
            <a:r>
              <a:rPr lang="en-US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(execute) </a:t>
            </a:r>
            <a:r>
              <a:rPr lang="en-US" sz="26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នូវប្លុក</a:t>
            </a:r>
            <a:r>
              <a:rPr lang="en-US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code ជាក់លាក់ក្នុងការវាយតម្លៃលក្ខណដែលបានផ្តល់ឲ្យស្មើ</a:t>
            </a:r>
            <a:r>
              <a:rPr lang="en-US" sz="2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</a:t>
            </a:r>
            <a:r>
              <a:rPr lang="en-US" sz="2600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true </a:t>
            </a:r>
            <a:r>
              <a:rPr lang="en-US" sz="26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និង</a:t>
            </a:r>
            <a:r>
              <a:rPr lang="en-US" sz="2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</a:t>
            </a:r>
            <a:r>
              <a:rPr lang="en-US" sz="2600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false</a:t>
            </a:r>
            <a:r>
              <a:rPr lang="en-US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។</a:t>
            </a:r>
            <a:br>
              <a:rPr lang="en-US" sz="2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</a:br>
            <a:r>
              <a:rPr lang="en-KH" sz="2800" dirty="0"/>
              <a:t>👉 </a:t>
            </a:r>
            <a:r>
              <a:rPr lang="en-US" sz="2600" dirty="0" err="1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ទម្រង់នៃការប្រើប្រាស</a:t>
            </a:r>
            <a:r>
              <a:rPr lang="en-US" sz="2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់(Syntax)៖</a:t>
            </a:r>
            <a:br>
              <a:rPr lang="en-US" sz="2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</a:br>
            <a:r>
              <a:rPr lang="en-US" sz="2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   	</a:t>
            </a:r>
            <a:r>
              <a:rPr lang="en-US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if( </a:t>
            </a:r>
            <a:r>
              <a:rPr lang="en-US" sz="26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លក្ខណ</a:t>
            </a:r>
            <a:r>
              <a:rPr lang="en-US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){</a:t>
            </a:r>
          </a:p>
          <a:p>
            <a:pPr algn="l">
              <a:lnSpc>
                <a:spcPct val="110000"/>
              </a:lnSpc>
            </a:pPr>
            <a:r>
              <a:rPr lang="en-US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        		//Statement </a:t>
            </a:r>
            <a:r>
              <a:rPr lang="en-US" sz="26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ដែលត្រូវប្រតិបត្តិ</a:t>
            </a:r>
            <a:r>
              <a:rPr lang="en-US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</a:t>
            </a:r>
            <a:r>
              <a:rPr lang="en-US" sz="26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ប្រសិនបើលក្ខណស្មើ</a:t>
            </a:r>
            <a:r>
              <a:rPr lang="en-US" sz="2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</a:t>
            </a:r>
            <a:r>
              <a:rPr lang="en-US" sz="2600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true</a:t>
            </a:r>
          </a:p>
          <a:p>
            <a:pPr algn="l">
              <a:lnSpc>
                <a:spcPct val="150000"/>
              </a:lnSpc>
            </a:pPr>
            <a:r>
              <a:rPr lang="en-US" sz="2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	</a:t>
            </a:r>
            <a:r>
              <a:rPr lang="en-US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} else if( </a:t>
            </a:r>
            <a:r>
              <a:rPr lang="en-US" sz="26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លក្ខណ</a:t>
            </a:r>
            <a:r>
              <a:rPr lang="en-US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){</a:t>
            </a:r>
          </a:p>
          <a:p>
            <a:pPr algn="l">
              <a:lnSpc>
                <a:spcPct val="110000"/>
              </a:lnSpc>
            </a:pPr>
            <a:r>
              <a:rPr lang="en-US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        		//Statement </a:t>
            </a:r>
            <a:r>
              <a:rPr lang="en-US" sz="26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ដែលត្រូវប្រតិបត្តិ</a:t>
            </a:r>
            <a:r>
              <a:rPr lang="en-US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</a:t>
            </a:r>
            <a:r>
              <a:rPr lang="en-US" sz="26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ប្រសិនបើលក្ខណស្មើ</a:t>
            </a:r>
            <a:r>
              <a:rPr lang="en-US" sz="2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</a:t>
            </a:r>
            <a:r>
              <a:rPr lang="en-US" sz="2600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true</a:t>
            </a:r>
          </a:p>
          <a:p>
            <a:pPr algn="l">
              <a:lnSpc>
                <a:spcPct val="110000"/>
              </a:lnSpc>
            </a:pPr>
            <a:r>
              <a:rPr lang="en-US" sz="2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   	</a:t>
            </a:r>
            <a:r>
              <a:rPr lang="en-US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} else {</a:t>
            </a:r>
          </a:p>
          <a:p>
            <a:pPr algn="l">
              <a:lnSpc>
                <a:spcPct val="110000"/>
              </a:lnSpc>
            </a:pPr>
            <a:r>
              <a:rPr lang="en-US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		 //Statement </a:t>
            </a:r>
            <a:r>
              <a:rPr lang="en-US" sz="26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ដែលត្រូវប្រតិបត្តិ</a:t>
            </a:r>
            <a:r>
              <a:rPr lang="en-US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</a:t>
            </a:r>
            <a:r>
              <a:rPr lang="en-US" sz="26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ប្រសិនបើលក្ខណស្មើ</a:t>
            </a:r>
            <a:r>
              <a:rPr lang="en-US" sz="2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</a:t>
            </a:r>
            <a:r>
              <a:rPr lang="en-US" sz="2600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false</a:t>
            </a:r>
            <a:endParaRPr lang="en-US" sz="2600" dirty="0">
              <a:solidFill>
                <a:srgbClr val="002060"/>
              </a:solidFill>
              <a:latin typeface="Khmer OS Battambang" panose="02000500000000020004" pitchFamily="2" charset="77"/>
              <a:cs typeface="Khmer OS Battambang" panose="02000500000000020004" pitchFamily="2" charset="77"/>
            </a:endParaRPr>
          </a:p>
          <a:p>
            <a:pPr algn="l">
              <a:lnSpc>
                <a:spcPct val="110000"/>
              </a:lnSpc>
            </a:pPr>
            <a:r>
              <a:rPr lang="en-US" sz="2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	</a:t>
            </a:r>
            <a:r>
              <a:rPr lang="en-US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}</a:t>
            </a:r>
            <a:endParaRPr lang="km-KH" sz="2600" dirty="0">
              <a:solidFill>
                <a:srgbClr val="0070C0"/>
              </a:solidFill>
              <a:latin typeface="Khmer OS Battambang" panose="02000500000000020004" pitchFamily="2" charset="77"/>
              <a:cs typeface="Khmer OS Battambang" panose="02000500000000020004" pitchFamily="2" charset="77"/>
            </a:endParaRP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6AAA2927-5748-B941-12D7-8004D5EB6222}"/>
              </a:ext>
            </a:extLst>
          </p:cNvPr>
          <p:cNvCxnSpPr/>
          <p:nvPr/>
        </p:nvCxnSpPr>
        <p:spPr>
          <a:xfrm>
            <a:off x="0" y="1050468"/>
            <a:ext cx="12192000" cy="0"/>
          </a:xfrm>
          <a:prstGeom prst="line">
            <a:avLst/>
          </a:prstGeom>
          <a:ln w="57150">
            <a:solidFill>
              <a:srgbClr val="D49B0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726DC0D0-F4F7-3D95-4655-64DF2A967587}"/>
              </a:ext>
            </a:extLst>
          </p:cNvPr>
          <p:cNvCxnSpPr>
            <a:cxnSpLocks/>
          </p:cNvCxnSpPr>
          <p:nvPr/>
        </p:nvCxnSpPr>
        <p:spPr>
          <a:xfrm>
            <a:off x="0" y="979812"/>
            <a:ext cx="12192000" cy="0"/>
          </a:xfrm>
          <a:prstGeom prst="line">
            <a:avLst/>
          </a:prstGeom>
          <a:ln w="57150">
            <a:solidFill>
              <a:srgbClr val="1C27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7" name="Picture 46" descr="A blue circle with a yellow and white bird in it&#10;&#10;AI-generated content may be incorrect.">
            <a:extLst>
              <a:ext uri="{FF2B5EF4-FFF2-40B4-BE49-F238E27FC236}">
                <a16:creationId xmlns:a16="http://schemas.microsoft.com/office/drawing/2014/main" id="{AE18E364-928A-175D-26DF-1AE8FF7F400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5438" y="219712"/>
            <a:ext cx="606500" cy="606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51714955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66858C7-0549-BB94-3C6C-A105F253AB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3AAA7DE-9981-AE92-064F-1C07C2C537A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701800" y="119781"/>
            <a:ext cx="9144000" cy="789373"/>
          </a:xfrm>
        </p:spPr>
        <p:txBody>
          <a:bodyPr>
            <a:normAutofit/>
          </a:bodyPr>
          <a:lstStyle/>
          <a:p>
            <a:pPr algn="l"/>
            <a:r>
              <a:rPr lang="en-KH" sz="3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ប្រយោគបង្កើតការសម្រចចិត្ត</a:t>
            </a:r>
            <a:r>
              <a:rPr lang="en-US" sz="3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(</a:t>
            </a:r>
            <a:r>
              <a:rPr lang="en-US" sz="3600" dirty="0" err="1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ត</a:t>
            </a:r>
            <a:r>
              <a:rPr lang="en-US" sz="3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)</a:t>
            </a:r>
            <a:endParaRPr lang="en-KH" sz="3600" dirty="0">
              <a:solidFill>
                <a:srgbClr val="002060"/>
              </a:solidFill>
              <a:latin typeface="Khmer OS Battambang" panose="02000500000000020004" pitchFamily="2" charset="77"/>
              <a:cs typeface="Khmer OS Battambang" panose="02000500000000020004" pitchFamily="2" charset="77"/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CDE12E3-CC1D-842D-A20C-AD692334D1C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24192" y="1219212"/>
            <a:ext cx="10954536" cy="5419065"/>
          </a:xfrm>
        </p:spPr>
        <p:txBody>
          <a:bodyPr>
            <a:noAutofit/>
          </a:bodyPr>
          <a:lstStyle/>
          <a:p>
            <a:pPr marL="457200" indent="-457200" algn="l">
              <a:lnSpc>
                <a:spcPct val="160000"/>
              </a:lnSpc>
              <a:buFontTx/>
              <a:buChar char="-"/>
            </a:pPr>
            <a:r>
              <a:rPr lang="en-US" sz="18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switch : </a:t>
            </a:r>
            <a:r>
              <a:rPr lang="en-US" sz="18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គឺជាប្រយោគ</a:t>
            </a:r>
            <a:r>
              <a:rPr lang="en-US" sz="18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Control Flow </a:t>
            </a:r>
            <a:r>
              <a:rPr lang="en-US" sz="18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មួយដែលអនុញ្ញាតឲ្យកម្មវិធីធ្វើការប្រតិបត្តិ</a:t>
            </a:r>
            <a:r>
              <a:rPr lang="en-US" sz="18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(execute) </a:t>
            </a:r>
            <a:r>
              <a:rPr lang="en-US" sz="18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នូវប្លុក</a:t>
            </a:r>
            <a:r>
              <a:rPr lang="en-US" sz="18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code </a:t>
            </a:r>
            <a:r>
              <a:rPr lang="en-US" sz="18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នៅក្នុងចំណោមករណី</a:t>
            </a:r>
            <a:r>
              <a:rPr lang="en-US" sz="18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(Case) </a:t>
            </a:r>
            <a:r>
              <a:rPr lang="en-US" sz="18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ដែលបានកំណត់ទុកដោយផ្អែកទៅលើការផ្គូរផ្គងតម្លៃជាមួយតម្លៃបញ្ជាក</a:t>
            </a:r>
            <a:r>
              <a:rPr lang="en-US" sz="18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់(Expression)</a:t>
            </a:r>
            <a:r>
              <a:rPr lang="en-US" sz="18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មួយ</a:t>
            </a:r>
            <a:r>
              <a:rPr lang="en-US" sz="18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។</a:t>
            </a:r>
          </a:p>
          <a:p>
            <a:pPr algn="l">
              <a:lnSpc>
                <a:spcPct val="150000"/>
              </a:lnSpc>
            </a:pPr>
            <a:r>
              <a:rPr lang="en-US" sz="18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</a:t>
            </a:r>
            <a:r>
              <a:rPr lang="en-KH" sz="1800" dirty="0"/>
              <a:t>👉 </a:t>
            </a:r>
            <a:r>
              <a:rPr lang="en-US" sz="1800" dirty="0" err="1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ទម្រង់នៃការប្រើប្រាស</a:t>
            </a:r>
            <a:r>
              <a:rPr lang="en-US" sz="18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់(Syntax)៖</a:t>
            </a:r>
            <a:br>
              <a:rPr lang="en-US" sz="18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</a:br>
            <a:r>
              <a:rPr lang="en-US" sz="18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      </a:t>
            </a:r>
            <a:r>
              <a:rPr lang="en-US" sz="1800" dirty="0">
                <a:solidFill>
                  <a:srgbClr val="FF0000"/>
                </a:solidFill>
              </a:rPr>
              <a:t>switch</a:t>
            </a:r>
            <a:r>
              <a:rPr lang="en-US" sz="18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( </a:t>
            </a:r>
            <a:r>
              <a:rPr lang="en-US" sz="18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តម្លៃបញ្ជាក</a:t>
            </a:r>
            <a:r>
              <a:rPr lang="en-US" sz="18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់ ){</a:t>
            </a:r>
          </a:p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	</a:t>
            </a:r>
            <a:r>
              <a:rPr lang="en-US" sz="1800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case </a:t>
            </a:r>
            <a:r>
              <a:rPr lang="en-US" sz="18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តម្លៃផ្គូផ្គងទី1 : </a:t>
            </a:r>
          </a:p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	    </a:t>
            </a:r>
            <a:r>
              <a:rPr lang="en-US" sz="18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//</a:t>
            </a:r>
            <a:r>
              <a:rPr lang="en-US" sz="18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ប្លុក</a:t>
            </a:r>
            <a:r>
              <a:rPr lang="en-US" sz="18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code </a:t>
            </a:r>
            <a:r>
              <a:rPr lang="en-US" sz="18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ដើម្បីប្រតិបត្តិ</a:t>
            </a:r>
            <a:r>
              <a:rPr lang="en-US" sz="18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(execute) </a:t>
            </a:r>
            <a:r>
              <a:rPr lang="en-US" sz="18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ប្រសិនបើតម្លៃបញ្ជាក់ស្មើនិងតម្លៃផ្គូផ្គង</a:t>
            </a:r>
            <a:endParaRPr lang="en-US" sz="1800" dirty="0">
              <a:solidFill>
                <a:srgbClr val="0070C0"/>
              </a:solidFill>
              <a:latin typeface="Khmer OS Battambang" panose="02000500000000020004" pitchFamily="2" charset="77"/>
              <a:cs typeface="Khmer OS Battambang" panose="02000500000000020004" pitchFamily="2" charset="77"/>
            </a:endParaRPr>
          </a:p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	    </a:t>
            </a:r>
            <a:r>
              <a:rPr lang="en-US" sz="1800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break;</a:t>
            </a:r>
          </a:p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	case </a:t>
            </a:r>
            <a:r>
              <a:rPr lang="en-US" sz="18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តម្លៃផ្គូផ្គងទី2 : </a:t>
            </a:r>
            <a:r>
              <a:rPr lang="en-US" sz="18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	</a:t>
            </a:r>
          </a:p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	    </a:t>
            </a:r>
            <a:r>
              <a:rPr lang="en-US" sz="18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//</a:t>
            </a:r>
            <a:r>
              <a:rPr lang="en-US" sz="18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ប្លុក</a:t>
            </a:r>
            <a:r>
              <a:rPr lang="en-US" sz="18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code </a:t>
            </a:r>
            <a:r>
              <a:rPr lang="en-US" sz="18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ដើម្បីប្រតិបត្តិ</a:t>
            </a:r>
            <a:r>
              <a:rPr lang="en-US" sz="18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(execute) </a:t>
            </a:r>
            <a:r>
              <a:rPr lang="en-US" sz="18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ប្រសិនបើតម្លៃបញ្ជាក់ស្មើនិងតម្លៃផ្គូផ្គង</a:t>
            </a:r>
            <a:endParaRPr lang="en-US" sz="1800" dirty="0">
              <a:solidFill>
                <a:srgbClr val="0070C0"/>
              </a:solidFill>
              <a:latin typeface="Khmer OS Battambang" panose="02000500000000020004" pitchFamily="2" charset="77"/>
              <a:cs typeface="Khmer OS Battambang" panose="02000500000000020004" pitchFamily="2" charset="77"/>
            </a:endParaRPr>
          </a:p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	    </a:t>
            </a:r>
            <a:r>
              <a:rPr lang="en-US" sz="1800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break;</a:t>
            </a:r>
          </a:p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	default</a:t>
            </a:r>
            <a:r>
              <a:rPr lang="en-US" sz="18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:</a:t>
            </a:r>
          </a:p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	     </a:t>
            </a:r>
            <a:r>
              <a:rPr lang="en-US" sz="18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//</a:t>
            </a:r>
            <a:r>
              <a:rPr lang="en-US" sz="18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ប្លុក</a:t>
            </a:r>
            <a:r>
              <a:rPr lang="en-US" sz="18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code </a:t>
            </a:r>
            <a:r>
              <a:rPr lang="en-US" sz="18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ដើម្បីប្រតិបត្តិ</a:t>
            </a:r>
            <a:r>
              <a:rPr lang="en-US" sz="18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(execute) </a:t>
            </a:r>
            <a:r>
              <a:rPr lang="en-US" sz="18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ប្រសិនបើតម្លៃបញ្ជាក់មិនស្មើនិងតម្លៃផ្គូផ្គងណាមួយ</a:t>
            </a:r>
            <a:endParaRPr lang="en-US" sz="1800" dirty="0">
              <a:solidFill>
                <a:srgbClr val="0070C0"/>
              </a:solidFill>
              <a:latin typeface="Khmer OS Battambang" panose="02000500000000020004" pitchFamily="2" charset="77"/>
              <a:cs typeface="Khmer OS Battambang" panose="02000500000000020004" pitchFamily="2" charset="77"/>
            </a:endParaRPr>
          </a:p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      </a:t>
            </a:r>
            <a:r>
              <a:rPr lang="en-US" sz="18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}</a:t>
            </a:r>
            <a:endParaRPr lang="en-US" sz="1800" dirty="0">
              <a:solidFill>
                <a:srgbClr val="0070C0"/>
              </a:solidFill>
            </a:endParaRP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EC9D5991-7328-266D-B7A0-1C4E7597D4AF}"/>
              </a:ext>
            </a:extLst>
          </p:cNvPr>
          <p:cNvCxnSpPr/>
          <p:nvPr/>
        </p:nvCxnSpPr>
        <p:spPr>
          <a:xfrm>
            <a:off x="0" y="1050468"/>
            <a:ext cx="12192000" cy="0"/>
          </a:xfrm>
          <a:prstGeom prst="line">
            <a:avLst/>
          </a:prstGeom>
          <a:ln w="57150">
            <a:solidFill>
              <a:srgbClr val="D49B0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FACAFB4A-56C2-003A-619A-4956E9A9BFCE}"/>
              </a:ext>
            </a:extLst>
          </p:cNvPr>
          <p:cNvCxnSpPr>
            <a:cxnSpLocks/>
          </p:cNvCxnSpPr>
          <p:nvPr/>
        </p:nvCxnSpPr>
        <p:spPr>
          <a:xfrm>
            <a:off x="0" y="979812"/>
            <a:ext cx="12192000" cy="0"/>
          </a:xfrm>
          <a:prstGeom prst="line">
            <a:avLst/>
          </a:prstGeom>
          <a:ln w="57150">
            <a:solidFill>
              <a:srgbClr val="1C27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7" name="Picture 46" descr="A blue circle with a yellow and white bird in it&#10;&#10;AI-generated content may be incorrect.">
            <a:extLst>
              <a:ext uri="{FF2B5EF4-FFF2-40B4-BE49-F238E27FC236}">
                <a16:creationId xmlns:a16="http://schemas.microsoft.com/office/drawing/2014/main" id="{ECF07541-8BD5-58D3-CE32-6C95DD9F537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5438" y="219712"/>
            <a:ext cx="606500" cy="606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85483157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A3AC115-38D3-BC41-0F3A-23169B6658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30A15D-D500-0380-360E-013C418391F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701800" y="119781"/>
            <a:ext cx="9144000" cy="789373"/>
          </a:xfrm>
        </p:spPr>
        <p:txBody>
          <a:bodyPr>
            <a:normAutofit/>
          </a:bodyPr>
          <a:lstStyle/>
          <a:p>
            <a:pPr algn="l"/>
            <a:r>
              <a:rPr lang="en-US" sz="3600" dirty="0" err="1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ប្រយោគរង្វិលជុំ</a:t>
            </a:r>
            <a:r>
              <a:rPr lang="en-US" sz="3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(Loop Statements)</a:t>
            </a:r>
            <a:endParaRPr lang="en-KH" sz="3600" dirty="0">
              <a:solidFill>
                <a:srgbClr val="002060"/>
              </a:solidFill>
              <a:latin typeface="Khmer OS Battambang" panose="02000500000000020004" pitchFamily="2" charset="77"/>
              <a:cs typeface="Khmer OS Battambang" panose="02000500000000020004" pitchFamily="2" charset="77"/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6A6D95A-711A-6AA4-BE85-A582C8F6BE7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24192" y="1219213"/>
            <a:ext cx="10954536" cy="4800588"/>
          </a:xfrm>
        </p:spPr>
        <p:txBody>
          <a:bodyPr>
            <a:noAutofit/>
          </a:bodyPr>
          <a:lstStyle/>
          <a:p>
            <a:pPr algn="l">
              <a:lnSpc>
                <a:spcPct val="160000"/>
              </a:lnSpc>
            </a:pPr>
            <a:r>
              <a:rPr lang="en-US" sz="18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	</a:t>
            </a:r>
            <a:r>
              <a:rPr lang="en-US" dirty="0" err="1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ប្រយោគរង្វិលជុំ</a:t>
            </a:r>
            <a:r>
              <a:rPr lang="en-US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(Loop Statements): </a:t>
            </a:r>
            <a:r>
              <a:rPr lang="en-US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គឺជារចនាសម្ព័ន្ធ</a:t>
            </a:r>
            <a:r>
              <a:rPr lang="en-US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Control Flow </a:t>
            </a:r>
            <a:r>
              <a:rPr lang="en-US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មួយដែលប្រតិបត្តិប្លុក</a:t>
            </a:r>
            <a:r>
              <a:rPr lang="en-US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code </a:t>
            </a:r>
            <a:r>
              <a:rPr lang="en-US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ម្តងហើយម្តងទៀតដរាបណាលក្ខណដែលបានបញ្ញាក់នៅតែពិត</a:t>
            </a:r>
            <a:r>
              <a:rPr lang="en-US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(</a:t>
            </a:r>
            <a:r>
              <a:rPr lang="en-US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true</a:t>
            </a:r>
            <a:r>
              <a:rPr lang="en-US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)។</a:t>
            </a:r>
            <a:r>
              <a:rPr lang="en-US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</a:t>
            </a:r>
          </a:p>
          <a:p>
            <a:pPr algn="l">
              <a:lnSpc>
                <a:spcPct val="160000"/>
              </a:lnSpc>
            </a:pPr>
            <a:r>
              <a:rPr lang="en-KH" dirty="0"/>
              <a:t>👉 </a:t>
            </a:r>
            <a:r>
              <a:rPr lang="en-US" dirty="0" err="1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ប្រយោគរង្វិលជុំនៅក្នុងភាសា</a:t>
            </a:r>
            <a:r>
              <a:rPr lang="en-US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Java </a:t>
            </a:r>
            <a:r>
              <a:rPr lang="en-US" dirty="0" err="1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មានដូចជា</a:t>
            </a:r>
            <a:r>
              <a:rPr lang="en-US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៖ </a:t>
            </a:r>
            <a:r>
              <a:rPr lang="en-US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for  loop, for-each loop, while loop,  do-while loop។ </a:t>
            </a:r>
            <a:br>
              <a:rPr lang="en-US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</a:br>
            <a:r>
              <a:rPr lang="en-KH" dirty="0"/>
              <a:t>👉 </a:t>
            </a:r>
            <a:r>
              <a:rPr lang="en-US" dirty="0" err="1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ពាក្យគន្លឹះនៃប្រយោគរង្វិលជុំ</a:t>
            </a:r>
            <a:r>
              <a:rPr lang="en-US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៖</a:t>
            </a:r>
          </a:p>
          <a:p>
            <a:pPr marL="742950" lvl="1" indent="-285750" algn="l">
              <a:lnSpc>
                <a:spcPct val="150000"/>
              </a:lnSpc>
              <a:buFont typeface="Wingdings" pitchFamily="2" charset="2"/>
              <a:buChar char="Ø"/>
            </a:pPr>
            <a:r>
              <a:rPr lang="en-US" sz="24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break: </a:t>
            </a:r>
            <a:r>
              <a:rPr lang="en-US" sz="24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គឺជាពាក្យគន្លឹះសម្រាប់ធ្វើការបញ្ចប់រង្វិលជុំ</a:t>
            </a:r>
            <a:r>
              <a:rPr lang="en-US" sz="24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(loop) </a:t>
            </a:r>
            <a:r>
              <a:rPr lang="en-US" sz="24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ទាំងស្រង</a:t>
            </a:r>
            <a:r>
              <a:rPr lang="en-US" sz="24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់។</a:t>
            </a:r>
          </a:p>
          <a:p>
            <a:pPr marL="742950" lvl="1" indent="-285750" algn="l">
              <a:lnSpc>
                <a:spcPct val="150000"/>
              </a:lnSpc>
              <a:buFont typeface="Wingdings" pitchFamily="2" charset="2"/>
              <a:buChar char="Ø"/>
            </a:pPr>
            <a:r>
              <a:rPr lang="en-US" sz="24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continue: </a:t>
            </a:r>
            <a:r>
              <a:rPr lang="en-US" sz="24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គឺជាពាក្យគន្លឹះសម្រាប់ធ្វើការរំលងទៅកាន់ជុំបន្ទាប</a:t>
            </a:r>
            <a:r>
              <a:rPr lang="en-US" sz="24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់។</a:t>
            </a:r>
          </a:p>
          <a:p>
            <a:pPr algn="l">
              <a:lnSpc>
                <a:spcPct val="160000"/>
              </a:lnSpc>
            </a:pPr>
            <a:endParaRPr lang="en-US" sz="1800" dirty="0">
              <a:solidFill>
                <a:srgbClr val="002060"/>
              </a:solidFill>
              <a:latin typeface="Khmer OS Battambang" panose="02000500000000020004" pitchFamily="2" charset="77"/>
              <a:cs typeface="Khmer OS Battambang" panose="02000500000000020004" pitchFamily="2" charset="77"/>
            </a:endParaRP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522C6563-4CFD-E1B6-228B-31F55237B00E}"/>
              </a:ext>
            </a:extLst>
          </p:cNvPr>
          <p:cNvCxnSpPr/>
          <p:nvPr/>
        </p:nvCxnSpPr>
        <p:spPr>
          <a:xfrm>
            <a:off x="0" y="1050468"/>
            <a:ext cx="12192000" cy="0"/>
          </a:xfrm>
          <a:prstGeom prst="line">
            <a:avLst/>
          </a:prstGeom>
          <a:ln w="57150">
            <a:solidFill>
              <a:srgbClr val="D49B0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E10D0BA2-2050-3464-0797-C1CAF1C0C405}"/>
              </a:ext>
            </a:extLst>
          </p:cNvPr>
          <p:cNvCxnSpPr>
            <a:cxnSpLocks/>
          </p:cNvCxnSpPr>
          <p:nvPr/>
        </p:nvCxnSpPr>
        <p:spPr>
          <a:xfrm>
            <a:off x="0" y="979812"/>
            <a:ext cx="12192000" cy="0"/>
          </a:xfrm>
          <a:prstGeom prst="line">
            <a:avLst/>
          </a:prstGeom>
          <a:ln w="57150">
            <a:solidFill>
              <a:srgbClr val="1C27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7" name="Picture 46" descr="A blue circle with a yellow and white bird in it&#10;&#10;AI-generated content may be incorrect.">
            <a:extLst>
              <a:ext uri="{FF2B5EF4-FFF2-40B4-BE49-F238E27FC236}">
                <a16:creationId xmlns:a16="http://schemas.microsoft.com/office/drawing/2014/main" id="{CFC7601B-1037-B0C8-972F-B6444DC6FD1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5438" y="219712"/>
            <a:ext cx="606500" cy="606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26751904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E02887E-EACA-29C1-D05D-E7268B120D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B7918ED-F7F4-676C-E5BF-800DC81D596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701800" y="119781"/>
            <a:ext cx="9144000" cy="789373"/>
          </a:xfrm>
        </p:spPr>
        <p:txBody>
          <a:bodyPr>
            <a:normAutofit/>
          </a:bodyPr>
          <a:lstStyle/>
          <a:p>
            <a:pPr algn="l"/>
            <a:r>
              <a:rPr lang="en-US" sz="3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for loop</a:t>
            </a:r>
            <a:endParaRPr lang="en-KH" sz="3600" dirty="0">
              <a:solidFill>
                <a:srgbClr val="002060"/>
              </a:solidFill>
              <a:latin typeface="Khmer OS Battambang" panose="02000500000000020004" pitchFamily="2" charset="77"/>
              <a:cs typeface="Khmer OS Battambang" panose="02000500000000020004" pitchFamily="2" charset="77"/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324FBB0-F1FC-0F44-9897-53044CD521B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24192" y="1219212"/>
            <a:ext cx="10954536" cy="5306275"/>
          </a:xfrm>
        </p:spPr>
        <p:txBody>
          <a:bodyPr>
            <a:noAutofit/>
          </a:bodyPr>
          <a:lstStyle/>
          <a:p>
            <a:pPr algn="l">
              <a:lnSpc>
                <a:spcPct val="160000"/>
              </a:lnSpc>
            </a:pPr>
            <a:r>
              <a:rPr lang="en-US" sz="18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	</a:t>
            </a:r>
            <a:r>
              <a:rPr lang="en-US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for loop: </a:t>
            </a:r>
            <a:r>
              <a:rPr lang="en-US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គឺជាប្រយោគ</a:t>
            </a:r>
            <a:r>
              <a:rPr lang="en-US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Control flow </a:t>
            </a:r>
            <a:r>
              <a:rPr lang="en-US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ដែលប្រើប្រាស់ដើម្បីប្រតិបត្តិ</a:t>
            </a:r>
            <a:r>
              <a:rPr lang="en-US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(execute) </a:t>
            </a:r>
            <a:r>
              <a:rPr lang="en-US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ប្លុក</a:t>
            </a:r>
            <a:r>
              <a:rPr lang="en-US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code </a:t>
            </a:r>
            <a:r>
              <a:rPr lang="en-US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ម្តងហើយម្តងទៀតទៅតាមចំនួនដងដែលបានកំណត់ទុកជាមុន</a:t>
            </a:r>
            <a:r>
              <a:rPr lang="en-US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។</a:t>
            </a:r>
            <a:br>
              <a:rPr lang="en-US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</a:br>
            <a:r>
              <a:rPr lang="en-KH" dirty="0"/>
              <a:t>👉 </a:t>
            </a:r>
            <a:r>
              <a:rPr lang="en-US" dirty="0" err="1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ទម្រង់នៃការប្រើប្រាស</a:t>
            </a:r>
            <a:r>
              <a:rPr lang="en-US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់(Syntax)៖</a:t>
            </a:r>
          </a:p>
          <a:p>
            <a:pPr algn="l">
              <a:lnSpc>
                <a:spcPct val="100000"/>
              </a:lnSpc>
            </a:pPr>
            <a:r>
              <a:rPr lang="en-US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    for (</a:t>
            </a:r>
            <a:r>
              <a:rPr lang="en-US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Initialization</a:t>
            </a:r>
            <a:r>
              <a:rPr lang="en-US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; </a:t>
            </a:r>
            <a:r>
              <a:rPr lang="en-US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Termination​ Condition</a:t>
            </a:r>
            <a:r>
              <a:rPr lang="en-US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; </a:t>
            </a:r>
            <a:r>
              <a:rPr lang="en-US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Update</a:t>
            </a:r>
            <a:r>
              <a:rPr lang="en-US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) {</a:t>
            </a:r>
          </a:p>
          <a:p>
            <a:pPr algn="l">
              <a:lnSpc>
                <a:spcPct val="100000"/>
              </a:lnSpc>
            </a:pPr>
            <a:r>
              <a:rPr lang="en-US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         // Code </a:t>
            </a:r>
            <a:r>
              <a:rPr lang="en-US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ដើម្បីប្រតិបត្តិ</a:t>
            </a:r>
            <a:r>
              <a:rPr lang="en-US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(execute) </a:t>
            </a:r>
            <a:r>
              <a:rPr lang="en-US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ការធ្វើឡើងវិញនីមួយ</a:t>
            </a:r>
            <a:r>
              <a:rPr lang="en-US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ៗ</a:t>
            </a:r>
          </a:p>
          <a:p>
            <a:pPr algn="l">
              <a:lnSpc>
                <a:spcPct val="100000"/>
              </a:lnSpc>
            </a:pPr>
            <a:r>
              <a:rPr lang="en-US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    }</a:t>
            </a:r>
          </a:p>
          <a:p>
            <a:pPr algn="l">
              <a:lnSpc>
                <a:spcPct val="100000"/>
              </a:lnSpc>
            </a:pPr>
            <a:endParaRPr lang="en-US" dirty="0">
              <a:solidFill>
                <a:srgbClr val="0070C0"/>
              </a:solidFill>
              <a:latin typeface="Khmer OS Battambang" panose="02000500000000020004" pitchFamily="2" charset="77"/>
              <a:cs typeface="Khmer OS Battambang" panose="02000500000000020004" pitchFamily="2" charset="77"/>
            </a:endParaRPr>
          </a:p>
          <a:p>
            <a:pPr marL="800100" lvl="1" indent="-342900" algn="l">
              <a:lnSpc>
                <a:spcPct val="100000"/>
              </a:lnSpc>
              <a:buFont typeface="Wingdings" pitchFamily="2" charset="2"/>
              <a:buChar char="Ø"/>
            </a:pPr>
            <a:r>
              <a:rPr lang="en-US" sz="2400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Initialization</a:t>
            </a:r>
            <a:r>
              <a:rPr lang="en-US" sz="24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</a:t>
            </a:r>
            <a:r>
              <a:rPr lang="en-US" sz="24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គឺជា</a:t>
            </a:r>
            <a:r>
              <a:rPr lang="en-US" sz="24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Variable </a:t>
            </a:r>
            <a:r>
              <a:rPr lang="en-US" sz="24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ដែលបានកំណត់តម្លៃចាប់ផ្តើម</a:t>
            </a:r>
            <a:r>
              <a:rPr lang="en-US" sz="24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។ </a:t>
            </a:r>
          </a:p>
          <a:p>
            <a:pPr marL="800100" lvl="1" indent="-342900" algn="l">
              <a:lnSpc>
                <a:spcPct val="100000"/>
              </a:lnSpc>
              <a:buFont typeface="Wingdings" pitchFamily="2" charset="2"/>
              <a:buChar char="Ø"/>
            </a:pPr>
            <a:r>
              <a:rPr lang="en-US" sz="2400" dirty="0" err="1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Temination</a:t>
            </a:r>
            <a:r>
              <a:rPr lang="en-US" sz="2400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Condition</a:t>
            </a:r>
            <a:r>
              <a:rPr lang="en-US" sz="24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</a:t>
            </a:r>
            <a:r>
              <a:rPr lang="en-US" sz="24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គឺជាលក្ខណនៃការបញ្ជាប</a:t>
            </a:r>
            <a:r>
              <a:rPr lang="en-US" sz="24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់ loop។</a:t>
            </a:r>
          </a:p>
          <a:p>
            <a:pPr marL="800100" lvl="1" indent="-342900" algn="l">
              <a:lnSpc>
                <a:spcPct val="100000"/>
              </a:lnSpc>
              <a:buFont typeface="Wingdings" pitchFamily="2" charset="2"/>
              <a:buChar char="Ø"/>
            </a:pPr>
            <a:r>
              <a:rPr lang="en-US" sz="2400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Update</a:t>
            </a:r>
            <a:r>
              <a:rPr lang="en-US" sz="24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</a:t>
            </a:r>
            <a:r>
              <a:rPr lang="en-US" sz="24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គឺជាប្រយោគដែលដំណើរការក្រោយពេលដែលការធ្វើឡើងវិញនីមួយ</a:t>
            </a:r>
            <a:r>
              <a:rPr lang="en-US" sz="24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ៗ        </a:t>
            </a:r>
            <a:r>
              <a:rPr lang="en-US" sz="24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រួចរាល</a:t>
            </a:r>
            <a:r>
              <a:rPr lang="en-US" sz="24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់។ </a:t>
            </a:r>
            <a:r>
              <a:rPr lang="en-US" sz="24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ជាធម្មតាវាត្រូវបានគេប្រើប្រាស់សម្រាប់បង្កើន</a:t>
            </a:r>
            <a:r>
              <a:rPr lang="en-US" sz="24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</a:t>
            </a:r>
            <a:r>
              <a:rPr lang="en-US" sz="24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ឫបន្ថយតម្លៃ</a:t>
            </a:r>
            <a:r>
              <a:rPr lang="en-US" sz="24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។</a:t>
            </a:r>
          </a:p>
          <a:p>
            <a:pPr algn="l">
              <a:lnSpc>
                <a:spcPct val="160000"/>
              </a:lnSpc>
            </a:pPr>
            <a:endParaRPr lang="en-US" sz="1800" dirty="0">
              <a:solidFill>
                <a:srgbClr val="002060"/>
              </a:solidFill>
              <a:latin typeface="Khmer OS Battambang" panose="02000500000000020004" pitchFamily="2" charset="77"/>
              <a:cs typeface="Khmer OS Battambang" panose="02000500000000020004" pitchFamily="2" charset="77"/>
            </a:endParaRP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BD44D3E0-225F-5F6C-9F1D-D1882996682D}"/>
              </a:ext>
            </a:extLst>
          </p:cNvPr>
          <p:cNvCxnSpPr/>
          <p:nvPr/>
        </p:nvCxnSpPr>
        <p:spPr>
          <a:xfrm>
            <a:off x="0" y="1050468"/>
            <a:ext cx="12192000" cy="0"/>
          </a:xfrm>
          <a:prstGeom prst="line">
            <a:avLst/>
          </a:prstGeom>
          <a:ln w="57150">
            <a:solidFill>
              <a:srgbClr val="D49B0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A42BE5A4-33FE-17B9-7D30-4DDEA3993E6F}"/>
              </a:ext>
            </a:extLst>
          </p:cNvPr>
          <p:cNvCxnSpPr>
            <a:cxnSpLocks/>
          </p:cNvCxnSpPr>
          <p:nvPr/>
        </p:nvCxnSpPr>
        <p:spPr>
          <a:xfrm>
            <a:off x="0" y="979812"/>
            <a:ext cx="12192000" cy="0"/>
          </a:xfrm>
          <a:prstGeom prst="line">
            <a:avLst/>
          </a:prstGeom>
          <a:ln w="57150">
            <a:solidFill>
              <a:srgbClr val="1C27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7" name="Picture 46" descr="A blue circle with a yellow and white bird in it&#10;&#10;AI-generated content may be incorrect.">
            <a:extLst>
              <a:ext uri="{FF2B5EF4-FFF2-40B4-BE49-F238E27FC236}">
                <a16:creationId xmlns:a16="http://schemas.microsoft.com/office/drawing/2014/main" id="{BA0F232F-FD2E-5070-53C2-5B8C6AB873E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5438" y="219712"/>
            <a:ext cx="606500" cy="606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58315809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1B1D183-3D13-BA53-E03C-B87F4FCF0D6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CDA8D2-047A-E767-74E9-8FDDC4E2671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701800" y="119781"/>
            <a:ext cx="9144000" cy="789373"/>
          </a:xfrm>
        </p:spPr>
        <p:txBody>
          <a:bodyPr>
            <a:normAutofit/>
          </a:bodyPr>
          <a:lstStyle/>
          <a:p>
            <a:pPr algn="l"/>
            <a:r>
              <a:rPr lang="en-US" sz="3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for loop(</a:t>
            </a:r>
            <a:r>
              <a:rPr lang="en-US" sz="3600" dirty="0" err="1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ត</a:t>
            </a:r>
            <a:r>
              <a:rPr lang="en-US" sz="3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)</a:t>
            </a:r>
            <a:endParaRPr lang="en-KH" sz="3600" dirty="0">
              <a:solidFill>
                <a:srgbClr val="002060"/>
              </a:solidFill>
              <a:latin typeface="Khmer OS Battambang" panose="02000500000000020004" pitchFamily="2" charset="77"/>
              <a:cs typeface="Khmer OS Battambang" panose="02000500000000020004" pitchFamily="2" charset="77"/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61D1290-4B38-6330-2B41-BAE05000847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24192" y="1219212"/>
            <a:ext cx="10954536" cy="5306275"/>
          </a:xfrm>
        </p:spPr>
        <p:txBody>
          <a:bodyPr>
            <a:noAutofit/>
          </a:bodyPr>
          <a:lstStyle/>
          <a:p>
            <a:pPr algn="l">
              <a:lnSpc>
                <a:spcPct val="160000"/>
              </a:lnSpc>
            </a:pPr>
            <a:r>
              <a:rPr lang="en-KH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ឧទាហរណ៍ទី១៖</a:t>
            </a:r>
          </a:p>
          <a:p>
            <a:pPr algn="l">
              <a:lnSpc>
                <a:spcPct val="100000"/>
              </a:lnSpc>
            </a:pPr>
            <a:r>
              <a:rPr lang="en-US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    for (</a:t>
            </a:r>
            <a:r>
              <a:rPr lang="en-US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int I = 1</a:t>
            </a:r>
            <a:r>
              <a:rPr lang="en-US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; </a:t>
            </a:r>
            <a:r>
              <a:rPr lang="en-US" dirty="0" err="1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i</a:t>
            </a:r>
            <a:r>
              <a:rPr lang="en-US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&lt;=3</a:t>
            </a:r>
            <a:r>
              <a:rPr lang="en-US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; </a:t>
            </a:r>
            <a:r>
              <a:rPr lang="en-US" dirty="0" err="1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i</a:t>
            </a:r>
            <a:r>
              <a:rPr lang="en-US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++</a:t>
            </a:r>
            <a:r>
              <a:rPr lang="en-US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) {</a:t>
            </a:r>
          </a:p>
          <a:p>
            <a:pPr algn="l">
              <a:lnSpc>
                <a:spcPct val="100000"/>
              </a:lnSpc>
            </a:pPr>
            <a:r>
              <a:rPr lang="en-US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        </a:t>
            </a:r>
            <a:r>
              <a:rPr lang="en-US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System.out.println</a:t>
            </a:r>
            <a:r>
              <a:rPr lang="en-US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(“</a:t>
            </a:r>
            <a:r>
              <a:rPr lang="en-US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ជុំទី</a:t>
            </a:r>
            <a:r>
              <a:rPr lang="en-US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” + </a:t>
            </a:r>
            <a:r>
              <a:rPr lang="en-US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i</a:t>
            </a:r>
            <a:r>
              <a:rPr lang="en-US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);</a:t>
            </a:r>
          </a:p>
          <a:p>
            <a:pPr algn="l">
              <a:lnSpc>
                <a:spcPct val="100000"/>
              </a:lnSpc>
            </a:pPr>
            <a:r>
              <a:rPr lang="en-US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    }</a:t>
            </a:r>
            <a:endParaRPr lang="en-KH" dirty="0">
              <a:solidFill>
                <a:srgbClr val="002060"/>
              </a:solidFill>
              <a:latin typeface="Khmer OS Content" panose="02000500000000020004" pitchFamily="2" charset="77"/>
              <a:cs typeface="Khmer OS Content" panose="02000500000000020004" pitchFamily="2" charset="77"/>
            </a:endParaRPr>
          </a:p>
          <a:p>
            <a:pPr algn="l">
              <a:lnSpc>
                <a:spcPct val="160000"/>
              </a:lnSpc>
            </a:pPr>
            <a:r>
              <a:rPr lang="en-KH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ឧទាហរណ៍ទី២៖</a:t>
            </a:r>
          </a:p>
          <a:p>
            <a:pPr algn="l">
              <a:lnSpc>
                <a:spcPct val="100000"/>
              </a:lnSpc>
            </a:pPr>
            <a:r>
              <a:rPr lang="en-KH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    int n = 0;</a:t>
            </a:r>
          </a:p>
          <a:p>
            <a:pPr algn="l">
              <a:lnSpc>
                <a:spcPct val="100000"/>
              </a:lnSpc>
            </a:pPr>
            <a:r>
              <a:rPr lang="en-US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    for (</a:t>
            </a:r>
            <a:r>
              <a:rPr lang="en-US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int I = 3</a:t>
            </a:r>
            <a:r>
              <a:rPr lang="en-US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; </a:t>
            </a:r>
            <a:r>
              <a:rPr lang="en-US" dirty="0" err="1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i</a:t>
            </a:r>
            <a:r>
              <a:rPr lang="en-US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&gt;=1</a:t>
            </a:r>
            <a:r>
              <a:rPr lang="en-US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; </a:t>
            </a:r>
            <a:r>
              <a:rPr lang="en-US" dirty="0" err="1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i</a:t>
            </a:r>
            <a:r>
              <a:rPr lang="en-US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--</a:t>
            </a:r>
            <a:r>
              <a:rPr lang="en-US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) {</a:t>
            </a:r>
            <a:br>
              <a:rPr lang="en-US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</a:br>
            <a:r>
              <a:rPr lang="en-US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        n++;</a:t>
            </a:r>
          </a:p>
          <a:p>
            <a:pPr algn="l">
              <a:lnSpc>
                <a:spcPct val="100000"/>
              </a:lnSpc>
            </a:pPr>
            <a:r>
              <a:rPr lang="en-US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        </a:t>
            </a:r>
            <a:r>
              <a:rPr lang="en-US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System.out.println</a:t>
            </a:r>
            <a:r>
              <a:rPr lang="en-US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(“</a:t>
            </a:r>
            <a:r>
              <a:rPr lang="en-US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ជុំទី</a:t>
            </a:r>
            <a:r>
              <a:rPr lang="en-US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” + n );</a:t>
            </a:r>
          </a:p>
          <a:p>
            <a:pPr algn="l">
              <a:lnSpc>
                <a:spcPct val="100000"/>
              </a:lnSpc>
            </a:pPr>
            <a:r>
              <a:rPr lang="en-US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    }</a:t>
            </a:r>
            <a:endParaRPr lang="en-US" sz="2400" dirty="0">
              <a:solidFill>
                <a:srgbClr val="0070C0"/>
              </a:solidFill>
              <a:latin typeface="Khmer OS Battambang" panose="02000500000000020004" pitchFamily="2" charset="77"/>
              <a:cs typeface="Khmer OS Battambang" panose="02000500000000020004" pitchFamily="2" charset="77"/>
            </a:endParaRP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4D444A4E-C5C2-056D-DC56-2293FDD7C13E}"/>
              </a:ext>
            </a:extLst>
          </p:cNvPr>
          <p:cNvCxnSpPr/>
          <p:nvPr/>
        </p:nvCxnSpPr>
        <p:spPr>
          <a:xfrm>
            <a:off x="0" y="1050468"/>
            <a:ext cx="12192000" cy="0"/>
          </a:xfrm>
          <a:prstGeom prst="line">
            <a:avLst/>
          </a:prstGeom>
          <a:ln w="57150">
            <a:solidFill>
              <a:srgbClr val="D49B0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56A7D91F-5792-E19C-0F6B-8DFE9701B27B}"/>
              </a:ext>
            </a:extLst>
          </p:cNvPr>
          <p:cNvCxnSpPr>
            <a:cxnSpLocks/>
          </p:cNvCxnSpPr>
          <p:nvPr/>
        </p:nvCxnSpPr>
        <p:spPr>
          <a:xfrm>
            <a:off x="0" y="979812"/>
            <a:ext cx="12192000" cy="0"/>
          </a:xfrm>
          <a:prstGeom prst="line">
            <a:avLst/>
          </a:prstGeom>
          <a:ln w="57150">
            <a:solidFill>
              <a:srgbClr val="1C27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7" name="Picture 46" descr="A blue circle with a yellow and white bird in it&#10;&#10;AI-generated content may be incorrect.">
            <a:extLst>
              <a:ext uri="{FF2B5EF4-FFF2-40B4-BE49-F238E27FC236}">
                <a16:creationId xmlns:a16="http://schemas.microsoft.com/office/drawing/2014/main" id="{0FC85008-EAFF-EF6D-4797-9E286BA0592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5438" y="219712"/>
            <a:ext cx="606500" cy="606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66496483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0589B37-8474-87E1-061A-F1BA6605B7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0D66497-FDDF-B04B-BACA-2F5E183E68C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701800" y="119781"/>
            <a:ext cx="9144000" cy="789373"/>
          </a:xfrm>
        </p:spPr>
        <p:txBody>
          <a:bodyPr>
            <a:normAutofit/>
          </a:bodyPr>
          <a:lstStyle/>
          <a:p>
            <a:pPr algn="l"/>
            <a:r>
              <a:rPr lang="en-US" sz="3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for-each loop</a:t>
            </a:r>
            <a:endParaRPr lang="en-KH" sz="3600" dirty="0">
              <a:solidFill>
                <a:srgbClr val="002060"/>
              </a:solidFill>
              <a:latin typeface="Khmer OS Battambang" panose="02000500000000020004" pitchFamily="2" charset="77"/>
              <a:cs typeface="Khmer OS Battambang" panose="02000500000000020004" pitchFamily="2" charset="77"/>
            </a:endParaRP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141CEE8E-9E00-D260-9E85-973C0D3516AB}"/>
              </a:ext>
            </a:extLst>
          </p:cNvPr>
          <p:cNvCxnSpPr/>
          <p:nvPr/>
        </p:nvCxnSpPr>
        <p:spPr>
          <a:xfrm>
            <a:off x="0" y="1050468"/>
            <a:ext cx="12192000" cy="0"/>
          </a:xfrm>
          <a:prstGeom prst="line">
            <a:avLst/>
          </a:prstGeom>
          <a:ln w="57150">
            <a:solidFill>
              <a:srgbClr val="D49B0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A4B1D4DB-8192-E865-D591-C0438B501157}"/>
              </a:ext>
            </a:extLst>
          </p:cNvPr>
          <p:cNvCxnSpPr>
            <a:cxnSpLocks/>
          </p:cNvCxnSpPr>
          <p:nvPr/>
        </p:nvCxnSpPr>
        <p:spPr>
          <a:xfrm>
            <a:off x="0" y="979812"/>
            <a:ext cx="12192000" cy="0"/>
          </a:xfrm>
          <a:prstGeom prst="line">
            <a:avLst/>
          </a:prstGeom>
          <a:ln w="57150">
            <a:solidFill>
              <a:srgbClr val="1C27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7" name="Picture 46" descr="A blue circle with a yellow and white bird in it&#10;&#10;AI-generated content may be incorrect.">
            <a:extLst>
              <a:ext uri="{FF2B5EF4-FFF2-40B4-BE49-F238E27FC236}">
                <a16:creationId xmlns:a16="http://schemas.microsoft.com/office/drawing/2014/main" id="{0700F2F2-840A-38D7-A702-B26BABF55D6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5438" y="219712"/>
            <a:ext cx="606500" cy="606500"/>
          </a:xfrm>
          <a:prstGeom prst="rect">
            <a:avLst/>
          </a:prstGeom>
        </p:spPr>
      </p:pic>
      <p:sp>
        <p:nvSpPr>
          <p:cNvPr id="7" name="Subtitle 2">
            <a:extLst>
              <a:ext uri="{FF2B5EF4-FFF2-40B4-BE49-F238E27FC236}">
                <a16:creationId xmlns:a16="http://schemas.microsoft.com/office/drawing/2014/main" id="{9E50E9FE-384C-0869-652E-2E2E928CC83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24192" y="1219212"/>
            <a:ext cx="10954536" cy="5306275"/>
          </a:xfrm>
        </p:spPr>
        <p:txBody>
          <a:bodyPr>
            <a:noAutofit/>
          </a:bodyPr>
          <a:lstStyle/>
          <a:p>
            <a:pPr algn="l">
              <a:lnSpc>
                <a:spcPct val="160000"/>
              </a:lnSpc>
            </a:pPr>
            <a:r>
              <a:rPr lang="en-US" sz="18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	</a:t>
            </a:r>
            <a:r>
              <a:rPr lang="en-US" sz="20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for-each loop: </a:t>
            </a:r>
            <a:r>
              <a:rPr lang="en-US" sz="20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គឺជាប្រយោគ</a:t>
            </a:r>
            <a:r>
              <a:rPr lang="en-US" sz="20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Control flow </a:t>
            </a:r>
            <a:r>
              <a:rPr lang="en-US" sz="20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ដែលប្រើប្រាស់ដើម្បីប្រតិបត្តិ</a:t>
            </a:r>
            <a:r>
              <a:rPr lang="en-US" sz="20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(execute) </a:t>
            </a:r>
            <a:r>
              <a:rPr lang="en-US" sz="20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ប្លុក</a:t>
            </a:r>
            <a:r>
              <a:rPr lang="en-US" sz="20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code </a:t>
            </a:r>
            <a:r>
              <a:rPr lang="en-US" sz="20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ម្តងហើយម្តងទៀតទៅតាមចំនួនធាតុនៃ</a:t>
            </a:r>
            <a:r>
              <a:rPr lang="en-US" sz="20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Arrays​ </a:t>
            </a:r>
            <a:r>
              <a:rPr lang="en-US" sz="20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និងត្រូវបានណែនាំឲ្យប្រើប្រាស់ចាប់ពី</a:t>
            </a:r>
            <a:r>
              <a:rPr lang="en-US" sz="20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Java 1.5 </a:t>
            </a:r>
            <a:r>
              <a:rPr lang="en-US" sz="20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មក</a:t>
            </a:r>
            <a:r>
              <a:rPr lang="en-US" sz="20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។</a:t>
            </a:r>
            <a:br>
              <a:rPr lang="en-US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</a:br>
            <a:r>
              <a:rPr lang="en-KH" dirty="0"/>
              <a:t>👉 </a:t>
            </a:r>
            <a:r>
              <a:rPr lang="en-US" sz="2000" dirty="0" err="1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ទម្រង់នៃការប្រើប្រាស</a:t>
            </a:r>
            <a:r>
              <a:rPr lang="en-US" sz="20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់(Syntax)៖</a:t>
            </a:r>
          </a:p>
          <a:p>
            <a:pPr algn="l">
              <a:lnSpc>
                <a:spcPct val="100000"/>
              </a:lnSpc>
            </a:pPr>
            <a:r>
              <a:rPr lang="en-US" sz="20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    for (</a:t>
            </a:r>
            <a:r>
              <a:rPr lang="en-US" sz="2000" dirty="0" err="1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ប្រភេទទិន្នន័យ</a:t>
            </a:r>
            <a:r>
              <a:rPr lang="en-US" sz="20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variable</a:t>
            </a:r>
            <a:r>
              <a:rPr lang="en-US" sz="20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; </a:t>
            </a:r>
            <a:r>
              <a:rPr lang="en-US" sz="2000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arrays/collection</a:t>
            </a:r>
            <a:r>
              <a:rPr lang="en-US" sz="20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) {</a:t>
            </a:r>
          </a:p>
          <a:p>
            <a:pPr algn="l">
              <a:lnSpc>
                <a:spcPct val="100000"/>
              </a:lnSpc>
            </a:pPr>
            <a:r>
              <a:rPr lang="en-US" sz="20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         // Code </a:t>
            </a:r>
            <a:r>
              <a:rPr lang="en-US" sz="20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ដើម្បីប្រតិបត្តិ</a:t>
            </a:r>
            <a:r>
              <a:rPr lang="en-US" sz="20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(execute) </a:t>
            </a:r>
            <a:r>
              <a:rPr lang="en-US" sz="20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ការធ្វើឡើងវិញសម្រាប់ធាតុនីមួយ</a:t>
            </a:r>
            <a:r>
              <a:rPr lang="en-US" sz="20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ៗ</a:t>
            </a:r>
          </a:p>
          <a:p>
            <a:pPr algn="l">
              <a:lnSpc>
                <a:spcPct val="100000"/>
              </a:lnSpc>
            </a:pPr>
            <a:r>
              <a:rPr lang="en-US" sz="20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    }</a:t>
            </a:r>
          </a:p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    </a:t>
            </a:r>
            <a:r>
              <a:rPr lang="en-US" sz="2000" dirty="0" err="1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ឧទាហរណ</a:t>
            </a:r>
            <a:r>
              <a:rPr lang="en-US" sz="20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៍៖</a:t>
            </a:r>
          </a:p>
          <a:p>
            <a:pPr algn="l">
              <a:lnSpc>
                <a:spcPct val="100000"/>
              </a:lnSpc>
            </a:pPr>
            <a:r>
              <a:rPr lang="en-US" sz="20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	</a:t>
            </a:r>
            <a:r>
              <a:rPr lang="en-US" sz="2000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String[] </a:t>
            </a:r>
            <a:r>
              <a:rPr lang="en-US" sz="2000" dirty="0" err="1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capitalLetters</a:t>
            </a:r>
            <a:r>
              <a:rPr lang="en-US" sz="20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= {“A”,”B”,”C”,”D”};</a:t>
            </a:r>
          </a:p>
          <a:p>
            <a:pPr algn="l">
              <a:lnSpc>
                <a:spcPct val="100000"/>
              </a:lnSpc>
            </a:pPr>
            <a:r>
              <a:rPr lang="en-US" sz="20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	</a:t>
            </a:r>
            <a:r>
              <a:rPr lang="en-US" sz="20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for(</a:t>
            </a:r>
            <a:r>
              <a:rPr lang="en-US" sz="2000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String</a:t>
            </a:r>
            <a:r>
              <a:rPr lang="en-US" sz="20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</a:t>
            </a:r>
            <a:r>
              <a:rPr lang="en-US" sz="2000" dirty="0" err="1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capitalLetter</a:t>
            </a:r>
            <a:r>
              <a:rPr lang="en-US" sz="20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: </a:t>
            </a:r>
            <a:r>
              <a:rPr lang="en-US" sz="2000" dirty="0" err="1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capitalLetters</a:t>
            </a:r>
            <a:r>
              <a:rPr lang="en-US" sz="20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){</a:t>
            </a:r>
          </a:p>
          <a:p>
            <a:pPr algn="l">
              <a:lnSpc>
                <a:spcPct val="100000"/>
              </a:lnSpc>
            </a:pPr>
            <a:r>
              <a:rPr lang="en-US" sz="20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	    </a:t>
            </a:r>
            <a:r>
              <a:rPr lang="en-US" sz="20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System.out.println</a:t>
            </a:r>
            <a:r>
              <a:rPr lang="en-US" sz="20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(</a:t>
            </a:r>
            <a:r>
              <a:rPr lang="en-US" sz="2000" dirty="0" err="1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capitalLetter</a:t>
            </a:r>
            <a:r>
              <a:rPr lang="en-US" sz="20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);</a:t>
            </a:r>
          </a:p>
          <a:p>
            <a:pPr algn="l">
              <a:lnSpc>
                <a:spcPct val="100000"/>
              </a:lnSpc>
            </a:pPr>
            <a:r>
              <a:rPr lang="en-US" sz="20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	}</a:t>
            </a:r>
            <a:endParaRPr lang="en-US" sz="2000" dirty="0">
              <a:solidFill>
                <a:srgbClr val="002060"/>
              </a:solidFill>
              <a:latin typeface="Khmer OS Battambang" panose="02000500000000020004" pitchFamily="2" charset="77"/>
              <a:cs typeface="Khmer OS Battambang" panose="02000500000000020004" pitchFamily="2" charset="77"/>
            </a:endParaRPr>
          </a:p>
        </p:txBody>
      </p:sp>
    </p:spTree>
    <p:extLst>
      <p:ext uri="{BB962C8B-B14F-4D97-AF65-F5344CB8AC3E}">
        <p14:creationId xmlns:p14="http://schemas.microsoft.com/office/powerpoint/2010/main" val="3483586226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A884F13-FC64-6529-5CE5-A9B0E6E979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DC61723-A9CB-A3FF-85A9-0636A579A41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701800" y="119781"/>
            <a:ext cx="9144000" cy="789373"/>
          </a:xfrm>
        </p:spPr>
        <p:txBody>
          <a:bodyPr>
            <a:normAutofit/>
          </a:bodyPr>
          <a:lstStyle/>
          <a:p>
            <a:pPr algn="l"/>
            <a:r>
              <a:rPr lang="en-US" sz="3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while loop</a:t>
            </a:r>
            <a:endParaRPr lang="en-KH" sz="3600" dirty="0">
              <a:solidFill>
                <a:srgbClr val="002060"/>
              </a:solidFill>
              <a:latin typeface="Khmer OS Battambang" panose="02000500000000020004" pitchFamily="2" charset="77"/>
              <a:cs typeface="Khmer OS Battambang" panose="02000500000000020004" pitchFamily="2" charset="77"/>
            </a:endParaRP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B5490DD6-2236-4F55-81F8-4CDB88987130}"/>
              </a:ext>
            </a:extLst>
          </p:cNvPr>
          <p:cNvCxnSpPr/>
          <p:nvPr/>
        </p:nvCxnSpPr>
        <p:spPr>
          <a:xfrm>
            <a:off x="0" y="1050468"/>
            <a:ext cx="12192000" cy="0"/>
          </a:xfrm>
          <a:prstGeom prst="line">
            <a:avLst/>
          </a:prstGeom>
          <a:ln w="57150">
            <a:solidFill>
              <a:srgbClr val="D49B0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5208C836-BC7F-09E4-8CF6-BD68EC7B87CE}"/>
              </a:ext>
            </a:extLst>
          </p:cNvPr>
          <p:cNvCxnSpPr>
            <a:cxnSpLocks/>
          </p:cNvCxnSpPr>
          <p:nvPr/>
        </p:nvCxnSpPr>
        <p:spPr>
          <a:xfrm>
            <a:off x="0" y="979812"/>
            <a:ext cx="12192000" cy="0"/>
          </a:xfrm>
          <a:prstGeom prst="line">
            <a:avLst/>
          </a:prstGeom>
          <a:ln w="57150">
            <a:solidFill>
              <a:srgbClr val="1C27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7" name="Picture 46" descr="A blue circle with a yellow and white bird in it&#10;&#10;AI-generated content may be incorrect.">
            <a:extLst>
              <a:ext uri="{FF2B5EF4-FFF2-40B4-BE49-F238E27FC236}">
                <a16:creationId xmlns:a16="http://schemas.microsoft.com/office/drawing/2014/main" id="{D2575535-57CB-314B-2440-9F4CEE26EC8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5438" y="219712"/>
            <a:ext cx="606500" cy="606500"/>
          </a:xfrm>
          <a:prstGeom prst="rect">
            <a:avLst/>
          </a:prstGeom>
        </p:spPr>
      </p:pic>
      <p:sp>
        <p:nvSpPr>
          <p:cNvPr id="7" name="Subtitle 2">
            <a:extLst>
              <a:ext uri="{FF2B5EF4-FFF2-40B4-BE49-F238E27FC236}">
                <a16:creationId xmlns:a16="http://schemas.microsoft.com/office/drawing/2014/main" id="{1334A7C8-D19D-B6E6-A1B8-FC782434A7F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24192" y="1219212"/>
            <a:ext cx="10954536" cy="5306275"/>
          </a:xfrm>
        </p:spPr>
        <p:txBody>
          <a:bodyPr>
            <a:noAutofit/>
          </a:bodyPr>
          <a:lstStyle/>
          <a:p>
            <a:pPr algn="l">
              <a:lnSpc>
                <a:spcPct val="160000"/>
              </a:lnSpc>
            </a:pPr>
            <a:r>
              <a:rPr lang="en-US" sz="18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	</a:t>
            </a:r>
            <a:r>
              <a:rPr lang="en-US" sz="20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while loop: </a:t>
            </a:r>
            <a:r>
              <a:rPr lang="en-US" sz="20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គឺជាប្រយោគ</a:t>
            </a:r>
            <a:r>
              <a:rPr lang="en-US" sz="20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Control flow </a:t>
            </a:r>
            <a:r>
              <a:rPr lang="en-US" sz="20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ដែលប្រើប្រាស់ដើម្បីប្រតិបត្តិ</a:t>
            </a:r>
            <a:r>
              <a:rPr lang="en-US" sz="20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(execute) </a:t>
            </a:r>
            <a:r>
              <a:rPr lang="en-US" sz="20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ប្លុក</a:t>
            </a:r>
            <a:r>
              <a:rPr lang="en-US" sz="20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code </a:t>
            </a:r>
            <a:r>
              <a:rPr lang="en-US" sz="20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ម្តងហើយម្តងទៀតដរាបណាលក្ខណ</a:t>
            </a:r>
            <a:r>
              <a:rPr lang="en-US" sz="20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Boolean </a:t>
            </a:r>
            <a:r>
              <a:rPr lang="en-US" sz="20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ដែលបានបញ្ជាក់នៅតែ</a:t>
            </a:r>
            <a:r>
              <a:rPr lang="en-US" sz="20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</a:t>
            </a:r>
            <a:r>
              <a:rPr lang="en-US" sz="2000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true</a:t>
            </a:r>
            <a:r>
              <a:rPr lang="en-US" sz="20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។</a:t>
            </a:r>
            <a:br>
              <a:rPr lang="en-US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</a:br>
            <a:r>
              <a:rPr lang="en-KH" dirty="0"/>
              <a:t>👉 </a:t>
            </a:r>
            <a:r>
              <a:rPr lang="en-US" sz="2000" dirty="0" err="1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ទម្រង់នៃការប្រើប្រាស</a:t>
            </a:r>
            <a:r>
              <a:rPr lang="en-US" sz="20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់(Syntax)៖</a:t>
            </a:r>
          </a:p>
          <a:p>
            <a:pPr algn="l">
              <a:lnSpc>
                <a:spcPct val="100000"/>
              </a:lnSpc>
            </a:pPr>
            <a:r>
              <a:rPr lang="en-US" sz="20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    while (</a:t>
            </a:r>
            <a:r>
              <a:rPr lang="en-US" sz="2000" dirty="0" err="1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លក្ខណ</a:t>
            </a:r>
            <a:r>
              <a:rPr lang="en-US" sz="20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) {</a:t>
            </a:r>
          </a:p>
          <a:p>
            <a:pPr algn="l">
              <a:lnSpc>
                <a:spcPct val="100000"/>
              </a:lnSpc>
            </a:pPr>
            <a:r>
              <a:rPr lang="en-US" sz="20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         // Code </a:t>
            </a:r>
            <a:r>
              <a:rPr lang="en-US" sz="20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ដើម្បីប្រតិបត្តិ</a:t>
            </a:r>
            <a:r>
              <a:rPr lang="en-US" sz="20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(execute) </a:t>
            </a:r>
            <a:r>
              <a:rPr lang="en-US" sz="20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ការធ្វើឡើងវិញនៅពេលលក្ខណដែលបានបញ្ចាក់ស្មើ</a:t>
            </a:r>
            <a:r>
              <a:rPr lang="en-US" sz="20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</a:t>
            </a:r>
            <a:r>
              <a:rPr lang="en-US" sz="2000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true</a:t>
            </a:r>
            <a:endParaRPr lang="en-US" sz="2000" dirty="0">
              <a:solidFill>
                <a:srgbClr val="0070C0"/>
              </a:solidFill>
              <a:latin typeface="Khmer OS Battambang" panose="02000500000000020004" pitchFamily="2" charset="77"/>
              <a:cs typeface="Khmer OS Battambang" panose="02000500000000020004" pitchFamily="2" charset="77"/>
            </a:endParaRPr>
          </a:p>
          <a:p>
            <a:pPr algn="l">
              <a:lnSpc>
                <a:spcPct val="100000"/>
              </a:lnSpc>
            </a:pPr>
            <a:r>
              <a:rPr lang="en-US" sz="20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    }</a:t>
            </a:r>
          </a:p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    </a:t>
            </a:r>
            <a:r>
              <a:rPr lang="en-US" sz="2000" dirty="0" err="1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ឧទាហរណ</a:t>
            </a:r>
            <a:r>
              <a:rPr lang="en-US" sz="20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៍៖</a:t>
            </a:r>
          </a:p>
          <a:p>
            <a:pPr algn="l">
              <a:lnSpc>
                <a:spcPct val="100000"/>
              </a:lnSpc>
              <a:spcBef>
                <a:spcPts val="400"/>
              </a:spcBef>
            </a:pPr>
            <a:r>
              <a:rPr lang="en-US" sz="20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	</a:t>
            </a:r>
            <a:r>
              <a:rPr lang="en-US" sz="2000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int </a:t>
            </a:r>
            <a:r>
              <a:rPr lang="en-US" sz="20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num</a:t>
            </a:r>
            <a:r>
              <a:rPr lang="en-US" sz="2000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</a:t>
            </a:r>
            <a:r>
              <a:rPr lang="en-US" sz="20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=</a:t>
            </a:r>
            <a:r>
              <a:rPr lang="en-US" sz="2000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0</a:t>
            </a:r>
            <a:r>
              <a:rPr lang="en-US" sz="20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;</a:t>
            </a:r>
          </a:p>
          <a:p>
            <a:pPr algn="l">
              <a:lnSpc>
                <a:spcPct val="100000"/>
              </a:lnSpc>
              <a:spcBef>
                <a:spcPts val="400"/>
              </a:spcBef>
            </a:pPr>
            <a:r>
              <a:rPr lang="en-US" sz="20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	</a:t>
            </a:r>
            <a:r>
              <a:rPr lang="en-US" sz="20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while( </a:t>
            </a:r>
            <a:r>
              <a:rPr lang="en-US" sz="2000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num &lt;= 4 </a:t>
            </a:r>
            <a:r>
              <a:rPr lang="en-US" sz="20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){</a:t>
            </a:r>
          </a:p>
          <a:p>
            <a:pPr algn="l">
              <a:lnSpc>
                <a:spcPct val="100000"/>
              </a:lnSpc>
              <a:spcBef>
                <a:spcPts val="400"/>
              </a:spcBef>
            </a:pPr>
            <a:r>
              <a:rPr lang="en-US" sz="20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	    </a:t>
            </a:r>
            <a:r>
              <a:rPr lang="en-US" sz="20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System.out.println</a:t>
            </a:r>
            <a:r>
              <a:rPr lang="en-US" sz="20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( num );</a:t>
            </a:r>
          </a:p>
          <a:p>
            <a:pPr algn="l">
              <a:lnSpc>
                <a:spcPct val="100000"/>
              </a:lnSpc>
              <a:spcBef>
                <a:spcPts val="400"/>
              </a:spcBef>
            </a:pPr>
            <a:r>
              <a:rPr lang="en-US" sz="20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	    num++;</a:t>
            </a:r>
          </a:p>
          <a:p>
            <a:pPr algn="l">
              <a:lnSpc>
                <a:spcPct val="100000"/>
              </a:lnSpc>
              <a:spcBef>
                <a:spcPts val="400"/>
              </a:spcBef>
            </a:pPr>
            <a:r>
              <a:rPr lang="en-US" sz="20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	}</a:t>
            </a:r>
            <a:endParaRPr lang="en-US" sz="2000" dirty="0">
              <a:solidFill>
                <a:srgbClr val="002060"/>
              </a:solidFill>
              <a:latin typeface="Khmer OS Battambang" panose="02000500000000020004" pitchFamily="2" charset="77"/>
              <a:cs typeface="Khmer OS Battambang" panose="02000500000000020004" pitchFamily="2" charset="77"/>
            </a:endParaRPr>
          </a:p>
        </p:txBody>
      </p:sp>
    </p:spTree>
    <p:extLst>
      <p:ext uri="{BB962C8B-B14F-4D97-AF65-F5344CB8AC3E}">
        <p14:creationId xmlns:p14="http://schemas.microsoft.com/office/powerpoint/2010/main" val="3120500104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F407F11-EE60-BBCD-6875-DA16DB776C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F18E613-A35B-DEE8-6128-694735BDC2E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701800" y="119781"/>
            <a:ext cx="9144000" cy="789373"/>
          </a:xfrm>
        </p:spPr>
        <p:txBody>
          <a:bodyPr>
            <a:normAutofit/>
          </a:bodyPr>
          <a:lstStyle/>
          <a:p>
            <a:pPr algn="l"/>
            <a:r>
              <a:rPr lang="en-US" sz="3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do-while loop</a:t>
            </a:r>
            <a:endParaRPr lang="en-KH" sz="3600" dirty="0">
              <a:solidFill>
                <a:srgbClr val="002060"/>
              </a:solidFill>
              <a:latin typeface="Khmer OS Battambang" panose="02000500000000020004" pitchFamily="2" charset="77"/>
              <a:cs typeface="Khmer OS Battambang" panose="02000500000000020004" pitchFamily="2" charset="77"/>
            </a:endParaRP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DA874F9B-A343-C7CA-2FB6-4F3FE4D323AD}"/>
              </a:ext>
            </a:extLst>
          </p:cNvPr>
          <p:cNvCxnSpPr/>
          <p:nvPr/>
        </p:nvCxnSpPr>
        <p:spPr>
          <a:xfrm>
            <a:off x="0" y="1050468"/>
            <a:ext cx="12192000" cy="0"/>
          </a:xfrm>
          <a:prstGeom prst="line">
            <a:avLst/>
          </a:prstGeom>
          <a:ln w="57150">
            <a:solidFill>
              <a:srgbClr val="D49B0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0EFDCAA6-0EB5-F27A-3ABA-BFCD7B9EE533}"/>
              </a:ext>
            </a:extLst>
          </p:cNvPr>
          <p:cNvCxnSpPr>
            <a:cxnSpLocks/>
          </p:cNvCxnSpPr>
          <p:nvPr/>
        </p:nvCxnSpPr>
        <p:spPr>
          <a:xfrm>
            <a:off x="0" y="979812"/>
            <a:ext cx="12192000" cy="0"/>
          </a:xfrm>
          <a:prstGeom prst="line">
            <a:avLst/>
          </a:prstGeom>
          <a:ln w="57150">
            <a:solidFill>
              <a:srgbClr val="1C27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7" name="Picture 46" descr="A blue circle with a yellow and white bird in it&#10;&#10;AI-generated content may be incorrect.">
            <a:extLst>
              <a:ext uri="{FF2B5EF4-FFF2-40B4-BE49-F238E27FC236}">
                <a16:creationId xmlns:a16="http://schemas.microsoft.com/office/drawing/2014/main" id="{7AD8F6A2-A773-AF89-CF53-D4EB4CAA31B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5438" y="219712"/>
            <a:ext cx="606500" cy="606500"/>
          </a:xfrm>
          <a:prstGeom prst="rect">
            <a:avLst/>
          </a:prstGeom>
        </p:spPr>
      </p:pic>
      <p:sp>
        <p:nvSpPr>
          <p:cNvPr id="7" name="Subtitle 2">
            <a:extLst>
              <a:ext uri="{FF2B5EF4-FFF2-40B4-BE49-F238E27FC236}">
                <a16:creationId xmlns:a16="http://schemas.microsoft.com/office/drawing/2014/main" id="{04885789-9522-B83C-93F5-30667095C69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24192" y="1219212"/>
            <a:ext cx="10954536" cy="5306275"/>
          </a:xfrm>
        </p:spPr>
        <p:txBody>
          <a:bodyPr>
            <a:noAutofit/>
          </a:bodyPr>
          <a:lstStyle/>
          <a:p>
            <a:pPr algn="l">
              <a:lnSpc>
                <a:spcPct val="150000"/>
              </a:lnSpc>
              <a:spcBef>
                <a:spcPts val="1500"/>
              </a:spcBef>
            </a:pPr>
            <a:r>
              <a:rPr lang="en-US" sz="18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	do-</a:t>
            </a:r>
            <a:r>
              <a:rPr lang="en-US" sz="20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while loop: </a:t>
            </a:r>
            <a:r>
              <a:rPr lang="en-US" sz="20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គឺជាប្រយោគ</a:t>
            </a:r>
            <a:r>
              <a:rPr lang="en-US" sz="20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Control flow </a:t>
            </a:r>
            <a:r>
              <a:rPr lang="en-US" sz="20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ដែលប្រើប្រាស់ដើម្បីប្រតិបត្តិ</a:t>
            </a:r>
            <a:r>
              <a:rPr lang="en-US" sz="20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(execute) </a:t>
            </a:r>
            <a:r>
              <a:rPr lang="en-US" sz="20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ប្លុក</a:t>
            </a:r>
            <a:r>
              <a:rPr lang="en-US" sz="20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code </a:t>
            </a:r>
            <a:r>
              <a:rPr lang="en-US" sz="20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យ៉ាងតិចម្តង</a:t>
            </a:r>
            <a:r>
              <a:rPr lang="en-US" sz="20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</a:t>
            </a:r>
            <a:r>
              <a:rPr lang="en-US" sz="20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និងបន្ទាប់មកវាបន្តការប្រតិបត្តិ</a:t>
            </a:r>
            <a:r>
              <a:rPr lang="en-US" sz="20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(execute) </a:t>
            </a:r>
            <a:r>
              <a:rPr lang="en-US" sz="20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ម្តងហើយម្តងទៀតដរាបណាលក្ខណ</a:t>
            </a:r>
            <a:r>
              <a:rPr lang="en-US" sz="20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Boolean </a:t>
            </a:r>
            <a:r>
              <a:rPr lang="en-US" sz="20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ដែលបានបញ្ជាក់នៅតែ</a:t>
            </a:r>
            <a:r>
              <a:rPr lang="en-US" sz="20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</a:t>
            </a:r>
            <a:r>
              <a:rPr lang="en-US" sz="2000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true</a:t>
            </a:r>
            <a:r>
              <a:rPr lang="en-US" sz="20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។</a:t>
            </a:r>
            <a:br>
              <a:rPr lang="en-US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</a:br>
            <a:r>
              <a:rPr lang="en-KH" dirty="0"/>
              <a:t>👉 </a:t>
            </a:r>
            <a:r>
              <a:rPr lang="en-US" sz="2000" dirty="0" err="1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ទម្រង់នៃការប្រើប្រាស</a:t>
            </a:r>
            <a:r>
              <a:rPr lang="en-US" sz="20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់(Syntax)៖</a:t>
            </a:r>
          </a:p>
          <a:p>
            <a:pPr algn="l">
              <a:lnSpc>
                <a:spcPct val="100000"/>
              </a:lnSpc>
            </a:pPr>
            <a:r>
              <a:rPr lang="en-US" sz="20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    </a:t>
            </a:r>
            <a:r>
              <a:rPr lang="en-US" sz="18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do {</a:t>
            </a:r>
          </a:p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         // Code </a:t>
            </a:r>
            <a:r>
              <a:rPr lang="en-US" sz="18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ដើម្បីប្រតិបត្តិ</a:t>
            </a:r>
            <a:r>
              <a:rPr lang="en-US" sz="18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(execute) </a:t>
            </a:r>
            <a:r>
              <a:rPr lang="en-US" sz="18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ការធ្វើឡើងវិញនៅពេលលក្ខណដែលបានបញ្ចាក់ស្មើ</a:t>
            </a:r>
            <a:r>
              <a:rPr lang="en-US" sz="18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</a:t>
            </a:r>
            <a:r>
              <a:rPr lang="en-US" sz="1800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true</a:t>
            </a:r>
            <a:endParaRPr lang="en-US" sz="1800" dirty="0">
              <a:solidFill>
                <a:srgbClr val="0070C0"/>
              </a:solidFill>
              <a:latin typeface="Khmer OS Battambang" panose="02000500000000020004" pitchFamily="2" charset="77"/>
              <a:cs typeface="Khmer OS Battambang" panose="02000500000000020004" pitchFamily="2" charset="77"/>
            </a:endParaRPr>
          </a:p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    }</a:t>
            </a:r>
            <a:r>
              <a:rPr lang="en-US" sz="18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</a:t>
            </a:r>
            <a:r>
              <a:rPr lang="en-US" sz="18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while (</a:t>
            </a:r>
            <a:r>
              <a:rPr lang="en-US" sz="1800" dirty="0" err="1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លក្ខណ</a:t>
            </a:r>
            <a:r>
              <a:rPr lang="en-US" sz="18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);</a:t>
            </a:r>
          </a:p>
          <a:p>
            <a:pPr algn="l">
              <a:lnSpc>
                <a:spcPct val="100000"/>
              </a:lnSpc>
            </a:pPr>
            <a:r>
              <a:rPr lang="en-US" sz="20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    </a:t>
            </a:r>
            <a:r>
              <a:rPr lang="en-US" sz="2000" dirty="0" err="1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ឧទាហរណ</a:t>
            </a:r>
            <a:r>
              <a:rPr lang="en-US" sz="20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៍៖</a:t>
            </a:r>
          </a:p>
          <a:p>
            <a:pPr algn="l">
              <a:lnSpc>
                <a:spcPct val="100000"/>
              </a:lnSpc>
              <a:spcBef>
                <a:spcPts val="400"/>
              </a:spcBef>
            </a:pPr>
            <a:r>
              <a:rPr lang="en-US" sz="20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	</a:t>
            </a:r>
            <a:r>
              <a:rPr lang="en-US" sz="1800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int </a:t>
            </a:r>
            <a:r>
              <a:rPr lang="en-US" sz="18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num</a:t>
            </a:r>
            <a:r>
              <a:rPr lang="en-US" sz="1800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</a:t>
            </a:r>
            <a:r>
              <a:rPr lang="en-US" sz="18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=</a:t>
            </a:r>
            <a:r>
              <a:rPr lang="en-US" sz="1800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0</a:t>
            </a:r>
            <a:r>
              <a:rPr lang="en-US" sz="18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;</a:t>
            </a:r>
          </a:p>
          <a:p>
            <a:pPr algn="l">
              <a:lnSpc>
                <a:spcPct val="100000"/>
              </a:lnSpc>
              <a:spcBef>
                <a:spcPts val="400"/>
              </a:spcBef>
            </a:pPr>
            <a:r>
              <a:rPr lang="en-US" sz="18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	do {</a:t>
            </a:r>
          </a:p>
          <a:p>
            <a:pPr algn="l">
              <a:lnSpc>
                <a:spcPct val="100000"/>
              </a:lnSpc>
              <a:spcBef>
                <a:spcPts val="400"/>
              </a:spcBef>
            </a:pPr>
            <a:r>
              <a:rPr lang="en-US" sz="18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	    </a:t>
            </a:r>
            <a:r>
              <a:rPr lang="en-US" sz="18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System.out.println</a:t>
            </a:r>
            <a:r>
              <a:rPr lang="en-US" sz="18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( num );</a:t>
            </a:r>
          </a:p>
          <a:p>
            <a:pPr algn="l">
              <a:lnSpc>
                <a:spcPct val="100000"/>
              </a:lnSpc>
              <a:spcBef>
                <a:spcPts val="400"/>
              </a:spcBef>
            </a:pPr>
            <a:r>
              <a:rPr lang="en-US" sz="18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	    num++;</a:t>
            </a:r>
          </a:p>
          <a:p>
            <a:pPr algn="l">
              <a:lnSpc>
                <a:spcPct val="100000"/>
              </a:lnSpc>
              <a:spcBef>
                <a:spcPts val="400"/>
              </a:spcBef>
            </a:pPr>
            <a:r>
              <a:rPr lang="en-US" sz="18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	} while( </a:t>
            </a:r>
            <a:r>
              <a:rPr lang="en-US" sz="1800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num &lt;= 4 </a:t>
            </a:r>
            <a:r>
              <a:rPr lang="en-US" sz="18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);</a:t>
            </a:r>
          </a:p>
        </p:txBody>
      </p:sp>
    </p:spTree>
    <p:extLst>
      <p:ext uri="{BB962C8B-B14F-4D97-AF65-F5344CB8AC3E}">
        <p14:creationId xmlns:p14="http://schemas.microsoft.com/office/powerpoint/2010/main" val="1728295525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96BEE96-D498-F934-3B06-2A6AC86C85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2A55AF-C5FD-4E3E-A0D0-4DAB2A767B3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701800" y="119781"/>
            <a:ext cx="9144000" cy="789373"/>
          </a:xfrm>
        </p:spPr>
        <p:txBody>
          <a:bodyPr>
            <a:normAutofit/>
          </a:bodyPr>
          <a:lstStyle/>
          <a:p>
            <a:pPr algn="l"/>
            <a:r>
              <a:rPr lang="en-US" sz="3600" dirty="0" err="1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ប្រយោគផ្លោះ</a:t>
            </a:r>
            <a:r>
              <a:rPr lang="en-US" sz="3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(Jump Statement)</a:t>
            </a:r>
            <a:endParaRPr lang="en-KH" sz="3600" dirty="0">
              <a:solidFill>
                <a:srgbClr val="002060"/>
              </a:solidFill>
              <a:latin typeface="Khmer OS Battambang" panose="02000500000000020004" pitchFamily="2" charset="77"/>
              <a:cs typeface="Khmer OS Battambang" panose="02000500000000020004" pitchFamily="2" charset="77"/>
            </a:endParaRP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2C5CE460-F78D-AF09-F0F5-8466D2B25C32}"/>
              </a:ext>
            </a:extLst>
          </p:cNvPr>
          <p:cNvCxnSpPr/>
          <p:nvPr/>
        </p:nvCxnSpPr>
        <p:spPr>
          <a:xfrm>
            <a:off x="0" y="1050468"/>
            <a:ext cx="12192000" cy="0"/>
          </a:xfrm>
          <a:prstGeom prst="line">
            <a:avLst/>
          </a:prstGeom>
          <a:ln w="57150">
            <a:solidFill>
              <a:srgbClr val="D49B0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3BAC5608-E4A9-92E1-0FAC-36CF7087C30C}"/>
              </a:ext>
            </a:extLst>
          </p:cNvPr>
          <p:cNvCxnSpPr>
            <a:cxnSpLocks/>
          </p:cNvCxnSpPr>
          <p:nvPr/>
        </p:nvCxnSpPr>
        <p:spPr>
          <a:xfrm>
            <a:off x="0" y="979812"/>
            <a:ext cx="12192000" cy="0"/>
          </a:xfrm>
          <a:prstGeom prst="line">
            <a:avLst/>
          </a:prstGeom>
          <a:ln w="57150">
            <a:solidFill>
              <a:srgbClr val="1C27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7" name="Picture 46" descr="A blue circle with a yellow and white bird in it&#10;&#10;AI-generated content may be incorrect.">
            <a:extLst>
              <a:ext uri="{FF2B5EF4-FFF2-40B4-BE49-F238E27FC236}">
                <a16:creationId xmlns:a16="http://schemas.microsoft.com/office/drawing/2014/main" id="{07FD4DB3-93A9-D9AC-EB57-19D6796E8A9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5438" y="219712"/>
            <a:ext cx="606500" cy="606500"/>
          </a:xfrm>
          <a:prstGeom prst="rect">
            <a:avLst/>
          </a:prstGeom>
        </p:spPr>
      </p:pic>
      <p:sp>
        <p:nvSpPr>
          <p:cNvPr id="7" name="Subtitle 2">
            <a:extLst>
              <a:ext uri="{FF2B5EF4-FFF2-40B4-BE49-F238E27FC236}">
                <a16:creationId xmlns:a16="http://schemas.microsoft.com/office/drawing/2014/main" id="{E0C34949-ED45-38A2-58F5-BB5A9AF7921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24192" y="1219212"/>
            <a:ext cx="10954536" cy="5306275"/>
          </a:xfrm>
        </p:spPr>
        <p:txBody>
          <a:bodyPr>
            <a:noAutofit/>
          </a:bodyPr>
          <a:lstStyle/>
          <a:p>
            <a:pPr algn="l">
              <a:lnSpc>
                <a:spcPct val="150000"/>
              </a:lnSpc>
              <a:spcBef>
                <a:spcPts val="1500"/>
              </a:spcBef>
            </a:pPr>
            <a:r>
              <a:rPr lang="en-US" sz="18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​       </a:t>
            </a:r>
            <a:r>
              <a:rPr lang="en-US" sz="2000" dirty="0" err="1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ប្រយោគផ្លោះ</a:t>
            </a:r>
            <a:r>
              <a:rPr lang="en-US" sz="20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(Jump Statement) : </a:t>
            </a:r>
            <a:r>
              <a:rPr lang="en-US" sz="20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គឺជាប្រយោគ</a:t>
            </a:r>
            <a:r>
              <a:rPr lang="en-US" sz="20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Control flow </a:t>
            </a:r>
            <a:r>
              <a:rPr lang="en-US" sz="20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ដែលប្រើប្រាស់សម្រាប់កែប្រែលំហូរក្នុងការប្រតិបត្តិនៃប្លុក</a:t>
            </a:r>
            <a:r>
              <a:rPr lang="en-US" sz="20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code </a:t>
            </a:r>
            <a:r>
              <a:rPr lang="en-US" sz="20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ដោយធ្វើការផ្ទេរការគ្រប់គ្រងទៅកាន់ផ្នែកផ្សេងនៃកម្មវិធី</a:t>
            </a:r>
            <a:r>
              <a:rPr lang="en-US" sz="20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។ </a:t>
            </a:r>
            <a:r>
              <a:rPr lang="en-US" sz="20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វាអនុញ្ញាតប្រើប្រាស់សម្រាប់ចាកចេញពី</a:t>
            </a:r>
            <a:r>
              <a:rPr lang="en-US" sz="20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loop/method </a:t>
            </a:r>
            <a:r>
              <a:rPr lang="en-US" sz="20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ជាមុន</a:t>
            </a:r>
            <a:r>
              <a:rPr lang="en-US" sz="20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, </a:t>
            </a:r>
            <a:r>
              <a:rPr lang="en-US" sz="20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រំលងការធ្វើម្តងទៀតនៃ</a:t>
            </a:r>
            <a:r>
              <a:rPr lang="en-US" sz="20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loop, </a:t>
            </a:r>
            <a:r>
              <a:rPr lang="en-US" sz="20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ការផ្តល់តម្លៃត្រឡប់ទៅវិញ</a:t>
            </a:r>
            <a:r>
              <a:rPr lang="en-US" sz="20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</a:t>
            </a:r>
            <a:r>
              <a:rPr lang="en-US" sz="20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និងធ្វើឲ្យ</a:t>
            </a:r>
            <a:r>
              <a:rPr lang="en-US" sz="20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code </a:t>
            </a:r>
            <a:r>
              <a:rPr lang="en-US" sz="20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កាន់តែមានប្រសិទ្ធិភាព</a:t>
            </a:r>
            <a:r>
              <a:rPr lang="en-US" sz="20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។ </a:t>
            </a:r>
            <a:r>
              <a:rPr lang="en-US" sz="2000" dirty="0" err="1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ប្រយោគផ្លោះ</a:t>
            </a:r>
            <a:r>
              <a:rPr lang="en-US" sz="20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(Jump Statement)</a:t>
            </a:r>
            <a:r>
              <a:rPr lang="en-US" sz="18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</a:t>
            </a:r>
            <a:r>
              <a:rPr lang="en-US" sz="20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មានដូចជា</a:t>
            </a:r>
            <a:r>
              <a:rPr lang="en-US" sz="20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៖ </a:t>
            </a:r>
            <a:r>
              <a:rPr lang="en-US" sz="2000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break</a:t>
            </a:r>
            <a:r>
              <a:rPr lang="en-US" sz="20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,</a:t>
            </a:r>
            <a:r>
              <a:rPr lang="en-US" sz="2000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continue</a:t>
            </a:r>
            <a:r>
              <a:rPr lang="en-US" sz="20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,</a:t>
            </a:r>
            <a:r>
              <a:rPr lang="en-US" sz="2000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return </a:t>
            </a:r>
            <a:r>
              <a:rPr lang="en-US" sz="20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។ </a:t>
            </a:r>
            <a:endParaRPr lang="en-US" sz="2000" dirty="0">
              <a:solidFill>
                <a:srgbClr val="002060"/>
              </a:solidFill>
              <a:latin typeface="Khmer OS Battambang" panose="02000500000000020004" pitchFamily="2" charset="77"/>
              <a:cs typeface="Khmer OS Battambang" panose="02000500000000020004" pitchFamily="2" charset="77"/>
            </a:endParaRPr>
          </a:p>
          <a:p>
            <a:pPr marL="800100" lvl="1" indent="-342900" algn="l">
              <a:lnSpc>
                <a:spcPct val="150000"/>
              </a:lnSpc>
              <a:spcBef>
                <a:spcPts val="1500"/>
              </a:spcBef>
              <a:buFont typeface="Wingdings" pitchFamily="2" charset="2"/>
              <a:buChar char="v"/>
            </a:pPr>
            <a:r>
              <a:rPr lang="en-US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break:</a:t>
            </a:r>
            <a:r>
              <a:rPr lang="en-US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</a:t>
            </a:r>
            <a:r>
              <a:rPr lang="en-US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គឺជាការចាក</a:t>
            </a:r>
            <a:r>
              <a:rPr lang="km-KH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ចេញពីរង្វិលជុំបច្ចុប្បន្នភ្លាមៗ</a:t>
            </a:r>
            <a:r>
              <a:rPr lang="en-US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(for, while, do-</a:t>
            </a:r>
            <a:r>
              <a:rPr lang="en-US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while,switch</a:t>
            </a:r>
            <a:r>
              <a:rPr lang="en-US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)។</a:t>
            </a:r>
          </a:p>
          <a:p>
            <a:pPr marL="800100" lvl="1" indent="-342900" algn="l">
              <a:lnSpc>
                <a:spcPct val="150000"/>
              </a:lnSpc>
              <a:spcBef>
                <a:spcPts val="1500"/>
              </a:spcBef>
              <a:buFont typeface="Wingdings" pitchFamily="2" charset="2"/>
              <a:buChar char="v"/>
            </a:pPr>
            <a:r>
              <a:rPr lang="en-US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continue: </a:t>
            </a:r>
            <a:r>
              <a:rPr lang="en-US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គឺជាការរំលងនូវការធ្វើឡើងវិញនៃ</a:t>
            </a:r>
            <a:r>
              <a:rPr lang="en-US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loop </a:t>
            </a:r>
            <a:r>
              <a:rPr lang="en-US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នាពេលបច្ចុប្បន្ន</a:t>
            </a:r>
            <a:r>
              <a:rPr lang="en-US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</a:t>
            </a:r>
            <a:r>
              <a:rPr lang="en-US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ហើយបន្តទៅការធ្វើឡើងវិញបន្ទាប</a:t>
            </a:r>
            <a:r>
              <a:rPr lang="en-US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់។</a:t>
            </a:r>
          </a:p>
          <a:p>
            <a:pPr marL="800100" lvl="1" indent="-342900" algn="l">
              <a:lnSpc>
                <a:spcPct val="150000"/>
              </a:lnSpc>
              <a:spcBef>
                <a:spcPts val="1500"/>
              </a:spcBef>
              <a:buFont typeface="Wingdings" pitchFamily="2" charset="2"/>
              <a:buChar char="v"/>
            </a:pPr>
            <a:r>
              <a:rPr lang="en-US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return: </a:t>
            </a:r>
            <a:r>
              <a:rPr lang="en-US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គឺជាការចាកចេញពី</a:t>
            </a:r>
            <a:r>
              <a:rPr lang="en-US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method </a:t>
            </a:r>
            <a:r>
              <a:rPr lang="en-US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ទាំងស្រុង</a:t>
            </a:r>
            <a:r>
              <a:rPr lang="en-US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</a:t>
            </a:r>
            <a:r>
              <a:rPr lang="en-US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ហើយផ្ទេរការគ្រប់គ្រងត្រឡប់ទៅ</a:t>
            </a:r>
            <a:r>
              <a:rPr lang="en-US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method </a:t>
            </a:r>
            <a:r>
              <a:rPr lang="en-US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ដែលបានហៅមក</a:t>
            </a:r>
            <a:r>
              <a:rPr lang="en-US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</a:t>
            </a:r>
            <a:r>
              <a:rPr lang="en-US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ឫផ្តល់តម្លៃត្រឡប់ទៅវិញ</a:t>
            </a:r>
            <a:r>
              <a:rPr lang="en-US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។</a:t>
            </a:r>
            <a:endParaRPr lang="km-KH" dirty="0">
              <a:solidFill>
                <a:srgbClr val="0070C0"/>
              </a:solidFill>
              <a:latin typeface="Khmer OS Battambang" panose="02000500000000020004" pitchFamily="2" charset="77"/>
              <a:cs typeface="Khmer OS Battambang" panose="02000500000000020004" pitchFamily="2" charset="77"/>
            </a:endParaRPr>
          </a:p>
          <a:p>
            <a:pPr marL="800100" lvl="1" indent="-342900" algn="l">
              <a:lnSpc>
                <a:spcPct val="150000"/>
              </a:lnSpc>
              <a:spcBef>
                <a:spcPts val="1500"/>
              </a:spcBef>
              <a:buFont typeface="Wingdings" pitchFamily="2" charset="2"/>
              <a:buChar char="v"/>
            </a:pPr>
            <a:endParaRPr lang="en-US" dirty="0">
              <a:solidFill>
                <a:srgbClr val="0070C0"/>
              </a:solidFill>
              <a:latin typeface="Khmer OS Battambang" panose="02000500000000020004" pitchFamily="2" charset="77"/>
              <a:cs typeface="Khmer OS Battambang" panose="02000500000000020004" pitchFamily="2" charset="77"/>
            </a:endParaRPr>
          </a:p>
          <a:p>
            <a:pPr algn="l">
              <a:lnSpc>
                <a:spcPct val="100000"/>
              </a:lnSpc>
              <a:spcBef>
                <a:spcPts val="400"/>
              </a:spcBef>
            </a:pPr>
            <a:r>
              <a:rPr lang="en-US" sz="20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	</a:t>
            </a:r>
            <a:endParaRPr lang="en-US" sz="1800" dirty="0">
              <a:solidFill>
                <a:srgbClr val="0070C0"/>
              </a:solidFill>
              <a:latin typeface="Khmer OS Battambang" panose="02000500000000020004" pitchFamily="2" charset="77"/>
              <a:cs typeface="Khmer OS Battambang" panose="02000500000000020004" pitchFamily="2" charset="77"/>
            </a:endParaRPr>
          </a:p>
        </p:txBody>
      </p:sp>
    </p:spTree>
    <p:extLst>
      <p:ext uri="{BB962C8B-B14F-4D97-AF65-F5344CB8AC3E}">
        <p14:creationId xmlns:p14="http://schemas.microsoft.com/office/powerpoint/2010/main" val="2293879003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93D9452-9F9A-DC4B-36BB-214450ADDA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55EB448-32EB-5468-5E07-480F5789139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701800" y="119781"/>
            <a:ext cx="9144000" cy="789373"/>
          </a:xfrm>
        </p:spPr>
        <p:txBody>
          <a:bodyPr>
            <a:normAutofit/>
          </a:bodyPr>
          <a:lstStyle/>
          <a:p>
            <a:pPr algn="l"/>
            <a:r>
              <a:rPr lang="en-US" sz="3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Exception Handling</a:t>
            </a:r>
            <a:endParaRPr lang="en-KH" sz="3600" dirty="0">
              <a:solidFill>
                <a:srgbClr val="002060"/>
              </a:solidFill>
              <a:latin typeface="Khmer OS Battambang" panose="02000500000000020004" pitchFamily="2" charset="77"/>
              <a:cs typeface="Khmer OS Battambang" panose="02000500000000020004" pitchFamily="2" charset="77"/>
            </a:endParaRP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C0660190-D9DF-7E5F-6EDB-D13428B05469}"/>
              </a:ext>
            </a:extLst>
          </p:cNvPr>
          <p:cNvCxnSpPr/>
          <p:nvPr/>
        </p:nvCxnSpPr>
        <p:spPr>
          <a:xfrm>
            <a:off x="0" y="1050468"/>
            <a:ext cx="12192000" cy="0"/>
          </a:xfrm>
          <a:prstGeom prst="line">
            <a:avLst/>
          </a:prstGeom>
          <a:ln w="57150">
            <a:solidFill>
              <a:srgbClr val="D49B0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E07CE588-736C-5A5C-F8EE-10B6BD975E0A}"/>
              </a:ext>
            </a:extLst>
          </p:cNvPr>
          <p:cNvCxnSpPr>
            <a:cxnSpLocks/>
          </p:cNvCxnSpPr>
          <p:nvPr/>
        </p:nvCxnSpPr>
        <p:spPr>
          <a:xfrm>
            <a:off x="0" y="979812"/>
            <a:ext cx="12192000" cy="0"/>
          </a:xfrm>
          <a:prstGeom prst="line">
            <a:avLst/>
          </a:prstGeom>
          <a:ln w="57150">
            <a:solidFill>
              <a:srgbClr val="1C27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7" name="Picture 46" descr="A blue circle with a yellow and white bird in it&#10;&#10;AI-generated content may be incorrect.">
            <a:extLst>
              <a:ext uri="{FF2B5EF4-FFF2-40B4-BE49-F238E27FC236}">
                <a16:creationId xmlns:a16="http://schemas.microsoft.com/office/drawing/2014/main" id="{53BABEC3-2A4E-AFC2-4D04-6A15F080C17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5438" y="219712"/>
            <a:ext cx="606500" cy="606500"/>
          </a:xfrm>
          <a:prstGeom prst="rect">
            <a:avLst/>
          </a:prstGeom>
        </p:spPr>
      </p:pic>
      <p:sp>
        <p:nvSpPr>
          <p:cNvPr id="7" name="Subtitle 2">
            <a:extLst>
              <a:ext uri="{FF2B5EF4-FFF2-40B4-BE49-F238E27FC236}">
                <a16:creationId xmlns:a16="http://schemas.microsoft.com/office/drawing/2014/main" id="{682314D0-A1BD-8D85-1970-5F94021B248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24192" y="1219212"/>
            <a:ext cx="10954536" cy="5306275"/>
          </a:xfrm>
        </p:spPr>
        <p:txBody>
          <a:bodyPr>
            <a:noAutofit/>
          </a:bodyPr>
          <a:lstStyle/>
          <a:p>
            <a:pPr algn="l">
              <a:lnSpc>
                <a:spcPct val="150000"/>
              </a:lnSpc>
              <a:spcBef>
                <a:spcPts val="1500"/>
              </a:spcBef>
            </a:pPr>
            <a:r>
              <a:rPr lang="en-US" sz="18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​       </a:t>
            </a:r>
            <a:r>
              <a:rPr lang="en-US" sz="20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Exception Handling : </a:t>
            </a:r>
            <a:r>
              <a:rPr lang="en-US" sz="20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គឺជាប្រយោគ</a:t>
            </a:r>
            <a:r>
              <a:rPr lang="en-US" sz="20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Control flow </a:t>
            </a:r>
            <a:r>
              <a:rPr lang="en-US" sz="20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ដែលប្រើប្រាស់សម្រាប់កាន់កាប់ទៅលើ</a:t>
            </a:r>
            <a:r>
              <a:rPr lang="km-KH" sz="20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ព្រឹត្តិការណ៍ដែលមិនចង់បាន ឬមិននឹកស្មានដល់ដែលកើតឡើងកំឡុងពេលដំណើរការកម្មវិធី ហើយរំខានដល់លំហូរធម្មតារបស់វា</a:t>
            </a:r>
            <a:r>
              <a:rPr lang="en-US" sz="20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។ </a:t>
            </a:r>
            <a:r>
              <a:rPr lang="en-US" sz="20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Exception Handling</a:t>
            </a:r>
            <a:r>
              <a:rPr lang="en-US" sz="18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</a:t>
            </a:r>
            <a:r>
              <a:rPr lang="en-US" sz="20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មានដូចជា</a:t>
            </a:r>
            <a:r>
              <a:rPr lang="en-US" sz="20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៖ </a:t>
            </a:r>
            <a:r>
              <a:rPr lang="en-US" sz="2000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try</a:t>
            </a:r>
            <a:r>
              <a:rPr lang="en-US" sz="20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,</a:t>
            </a:r>
            <a:r>
              <a:rPr lang="en-US" sz="2000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catch</a:t>
            </a:r>
            <a:r>
              <a:rPr lang="en-US" sz="20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,</a:t>
            </a:r>
            <a:r>
              <a:rPr lang="en-US" sz="2000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finally</a:t>
            </a:r>
            <a:r>
              <a:rPr lang="en-US" sz="20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, </a:t>
            </a:r>
            <a:r>
              <a:rPr lang="en-US" sz="2000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throw</a:t>
            </a:r>
            <a:r>
              <a:rPr lang="en-US" sz="20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, </a:t>
            </a:r>
            <a:r>
              <a:rPr lang="en-US" sz="2000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throws </a:t>
            </a:r>
            <a:r>
              <a:rPr lang="en-US" sz="20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។ </a:t>
            </a:r>
            <a:endParaRPr lang="en-US" sz="2000" dirty="0">
              <a:solidFill>
                <a:srgbClr val="002060"/>
              </a:solidFill>
              <a:latin typeface="Khmer OS Battambang" panose="02000500000000020004" pitchFamily="2" charset="77"/>
              <a:cs typeface="Khmer OS Battambang" panose="02000500000000020004" pitchFamily="2" charset="77"/>
            </a:endParaRPr>
          </a:p>
          <a:p>
            <a:pPr marL="800100" lvl="1" indent="-342900" algn="l">
              <a:lnSpc>
                <a:spcPct val="150000"/>
              </a:lnSpc>
              <a:spcBef>
                <a:spcPts val="1500"/>
              </a:spcBef>
              <a:buFont typeface="Wingdings" pitchFamily="2" charset="2"/>
              <a:buChar char="v"/>
            </a:pPr>
            <a:r>
              <a:rPr lang="en-US" sz="1800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try :</a:t>
            </a:r>
            <a:r>
              <a:rPr lang="en-US" sz="18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</a:t>
            </a:r>
            <a:r>
              <a:rPr lang="en-US" sz="18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គឺជា</a:t>
            </a:r>
            <a:r>
              <a:rPr lang="km-KH" sz="18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ប្លុក</a:t>
            </a:r>
            <a:r>
              <a:rPr lang="en-US" sz="18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code </a:t>
            </a:r>
            <a:r>
              <a:rPr lang="km-KH" sz="18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ដែលត្រូវបានសាកល្បងសម្រាប់ការលើកលែងក្នុងអំឡុងពេលប្រតិបត្តិ។ ប្រសិនបើករណីលើកលែងកើតឡើង</a:t>
            </a:r>
            <a:r>
              <a:rPr lang="en-US" sz="18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 code </a:t>
            </a:r>
            <a:r>
              <a:rPr lang="km-KH" sz="18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ដែលនៅសល់ក្នុងប្លុកសាកល្បងត្រូវបានរំលង</a:t>
            </a:r>
            <a:r>
              <a:rPr lang="en-US" sz="18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។</a:t>
            </a:r>
          </a:p>
          <a:p>
            <a:pPr marL="800100" lvl="1" indent="-342900" algn="l">
              <a:lnSpc>
                <a:spcPct val="150000"/>
              </a:lnSpc>
              <a:spcBef>
                <a:spcPts val="1500"/>
              </a:spcBef>
              <a:buFont typeface="Wingdings" pitchFamily="2" charset="2"/>
              <a:buChar char="v"/>
            </a:pPr>
            <a:r>
              <a:rPr lang="en-US" sz="1800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catch : </a:t>
            </a:r>
            <a:r>
              <a:rPr lang="en-US" sz="18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គឺជាប្លុក</a:t>
            </a:r>
            <a:r>
              <a:rPr lang="en-US" sz="18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code </a:t>
            </a:r>
            <a:r>
              <a:rPr lang="km-KH" sz="18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ដើម្បីដោះស្រាយប្រសិនបើមានករណីលើកលែងកើតឡើង</a:t>
            </a:r>
            <a:r>
              <a:rPr lang="en-US" sz="18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។</a:t>
            </a:r>
          </a:p>
          <a:p>
            <a:pPr marL="800100" lvl="1" indent="-342900" algn="l">
              <a:lnSpc>
                <a:spcPct val="150000"/>
              </a:lnSpc>
              <a:spcBef>
                <a:spcPts val="1500"/>
              </a:spcBef>
              <a:buFont typeface="Wingdings" pitchFamily="2" charset="2"/>
              <a:buChar char="v"/>
            </a:pPr>
            <a:r>
              <a:rPr lang="en-US" sz="1800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finally : </a:t>
            </a:r>
            <a:r>
              <a:rPr lang="en-US" sz="18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គឺជាប្លុក</a:t>
            </a:r>
            <a:r>
              <a:rPr lang="en-US" sz="18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code </a:t>
            </a:r>
            <a:r>
              <a:rPr lang="km-KH" sz="18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តែងតែត្រូវបានប្រតិបត្តិបន្ទាប់</a:t>
            </a:r>
            <a:r>
              <a:rPr lang="en-US" sz="18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ពីការប្រតិបត្តិនៃប្លុក</a:t>
            </a:r>
            <a:r>
              <a:rPr lang="en-US" sz="18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code </a:t>
            </a:r>
            <a:r>
              <a:rPr lang="en-US" sz="18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របស</a:t>
            </a:r>
            <a:r>
              <a:rPr lang="en-US" sz="18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់ </a:t>
            </a:r>
            <a:r>
              <a:rPr lang="en-US" sz="1800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try</a:t>
            </a:r>
            <a:r>
              <a:rPr lang="en-US" sz="18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</a:t>
            </a:r>
            <a:r>
              <a:rPr lang="en-US" sz="18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និង</a:t>
            </a:r>
            <a:r>
              <a:rPr lang="en-US" sz="18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</a:t>
            </a:r>
            <a:r>
              <a:rPr lang="en-US" sz="1800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catch</a:t>
            </a:r>
            <a:r>
              <a:rPr lang="en-US" sz="18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។</a:t>
            </a:r>
          </a:p>
          <a:p>
            <a:pPr marL="800100" lvl="1" indent="-342900" algn="l">
              <a:lnSpc>
                <a:spcPct val="150000"/>
              </a:lnSpc>
              <a:spcBef>
                <a:spcPts val="1500"/>
              </a:spcBef>
              <a:buFont typeface="Wingdings" pitchFamily="2" charset="2"/>
              <a:buChar char="v"/>
            </a:pPr>
            <a:r>
              <a:rPr lang="en-US" sz="1800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throw​: </a:t>
            </a:r>
            <a:r>
              <a:rPr lang="en-US" sz="18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គឺជាប្លុក</a:t>
            </a:r>
            <a:r>
              <a:rPr lang="en-US" sz="18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code </a:t>
            </a:r>
            <a:r>
              <a:rPr lang="km-KH" sz="18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ប្រើដើម្បីបោះ</a:t>
            </a:r>
            <a:r>
              <a:rPr lang="en-US" sz="18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ការកើតឡើងនូវ</a:t>
            </a:r>
            <a:r>
              <a:rPr lang="km-KH" sz="18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ករណីលើកលែងមួយយ៉ាងច្បាស់លាស់ពីក្នុង</a:t>
            </a:r>
            <a:r>
              <a:rPr lang="en-US" sz="18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  </a:t>
            </a:r>
            <a:r>
              <a:rPr lang="en-US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code។</a:t>
            </a:r>
          </a:p>
          <a:p>
            <a:pPr marL="800100" lvl="1" indent="-342900" algn="l">
              <a:lnSpc>
                <a:spcPct val="150000"/>
              </a:lnSpc>
              <a:spcBef>
                <a:spcPts val="1500"/>
              </a:spcBef>
              <a:buFont typeface="Wingdings" pitchFamily="2" charset="2"/>
              <a:buChar char="v"/>
            </a:pPr>
            <a:r>
              <a:rPr lang="en-US" sz="1800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throws : </a:t>
            </a:r>
            <a:r>
              <a:rPr lang="en-US" sz="18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គឺជាប្លុក</a:t>
            </a:r>
            <a:r>
              <a:rPr lang="en-US" sz="18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code </a:t>
            </a:r>
            <a:r>
              <a:rPr lang="en-US" sz="18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ប្រើក្នុងការបញ្ជាក់លើ</a:t>
            </a:r>
            <a:r>
              <a:rPr lang="en-US" sz="18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method </a:t>
            </a:r>
            <a:r>
              <a:rPr lang="en-US" sz="18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ដើម្បីប្រកាសថា</a:t>
            </a:r>
            <a:r>
              <a:rPr lang="en-US" sz="18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method </a:t>
            </a:r>
            <a:r>
              <a:rPr lang="en-US" sz="18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អាចបណ្តាលឲ្យករណីលើកលែងជាក់លាក់មួយ</a:t>
            </a:r>
            <a:r>
              <a:rPr lang="en-US" sz="18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</a:t>
            </a:r>
            <a:r>
              <a:rPr lang="en-US" sz="18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ឫច្រើនកើតឡើងក្នុងពេលវាធ្វើប្រតិបត្តិការ</a:t>
            </a:r>
            <a:r>
              <a:rPr lang="en-US" sz="18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។</a:t>
            </a:r>
            <a:endParaRPr lang="km-KH" sz="1800" dirty="0">
              <a:solidFill>
                <a:srgbClr val="0070C0"/>
              </a:solidFill>
              <a:latin typeface="Khmer OS Battambang" panose="02000500000000020004" pitchFamily="2" charset="77"/>
              <a:cs typeface="Khmer OS Battambang" panose="02000500000000020004" pitchFamily="2" charset="77"/>
            </a:endParaRPr>
          </a:p>
          <a:p>
            <a:pPr marL="800100" lvl="1" indent="-342900" algn="l">
              <a:lnSpc>
                <a:spcPct val="150000"/>
              </a:lnSpc>
              <a:spcBef>
                <a:spcPts val="1500"/>
              </a:spcBef>
              <a:buFont typeface="Wingdings" pitchFamily="2" charset="2"/>
              <a:buChar char="v"/>
            </a:pPr>
            <a:endParaRPr lang="en-US" dirty="0">
              <a:solidFill>
                <a:srgbClr val="0070C0"/>
              </a:solidFill>
              <a:latin typeface="Khmer OS Battambang" panose="02000500000000020004" pitchFamily="2" charset="77"/>
              <a:cs typeface="Khmer OS Battambang" panose="02000500000000020004" pitchFamily="2" charset="77"/>
            </a:endParaRPr>
          </a:p>
          <a:p>
            <a:pPr algn="l">
              <a:lnSpc>
                <a:spcPct val="100000"/>
              </a:lnSpc>
              <a:spcBef>
                <a:spcPts val="400"/>
              </a:spcBef>
            </a:pPr>
            <a:r>
              <a:rPr lang="en-US" sz="20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	</a:t>
            </a:r>
            <a:endParaRPr lang="en-US" sz="1800" dirty="0">
              <a:solidFill>
                <a:srgbClr val="0070C0"/>
              </a:solidFill>
              <a:latin typeface="Khmer OS Battambang" panose="02000500000000020004" pitchFamily="2" charset="77"/>
              <a:cs typeface="Khmer OS Battambang" panose="02000500000000020004" pitchFamily="2" charset="77"/>
            </a:endParaRPr>
          </a:p>
        </p:txBody>
      </p:sp>
    </p:spTree>
    <p:extLst>
      <p:ext uri="{BB962C8B-B14F-4D97-AF65-F5344CB8AC3E}">
        <p14:creationId xmlns:p14="http://schemas.microsoft.com/office/powerpoint/2010/main" val="1722326992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3FD39B0-55A8-EF29-D0E7-12C81B2BC1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FB7C63-13F4-0968-3E42-E219D77CB15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701800" y="119781"/>
            <a:ext cx="9144000" cy="789373"/>
          </a:xfrm>
        </p:spPr>
        <p:txBody>
          <a:bodyPr>
            <a:normAutofit/>
          </a:bodyPr>
          <a:lstStyle/>
          <a:p>
            <a:pPr algn="l"/>
            <a:r>
              <a:rPr lang="en-US" sz="3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static</a:t>
            </a:r>
            <a:endParaRPr lang="en-KH" sz="3600" dirty="0">
              <a:solidFill>
                <a:srgbClr val="002060"/>
              </a:solidFill>
              <a:latin typeface="Khmer OS Battambang" panose="02000500000000020004" pitchFamily="2" charset="77"/>
              <a:cs typeface="Khmer OS Battambang" panose="02000500000000020004" pitchFamily="2" charset="77"/>
            </a:endParaRP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93A601CB-85BF-18EB-C690-DE4B6D0292D7}"/>
              </a:ext>
            </a:extLst>
          </p:cNvPr>
          <p:cNvCxnSpPr/>
          <p:nvPr/>
        </p:nvCxnSpPr>
        <p:spPr>
          <a:xfrm>
            <a:off x="0" y="1050468"/>
            <a:ext cx="12192000" cy="0"/>
          </a:xfrm>
          <a:prstGeom prst="line">
            <a:avLst/>
          </a:prstGeom>
          <a:ln w="57150">
            <a:solidFill>
              <a:srgbClr val="D49B0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427FCE87-CC11-8CDF-4493-A31295726239}"/>
              </a:ext>
            </a:extLst>
          </p:cNvPr>
          <p:cNvCxnSpPr>
            <a:cxnSpLocks/>
          </p:cNvCxnSpPr>
          <p:nvPr/>
        </p:nvCxnSpPr>
        <p:spPr>
          <a:xfrm>
            <a:off x="0" y="979812"/>
            <a:ext cx="12192000" cy="0"/>
          </a:xfrm>
          <a:prstGeom prst="line">
            <a:avLst/>
          </a:prstGeom>
          <a:ln w="57150">
            <a:solidFill>
              <a:srgbClr val="1C27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7" name="Picture 46" descr="A blue circle with a yellow and white bird in it&#10;&#10;AI-generated content may be incorrect.">
            <a:extLst>
              <a:ext uri="{FF2B5EF4-FFF2-40B4-BE49-F238E27FC236}">
                <a16:creationId xmlns:a16="http://schemas.microsoft.com/office/drawing/2014/main" id="{AE6DF9C8-F40B-639D-ACCF-B99AE41DADD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5438" y="219712"/>
            <a:ext cx="606500" cy="606500"/>
          </a:xfrm>
          <a:prstGeom prst="rect">
            <a:avLst/>
          </a:prstGeom>
        </p:spPr>
      </p:pic>
      <p:sp>
        <p:nvSpPr>
          <p:cNvPr id="7" name="Subtitle 2">
            <a:extLst>
              <a:ext uri="{FF2B5EF4-FFF2-40B4-BE49-F238E27FC236}">
                <a16:creationId xmlns:a16="http://schemas.microsoft.com/office/drawing/2014/main" id="{08FCF2BE-DF88-72E5-135E-297DF666BB9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24192" y="1219212"/>
            <a:ext cx="10954536" cy="5306275"/>
          </a:xfrm>
        </p:spPr>
        <p:txBody>
          <a:bodyPr>
            <a:noAutofit/>
          </a:bodyPr>
          <a:lstStyle/>
          <a:p>
            <a:pPr algn="l">
              <a:lnSpc>
                <a:spcPct val="150000"/>
              </a:lnSpc>
              <a:spcBef>
                <a:spcPts val="1500"/>
              </a:spcBef>
            </a:pPr>
            <a:r>
              <a:rPr lang="en-US" sz="18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​    </a:t>
            </a:r>
            <a:r>
              <a:rPr lang="en-US" sz="20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static : </a:t>
            </a:r>
            <a:r>
              <a:rPr lang="en-US" sz="20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គឺជា</a:t>
            </a:r>
            <a:r>
              <a:rPr lang="en-US" sz="20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 Control flow </a:t>
            </a:r>
            <a:r>
              <a:rPr lang="en-US" sz="20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ដែលប្រើប្រាស់ក្នុងការកំណត់លំដាប់លំដោយនៃជំហាននីមួយ</a:t>
            </a:r>
            <a:r>
              <a:rPr lang="en-US" sz="20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ៗ​</a:t>
            </a:r>
            <a:r>
              <a:rPr lang="en-US" sz="20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សម្រាប់ការផ្ទុកទិន្នន័យតែម្តងគត</a:t>
            </a:r>
            <a:r>
              <a:rPr lang="en-US" sz="20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់ </a:t>
            </a:r>
            <a:r>
              <a:rPr lang="en-US" sz="20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និងការចាប់ផ្តើមនៃ</a:t>
            </a:r>
            <a:r>
              <a:rPr lang="en-US" sz="20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class </a:t>
            </a:r>
            <a:r>
              <a:rPr lang="en-US" sz="20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មួយដែលកើតឡើងនៅពេល</a:t>
            </a:r>
            <a:r>
              <a:rPr lang="en-US" sz="20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JVM </a:t>
            </a:r>
            <a:r>
              <a:rPr lang="en-US" sz="20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ត្រូវការប្រើប្រាស់វាដំបូង</a:t>
            </a:r>
            <a:r>
              <a:rPr lang="en-US" sz="20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។</a:t>
            </a:r>
          </a:p>
          <a:p>
            <a:pPr algn="l">
              <a:lnSpc>
                <a:spcPct val="150000"/>
              </a:lnSpc>
              <a:spcBef>
                <a:spcPts val="1500"/>
              </a:spcBef>
            </a:pPr>
            <a:r>
              <a:rPr lang="en-US" sz="20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   </a:t>
            </a:r>
            <a:r>
              <a:rPr lang="en-US" sz="2000" dirty="0" err="1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ជំហាននៃ</a:t>
            </a:r>
            <a:r>
              <a:rPr lang="en-US" sz="20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static Control Flow:</a:t>
            </a:r>
            <a:endParaRPr lang="km-KH" sz="2000" dirty="0">
              <a:solidFill>
                <a:srgbClr val="002060"/>
              </a:solidFill>
              <a:latin typeface="Khmer OS Battambang" panose="02000500000000020004" pitchFamily="2" charset="77"/>
              <a:cs typeface="Khmer OS Battambang" panose="02000500000000020004" pitchFamily="2" charset="77"/>
            </a:endParaRPr>
          </a:p>
          <a:p>
            <a:pPr marL="800100" lvl="1" indent="-342900" algn="l">
              <a:lnSpc>
                <a:spcPct val="150000"/>
              </a:lnSpc>
              <a:spcBef>
                <a:spcPts val="1500"/>
              </a:spcBef>
              <a:buFont typeface="Wingdings" pitchFamily="2" charset="2"/>
              <a:buChar char="Ø"/>
            </a:pPr>
            <a:r>
              <a:rPr lang="en-US" dirty="0" err="1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ការកំណត់អត្តសញ្ញាណ</a:t>
            </a:r>
            <a:r>
              <a:rPr lang="en-US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: JVM </a:t>
            </a:r>
            <a:r>
              <a:rPr lang="en-US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ធ្វើការស្កេន</a:t>
            </a:r>
            <a:r>
              <a:rPr lang="en-US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class </a:t>
            </a:r>
            <a:r>
              <a:rPr lang="en-US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ពីលើចុះក្រោម</a:t>
            </a:r>
            <a:r>
              <a:rPr lang="en-US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</a:t>
            </a:r>
            <a:r>
              <a:rPr lang="en-US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ហើយធ្វើការកំណត់នូវអត្តសញ្ញាណរាល</a:t>
            </a:r>
            <a:r>
              <a:rPr lang="en-US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់ static variables, static blocks </a:t>
            </a:r>
            <a:r>
              <a:rPr lang="en-US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និង</a:t>
            </a:r>
            <a:r>
              <a:rPr lang="en-US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static methods។</a:t>
            </a:r>
          </a:p>
          <a:p>
            <a:pPr marL="800100" lvl="1" indent="-342900" algn="l">
              <a:lnSpc>
                <a:spcPct val="150000"/>
              </a:lnSpc>
              <a:spcBef>
                <a:spcPts val="1500"/>
              </a:spcBef>
              <a:buFont typeface="Wingdings" pitchFamily="2" charset="2"/>
              <a:buChar char="Ø"/>
            </a:pPr>
            <a:r>
              <a:rPr lang="en-US" dirty="0" err="1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ការចាប់ផ្តើម</a:t>
            </a:r>
            <a:r>
              <a:rPr lang="en-US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:</a:t>
            </a:r>
          </a:p>
          <a:p>
            <a:pPr marL="1257300" lvl="2" indent="-342900" algn="l">
              <a:lnSpc>
                <a:spcPct val="100000"/>
              </a:lnSpc>
              <a:spcBef>
                <a:spcPts val="1500"/>
              </a:spcBef>
              <a:buFont typeface="+mj-lt"/>
              <a:buAutoNum type="arabicPeriod"/>
            </a:pPr>
            <a:r>
              <a:rPr lang="en-US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Static variables </a:t>
            </a:r>
            <a:r>
              <a:rPr lang="en-US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ត្រូវបានចាត់តាំងតម្លៃចាប់ផ្តើម</a:t>
            </a:r>
            <a:r>
              <a:rPr lang="en-US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។</a:t>
            </a:r>
          </a:p>
          <a:p>
            <a:pPr marL="1257300" lvl="2" indent="-342900" algn="l">
              <a:lnSpc>
                <a:spcPct val="100000"/>
              </a:lnSpc>
              <a:spcBef>
                <a:spcPts val="1500"/>
              </a:spcBef>
              <a:buFont typeface="+mj-lt"/>
              <a:buAutoNum type="arabicPeriod"/>
            </a:pPr>
            <a:r>
              <a:rPr lang="en-US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ប្លុក</a:t>
            </a:r>
            <a:r>
              <a:rPr lang="en-US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Static </a:t>
            </a:r>
            <a:r>
              <a:rPr lang="en-US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បានប្រតិបត្តិទៅតាមលំដាប់ដែលបានលិចឡើងពីប្រភព</a:t>
            </a:r>
            <a:r>
              <a:rPr lang="en-US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code។</a:t>
            </a:r>
          </a:p>
          <a:p>
            <a:pPr marL="742950" lvl="1" indent="-285750" algn="l">
              <a:lnSpc>
                <a:spcPct val="150000"/>
              </a:lnSpc>
              <a:spcBef>
                <a:spcPts val="1500"/>
              </a:spcBef>
              <a:buFont typeface="Wingdings" pitchFamily="2" charset="2"/>
              <a:buChar char="Ø"/>
            </a:pPr>
            <a:r>
              <a:rPr lang="en-US" dirty="0" err="1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ការប្រតិបត្តិ</a:t>
            </a:r>
            <a:r>
              <a:rPr lang="en-US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:​ </a:t>
            </a:r>
            <a:r>
              <a:rPr lang="en-US" sz="18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ចាប់ផ្តើមប្រតិបត្តិ</a:t>
            </a:r>
            <a:r>
              <a:rPr lang="en-US" sz="18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method public static void main(String[] </a:t>
            </a:r>
            <a:r>
              <a:rPr lang="en-US" sz="18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args</a:t>
            </a:r>
            <a:r>
              <a:rPr lang="en-US" sz="18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) </a:t>
            </a:r>
            <a:r>
              <a:rPr lang="en-US" sz="18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ដែលជាចំណុចចូលកម្មវិធី</a:t>
            </a:r>
            <a:r>
              <a:rPr lang="en-US" sz="18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។</a:t>
            </a:r>
            <a:endParaRPr lang="en-US" sz="1800" dirty="0">
              <a:solidFill>
                <a:srgbClr val="002060"/>
              </a:solidFill>
              <a:latin typeface="Khmer OS Battambang" panose="02000500000000020004" pitchFamily="2" charset="77"/>
              <a:cs typeface="Khmer OS Battambang" panose="02000500000000020004" pitchFamily="2" charset="77"/>
            </a:endParaRPr>
          </a:p>
        </p:txBody>
      </p:sp>
    </p:spTree>
    <p:extLst>
      <p:ext uri="{BB962C8B-B14F-4D97-AF65-F5344CB8AC3E}">
        <p14:creationId xmlns:p14="http://schemas.microsoft.com/office/powerpoint/2010/main" val="2065087295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0D83A6A-539A-ADDB-D8E0-9D0E2FD5A3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E54139-28EB-EBFC-7407-F9177D28910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701800" y="119781"/>
            <a:ext cx="9144000" cy="789373"/>
          </a:xfrm>
        </p:spPr>
        <p:txBody>
          <a:bodyPr>
            <a:normAutofit/>
          </a:bodyPr>
          <a:lstStyle/>
          <a:p>
            <a:pPr algn="l"/>
            <a:r>
              <a:rPr lang="en-US" sz="3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Instance</a:t>
            </a:r>
            <a:endParaRPr lang="en-KH" sz="3600" dirty="0">
              <a:solidFill>
                <a:srgbClr val="002060"/>
              </a:solidFill>
              <a:latin typeface="Khmer OS Battambang" panose="02000500000000020004" pitchFamily="2" charset="77"/>
              <a:cs typeface="Khmer OS Battambang" panose="02000500000000020004" pitchFamily="2" charset="77"/>
            </a:endParaRP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B59A6992-F556-F5B6-31B8-7C0B59BFA0C1}"/>
              </a:ext>
            </a:extLst>
          </p:cNvPr>
          <p:cNvCxnSpPr/>
          <p:nvPr/>
        </p:nvCxnSpPr>
        <p:spPr>
          <a:xfrm>
            <a:off x="0" y="1050468"/>
            <a:ext cx="12192000" cy="0"/>
          </a:xfrm>
          <a:prstGeom prst="line">
            <a:avLst/>
          </a:prstGeom>
          <a:ln w="57150">
            <a:solidFill>
              <a:srgbClr val="D49B0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C5698FBD-3CB5-D1FD-7203-611EFDA65D1E}"/>
              </a:ext>
            </a:extLst>
          </p:cNvPr>
          <p:cNvCxnSpPr>
            <a:cxnSpLocks/>
          </p:cNvCxnSpPr>
          <p:nvPr/>
        </p:nvCxnSpPr>
        <p:spPr>
          <a:xfrm>
            <a:off x="0" y="979812"/>
            <a:ext cx="12192000" cy="0"/>
          </a:xfrm>
          <a:prstGeom prst="line">
            <a:avLst/>
          </a:prstGeom>
          <a:ln w="57150">
            <a:solidFill>
              <a:srgbClr val="1C27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7" name="Picture 46" descr="A blue circle with a yellow and white bird in it&#10;&#10;AI-generated content may be incorrect.">
            <a:extLst>
              <a:ext uri="{FF2B5EF4-FFF2-40B4-BE49-F238E27FC236}">
                <a16:creationId xmlns:a16="http://schemas.microsoft.com/office/drawing/2014/main" id="{7A81B597-8102-C362-5D51-B2168AE349A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5438" y="219712"/>
            <a:ext cx="606500" cy="606500"/>
          </a:xfrm>
          <a:prstGeom prst="rect">
            <a:avLst/>
          </a:prstGeom>
        </p:spPr>
      </p:pic>
      <p:sp>
        <p:nvSpPr>
          <p:cNvPr id="7" name="Subtitle 2">
            <a:extLst>
              <a:ext uri="{FF2B5EF4-FFF2-40B4-BE49-F238E27FC236}">
                <a16:creationId xmlns:a16="http://schemas.microsoft.com/office/drawing/2014/main" id="{89C3E948-4D3B-CF13-506C-6C86FEAFC05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24192" y="1219212"/>
            <a:ext cx="10954536" cy="5306275"/>
          </a:xfrm>
        </p:spPr>
        <p:txBody>
          <a:bodyPr>
            <a:noAutofit/>
          </a:bodyPr>
          <a:lstStyle/>
          <a:p>
            <a:pPr algn="l">
              <a:lnSpc>
                <a:spcPct val="150000"/>
              </a:lnSpc>
              <a:spcBef>
                <a:spcPts val="1500"/>
              </a:spcBef>
            </a:pPr>
            <a:r>
              <a:rPr lang="en-US" sz="18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​     </a:t>
            </a:r>
            <a:r>
              <a:rPr lang="en-US" sz="20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Instance : </a:t>
            </a:r>
            <a:r>
              <a:rPr lang="en-US" sz="20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គឺជាជំហាននៃដំណើរការក្នុងការចាប់ផ្តើមរបស</a:t>
            </a:r>
            <a:r>
              <a:rPr lang="en-US" sz="20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់ object​ </a:t>
            </a:r>
            <a:r>
              <a:rPr lang="en-US" sz="20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មួយក្នុងកម្មវីធី</a:t>
            </a:r>
            <a:r>
              <a:rPr lang="en-US" sz="20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</a:t>
            </a:r>
            <a:r>
              <a:rPr lang="en-US" sz="20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នៅពេលដែលវាត្រូវបានបង្កើតឡើង</a:t>
            </a:r>
            <a:r>
              <a:rPr lang="en-US" sz="20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។</a:t>
            </a:r>
          </a:p>
          <a:p>
            <a:pPr algn="l">
              <a:lnSpc>
                <a:spcPct val="100000"/>
              </a:lnSpc>
              <a:spcBef>
                <a:spcPts val="1500"/>
              </a:spcBef>
            </a:pPr>
            <a:r>
              <a:rPr lang="en-US" sz="20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    </a:t>
            </a:r>
            <a:r>
              <a:rPr lang="en-US" sz="2000" dirty="0" err="1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លំដាប់លំដោយពេលដែលបង្កើត</a:t>
            </a:r>
            <a:r>
              <a:rPr lang="en-US" sz="20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object:</a:t>
            </a:r>
          </a:p>
          <a:p>
            <a:pPr marL="800100" lvl="1" indent="-342900" algn="l">
              <a:lnSpc>
                <a:spcPct val="150000"/>
              </a:lnSpc>
              <a:spcBef>
                <a:spcPts val="1500"/>
              </a:spcBef>
              <a:buFont typeface="+mj-lt"/>
              <a:buAutoNum type="arabicPeriod"/>
            </a:pPr>
            <a:r>
              <a:rPr lang="en-US" sz="1800" dirty="0" err="1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ការដំណើរការ</a:t>
            </a:r>
            <a:r>
              <a:rPr lang="en-US" sz="18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Static control flow </a:t>
            </a:r>
            <a:r>
              <a:rPr lang="en-US" sz="1800" dirty="0" err="1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មុនគេបង្អស</a:t>
            </a:r>
            <a:r>
              <a:rPr lang="en-US" sz="18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់</a:t>
            </a:r>
            <a:r>
              <a:rPr lang="en-US" sz="18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: JVM </a:t>
            </a:r>
            <a:r>
              <a:rPr lang="en-US" sz="18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ប្រតិបត្តិដំបូងគេបំផុតនូវ</a:t>
            </a:r>
            <a:r>
              <a:rPr lang="en-US" sz="18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Static control flow (static blocks, static variables) </a:t>
            </a:r>
            <a:r>
              <a:rPr lang="en-US" sz="18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សម្រាប</a:t>
            </a:r>
            <a:r>
              <a:rPr lang="en-US" sz="18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់ class​។ </a:t>
            </a:r>
            <a:r>
              <a:rPr lang="en-US" sz="18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ប៉ុន្តែវាប្រតិ</a:t>
            </a:r>
            <a:r>
              <a:rPr lang="en-US" sz="18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​</a:t>
            </a:r>
            <a:r>
              <a:rPr lang="en-US" sz="18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បត្តិតែម្តងប៉ុណ្ណោះ</a:t>
            </a:r>
            <a:r>
              <a:rPr lang="en-US" sz="18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។</a:t>
            </a:r>
          </a:p>
          <a:p>
            <a:pPr marL="800100" lvl="1" indent="-342900" algn="l">
              <a:lnSpc>
                <a:spcPct val="150000"/>
              </a:lnSpc>
              <a:spcBef>
                <a:spcPts val="1500"/>
              </a:spcBef>
              <a:buFont typeface="+mj-lt"/>
              <a:buAutoNum type="arabicPeriod"/>
            </a:pPr>
            <a:r>
              <a:rPr lang="en-US" sz="1800" dirty="0" err="1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ការកំណត់អត្តសញ្ញាណ</a:t>
            </a:r>
            <a:r>
              <a:rPr lang="en-US" sz="18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Instance Member</a:t>
            </a:r>
            <a:r>
              <a:rPr lang="en-US" sz="18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: JVM </a:t>
            </a:r>
            <a:r>
              <a:rPr lang="en-US" sz="18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ស្កេន</a:t>
            </a:r>
            <a:r>
              <a:rPr lang="en-US" sz="18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class </a:t>
            </a:r>
            <a:r>
              <a:rPr lang="en-US" sz="18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ពីលើចុះក្រោមដើម្បីកំណត់អត្តសញ្ញណនូវរាល</a:t>
            </a:r>
            <a:r>
              <a:rPr lang="en-US" sz="18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់ instance variables, instance initializer blocks </a:t>
            </a:r>
            <a:r>
              <a:rPr lang="en-US" sz="18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និង</a:t>
            </a:r>
            <a:r>
              <a:rPr lang="en-US" sz="18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</a:t>
            </a:r>
            <a:r>
              <a:rPr lang="en-US" sz="18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constuctors</a:t>
            </a:r>
            <a:r>
              <a:rPr lang="en-US" sz="18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។ </a:t>
            </a:r>
          </a:p>
          <a:p>
            <a:pPr marL="800100" lvl="1" indent="-342900" algn="l">
              <a:lnSpc>
                <a:spcPct val="150000"/>
              </a:lnSpc>
              <a:spcBef>
                <a:spcPts val="1500"/>
              </a:spcBef>
              <a:buFont typeface="+mj-lt"/>
              <a:buAutoNum type="arabicPeriod"/>
            </a:pPr>
            <a:r>
              <a:rPr lang="en-US" sz="1800" dirty="0" err="1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ប្លុកនៃ</a:t>
            </a:r>
            <a:r>
              <a:rPr lang="en-US" sz="18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Instance Variable </a:t>
            </a:r>
            <a:r>
              <a:rPr lang="en-US" sz="1800" dirty="0" err="1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និងការចាត់តាំងតម្លៃនៃ</a:t>
            </a:r>
            <a:r>
              <a:rPr lang="en-US" sz="18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Instance variable</a:t>
            </a:r>
            <a:r>
              <a:rPr lang="en-US" sz="18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: </a:t>
            </a:r>
            <a:r>
              <a:rPr lang="en-US" sz="18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ជាការប្រតិបត្តិពីលើចុះក្រោមនូវការចាត់តាំងតម្លៃ</a:t>
            </a:r>
            <a:r>
              <a:rPr lang="en-US" sz="18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​</a:t>
            </a:r>
            <a:r>
              <a:rPr lang="en-US" sz="18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ទៅឲ្យ</a:t>
            </a:r>
            <a:r>
              <a:rPr lang="en-US" sz="18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variable </a:t>
            </a:r>
            <a:r>
              <a:rPr lang="en-US" sz="18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ដែលបាន</a:t>
            </a:r>
            <a:r>
              <a:rPr lang="en-US" sz="18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Instance​ </a:t>
            </a:r>
            <a:r>
              <a:rPr lang="en-US" sz="18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រួច</a:t>
            </a:r>
            <a:r>
              <a:rPr lang="en-US" sz="18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​ </a:t>
            </a:r>
            <a:r>
              <a:rPr lang="en-US" sz="18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និងប្លុកកម្មវិធីចាប់ផ្តើម</a:t>
            </a:r>
            <a:r>
              <a:rPr lang="en-US" sz="18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Instance។</a:t>
            </a:r>
          </a:p>
          <a:p>
            <a:pPr marL="800100" lvl="1" indent="-342900" algn="l">
              <a:lnSpc>
                <a:spcPct val="150000"/>
              </a:lnSpc>
              <a:spcBef>
                <a:spcPts val="1500"/>
              </a:spcBef>
              <a:buFont typeface="+mj-lt"/>
              <a:buAutoNum type="arabicPeriod"/>
            </a:pPr>
            <a:r>
              <a:rPr lang="en-US" sz="1800" dirty="0" err="1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ការប្រតិបត្តិ</a:t>
            </a:r>
            <a:r>
              <a:rPr lang="en-US" sz="18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Constructor</a:t>
            </a:r>
            <a:r>
              <a:rPr lang="en-US" sz="18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: </a:t>
            </a:r>
            <a:r>
              <a:rPr lang="en-US" sz="18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ជាការប្រតិបត្តិចុងក្រោយបំផុតនូវ</a:t>
            </a:r>
            <a:r>
              <a:rPr lang="en-US" sz="18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Constructor </a:t>
            </a:r>
            <a:r>
              <a:rPr lang="en-US" sz="18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សម្រាប</a:t>
            </a:r>
            <a:r>
              <a:rPr lang="en-US" sz="18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់ object </a:t>
            </a:r>
            <a:r>
              <a:rPr lang="en-US" sz="18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ជាក់លាក់ដែលនឹងត្រូវបានបង្កើត</a:t>
            </a:r>
            <a:r>
              <a:rPr lang="en-US" sz="18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។</a:t>
            </a:r>
          </a:p>
        </p:txBody>
      </p:sp>
    </p:spTree>
    <p:extLst>
      <p:ext uri="{BB962C8B-B14F-4D97-AF65-F5344CB8AC3E}">
        <p14:creationId xmlns:p14="http://schemas.microsoft.com/office/powerpoint/2010/main" val="1220872530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773D5F2-0FC7-2AE7-5D2B-89C136AF0E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013FFBF-3562-896C-8F30-B482D11AACA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701800" y="119781"/>
            <a:ext cx="9144000" cy="789373"/>
          </a:xfrm>
        </p:spPr>
        <p:txBody>
          <a:bodyPr>
            <a:normAutofit/>
          </a:bodyPr>
          <a:lstStyle/>
          <a:p>
            <a:pPr algn="l"/>
            <a:r>
              <a:rPr lang="en-US" sz="3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Methods </a:t>
            </a:r>
            <a:r>
              <a:rPr lang="en-US" sz="3600" dirty="0" err="1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និងParameters</a:t>
            </a:r>
            <a:endParaRPr lang="en-KH" sz="3600" dirty="0">
              <a:solidFill>
                <a:srgbClr val="002060"/>
              </a:solidFill>
              <a:latin typeface="Khmer OS Battambang" panose="02000500000000020004" pitchFamily="2" charset="77"/>
              <a:cs typeface="Khmer OS Battambang" panose="02000500000000020004" pitchFamily="2" charset="77"/>
            </a:endParaRP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4950AC72-125B-BDCF-3866-5CCD6EDD77BE}"/>
              </a:ext>
            </a:extLst>
          </p:cNvPr>
          <p:cNvCxnSpPr/>
          <p:nvPr/>
        </p:nvCxnSpPr>
        <p:spPr>
          <a:xfrm>
            <a:off x="0" y="1050468"/>
            <a:ext cx="12192000" cy="0"/>
          </a:xfrm>
          <a:prstGeom prst="line">
            <a:avLst/>
          </a:prstGeom>
          <a:ln w="57150">
            <a:solidFill>
              <a:srgbClr val="D49B0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67F4470E-C2C7-2086-84C0-775259A27041}"/>
              </a:ext>
            </a:extLst>
          </p:cNvPr>
          <p:cNvCxnSpPr>
            <a:cxnSpLocks/>
          </p:cNvCxnSpPr>
          <p:nvPr/>
        </p:nvCxnSpPr>
        <p:spPr>
          <a:xfrm>
            <a:off x="0" y="979812"/>
            <a:ext cx="12192000" cy="0"/>
          </a:xfrm>
          <a:prstGeom prst="line">
            <a:avLst/>
          </a:prstGeom>
          <a:ln w="57150">
            <a:solidFill>
              <a:srgbClr val="1C27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7" name="Picture 46" descr="A blue circle with a yellow and white bird in it&#10;&#10;AI-generated content may be incorrect.">
            <a:extLst>
              <a:ext uri="{FF2B5EF4-FFF2-40B4-BE49-F238E27FC236}">
                <a16:creationId xmlns:a16="http://schemas.microsoft.com/office/drawing/2014/main" id="{B7C41771-2614-1A15-D34A-DBD283168F7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5438" y="219712"/>
            <a:ext cx="606500" cy="606500"/>
          </a:xfrm>
          <a:prstGeom prst="rect">
            <a:avLst/>
          </a:prstGeom>
        </p:spPr>
      </p:pic>
      <p:sp>
        <p:nvSpPr>
          <p:cNvPr id="7" name="Subtitle 2">
            <a:extLst>
              <a:ext uri="{FF2B5EF4-FFF2-40B4-BE49-F238E27FC236}">
                <a16:creationId xmlns:a16="http://schemas.microsoft.com/office/drawing/2014/main" id="{371E7C86-87BB-E04B-ACF2-29A9CB612FF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24192" y="1507311"/>
            <a:ext cx="10954536" cy="3528152"/>
          </a:xfrm>
        </p:spPr>
        <p:txBody>
          <a:bodyPr>
            <a:noAutofit/>
          </a:bodyPr>
          <a:lstStyle/>
          <a:p>
            <a:pPr algn="l">
              <a:lnSpc>
                <a:spcPct val="150000"/>
              </a:lnSpc>
              <a:spcBef>
                <a:spcPts val="1500"/>
              </a:spcBef>
            </a:pPr>
            <a:r>
              <a:rPr lang="en-US" sz="18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​       </a:t>
            </a:r>
            <a:r>
              <a:rPr lang="en-US" sz="2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Methods : </a:t>
            </a:r>
            <a:r>
              <a:rPr lang="en-US" sz="26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គឺជាប្លុក</a:t>
            </a:r>
            <a:r>
              <a:rPr lang="en-US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code </a:t>
            </a:r>
            <a:r>
              <a:rPr lang="en-US" sz="26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ដែលអនុវត្តនូវការងារជាក់លាក</a:t>
            </a:r>
            <a:r>
              <a:rPr lang="en-US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់ </a:t>
            </a:r>
            <a:r>
              <a:rPr lang="en-US" sz="26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ហើយវាដំណើរការតែពេលដែលត្រូវបានហៅមកប្រើតែប៉ុណ្ណោះ</a:t>
            </a:r>
            <a:r>
              <a:rPr lang="en-US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។</a:t>
            </a:r>
          </a:p>
          <a:p>
            <a:pPr algn="l">
              <a:lnSpc>
                <a:spcPct val="150000"/>
              </a:lnSpc>
              <a:spcBef>
                <a:spcPts val="1500"/>
              </a:spcBef>
            </a:pPr>
            <a:r>
              <a:rPr lang="en-US" sz="2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    Parameters : </a:t>
            </a:r>
            <a:r>
              <a:rPr lang="en-US" sz="26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គឺជា</a:t>
            </a:r>
            <a:r>
              <a:rPr lang="en-US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Variable </a:t>
            </a:r>
            <a:r>
              <a:rPr lang="en-US" sz="26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មួយដែលបានកំណត់ឡើងនៅក្នុង</a:t>
            </a:r>
            <a:r>
              <a:rPr lang="en-US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method </a:t>
            </a:r>
            <a:r>
              <a:rPr lang="en-US" sz="26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មួយ</a:t>
            </a:r>
            <a:r>
              <a:rPr lang="en-US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 </a:t>
            </a:r>
            <a:r>
              <a:rPr lang="en-US" sz="26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ឫ</a:t>
            </a:r>
            <a:r>
              <a:rPr lang="en-US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constructor </a:t>
            </a:r>
            <a:r>
              <a:rPr lang="en-US" sz="26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មួយ</a:t>
            </a:r>
            <a:r>
              <a:rPr lang="en-US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</a:t>
            </a:r>
            <a:r>
              <a:rPr lang="en-US" sz="26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ដែលមានតួនាទីដាក់ទិន្នន័យសម្រាប់បញ្ជូនទៅឲ្យ</a:t>
            </a:r>
            <a:r>
              <a:rPr lang="en-US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method </a:t>
            </a:r>
            <a:r>
              <a:rPr lang="en-US" sz="26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ឫ</a:t>
            </a:r>
            <a:r>
              <a:rPr lang="en-US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constructor </a:t>
            </a:r>
            <a:r>
              <a:rPr lang="en-US" sz="26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នៅពេលដែល</a:t>
            </a:r>
            <a:r>
              <a:rPr lang="en-US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method </a:t>
            </a:r>
            <a:r>
              <a:rPr lang="en-US" sz="26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ឫ</a:t>
            </a:r>
            <a:r>
              <a:rPr lang="en-US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constructor </a:t>
            </a:r>
            <a:r>
              <a:rPr lang="en-US" sz="26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ត្រូវបានហៅ</a:t>
            </a:r>
            <a:r>
              <a:rPr lang="en-US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។</a:t>
            </a:r>
          </a:p>
        </p:txBody>
      </p:sp>
    </p:spTree>
    <p:extLst>
      <p:ext uri="{BB962C8B-B14F-4D97-AF65-F5344CB8AC3E}">
        <p14:creationId xmlns:p14="http://schemas.microsoft.com/office/powerpoint/2010/main" val="3688718346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F2A4274-3CA8-67B9-E0D9-C1A4ABC4E1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C41E16E-A524-A9BB-51BE-00D5D4BEE19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701800" y="119781"/>
            <a:ext cx="9144000" cy="789373"/>
          </a:xfrm>
        </p:spPr>
        <p:txBody>
          <a:bodyPr>
            <a:normAutofit/>
          </a:bodyPr>
          <a:lstStyle/>
          <a:p>
            <a:pPr algn="l"/>
            <a:r>
              <a:rPr lang="en-US" sz="3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Methods </a:t>
            </a:r>
            <a:r>
              <a:rPr lang="en-US" sz="3600" dirty="0" err="1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និងParameters</a:t>
            </a:r>
            <a:endParaRPr lang="en-KH" sz="3600" dirty="0">
              <a:solidFill>
                <a:srgbClr val="002060"/>
              </a:solidFill>
              <a:latin typeface="Khmer OS Battambang" panose="02000500000000020004" pitchFamily="2" charset="77"/>
              <a:cs typeface="Khmer OS Battambang" panose="02000500000000020004" pitchFamily="2" charset="77"/>
            </a:endParaRP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945708D5-6384-2ABD-E349-AA28DA165368}"/>
              </a:ext>
            </a:extLst>
          </p:cNvPr>
          <p:cNvCxnSpPr/>
          <p:nvPr/>
        </p:nvCxnSpPr>
        <p:spPr>
          <a:xfrm>
            <a:off x="0" y="1050468"/>
            <a:ext cx="12192000" cy="0"/>
          </a:xfrm>
          <a:prstGeom prst="line">
            <a:avLst/>
          </a:prstGeom>
          <a:ln w="57150">
            <a:solidFill>
              <a:srgbClr val="D49B0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7C0D7CF6-B0F2-1885-9FC8-6EEFEDAA75D5}"/>
              </a:ext>
            </a:extLst>
          </p:cNvPr>
          <p:cNvCxnSpPr>
            <a:cxnSpLocks/>
          </p:cNvCxnSpPr>
          <p:nvPr/>
        </p:nvCxnSpPr>
        <p:spPr>
          <a:xfrm>
            <a:off x="0" y="979812"/>
            <a:ext cx="12192000" cy="0"/>
          </a:xfrm>
          <a:prstGeom prst="line">
            <a:avLst/>
          </a:prstGeom>
          <a:ln w="57150">
            <a:solidFill>
              <a:srgbClr val="1C27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7" name="Picture 46" descr="A blue circle with a yellow and white bird in it&#10;&#10;AI-generated content may be incorrect.">
            <a:extLst>
              <a:ext uri="{FF2B5EF4-FFF2-40B4-BE49-F238E27FC236}">
                <a16:creationId xmlns:a16="http://schemas.microsoft.com/office/drawing/2014/main" id="{161F6EEC-C875-0393-745F-C3D465561C8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5438" y="219712"/>
            <a:ext cx="606500" cy="606500"/>
          </a:xfrm>
          <a:prstGeom prst="rect">
            <a:avLst/>
          </a:prstGeom>
        </p:spPr>
      </p:pic>
      <p:sp>
        <p:nvSpPr>
          <p:cNvPr id="7" name="Subtitle 2">
            <a:extLst>
              <a:ext uri="{FF2B5EF4-FFF2-40B4-BE49-F238E27FC236}">
                <a16:creationId xmlns:a16="http://schemas.microsoft.com/office/drawing/2014/main" id="{8E877883-D334-D714-6BBD-6E1AEDB5369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24192" y="1156582"/>
            <a:ext cx="10954536" cy="5181579"/>
          </a:xfrm>
        </p:spPr>
        <p:txBody>
          <a:bodyPr>
            <a:noAutofit/>
          </a:bodyPr>
          <a:lstStyle/>
          <a:p>
            <a:pPr algn="l">
              <a:lnSpc>
                <a:spcPct val="150000"/>
              </a:lnSpc>
              <a:spcBef>
                <a:spcPts val="1500"/>
              </a:spcBef>
            </a:pPr>
            <a:r>
              <a:rPr lang="en-US" sz="18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​</a:t>
            </a:r>
            <a:r>
              <a:rPr lang="en-KH" sz="2800" dirty="0"/>
              <a:t> </a:t>
            </a:r>
            <a:r>
              <a:rPr lang="en-KH" sz="2000" dirty="0"/>
              <a:t>👉 </a:t>
            </a:r>
            <a:r>
              <a:rPr lang="en-US" sz="2000" dirty="0" err="1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ទម្រង់នៃការប្រើប្រាស</a:t>
            </a:r>
            <a:r>
              <a:rPr lang="en-US" sz="20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់(Syntax) </a:t>
            </a:r>
            <a:r>
              <a:rPr lang="en-US" sz="2000" dirty="0" err="1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នៃ</a:t>
            </a:r>
            <a:r>
              <a:rPr lang="en-US" sz="20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method </a:t>
            </a:r>
            <a:r>
              <a:rPr lang="en-US" sz="2000" dirty="0" err="1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ដែលផ្តល់តម្លៃត្រឡប់មកវិញ</a:t>
            </a:r>
            <a:r>
              <a:rPr lang="en-US" sz="20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(</a:t>
            </a:r>
            <a:r>
              <a:rPr lang="en-US" sz="2000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Return value</a:t>
            </a:r>
            <a:r>
              <a:rPr lang="en-US" sz="20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)៖</a:t>
            </a:r>
          </a:p>
          <a:p>
            <a:pPr algn="l">
              <a:lnSpc>
                <a:spcPct val="100000"/>
              </a:lnSpc>
              <a:spcBef>
                <a:spcPts val="1500"/>
              </a:spcBef>
            </a:pPr>
            <a:r>
              <a:rPr lang="en-US" sz="28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  </a:t>
            </a:r>
            <a:r>
              <a:rPr lang="en-US" sz="2000" dirty="0" err="1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accessModifier</a:t>
            </a:r>
            <a:r>
              <a:rPr lang="en-US" sz="2000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</a:t>
            </a:r>
            <a:r>
              <a:rPr lang="en-US" sz="2000" dirty="0" err="1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returnType</a:t>
            </a:r>
            <a:r>
              <a:rPr lang="en-US" sz="20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</a:t>
            </a:r>
            <a:r>
              <a:rPr lang="en-US" sz="2000" dirty="0" err="1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methodName</a:t>
            </a:r>
            <a:r>
              <a:rPr lang="en-US" sz="20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(</a:t>
            </a:r>
            <a:r>
              <a:rPr lang="en-US" sz="2000" dirty="0" err="1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dataType</a:t>
            </a:r>
            <a:r>
              <a:rPr lang="en-US" sz="20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</a:t>
            </a:r>
            <a:r>
              <a:rPr lang="en-US" sz="2000" dirty="0" err="1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parameterName</a:t>
            </a:r>
            <a:r>
              <a:rPr lang="en-US" sz="20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){</a:t>
            </a:r>
          </a:p>
          <a:p>
            <a:pPr algn="l">
              <a:lnSpc>
                <a:spcPct val="100000"/>
              </a:lnSpc>
              <a:spcBef>
                <a:spcPts val="1500"/>
              </a:spcBef>
            </a:pPr>
            <a:r>
              <a:rPr lang="en-US" sz="20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	</a:t>
            </a:r>
            <a:r>
              <a:rPr lang="en-US" sz="20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//</a:t>
            </a:r>
            <a:r>
              <a:rPr lang="en-US" sz="20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ប្លុក</a:t>
            </a:r>
            <a:r>
              <a:rPr lang="en-US" sz="20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</a:t>
            </a:r>
            <a:r>
              <a:rPr lang="en-US" sz="20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code </a:t>
            </a:r>
            <a:r>
              <a:rPr lang="en-US" sz="20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ដែលត្រូវប្រតិបត្តិ</a:t>
            </a:r>
            <a:r>
              <a:rPr lang="en-US" sz="20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(execute)</a:t>
            </a:r>
          </a:p>
          <a:p>
            <a:pPr algn="l">
              <a:lnSpc>
                <a:spcPct val="100000"/>
              </a:lnSpc>
              <a:spcBef>
                <a:spcPts val="1500"/>
              </a:spcBef>
            </a:pPr>
            <a:r>
              <a:rPr lang="en-US" sz="20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	</a:t>
            </a:r>
            <a:r>
              <a:rPr lang="en-US" sz="2000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return</a:t>
            </a:r>
            <a:r>
              <a:rPr lang="en-US" sz="20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(</a:t>
            </a:r>
            <a:r>
              <a:rPr lang="en-US" sz="20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តម្លៃដែលត្រូវផ្តល់ត្រឡប់ទៅវិញ</a:t>
            </a:r>
            <a:r>
              <a:rPr lang="en-US" sz="20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​ </a:t>
            </a:r>
            <a:r>
              <a:rPr lang="en-US" sz="20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ដែលមានប្រភេទទិន្នន័ដូចនិង</a:t>
            </a:r>
            <a:r>
              <a:rPr lang="en-US" sz="20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</a:t>
            </a:r>
            <a:r>
              <a:rPr lang="en-US" sz="2000" dirty="0" err="1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returnType</a:t>
            </a:r>
            <a:r>
              <a:rPr lang="en-US" sz="20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);</a:t>
            </a:r>
          </a:p>
          <a:p>
            <a:pPr algn="l">
              <a:lnSpc>
                <a:spcPct val="100000"/>
              </a:lnSpc>
              <a:spcBef>
                <a:spcPts val="1500"/>
              </a:spcBef>
            </a:pPr>
            <a:r>
              <a:rPr lang="en-US" sz="20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    }</a:t>
            </a:r>
            <a:br>
              <a:rPr lang="en-US" sz="20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</a:br>
            <a:br>
              <a:rPr lang="en-US" sz="20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</a:br>
            <a:r>
              <a:rPr lang="en-US" sz="20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  - </a:t>
            </a:r>
            <a:r>
              <a:rPr lang="en-US" sz="2000" dirty="0" err="1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accessModifier</a:t>
            </a:r>
            <a:r>
              <a:rPr lang="en-US" sz="20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: </a:t>
            </a:r>
            <a:r>
              <a:rPr lang="en-US" sz="20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គឺជាពាក្យសម្រាប់បញ្ជាក់កម្រិតនៃការចូលទៅកាន</a:t>
            </a:r>
            <a:r>
              <a:rPr lang="en-US" sz="20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់ method </a:t>
            </a:r>
            <a:r>
              <a:rPr lang="en-US" sz="20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មានដូចជា</a:t>
            </a:r>
            <a:r>
              <a:rPr lang="en-US" sz="20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៖ </a:t>
            </a:r>
            <a:r>
              <a:rPr lang="en-US" sz="2000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private</a:t>
            </a:r>
            <a:r>
              <a:rPr lang="en-US" sz="20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, </a:t>
            </a:r>
            <a:r>
              <a:rPr lang="en-US" sz="2000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default(</a:t>
            </a:r>
            <a:r>
              <a:rPr lang="en-US" sz="2000" dirty="0" err="1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មិនបញ្ជាក</a:t>
            </a:r>
            <a:r>
              <a:rPr lang="en-US" sz="2000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់) </a:t>
            </a:r>
            <a:r>
              <a:rPr lang="en-US" sz="20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, </a:t>
            </a:r>
            <a:r>
              <a:rPr lang="en-US" sz="2000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protected</a:t>
            </a:r>
            <a:r>
              <a:rPr lang="en-US" sz="20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,</a:t>
            </a:r>
            <a:r>
              <a:rPr lang="en-US" sz="2000" b="1" dirty="0"/>
              <a:t> </a:t>
            </a:r>
            <a:r>
              <a:rPr lang="en-US" sz="2000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public</a:t>
            </a:r>
            <a:r>
              <a:rPr lang="en-US" sz="20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។</a:t>
            </a:r>
          </a:p>
          <a:p>
            <a:pPr algn="l">
              <a:lnSpc>
                <a:spcPct val="100000"/>
              </a:lnSpc>
              <a:spcBef>
                <a:spcPts val="1500"/>
              </a:spcBef>
            </a:pPr>
            <a:r>
              <a:rPr lang="en-US" sz="20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  - </a:t>
            </a:r>
            <a:r>
              <a:rPr lang="en-US" sz="2000" dirty="0" err="1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returnType</a:t>
            </a:r>
            <a:r>
              <a:rPr lang="en-US" sz="20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: </a:t>
            </a:r>
            <a:r>
              <a:rPr lang="en-US" sz="20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ប្រភេទទិន្នន័យនៃតម្លៃដែលត្រូវផ្តល់ត្រឡប់មកវិញ</a:t>
            </a:r>
            <a:r>
              <a:rPr lang="en-US" sz="20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។</a:t>
            </a:r>
            <a:endParaRPr lang="en-US" sz="2000" dirty="0">
              <a:solidFill>
                <a:srgbClr val="002060"/>
              </a:solidFill>
              <a:latin typeface="Khmer OS Battambang" panose="02000500000000020004" pitchFamily="2" charset="77"/>
              <a:cs typeface="Khmer OS Battambang" panose="02000500000000020004" pitchFamily="2" charset="77"/>
            </a:endParaRPr>
          </a:p>
          <a:p>
            <a:pPr algn="l">
              <a:lnSpc>
                <a:spcPct val="100000"/>
              </a:lnSpc>
              <a:spcBef>
                <a:spcPts val="1500"/>
              </a:spcBef>
            </a:pPr>
            <a:r>
              <a:rPr lang="en-US" sz="20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  - </a:t>
            </a:r>
            <a:r>
              <a:rPr lang="en-US" sz="2000" dirty="0" err="1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methodName</a:t>
            </a:r>
            <a:r>
              <a:rPr lang="en-US" sz="20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: </a:t>
            </a:r>
            <a:r>
              <a:rPr lang="en-US" sz="20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ឈ្មោះ</a:t>
            </a:r>
            <a:r>
              <a:rPr lang="en-US" sz="20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metho </a:t>
            </a:r>
            <a:r>
              <a:rPr lang="en-US" sz="20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សម្រាប់ហៅនៅពេលប្រើប្រាស</a:t>
            </a:r>
            <a:r>
              <a:rPr lang="en-US" sz="20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់។</a:t>
            </a:r>
          </a:p>
          <a:p>
            <a:pPr algn="l">
              <a:lnSpc>
                <a:spcPct val="100000"/>
              </a:lnSpc>
              <a:spcBef>
                <a:spcPts val="1500"/>
              </a:spcBef>
            </a:pPr>
            <a:r>
              <a:rPr lang="en-US" sz="20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  - </a:t>
            </a:r>
            <a:r>
              <a:rPr lang="en-US" sz="2000" dirty="0" err="1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parameterName</a:t>
            </a:r>
            <a:r>
              <a:rPr lang="en-US" sz="20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: </a:t>
            </a:r>
            <a:r>
              <a:rPr lang="en-US" sz="20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ឈ្មោះ</a:t>
            </a:r>
            <a:r>
              <a:rPr lang="en-US" sz="20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Parameter </a:t>
            </a:r>
            <a:r>
              <a:rPr lang="en-US" sz="20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សម្រាប់ប្រើប្រាស់ក្នុង</a:t>
            </a:r>
            <a:r>
              <a:rPr lang="en-US" sz="20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method </a:t>
            </a:r>
            <a:r>
              <a:rPr lang="en-US" sz="20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នៅពេលប្រតិបត្តិ</a:t>
            </a:r>
            <a:r>
              <a:rPr lang="en-US" sz="20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។</a:t>
            </a:r>
          </a:p>
        </p:txBody>
      </p:sp>
    </p:spTree>
    <p:extLst>
      <p:ext uri="{BB962C8B-B14F-4D97-AF65-F5344CB8AC3E}">
        <p14:creationId xmlns:p14="http://schemas.microsoft.com/office/powerpoint/2010/main" val="4148604527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7EEDD9A-9AB7-2D7D-2377-2293CEFB36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B56451F-8670-735F-59B4-82D837025FF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701800" y="119781"/>
            <a:ext cx="9144000" cy="789373"/>
          </a:xfrm>
        </p:spPr>
        <p:txBody>
          <a:bodyPr>
            <a:normAutofit/>
          </a:bodyPr>
          <a:lstStyle/>
          <a:p>
            <a:pPr algn="l"/>
            <a:r>
              <a:rPr lang="en-US" sz="3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Methods </a:t>
            </a:r>
            <a:r>
              <a:rPr lang="en-US" sz="3600" dirty="0" err="1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និងParameters</a:t>
            </a:r>
            <a:endParaRPr lang="en-KH" sz="3600" dirty="0">
              <a:solidFill>
                <a:srgbClr val="002060"/>
              </a:solidFill>
              <a:latin typeface="Khmer OS Battambang" panose="02000500000000020004" pitchFamily="2" charset="77"/>
              <a:cs typeface="Khmer OS Battambang" panose="02000500000000020004" pitchFamily="2" charset="77"/>
            </a:endParaRP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C378FE91-F0D1-8BB6-0BE5-BFAA3D2E21CA}"/>
              </a:ext>
            </a:extLst>
          </p:cNvPr>
          <p:cNvCxnSpPr/>
          <p:nvPr/>
        </p:nvCxnSpPr>
        <p:spPr>
          <a:xfrm>
            <a:off x="0" y="1050468"/>
            <a:ext cx="12192000" cy="0"/>
          </a:xfrm>
          <a:prstGeom prst="line">
            <a:avLst/>
          </a:prstGeom>
          <a:ln w="57150">
            <a:solidFill>
              <a:srgbClr val="D49B0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FFDBDDBD-BDFC-F5A9-A2F6-F6225499C745}"/>
              </a:ext>
            </a:extLst>
          </p:cNvPr>
          <p:cNvCxnSpPr>
            <a:cxnSpLocks/>
          </p:cNvCxnSpPr>
          <p:nvPr/>
        </p:nvCxnSpPr>
        <p:spPr>
          <a:xfrm>
            <a:off x="0" y="979812"/>
            <a:ext cx="12192000" cy="0"/>
          </a:xfrm>
          <a:prstGeom prst="line">
            <a:avLst/>
          </a:prstGeom>
          <a:ln w="57150">
            <a:solidFill>
              <a:srgbClr val="1C27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7" name="Picture 46" descr="A blue circle with a yellow and white bird in it&#10;&#10;AI-generated content may be incorrect.">
            <a:extLst>
              <a:ext uri="{FF2B5EF4-FFF2-40B4-BE49-F238E27FC236}">
                <a16:creationId xmlns:a16="http://schemas.microsoft.com/office/drawing/2014/main" id="{049E800C-B977-9320-EA12-0CD772F885D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5438" y="219712"/>
            <a:ext cx="606500" cy="606500"/>
          </a:xfrm>
          <a:prstGeom prst="rect">
            <a:avLst/>
          </a:prstGeom>
        </p:spPr>
      </p:pic>
      <p:sp>
        <p:nvSpPr>
          <p:cNvPr id="7" name="Subtitle 2">
            <a:extLst>
              <a:ext uri="{FF2B5EF4-FFF2-40B4-BE49-F238E27FC236}">
                <a16:creationId xmlns:a16="http://schemas.microsoft.com/office/drawing/2014/main" id="{AB5CD8C5-0758-8B3E-09F3-7F605119B70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51353" y="1156582"/>
            <a:ext cx="10459234" cy="5181579"/>
          </a:xfrm>
        </p:spPr>
        <p:txBody>
          <a:bodyPr>
            <a:noAutofit/>
          </a:bodyPr>
          <a:lstStyle/>
          <a:p>
            <a:pPr algn="l">
              <a:lnSpc>
                <a:spcPct val="150000"/>
              </a:lnSpc>
              <a:spcBef>
                <a:spcPts val="1500"/>
              </a:spcBef>
            </a:pPr>
            <a:r>
              <a:rPr lang="en-US" sz="18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​</a:t>
            </a:r>
            <a:r>
              <a:rPr lang="en-KH" dirty="0"/>
              <a:t>👉 </a:t>
            </a:r>
            <a:r>
              <a:rPr lang="en-US" dirty="0" err="1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ទម្រង់នៃការប្រើប្រាស</a:t>
            </a:r>
            <a:r>
              <a:rPr lang="en-US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់(Syntax) </a:t>
            </a:r>
            <a:r>
              <a:rPr lang="en-US" dirty="0" err="1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នៃ</a:t>
            </a:r>
            <a:r>
              <a:rPr lang="en-US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method </a:t>
            </a:r>
            <a:r>
              <a:rPr lang="en-US" dirty="0" err="1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ដែលមិនផ្តល់តម្លៃត្រឡប់មកវិញ</a:t>
            </a:r>
            <a:r>
              <a:rPr lang="en-US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       </a:t>
            </a:r>
            <a:r>
              <a:rPr lang="en-US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(No</a:t>
            </a:r>
            <a:r>
              <a:rPr lang="en-US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</a:t>
            </a:r>
            <a:r>
              <a:rPr lang="en-US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return value</a:t>
            </a:r>
            <a:r>
              <a:rPr lang="en-US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)៖</a:t>
            </a:r>
          </a:p>
          <a:p>
            <a:pPr algn="l">
              <a:lnSpc>
                <a:spcPct val="100000"/>
              </a:lnSpc>
              <a:spcBef>
                <a:spcPts val="1500"/>
              </a:spcBef>
            </a:pPr>
            <a:r>
              <a:rPr lang="en-US" sz="28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   </a:t>
            </a:r>
            <a:r>
              <a:rPr lang="en-US" sz="1800" dirty="0" err="1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accessModifier</a:t>
            </a:r>
            <a:r>
              <a:rPr lang="en-US" sz="1800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void</a:t>
            </a:r>
            <a:r>
              <a:rPr lang="en-US" sz="18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</a:t>
            </a:r>
            <a:r>
              <a:rPr lang="en-US" sz="1800" dirty="0" err="1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methodName</a:t>
            </a:r>
            <a:r>
              <a:rPr lang="en-US" sz="18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(</a:t>
            </a:r>
            <a:r>
              <a:rPr lang="en-US" sz="1800" dirty="0" err="1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dataType</a:t>
            </a:r>
            <a:r>
              <a:rPr lang="en-US" sz="18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</a:t>
            </a:r>
            <a:r>
              <a:rPr lang="en-US" sz="1800" dirty="0" err="1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parameterName</a:t>
            </a:r>
            <a:r>
              <a:rPr lang="en-US" sz="18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){</a:t>
            </a:r>
          </a:p>
          <a:p>
            <a:pPr algn="l">
              <a:lnSpc>
                <a:spcPct val="100000"/>
              </a:lnSpc>
              <a:spcBef>
                <a:spcPts val="1500"/>
              </a:spcBef>
            </a:pPr>
            <a:r>
              <a:rPr lang="en-US" sz="18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	//</a:t>
            </a:r>
            <a:r>
              <a:rPr lang="en-US" sz="18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ប្លុក</a:t>
            </a:r>
            <a:r>
              <a:rPr lang="en-US" sz="18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</a:t>
            </a:r>
            <a:r>
              <a:rPr lang="en-US" sz="18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code </a:t>
            </a:r>
            <a:r>
              <a:rPr lang="en-US" sz="18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ដែលត្រូវប្រតិបត្តិ</a:t>
            </a:r>
            <a:r>
              <a:rPr lang="en-US" sz="18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(execute)</a:t>
            </a:r>
          </a:p>
          <a:p>
            <a:pPr algn="l">
              <a:lnSpc>
                <a:spcPct val="150000"/>
              </a:lnSpc>
              <a:spcBef>
                <a:spcPts val="1500"/>
              </a:spcBef>
            </a:pPr>
            <a:r>
              <a:rPr lang="en-US" sz="18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    }</a:t>
            </a:r>
            <a:br>
              <a:rPr lang="en-US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</a:br>
            <a:r>
              <a:rPr lang="en-KH" sz="2000" dirty="0"/>
              <a:t>✍️ </a:t>
            </a:r>
            <a:r>
              <a:rPr lang="en-KH" sz="20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ចំណាំ៖ </a:t>
            </a:r>
            <a:r>
              <a:rPr lang="en-KH" sz="20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ការបង្កើត </a:t>
            </a:r>
            <a:r>
              <a:rPr lang="en-KH" sz="20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method</a:t>
            </a:r>
            <a:r>
              <a:rPr lang="en-KH" sz="20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អាចធ្វើការដាក់ </a:t>
            </a:r>
            <a:r>
              <a:rPr lang="en-KH" sz="20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parameter</a:t>
            </a:r>
            <a:r>
              <a:rPr lang="en-KH" sz="20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ច្រើនបន្តបន្ទាប់គ្នាដោយប្រើសញ្ញា ”</a:t>
            </a:r>
            <a:r>
              <a:rPr lang="en-KH" sz="2000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,</a:t>
            </a:r>
            <a:r>
              <a:rPr lang="en-KH" sz="20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” នៅចំកណ្តាលរវៀង parameter ពីរ ឫច្រើន ឫមិនដាក់ </a:t>
            </a:r>
            <a:r>
              <a:rPr lang="en-KH" sz="20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parameter</a:t>
            </a:r>
            <a:r>
              <a:rPr lang="en-KH" sz="20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ក៍បាន។</a:t>
            </a:r>
            <a:br>
              <a:rPr lang="en-KH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</a:br>
            <a:r>
              <a:rPr lang="en-KH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 ​</a:t>
            </a:r>
            <a:r>
              <a:rPr lang="en-KH" sz="20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ឧទាហរណ៍ទី១៖ </a:t>
            </a:r>
            <a:r>
              <a:rPr lang="en-US" sz="2000" dirty="0" err="1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methodName</a:t>
            </a:r>
            <a:r>
              <a:rPr lang="en-US" sz="20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(</a:t>
            </a:r>
            <a:r>
              <a:rPr lang="en-US" sz="2000" dirty="0" err="1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dataType</a:t>
            </a:r>
            <a:r>
              <a:rPr lang="en-US" sz="20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</a:t>
            </a:r>
            <a:r>
              <a:rPr lang="en-US" sz="2000" dirty="0" err="1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parameterName</a:t>
            </a:r>
            <a:r>
              <a:rPr lang="en-US" sz="20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, </a:t>
            </a:r>
            <a:r>
              <a:rPr lang="en-US" sz="2000" dirty="0" err="1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dataType</a:t>
            </a:r>
            <a:r>
              <a:rPr lang="en-US" sz="20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parameterName2){}</a:t>
            </a:r>
            <a:br>
              <a:rPr lang="en-US" sz="20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</a:br>
            <a:r>
              <a:rPr lang="en-US" sz="20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  </a:t>
            </a:r>
            <a:r>
              <a:rPr lang="en-KH" sz="20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ឧទាហរណ៍ទី២៖ </a:t>
            </a:r>
            <a:r>
              <a:rPr lang="en-US" sz="2000" dirty="0" err="1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methodName</a:t>
            </a:r>
            <a:r>
              <a:rPr lang="en-US" sz="20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(){}</a:t>
            </a:r>
            <a:br>
              <a:rPr lang="en-US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</a:br>
            <a:endParaRPr lang="en-US" dirty="0">
              <a:solidFill>
                <a:srgbClr val="002060"/>
              </a:solidFill>
              <a:latin typeface="Khmer OS Battambang" panose="02000500000000020004" pitchFamily="2" charset="77"/>
              <a:cs typeface="Khmer OS Battambang" panose="02000500000000020004" pitchFamily="2" charset="77"/>
            </a:endParaRPr>
          </a:p>
        </p:txBody>
      </p:sp>
    </p:spTree>
    <p:extLst>
      <p:ext uri="{BB962C8B-B14F-4D97-AF65-F5344CB8AC3E}">
        <p14:creationId xmlns:p14="http://schemas.microsoft.com/office/powerpoint/2010/main" val="396997750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4D82939-474D-9AF5-7DA6-AE243BB31B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98D42D5-55CB-C1B8-BD47-3591EB2B22E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701800" y="119781"/>
            <a:ext cx="9144000" cy="789373"/>
          </a:xfrm>
        </p:spPr>
        <p:txBody>
          <a:bodyPr>
            <a:normAutofit/>
          </a:bodyPr>
          <a:lstStyle/>
          <a:p>
            <a:pPr algn="l"/>
            <a:r>
              <a:rPr lang="en-US" sz="3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Methods </a:t>
            </a:r>
            <a:r>
              <a:rPr lang="en-US" sz="3600" dirty="0" err="1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និងParameters</a:t>
            </a:r>
            <a:endParaRPr lang="en-KH" sz="3600" dirty="0">
              <a:solidFill>
                <a:srgbClr val="002060"/>
              </a:solidFill>
              <a:latin typeface="Khmer OS Battambang" panose="02000500000000020004" pitchFamily="2" charset="77"/>
              <a:cs typeface="Khmer OS Battambang" panose="02000500000000020004" pitchFamily="2" charset="77"/>
            </a:endParaRP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BCB24296-590A-6AFB-B54C-F2E440627724}"/>
              </a:ext>
            </a:extLst>
          </p:cNvPr>
          <p:cNvCxnSpPr/>
          <p:nvPr/>
        </p:nvCxnSpPr>
        <p:spPr>
          <a:xfrm>
            <a:off x="0" y="1050468"/>
            <a:ext cx="12192000" cy="0"/>
          </a:xfrm>
          <a:prstGeom prst="line">
            <a:avLst/>
          </a:prstGeom>
          <a:ln w="57150">
            <a:solidFill>
              <a:srgbClr val="D49B0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55C66718-FBD5-D9C3-443D-C38CEA87EF0C}"/>
              </a:ext>
            </a:extLst>
          </p:cNvPr>
          <p:cNvCxnSpPr>
            <a:cxnSpLocks/>
          </p:cNvCxnSpPr>
          <p:nvPr/>
        </p:nvCxnSpPr>
        <p:spPr>
          <a:xfrm>
            <a:off x="0" y="979812"/>
            <a:ext cx="12192000" cy="0"/>
          </a:xfrm>
          <a:prstGeom prst="line">
            <a:avLst/>
          </a:prstGeom>
          <a:ln w="57150">
            <a:solidFill>
              <a:srgbClr val="1C27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7" name="Picture 46" descr="A blue circle with a yellow and white bird in it&#10;&#10;AI-generated content may be incorrect.">
            <a:extLst>
              <a:ext uri="{FF2B5EF4-FFF2-40B4-BE49-F238E27FC236}">
                <a16:creationId xmlns:a16="http://schemas.microsoft.com/office/drawing/2014/main" id="{CDA8D571-EA15-D167-F3E3-AA91075859B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5438" y="219712"/>
            <a:ext cx="606500" cy="606500"/>
          </a:xfrm>
          <a:prstGeom prst="rect">
            <a:avLst/>
          </a:prstGeom>
        </p:spPr>
      </p:pic>
      <p:sp>
        <p:nvSpPr>
          <p:cNvPr id="7" name="Subtitle 2">
            <a:extLst>
              <a:ext uri="{FF2B5EF4-FFF2-40B4-BE49-F238E27FC236}">
                <a16:creationId xmlns:a16="http://schemas.microsoft.com/office/drawing/2014/main" id="{4750D091-B569-4A1A-8380-9C4650A2F66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51353" y="1156582"/>
            <a:ext cx="10459234" cy="5181579"/>
          </a:xfrm>
        </p:spPr>
        <p:txBody>
          <a:bodyPr>
            <a:noAutofit/>
          </a:bodyPr>
          <a:lstStyle/>
          <a:p>
            <a:pPr algn="l">
              <a:lnSpc>
                <a:spcPct val="150000"/>
              </a:lnSpc>
              <a:spcBef>
                <a:spcPts val="1500"/>
              </a:spcBef>
            </a:pPr>
            <a:r>
              <a:rPr lang="en-US" sz="18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​</a:t>
            </a:r>
            <a:r>
              <a:rPr lang="en-KH" dirty="0"/>
              <a:t>👉</a:t>
            </a:r>
            <a:r>
              <a:rPr lang="en-KH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</a:t>
            </a:r>
            <a:r>
              <a:rPr lang="en-KH" sz="28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វិសាលភាព​នៃ Access Modifier</a:t>
            </a:r>
            <a:r>
              <a:rPr lang="en-US" sz="28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៖</a:t>
            </a:r>
          </a:p>
          <a:p>
            <a:pPr marL="914400" lvl="1" indent="-457200" algn="l">
              <a:lnSpc>
                <a:spcPct val="150000"/>
              </a:lnSpc>
              <a:spcBef>
                <a:spcPts val="1500"/>
              </a:spcBef>
              <a:buFont typeface="Wingdings" pitchFamily="2" charset="2"/>
              <a:buChar char="Ø"/>
            </a:pPr>
            <a:r>
              <a:rPr lang="en-US" sz="2200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private</a:t>
            </a:r>
            <a:r>
              <a:rPr lang="en-US" sz="22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: </a:t>
            </a:r>
            <a:r>
              <a:rPr lang="en-US" sz="22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អាចហៅ</a:t>
            </a:r>
            <a:r>
              <a:rPr lang="en-US" sz="22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method​ </a:t>
            </a:r>
            <a:r>
              <a:rPr lang="en-US" sz="22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ឫ</a:t>
            </a:r>
            <a:r>
              <a:rPr lang="en-US" sz="22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member </a:t>
            </a:r>
            <a:r>
              <a:rPr lang="en-US" sz="22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បានតែនៅក្នុង</a:t>
            </a:r>
            <a:r>
              <a:rPr lang="en-US" sz="22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class </a:t>
            </a:r>
            <a:r>
              <a:rPr lang="en-US" sz="22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ជាមួយគ្នាប៉ុណ្ណោះ</a:t>
            </a:r>
            <a:r>
              <a:rPr lang="en-US" sz="22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។</a:t>
            </a:r>
          </a:p>
          <a:p>
            <a:pPr marL="914400" lvl="1" indent="-457200" algn="l">
              <a:lnSpc>
                <a:spcPct val="150000"/>
              </a:lnSpc>
              <a:spcBef>
                <a:spcPts val="1500"/>
              </a:spcBef>
              <a:buFont typeface="Wingdings" pitchFamily="2" charset="2"/>
              <a:buChar char="Ø"/>
            </a:pPr>
            <a:r>
              <a:rPr lang="en-US" sz="2200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default</a:t>
            </a:r>
            <a:r>
              <a:rPr lang="en-US" sz="22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: </a:t>
            </a:r>
            <a:r>
              <a:rPr lang="en-US" sz="22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អាចហៅ</a:t>
            </a:r>
            <a:r>
              <a:rPr lang="en-US" sz="22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method​ </a:t>
            </a:r>
            <a:r>
              <a:rPr lang="en-US" sz="22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ឫ</a:t>
            </a:r>
            <a:r>
              <a:rPr lang="en-US" sz="22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member </a:t>
            </a:r>
            <a:r>
              <a:rPr lang="en-US" sz="22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បានតែនៅក្នុង</a:t>
            </a:r>
            <a:r>
              <a:rPr lang="en-US" sz="22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class </a:t>
            </a:r>
            <a:r>
              <a:rPr lang="en-US" sz="22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ឫ</a:t>
            </a:r>
            <a:r>
              <a:rPr lang="en-US" sz="22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package </a:t>
            </a:r>
            <a:r>
              <a:rPr lang="en-US" sz="22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ជាមួយគ្នាប៉ុណ្ណោះ</a:t>
            </a:r>
            <a:r>
              <a:rPr lang="en-US" sz="22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។</a:t>
            </a:r>
          </a:p>
          <a:p>
            <a:pPr marL="914400" lvl="1" indent="-457200" algn="l">
              <a:lnSpc>
                <a:spcPct val="150000"/>
              </a:lnSpc>
              <a:spcBef>
                <a:spcPts val="1500"/>
              </a:spcBef>
              <a:buFont typeface="Wingdings" pitchFamily="2" charset="2"/>
              <a:buChar char="Ø"/>
            </a:pPr>
            <a:r>
              <a:rPr lang="en-US" sz="2200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protected</a:t>
            </a:r>
            <a:r>
              <a:rPr lang="en-US" sz="22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: </a:t>
            </a:r>
            <a:r>
              <a:rPr lang="en-US" sz="22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អាចហៅ</a:t>
            </a:r>
            <a:r>
              <a:rPr lang="en-US" sz="22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method​ </a:t>
            </a:r>
            <a:r>
              <a:rPr lang="en-US" sz="22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ឫmember</a:t>
            </a:r>
            <a:r>
              <a:rPr lang="en-US" sz="22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</a:t>
            </a:r>
            <a:r>
              <a:rPr lang="en-US" sz="22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បានតែនៅក្នុង</a:t>
            </a:r>
            <a:r>
              <a:rPr lang="en-US" sz="22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package </a:t>
            </a:r>
            <a:r>
              <a:rPr lang="en-US" sz="22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ជាមួយគ្នា</a:t>
            </a:r>
            <a:r>
              <a:rPr lang="en-US" sz="22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</a:t>
            </a:r>
            <a:r>
              <a:rPr lang="en-US" sz="22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និង</a:t>
            </a:r>
            <a:r>
              <a:rPr lang="en-US" sz="22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subclasses </a:t>
            </a:r>
            <a:r>
              <a:rPr lang="en-US" sz="22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ប៉ុណ្ណោះ</a:t>
            </a:r>
            <a:r>
              <a:rPr lang="en-US" sz="22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។</a:t>
            </a:r>
          </a:p>
          <a:p>
            <a:pPr marL="914400" lvl="1" indent="-457200" algn="l">
              <a:lnSpc>
                <a:spcPct val="150000"/>
              </a:lnSpc>
              <a:spcBef>
                <a:spcPts val="1500"/>
              </a:spcBef>
              <a:buFont typeface="Wingdings" pitchFamily="2" charset="2"/>
              <a:buChar char="Ø"/>
            </a:pPr>
            <a:r>
              <a:rPr lang="en-US" sz="2200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public</a:t>
            </a:r>
            <a:r>
              <a:rPr lang="en-US" sz="22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: </a:t>
            </a:r>
            <a:r>
              <a:rPr lang="en-US" sz="22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អាចហៅ</a:t>
            </a:r>
            <a:r>
              <a:rPr lang="en-US" sz="22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method​ </a:t>
            </a:r>
            <a:r>
              <a:rPr lang="en-US" sz="22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ឫ</a:t>
            </a:r>
            <a:r>
              <a:rPr lang="en-US" sz="22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member </a:t>
            </a:r>
            <a:r>
              <a:rPr lang="en-US" sz="22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បានទាំងក្នុង</a:t>
            </a:r>
            <a:r>
              <a:rPr lang="en-US" sz="22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class  </a:t>
            </a:r>
            <a:r>
              <a:rPr lang="en-US" sz="22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ឫ</a:t>
            </a:r>
            <a:r>
              <a:rPr lang="en-US" sz="22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package </a:t>
            </a:r>
            <a:r>
              <a:rPr lang="en-US" sz="22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ជាមួយគ្នា</a:t>
            </a:r>
            <a:r>
              <a:rPr lang="en-US" sz="22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​ </a:t>
            </a:r>
            <a:r>
              <a:rPr lang="en-US" sz="22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និងpackage</a:t>
            </a:r>
            <a:r>
              <a:rPr lang="en-US" sz="22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</a:t>
            </a:r>
            <a:r>
              <a:rPr lang="en-US" sz="22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ផ្សេងគ្នា</a:t>
            </a:r>
            <a:r>
              <a:rPr lang="en-US" sz="22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។</a:t>
            </a:r>
            <a:br>
              <a:rPr lang="en-US" sz="24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</a:br>
            <a:endParaRPr lang="en-US" sz="2400" dirty="0">
              <a:solidFill>
                <a:srgbClr val="0070C0"/>
              </a:solidFill>
              <a:latin typeface="Khmer OS Battambang" panose="02000500000000020004" pitchFamily="2" charset="77"/>
              <a:cs typeface="Khmer OS Battambang" panose="02000500000000020004" pitchFamily="2" charset="77"/>
            </a:endParaRPr>
          </a:p>
        </p:txBody>
      </p:sp>
    </p:spTree>
    <p:extLst>
      <p:ext uri="{BB962C8B-B14F-4D97-AF65-F5344CB8AC3E}">
        <p14:creationId xmlns:p14="http://schemas.microsoft.com/office/powerpoint/2010/main" val="104116749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9136489-92E5-AA56-A601-E4FDCF7C0F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7269EF-0971-363A-37DD-DBE780D3C7A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701800" y="119781"/>
            <a:ext cx="9144000" cy="789373"/>
          </a:xfrm>
        </p:spPr>
        <p:txBody>
          <a:bodyPr>
            <a:normAutofit/>
          </a:bodyPr>
          <a:lstStyle/>
          <a:p>
            <a:pPr algn="l"/>
            <a:r>
              <a:rPr lang="en-US" sz="3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Arrays</a:t>
            </a:r>
            <a:endParaRPr lang="en-KH" sz="3600" dirty="0">
              <a:solidFill>
                <a:srgbClr val="002060"/>
              </a:solidFill>
              <a:latin typeface="Khmer OS Battambang" panose="02000500000000020004" pitchFamily="2" charset="77"/>
              <a:cs typeface="Khmer OS Battambang" panose="02000500000000020004" pitchFamily="2" charset="77"/>
            </a:endParaRP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89B832F0-880A-10E2-3951-DF73C2C0ABD6}"/>
              </a:ext>
            </a:extLst>
          </p:cNvPr>
          <p:cNvCxnSpPr/>
          <p:nvPr/>
        </p:nvCxnSpPr>
        <p:spPr>
          <a:xfrm>
            <a:off x="0" y="1050468"/>
            <a:ext cx="12192000" cy="0"/>
          </a:xfrm>
          <a:prstGeom prst="line">
            <a:avLst/>
          </a:prstGeom>
          <a:ln w="57150">
            <a:solidFill>
              <a:srgbClr val="D49B0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285ACEAD-5F73-1745-9165-A23D73687CC7}"/>
              </a:ext>
            </a:extLst>
          </p:cNvPr>
          <p:cNvCxnSpPr>
            <a:cxnSpLocks/>
          </p:cNvCxnSpPr>
          <p:nvPr/>
        </p:nvCxnSpPr>
        <p:spPr>
          <a:xfrm>
            <a:off x="0" y="979812"/>
            <a:ext cx="12192000" cy="0"/>
          </a:xfrm>
          <a:prstGeom prst="line">
            <a:avLst/>
          </a:prstGeom>
          <a:ln w="57150">
            <a:solidFill>
              <a:srgbClr val="1C27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7" name="Picture 46" descr="A blue circle with a yellow and white bird in it&#10;&#10;AI-generated content may be incorrect.">
            <a:extLst>
              <a:ext uri="{FF2B5EF4-FFF2-40B4-BE49-F238E27FC236}">
                <a16:creationId xmlns:a16="http://schemas.microsoft.com/office/drawing/2014/main" id="{0538804B-BBE5-0539-7C77-C9772E79982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5438" y="219712"/>
            <a:ext cx="606500" cy="606500"/>
          </a:xfrm>
          <a:prstGeom prst="rect">
            <a:avLst/>
          </a:prstGeom>
        </p:spPr>
      </p:pic>
      <p:sp>
        <p:nvSpPr>
          <p:cNvPr id="7" name="Subtitle 2">
            <a:extLst>
              <a:ext uri="{FF2B5EF4-FFF2-40B4-BE49-F238E27FC236}">
                <a16:creationId xmlns:a16="http://schemas.microsoft.com/office/drawing/2014/main" id="{6B30923D-D914-BD8E-B0FB-9E5D1E20085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51353" y="1133413"/>
            <a:ext cx="10459234" cy="5204749"/>
          </a:xfrm>
        </p:spPr>
        <p:txBody>
          <a:bodyPr>
            <a:noAutofit/>
          </a:bodyPr>
          <a:lstStyle/>
          <a:p>
            <a:pPr algn="l">
              <a:lnSpc>
                <a:spcPct val="150000"/>
              </a:lnSpc>
              <a:spcBef>
                <a:spcPts val="1500"/>
              </a:spcBef>
            </a:pPr>
            <a:r>
              <a:rPr lang="en-US" sz="18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   </a:t>
            </a:r>
            <a:r>
              <a:rPr lang="en-US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Arrays</a:t>
            </a:r>
            <a:r>
              <a:rPr lang="en-US" sz="20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</a:t>
            </a:r>
            <a:r>
              <a:rPr lang="en-US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: </a:t>
            </a:r>
            <a:r>
              <a:rPr lang="en-US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គឺជាវត្ថុសម្រាប់ផ្ទុកសំណុំនៃតម្លៃដែលមានចំនួនថេរ</a:t>
            </a:r>
            <a:r>
              <a:rPr lang="en-US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</a:t>
            </a:r>
            <a:r>
              <a:rPr lang="en-US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និងប្រភេទទិន្នន័យដូចគ្នា</a:t>
            </a:r>
            <a:r>
              <a:rPr lang="en-US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</a:t>
            </a:r>
            <a:r>
              <a:rPr lang="en-US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ដែលតម្លៃនីមួយៗហៅថាធាតុ</a:t>
            </a:r>
            <a:r>
              <a:rPr lang="en-US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។</a:t>
            </a:r>
            <a:r>
              <a:rPr lang="en-US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Array​</a:t>
            </a:r>
            <a:r>
              <a:rPr lang="en-US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</a:t>
            </a:r>
            <a:r>
              <a:rPr lang="en-US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ត្រូវបានចែកជាពីរប្រភេទគឺ</a:t>
            </a:r>
            <a:r>
              <a:rPr lang="en-US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៖</a:t>
            </a:r>
          </a:p>
          <a:p>
            <a:pPr marL="800100" lvl="1" indent="-342900" algn="l">
              <a:lnSpc>
                <a:spcPct val="150000"/>
              </a:lnSpc>
              <a:spcBef>
                <a:spcPts val="1500"/>
              </a:spcBef>
              <a:buFont typeface="Wingdings" pitchFamily="2" charset="2"/>
              <a:buChar char="Ø"/>
            </a:pPr>
            <a:r>
              <a:rPr lang="en-US" sz="24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Array </a:t>
            </a:r>
            <a:r>
              <a:rPr lang="en-US" sz="2400" dirty="0" err="1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មួយវិមាត្រ</a:t>
            </a:r>
            <a:r>
              <a:rPr lang="en-US" sz="24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​(Single-Dimensional Array): </a:t>
            </a:r>
            <a:r>
              <a:rPr lang="en-US" sz="2400" dirty="0" err="1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គឺរចនាសម្ព័ន្ធទិន្នន័យមួយជួរ</a:t>
            </a:r>
            <a:r>
              <a:rPr lang="en-US" sz="24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US" sz="2400" dirty="0" err="1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ដែលផ្ទុកតារាងនៃធាតុជាច្រើនមានប្រភេទទិន្នន័យដូចគ្នា</a:t>
            </a:r>
            <a:r>
              <a:rPr lang="en-US" sz="24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US" sz="2400" dirty="0" err="1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ហើយធាតុនីមួយៗត្រូវបានចូលប្រើតាមរយៈ</a:t>
            </a:r>
            <a:r>
              <a:rPr lang="en-US" sz="24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index </a:t>
            </a:r>
            <a:r>
              <a:rPr lang="en-US" sz="2400" dirty="0" err="1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មួយ</a:t>
            </a:r>
            <a:r>
              <a:rPr lang="en-US" sz="24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។ </a:t>
            </a:r>
          </a:p>
          <a:p>
            <a:pPr lvl="1" algn="l">
              <a:lnSpc>
                <a:spcPct val="100000"/>
              </a:lnSpc>
              <a:spcBef>
                <a:spcPts val="1500"/>
              </a:spcBef>
            </a:pPr>
            <a:r>
              <a:rPr lang="en-US" sz="24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	</a:t>
            </a:r>
            <a:r>
              <a:rPr lang="en-US" sz="2400" dirty="0" err="1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ឧទាហរណ</a:t>
            </a:r>
            <a:r>
              <a:rPr lang="en-US" sz="24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៍៖</a:t>
            </a:r>
            <a:r>
              <a:rPr lang="en-US" sz="24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US" sz="24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String[] </a:t>
            </a:r>
            <a:r>
              <a:rPr lang="en-US" sz="2400" dirty="0" err="1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capitalLetters</a:t>
            </a:r>
            <a:r>
              <a:rPr lang="en-US" sz="24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US" sz="24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=</a:t>
            </a:r>
            <a:r>
              <a:rPr lang="en-US" sz="24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{"A", "B", "C"};</a:t>
            </a:r>
          </a:p>
          <a:p>
            <a:pPr marL="800100" lvl="1" indent="-342900" algn="l">
              <a:lnSpc>
                <a:spcPct val="150000"/>
              </a:lnSpc>
              <a:spcBef>
                <a:spcPts val="1500"/>
              </a:spcBef>
              <a:buFont typeface="Wingdings" pitchFamily="2" charset="2"/>
              <a:buChar char="Ø"/>
            </a:pPr>
            <a:r>
              <a:rPr lang="en-US" sz="24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Array </a:t>
            </a:r>
            <a:r>
              <a:rPr lang="en-US" sz="2400" dirty="0" err="1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ច្រើនវិមាត្រ</a:t>
            </a:r>
            <a:r>
              <a:rPr lang="en-US" sz="24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(Multi-Dimensional Array): </a:t>
            </a:r>
            <a:r>
              <a:rPr lang="en-US" sz="2400" dirty="0" err="1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គឺជា</a:t>
            </a:r>
            <a:r>
              <a:rPr lang="en-US" sz="24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US" sz="24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Arrays</a:t>
            </a:r>
            <a:r>
              <a:rPr lang="en-US" sz="24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US" sz="2400" dirty="0" err="1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នៃ</a:t>
            </a:r>
            <a:r>
              <a:rPr lang="en-US" sz="24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US" sz="24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Arrays</a:t>
            </a:r>
            <a:r>
              <a:rPr lang="en-US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US" sz="24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។ </a:t>
            </a:r>
            <a:r>
              <a:rPr lang="en-US" sz="2400" dirty="0" err="1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វាត្រូវបានគេប្រើដើម្បីផ្ទុកទិន្នន័យជាទម្រង</a:t>
            </a:r>
            <a:r>
              <a:rPr lang="en-US" sz="24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់ </a:t>
            </a:r>
            <a:r>
              <a:rPr lang="en-US" sz="24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grid</a:t>
            </a:r>
            <a:r>
              <a:rPr lang="en-US" sz="24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US" sz="2400" dirty="0" err="1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ឫ</a:t>
            </a:r>
            <a:r>
              <a:rPr lang="en-US" sz="24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US" sz="24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table </a:t>
            </a:r>
            <a:r>
              <a:rPr lang="en-US" sz="24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។ </a:t>
            </a:r>
          </a:p>
          <a:p>
            <a:pPr lvl="1" algn="l">
              <a:lnSpc>
                <a:spcPct val="100000"/>
              </a:lnSpc>
              <a:spcBef>
                <a:spcPts val="1500"/>
              </a:spcBef>
            </a:pPr>
            <a:r>
              <a:rPr lang="en-US" sz="24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    </a:t>
            </a:r>
            <a:r>
              <a:rPr lang="en-US" sz="2400" dirty="0" err="1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ឧទាហរណ</a:t>
            </a:r>
            <a:r>
              <a:rPr lang="en-US" sz="24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៍៖ </a:t>
            </a:r>
            <a:r>
              <a:rPr lang="en-US" sz="24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String[][] </a:t>
            </a:r>
            <a:r>
              <a:rPr lang="en-US" sz="24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letters =</a:t>
            </a:r>
            <a:r>
              <a:rPr lang="en-US" dirty="0"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US" sz="24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{{"A", "B", "C"}, {"a", "b", "c"}};</a:t>
            </a:r>
            <a:br>
              <a:rPr lang="en-US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</a:br>
            <a:endParaRPr lang="en-US" dirty="0">
              <a:solidFill>
                <a:srgbClr val="0070C0"/>
              </a:solidFill>
              <a:latin typeface="Khmer OS Battambang" panose="02000500000000020004" pitchFamily="2" charset="77"/>
              <a:cs typeface="Khmer OS Battambang" panose="02000500000000020004" pitchFamily="2" charset="77"/>
            </a:endParaRPr>
          </a:p>
        </p:txBody>
      </p:sp>
    </p:spTree>
    <p:extLst>
      <p:ext uri="{BB962C8B-B14F-4D97-AF65-F5344CB8AC3E}">
        <p14:creationId xmlns:p14="http://schemas.microsoft.com/office/powerpoint/2010/main" val="1719729952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F9ECFA5-4EB5-AD29-7EA1-AB2428E28E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EE562F-DAD3-0719-E28D-45A980850BB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701800" y="119781"/>
            <a:ext cx="9144000" cy="789373"/>
          </a:xfrm>
        </p:spPr>
        <p:txBody>
          <a:bodyPr>
            <a:normAutofit/>
          </a:bodyPr>
          <a:lstStyle/>
          <a:p>
            <a:pPr algn="l"/>
            <a:r>
              <a:rPr lang="en-US" sz="3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Arrays (</a:t>
            </a:r>
            <a:r>
              <a:rPr lang="en-US" sz="3600" dirty="0" err="1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ត</a:t>
            </a:r>
            <a:r>
              <a:rPr lang="en-US" sz="3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)</a:t>
            </a:r>
            <a:endParaRPr lang="en-KH" sz="3600" dirty="0">
              <a:solidFill>
                <a:srgbClr val="002060"/>
              </a:solidFill>
              <a:latin typeface="Khmer OS Battambang" panose="02000500000000020004" pitchFamily="2" charset="77"/>
              <a:cs typeface="Khmer OS Battambang" panose="02000500000000020004" pitchFamily="2" charset="77"/>
            </a:endParaRP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34BC4279-303C-3BA7-EDAF-236C3D36265A}"/>
              </a:ext>
            </a:extLst>
          </p:cNvPr>
          <p:cNvCxnSpPr/>
          <p:nvPr/>
        </p:nvCxnSpPr>
        <p:spPr>
          <a:xfrm>
            <a:off x="0" y="1050468"/>
            <a:ext cx="12192000" cy="0"/>
          </a:xfrm>
          <a:prstGeom prst="line">
            <a:avLst/>
          </a:prstGeom>
          <a:ln w="57150">
            <a:solidFill>
              <a:srgbClr val="D49B0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A1AF5D61-4872-E942-CBE0-5559FFB3C2CC}"/>
              </a:ext>
            </a:extLst>
          </p:cNvPr>
          <p:cNvCxnSpPr>
            <a:cxnSpLocks/>
          </p:cNvCxnSpPr>
          <p:nvPr/>
        </p:nvCxnSpPr>
        <p:spPr>
          <a:xfrm>
            <a:off x="0" y="979812"/>
            <a:ext cx="12192000" cy="0"/>
          </a:xfrm>
          <a:prstGeom prst="line">
            <a:avLst/>
          </a:prstGeom>
          <a:ln w="57150">
            <a:solidFill>
              <a:srgbClr val="1C27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7" name="Picture 46" descr="A blue circle with a yellow and white bird in it&#10;&#10;AI-generated content may be incorrect.">
            <a:extLst>
              <a:ext uri="{FF2B5EF4-FFF2-40B4-BE49-F238E27FC236}">
                <a16:creationId xmlns:a16="http://schemas.microsoft.com/office/drawing/2014/main" id="{EE987755-B07A-FC08-D17A-E7338F9C2B2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5438" y="219712"/>
            <a:ext cx="606500" cy="606500"/>
          </a:xfrm>
          <a:prstGeom prst="rect">
            <a:avLst/>
          </a:prstGeom>
        </p:spPr>
      </p:pic>
      <p:sp>
        <p:nvSpPr>
          <p:cNvPr id="7" name="Subtitle 2">
            <a:extLst>
              <a:ext uri="{FF2B5EF4-FFF2-40B4-BE49-F238E27FC236}">
                <a16:creationId xmlns:a16="http://schemas.microsoft.com/office/drawing/2014/main" id="{5455605F-748D-610D-528A-9F3AEAC6EF3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51353" y="1133413"/>
            <a:ext cx="10459234" cy="5204749"/>
          </a:xfrm>
        </p:spPr>
        <p:txBody>
          <a:bodyPr>
            <a:noAutofit/>
          </a:bodyPr>
          <a:lstStyle/>
          <a:p>
            <a:pPr algn="l">
              <a:lnSpc>
                <a:spcPct val="150000"/>
              </a:lnSpc>
              <a:spcBef>
                <a:spcPts val="1500"/>
              </a:spcBef>
            </a:pPr>
            <a:r>
              <a:rPr lang="en-US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</a:t>
            </a:r>
            <a:r>
              <a:rPr lang="en-KH" dirty="0"/>
              <a:t>👉 </a:t>
            </a:r>
            <a:r>
              <a:rPr lang="en-US" dirty="0" err="1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ការប្រកាស</a:t>
            </a:r>
            <a:r>
              <a:rPr lang="en-US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</a:t>
            </a:r>
            <a:r>
              <a:rPr lang="en-US" dirty="0" err="1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និងការកំណត់តម្លៃចាប់ផ្តើមនៅលើ</a:t>
            </a:r>
            <a:r>
              <a:rPr lang="en-US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Variable </a:t>
            </a:r>
            <a:r>
              <a:rPr lang="en-US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៖</a:t>
            </a:r>
          </a:p>
          <a:p>
            <a:pPr marL="800100" lvl="1" indent="-342900" algn="l">
              <a:lnSpc>
                <a:spcPct val="150000"/>
              </a:lnSpc>
              <a:spcBef>
                <a:spcPts val="1500"/>
              </a:spcBef>
              <a:buFont typeface="Wingdings" pitchFamily="2" charset="2"/>
              <a:buChar char="Ø"/>
            </a:pPr>
            <a:r>
              <a:rPr lang="en-US" sz="2400" dirty="0" err="1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ប្រកាស</a:t>
            </a:r>
            <a:r>
              <a:rPr lang="en-US" sz="24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</a:t>
            </a:r>
            <a:r>
              <a:rPr lang="en-US" sz="2400" dirty="0" err="1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ដោយកំណត់ចំនួនធាតុ</a:t>
            </a:r>
            <a:r>
              <a:rPr lang="en-US" sz="24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: </a:t>
            </a:r>
          </a:p>
          <a:p>
            <a:pPr lvl="1" algn="l">
              <a:lnSpc>
                <a:spcPct val="150000"/>
              </a:lnSpc>
              <a:spcBef>
                <a:spcPts val="1500"/>
              </a:spcBef>
            </a:pPr>
            <a:r>
              <a:rPr lang="en-US" sz="24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	</a:t>
            </a:r>
            <a:r>
              <a:rPr lang="en-US" sz="2400" dirty="0" err="1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ប្រភេទទិន្នន័យ</a:t>
            </a:r>
            <a:r>
              <a:rPr lang="en-US" sz="24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US" sz="24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[ ]</a:t>
            </a:r>
            <a:r>
              <a:rPr lang="en-US" sz="24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US" sz="2400" dirty="0" err="1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variableName</a:t>
            </a:r>
            <a:r>
              <a:rPr lang="en-US" sz="24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= </a:t>
            </a:r>
            <a:r>
              <a:rPr lang="en-US" sz="24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new</a:t>
            </a:r>
            <a:r>
              <a:rPr lang="en-US" sz="24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US" sz="2400" dirty="0" err="1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ប្រភេទទិន្នន័យ</a:t>
            </a:r>
            <a:r>
              <a:rPr lang="en-US" sz="24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 </a:t>
            </a:r>
            <a:r>
              <a:rPr lang="en-US" sz="24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[ </a:t>
            </a:r>
            <a:r>
              <a:rPr lang="en-US" sz="2400" dirty="0" err="1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ចំនួនធាតុ</a:t>
            </a:r>
            <a:r>
              <a:rPr lang="en-US" sz="24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US" sz="24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]</a:t>
            </a:r>
            <a:r>
              <a:rPr lang="en-US" sz="24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;</a:t>
            </a:r>
          </a:p>
          <a:p>
            <a:pPr lvl="1" algn="l">
              <a:lnSpc>
                <a:spcPct val="150000"/>
              </a:lnSpc>
              <a:spcBef>
                <a:spcPts val="1500"/>
              </a:spcBef>
            </a:pPr>
            <a:r>
              <a:rPr lang="en-US" sz="24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	</a:t>
            </a:r>
            <a:r>
              <a:rPr lang="en-US" sz="2400" dirty="0" err="1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ឧទាហរណ</a:t>
            </a:r>
            <a:r>
              <a:rPr lang="en-US" sz="24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៍៖</a:t>
            </a:r>
            <a:r>
              <a:rPr lang="en-US" sz="24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US" sz="24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int[] </a:t>
            </a:r>
            <a:r>
              <a:rPr lang="en-US" sz="2400" dirty="0" err="1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studentIds</a:t>
            </a:r>
            <a:r>
              <a:rPr lang="en-US" sz="24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US" sz="24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=</a:t>
            </a:r>
            <a:r>
              <a:rPr lang="en-US" sz="24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new int[10];</a:t>
            </a:r>
          </a:p>
          <a:p>
            <a:pPr marL="800100" lvl="1" indent="-342900" algn="l">
              <a:lnSpc>
                <a:spcPct val="150000"/>
              </a:lnSpc>
              <a:spcBef>
                <a:spcPts val="1500"/>
              </a:spcBef>
              <a:buFont typeface="Wingdings" pitchFamily="2" charset="2"/>
              <a:buChar char="Ø"/>
            </a:pPr>
            <a:r>
              <a:rPr lang="en-US" sz="2400" dirty="0" err="1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ប្រកាស</a:t>
            </a:r>
            <a:r>
              <a:rPr lang="en-US" sz="24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</a:t>
            </a:r>
            <a:r>
              <a:rPr lang="en-US" sz="2400" dirty="0" err="1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ដោយកំណត់តម្លៃជា</a:t>
            </a:r>
            <a:r>
              <a:rPr lang="en-US" sz="24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literal</a:t>
            </a:r>
            <a:r>
              <a:rPr lang="en-US" sz="24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:</a:t>
            </a:r>
          </a:p>
          <a:p>
            <a:pPr lvl="1" algn="l">
              <a:lnSpc>
                <a:spcPct val="150000"/>
              </a:lnSpc>
              <a:spcBef>
                <a:spcPts val="1500"/>
              </a:spcBef>
            </a:pPr>
            <a:r>
              <a:rPr lang="en-US" sz="24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	</a:t>
            </a:r>
            <a:r>
              <a:rPr lang="en-US" sz="2400" dirty="0" err="1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ប្រភេទទិន្នន័យ</a:t>
            </a:r>
            <a:r>
              <a:rPr lang="en-US" sz="24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US" sz="24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[ ]</a:t>
            </a:r>
            <a:r>
              <a:rPr lang="en-US" sz="24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US" sz="2400" dirty="0" err="1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variableName</a:t>
            </a:r>
            <a:r>
              <a:rPr lang="en-US" sz="24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= </a:t>
            </a:r>
            <a:r>
              <a:rPr lang="en-US" sz="24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{</a:t>
            </a:r>
            <a:r>
              <a:rPr lang="en-US" sz="2400" dirty="0" err="1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ធាតុ</a:t>
            </a:r>
            <a:r>
              <a:rPr lang="en-US" sz="24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,</a:t>
            </a:r>
            <a:r>
              <a:rPr lang="en-US" sz="24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US" sz="2400" dirty="0" err="1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ធាតុ</a:t>
            </a:r>
            <a:r>
              <a:rPr lang="en-US" sz="24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, …}</a:t>
            </a:r>
            <a:r>
              <a:rPr lang="en-US" sz="24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;</a:t>
            </a:r>
            <a:endParaRPr lang="en-US" sz="2400" dirty="0">
              <a:solidFill>
                <a:srgbClr val="0070C0"/>
              </a:solidFill>
              <a:latin typeface="Khmer OS Content" panose="02000500000000020004" pitchFamily="2" charset="77"/>
              <a:cs typeface="Khmer OS Content" panose="02000500000000020004" pitchFamily="2" charset="77"/>
            </a:endParaRPr>
          </a:p>
          <a:p>
            <a:pPr lvl="1" algn="l">
              <a:lnSpc>
                <a:spcPct val="150000"/>
              </a:lnSpc>
              <a:spcBef>
                <a:spcPts val="1500"/>
              </a:spcBef>
            </a:pPr>
            <a:r>
              <a:rPr lang="en-US" sz="24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    </a:t>
            </a:r>
            <a:r>
              <a:rPr lang="en-US" sz="2400" dirty="0" err="1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ឧទាហរណ</a:t>
            </a:r>
            <a:r>
              <a:rPr lang="en-US" sz="24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៍៖ </a:t>
            </a:r>
            <a:r>
              <a:rPr lang="en-US" sz="24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String</a:t>
            </a:r>
            <a:r>
              <a:rPr lang="en-US" sz="24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[] </a:t>
            </a:r>
            <a:r>
              <a:rPr lang="en-US" sz="24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letters</a:t>
            </a:r>
            <a:r>
              <a:rPr lang="en-US" sz="24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US" sz="24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=</a:t>
            </a:r>
            <a:r>
              <a:rPr lang="en-US" dirty="0"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US" sz="24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{"A", "B", "C"};</a:t>
            </a:r>
            <a:br>
              <a:rPr lang="en-US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</a:br>
            <a:endParaRPr lang="en-US" dirty="0">
              <a:solidFill>
                <a:srgbClr val="0070C0"/>
              </a:solidFill>
              <a:latin typeface="Khmer OS Battambang" panose="02000500000000020004" pitchFamily="2" charset="77"/>
              <a:cs typeface="Khmer OS Battambang" panose="02000500000000020004" pitchFamily="2" charset="77"/>
            </a:endParaRPr>
          </a:p>
        </p:txBody>
      </p:sp>
    </p:spTree>
    <p:extLst>
      <p:ext uri="{BB962C8B-B14F-4D97-AF65-F5344CB8AC3E}">
        <p14:creationId xmlns:p14="http://schemas.microsoft.com/office/powerpoint/2010/main" val="4065258671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15A2EA9-4A5D-F977-B56B-7FC5A135FA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0C34CB7-D26B-5B44-6588-540C5680ACB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701800" y="119781"/>
            <a:ext cx="9144000" cy="789373"/>
          </a:xfrm>
        </p:spPr>
        <p:txBody>
          <a:bodyPr>
            <a:normAutofit/>
          </a:bodyPr>
          <a:lstStyle/>
          <a:p>
            <a:pPr algn="l"/>
            <a:r>
              <a:rPr lang="en-US" sz="3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Arrays (</a:t>
            </a:r>
            <a:r>
              <a:rPr lang="en-US" sz="3600" dirty="0" err="1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ត</a:t>
            </a:r>
            <a:r>
              <a:rPr lang="en-US" sz="3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)</a:t>
            </a:r>
            <a:endParaRPr lang="en-KH" sz="3600" dirty="0">
              <a:solidFill>
                <a:srgbClr val="002060"/>
              </a:solidFill>
              <a:latin typeface="Khmer OS Battambang" panose="02000500000000020004" pitchFamily="2" charset="77"/>
              <a:cs typeface="Khmer OS Battambang" panose="02000500000000020004" pitchFamily="2" charset="77"/>
            </a:endParaRP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1BC6EA60-B827-FB04-C401-76B8CA667A92}"/>
              </a:ext>
            </a:extLst>
          </p:cNvPr>
          <p:cNvCxnSpPr/>
          <p:nvPr/>
        </p:nvCxnSpPr>
        <p:spPr>
          <a:xfrm>
            <a:off x="0" y="1050468"/>
            <a:ext cx="12192000" cy="0"/>
          </a:xfrm>
          <a:prstGeom prst="line">
            <a:avLst/>
          </a:prstGeom>
          <a:ln w="57150">
            <a:solidFill>
              <a:srgbClr val="D49B0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3D914093-D2FD-8E99-476A-C18A7E74ED59}"/>
              </a:ext>
            </a:extLst>
          </p:cNvPr>
          <p:cNvCxnSpPr>
            <a:cxnSpLocks/>
          </p:cNvCxnSpPr>
          <p:nvPr/>
        </p:nvCxnSpPr>
        <p:spPr>
          <a:xfrm>
            <a:off x="0" y="979812"/>
            <a:ext cx="12192000" cy="0"/>
          </a:xfrm>
          <a:prstGeom prst="line">
            <a:avLst/>
          </a:prstGeom>
          <a:ln w="57150">
            <a:solidFill>
              <a:srgbClr val="1C27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7" name="Picture 46" descr="A blue circle with a yellow and white bird in it&#10;&#10;AI-generated content may be incorrect.">
            <a:extLst>
              <a:ext uri="{FF2B5EF4-FFF2-40B4-BE49-F238E27FC236}">
                <a16:creationId xmlns:a16="http://schemas.microsoft.com/office/drawing/2014/main" id="{A770A8F7-9B7B-6BA9-B205-2453EE4E654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5438" y="219712"/>
            <a:ext cx="606500" cy="606500"/>
          </a:xfrm>
          <a:prstGeom prst="rect">
            <a:avLst/>
          </a:prstGeom>
        </p:spPr>
      </p:pic>
      <p:sp>
        <p:nvSpPr>
          <p:cNvPr id="7" name="Subtitle 2">
            <a:extLst>
              <a:ext uri="{FF2B5EF4-FFF2-40B4-BE49-F238E27FC236}">
                <a16:creationId xmlns:a16="http://schemas.microsoft.com/office/drawing/2014/main" id="{31E856E0-2C67-432D-334C-A32FBD8EDB0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51353" y="1133413"/>
            <a:ext cx="10459234" cy="5204749"/>
          </a:xfrm>
        </p:spPr>
        <p:txBody>
          <a:bodyPr>
            <a:noAutofit/>
          </a:bodyPr>
          <a:lstStyle/>
          <a:p>
            <a:pPr algn="l">
              <a:lnSpc>
                <a:spcPct val="150000"/>
              </a:lnSpc>
              <a:spcBef>
                <a:spcPts val="1500"/>
              </a:spcBef>
            </a:pPr>
            <a:r>
              <a:rPr lang="en-US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   </a:t>
            </a:r>
            <a:r>
              <a:rPr lang="en-KH" dirty="0"/>
              <a:t>👉 </a:t>
            </a:r>
            <a:r>
              <a:rPr lang="en-US" dirty="0" err="1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ការចូលប្រើ</a:t>
            </a:r>
            <a:r>
              <a:rPr lang="en-US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</a:t>
            </a:r>
            <a:r>
              <a:rPr lang="en-US" dirty="0" err="1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និងការកែប្រែតម្លៃនៃធាតុនីមួយ</a:t>
            </a:r>
            <a:r>
              <a:rPr lang="en-US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</a:t>
            </a:r>
            <a:r>
              <a:rPr lang="en-US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៖</a:t>
            </a:r>
          </a:p>
          <a:p>
            <a:pPr marL="800100" lvl="1" indent="-342900" algn="l">
              <a:lnSpc>
                <a:spcPct val="150000"/>
              </a:lnSpc>
              <a:spcBef>
                <a:spcPts val="1500"/>
              </a:spcBef>
              <a:buFont typeface="Wingdings" pitchFamily="2" charset="2"/>
              <a:buChar char="Ø"/>
            </a:pPr>
            <a:r>
              <a:rPr lang="en-US" sz="2400" dirty="0" err="1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ទម្រង់នៃការចូលប្រើ</a:t>
            </a:r>
            <a:r>
              <a:rPr lang="en-US" sz="24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:  </a:t>
            </a:r>
            <a:r>
              <a:rPr lang="en-US" sz="24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arrays[ </a:t>
            </a:r>
            <a:r>
              <a:rPr lang="km-KH" sz="24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សន្ទស្សន៍</a:t>
            </a:r>
            <a:r>
              <a:rPr lang="en-US" sz="24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US" sz="2400" dirty="0" err="1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ឫ</a:t>
            </a:r>
            <a:r>
              <a:rPr lang="en-US" sz="24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index </a:t>
            </a:r>
            <a:r>
              <a:rPr lang="en-US" sz="24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]</a:t>
            </a:r>
            <a:r>
              <a:rPr lang="en-US" sz="24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;</a:t>
            </a:r>
          </a:p>
          <a:p>
            <a:pPr lvl="1" algn="l">
              <a:lnSpc>
                <a:spcPct val="150000"/>
              </a:lnSpc>
              <a:spcBef>
                <a:spcPts val="1500"/>
              </a:spcBef>
            </a:pPr>
            <a:r>
              <a:rPr lang="en-US" sz="24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	</a:t>
            </a:r>
            <a:r>
              <a:rPr lang="en-US" sz="2400" dirty="0" err="1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ឧទាហរណ</a:t>
            </a:r>
            <a:r>
              <a:rPr lang="en-US" sz="24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៍៖</a:t>
            </a:r>
            <a:r>
              <a:rPr lang="en-US" sz="24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US" sz="24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int </a:t>
            </a:r>
            <a:r>
              <a:rPr lang="en-US" sz="2400" dirty="0" err="1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studentId</a:t>
            </a:r>
            <a:r>
              <a:rPr lang="en-US" sz="24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US" sz="24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=</a:t>
            </a:r>
            <a:r>
              <a:rPr lang="en-US" sz="24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US" sz="2400" dirty="0" err="1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studentIds</a:t>
            </a:r>
            <a:r>
              <a:rPr lang="en-US" sz="24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[</a:t>
            </a:r>
            <a:r>
              <a:rPr lang="en-US" sz="24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0</a:t>
            </a:r>
            <a:r>
              <a:rPr lang="en-US" sz="24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]</a:t>
            </a:r>
            <a:r>
              <a:rPr lang="en-US" sz="24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;</a:t>
            </a:r>
          </a:p>
          <a:p>
            <a:pPr marL="800100" lvl="1" indent="-342900" algn="l">
              <a:lnSpc>
                <a:spcPct val="150000"/>
              </a:lnSpc>
              <a:spcBef>
                <a:spcPts val="1500"/>
              </a:spcBef>
              <a:buFont typeface="Wingdings" pitchFamily="2" charset="2"/>
              <a:buChar char="Ø"/>
            </a:pPr>
            <a:r>
              <a:rPr lang="en-US" sz="2400" dirty="0" err="1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ទម្រង់នៃការកែប្រែតម្លៃ</a:t>
            </a:r>
            <a:r>
              <a:rPr lang="en-US" sz="24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: </a:t>
            </a:r>
            <a:r>
              <a:rPr lang="en-US" sz="24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arrays[ </a:t>
            </a:r>
            <a:r>
              <a:rPr lang="km-KH" sz="24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សន្ទស្សន៍</a:t>
            </a:r>
            <a:r>
              <a:rPr lang="en-US" sz="24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US" sz="2400" dirty="0" err="1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ឫ</a:t>
            </a:r>
            <a:r>
              <a:rPr lang="en-US" sz="24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index </a:t>
            </a:r>
            <a:r>
              <a:rPr lang="en-US" sz="24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] </a:t>
            </a:r>
            <a:r>
              <a:rPr lang="en-US" sz="24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=</a:t>
            </a:r>
            <a:r>
              <a:rPr lang="en-US" sz="24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US" sz="2400" dirty="0" err="1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តម្លៃថ្មី</a:t>
            </a:r>
            <a:r>
              <a:rPr lang="en-US" sz="24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;</a:t>
            </a:r>
            <a:endParaRPr lang="en-US" sz="2400" dirty="0">
              <a:solidFill>
                <a:srgbClr val="0070C0"/>
              </a:solidFill>
              <a:latin typeface="Khmer OS Content" panose="02000500000000020004" pitchFamily="2" charset="77"/>
              <a:cs typeface="Khmer OS Content" panose="02000500000000020004" pitchFamily="2" charset="77"/>
            </a:endParaRPr>
          </a:p>
          <a:p>
            <a:pPr lvl="1" algn="l">
              <a:lnSpc>
                <a:spcPct val="150000"/>
              </a:lnSpc>
              <a:spcBef>
                <a:spcPts val="1500"/>
              </a:spcBef>
            </a:pPr>
            <a:r>
              <a:rPr lang="en-US" sz="24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    </a:t>
            </a:r>
            <a:r>
              <a:rPr lang="en-US" sz="2400" dirty="0" err="1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ឧទាហរណ</a:t>
            </a:r>
            <a:r>
              <a:rPr lang="en-US" sz="24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៍៖ </a:t>
            </a:r>
            <a:r>
              <a:rPr lang="en-US" sz="2400" dirty="0" err="1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studentIds</a:t>
            </a:r>
            <a:r>
              <a:rPr lang="en-US" sz="24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[</a:t>
            </a:r>
            <a:r>
              <a:rPr lang="en-US" sz="24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0</a:t>
            </a:r>
            <a:r>
              <a:rPr lang="en-US" sz="24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] </a:t>
            </a:r>
            <a:r>
              <a:rPr lang="en-US" sz="24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= </a:t>
            </a:r>
            <a:r>
              <a:rPr lang="en-US" sz="24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1</a:t>
            </a:r>
            <a:r>
              <a:rPr lang="en-US" sz="24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;</a:t>
            </a:r>
          </a:p>
          <a:p>
            <a:pPr lvl="1" algn="l">
              <a:lnSpc>
                <a:spcPct val="150000"/>
              </a:lnSpc>
              <a:spcBef>
                <a:spcPts val="1500"/>
              </a:spcBef>
            </a:pPr>
            <a:r>
              <a:rPr lang="en-KH" sz="2400" dirty="0"/>
              <a:t>👉 </a:t>
            </a:r>
            <a:r>
              <a:rPr lang="en-US" sz="2400" dirty="0" err="1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ដើម្បីពិនិត្យចំនួនធាតុនៃ</a:t>
            </a:r>
            <a:r>
              <a:rPr lang="en-US" sz="24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Arrays </a:t>
            </a:r>
            <a:r>
              <a:rPr lang="en-US" sz="2400" dirty="0" err="1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យើងត្រូវប្រើ</a:t>
            </a:r>
            <a:r>
              <a:rPr lang="en-US" sz="24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method  “</a:t>
            </a:r>
            <a:r>
              <a:rPr lang="en-US" sz="2400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length</a:t>
            </a:r>
            <a:r>
              <a:rPr lang="en-US" sz="24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” ។</a:t>
            </a:r>
            <a:endParaRPr lang="en-US" dirty="0">
              <a:solidFill>
                <a:srgbClr val="FF0000"/>
              </a:solidFill>
              <a:latin typeface="Khmer OS Battambang" panose="02000500000000020004" pitchFamily="2" charset="77"/>
              <a:cs typeface="Khmer OS Battambang" panose="02000500000000020004" pitchFamily="2" charset="77"/>
            </a:endParaRPr>
          </a:p>
          <a:p>
            <a:pPr lvl="1" algn="l">
              <a:lnSpc>
                <a:spcPct val="150000"/>
              </a:lnSpc>
              <a:spcBef>
                <a:spcPts val="1500"/>
              </a:spcBef>
            </a:pPr>
            <a:r>
              <a:rPr lang="en-US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	</a:t>
            </a:r>
            <a:r>
              <a:rPr lang="en-US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US" dirty="0" err="1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ឧទាហរណ</a:t>
            </a:r>
            <a:r>
              <a:rPr lang="en-US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៍៖ </a:t>
            </a:r>
            <a:r>
              <a:rPr lang="en-US" dirty="0" err="1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studentIds</a:t>
            </a:r>
            <a:r>
              <a:rPr lang="en-US" dirty="0" err="1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.length</a:t>
            </a:r>
            <a:r>
              <a:rPr lang="en-US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;</a:t>
            </a:r>
            <a:endParaRPr lang="en-US" dirty="0">
              <a:solidFill>
                <a:srgbClr val="FF0000"/>
              </a:solidFill>
              <a:latin typeface="Khmer OS Battambang" panose="02000500000000020004" pitchFamily="2" charset="77"/>
              <a:cs typeface="Khmer OS Battambang" panose="02000500000000020004" pitchFamily="2" charset="77"/>
            </a:endParaRPr>
          </a:p>
          <a:p>
            <a:pPr lvl="1" algn="l">
              <a:lnSpc>
                <a:spcPct val="150000"/>
              </a:lnSpc>
              <a:spcBef>
                <a:spcPts val="1500"/>
              </a:spcBef>
            </a:pPr>
            <a:r>
              <a:rPr lang="en-US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	</a:t>
            </a:r>
          </a:p>
        </p:txBody>
      </p:sp>
    </p:spTree>
    <p:extLst>
      <p:ext uri="{BB962C8B-B14F-4D97-AF65-F5344CB8AC3E}">
        <p14:creationId xmlns:p14="http://schemas.microsoft.com/office/powerpoint/2010/main" val="1658285622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1009183-08C5-FE65-02DC-71F962302F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350CD83-6202-5A4E-3C8C-F5F2B960171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701800" y="119781"/>
            <a:ext cx="9144000" cy="789373"/>
          </a:xfrm>
        </p:spPr>
        <p:txBody>
          <a:bodyPr>
            <a:normAutofit/>
          </a:bodyPr>
          <a:lstStyle/>
          <a:p>
            <a:pPr algn="l"/>
            <a:r>
              <a:rPr lang="en-US" sz="3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Arrays (</a:t>
            </a:r>
            <a:r>
              <a:rPr lang="en-US" sz="3600" dirty="0" err="1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ត</a:t>
            </a:r>
            <a:r>
              <a:rPr lang="en-US" sz="3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)</a:t>
            </a:r>
            <a:endParaRPr lang="en-KH" sz="3600" dirty="0">
              <a:solidFill>
                <a:srgbClr val="002060"/>
              </a:solidFill>
              <a:latin typeface="Khmer OS Battambang" panose="02000500000000020004" pitchFamily="2" charset="77"/>
              <a:cs typeface="Khmer OS Battambang" panose="02000500000000020004" pitchFamily="2" charset="77"/>
            </a:endParaRP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49E71593-B715-BCEA-46F2-84C54601C885}"/>
              </a:ext>
            </a:extLst>
          </p:cNvPr>
          <p:cNvCxnSpPr/>
          <p:nvPr/>
        </p:nvCxnSpPr>
        <p:spPr>
          <a:xfrm>
            <a:off x="0" y="1050468"/>
            <a:ext cx="12192000" cy="0"/>
          </a:xfrm>
          <a:prstGeom prst="line">
            <a:avLst/>
          </a:prstGeom>
          <a:ln w="57150">
            <a:solidFill>
              <a:srgbClr val="D49B0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830723D0-0790-137B-4BBA-59F6D05382F7}"/>
              </a:ext>
            </a:extLst>
          </p:cNvPr>
          <p:cNvCxnSpPr>
            <a:cxnSpLocks/>
          </p:cNvCxnSpPr>
          <p:nvPr/>
        </p:nvCxnSpPr>
        <p:spPr>
          <a:xfrm>
            <a:off x="0" y="979812"/>
            <a:ext cx="12192000" cy="0"/>
          </a:xfrm>
          <a:prstGeom prst="line">
            <a:avLst/>
          </a:prstGeom>
          <a:ln w="57150">
            <a:solidFill>
              <a:srgbClr val="1C27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7" name="Picture 46" descr="A blue circle with a yellow and white bird in it&#10;&#10;AI-generated content may be incorrect.">
            <a:extLst>
              <a:ext uri="{FF2B5EF4-FFF2-40B4-BE49-F238E27FC236}">
                <a16:creationId xmlns:a16="http://schemas.microsoft.com/office/drawing/2014/main" id="{C9D35385-B7A4-45D0-0C61-9607D17E029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5438" y="219712"/>
            <a:ext cx="606500" cy="606500"/>
          </a:xfrm>
          <a:prstGeom prst="rect">
            <a:avLst/>
          </a:prstGeom>
        </p:spPr>
      </p:pic>
      <p:sp>
        <p:nvSpPr>
          <p:cNvPr id="7" name="Subtitle 2">
            <a:extLst>
              <a:ext uri="{FF2B5EF4-FFF2-40B4-BE49-F238E27FC236}">
                <a16:creationId xmlns:a16="http://schemas.microsoft.com/office/drawing/2014/main" id="{03298875-D3EA-F93E-A8C5-72729A566A8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51353" y="1133413"/>
            <a:ext cx="10459234" cy="5204749"/>
          </a:xfrm>
        </p:spPr>
        <p:txBody>
          <a:bodyPr>
            <a:noAutofit/>
          </a:bodyPr>
          <a:lstStyle/>
          <a:p>
            <a:pPr algn="l">
              <a:lnSpc>
                <a:spcPct val="150000"/>
              </a:lnSpc>
              <a:spcBef>
                <a:spcPts val="1500"/>
              </a:spcBef>
            </a:pPr>
            <a:r>
              <a:rPr lang="en-US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</a:t>
            </a:r>
            <a:r>
              <a:rPr lang="en-KH" dirty="0"/>
              <a:t>👉 </a:t>
            </a:r>
            <a:r>
              <a:rPr lang="en-US" dirty="0" err="1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ការចូលប្រើតម្លៃនៃធាតុនីមួយដោយប្រើ</a:t>
            </a:r>
            <a:r>
              <a:rPr lang="en-US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loop</a:t>
            </a:r>
            <a:r>
              <a:rPr lang="en-US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៖</a:t>
            </a:r>
          </a:p>
          <a:p>
            <a:pPr marL="800100" lvl="1" indent="-342900" algn="l">
              <a:lnSpc>
                <a:spcPct val="150000"/>
              </a:lnSpc>
              <a:spcBef>
                <a:spcPts val="1500"/>
              </a:spcBef>
              <a:buFont typeface="Wingdings" pitchFamily="2" charset="2"/>
              <a:buChar char="Ø"/>
            </a:pPr>
            <a:r>
              <a:rPr lang="en-US" sz="24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ឧទាហរណ៍ទី១​ (for loop)៖</a:t>
            </a:r>
            <a:r>
              <a:rPr lang="en-US" sz="24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endParaRPr lang="en-US" sz="2400" dirty="0">
              <a:solidFill>
                <a:srgbClr val="FF0000"/>
              </a:solidFill>
              <a:latin typeface="Khmer OS Content" panose="02000500000000020004" pitchFamily="2" charset="77"/>
              <a:cs typeface="Khmer OS Content" panose="02000500000000020004" pitchFamily="2" charset="77"/>
            </a:endParaRPr>
          </a:p>
          <a:p>
            <a:pPr lvl="1" algn="l">
              <a:lnSpc>
                <a:spcPct val="150000"/>
              </a:lnSpc>
              <a:spcBef>
                <a:spcPts val="1500"/>
              </a:spcBef>
            </a:pPr>
            <a:r>
              <a:rPr lang="en-US" sz="24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	 int[] </a:t>
            </a:r>
            <a:r>
              <a:rPr lang="en-US" sz="2400" dirty="0" err="1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studentIds</a:t>
            </a:r>
            <a:r>
              <a:rPr lang="en-US" sz="24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US" sz="24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=</a:t>
            </a:r>
            <a:r>
              <a:rPr lang="en-US" sz="24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{</a:t>
            </a:r>
            <a:r>
              <a:rPr lang="en-US" sz="24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1</a:t>
            </a:r>
            <a:r>
              <a:rPr lang="en-US" sz="24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, </a:t>
            </a:r>
            <a:r>
              <a:rPr lang="en-US" sz="24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3</a:t>
            </a:r>
            <a:r>
              <a:rPr lang="en-US" sz="24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, </a:t>
            </a:r>
            <a:r>
              <a:rPr lang="en-US" sz="24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5</a:t>
            </a:r>
            <a:r>
              <a:rPr lang="en-US" sz="24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}</a:t>
            </a:r>
            <a:r>
              <a:rPr lang="en-US" sz="24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;</a:t>
            </a:r>
          </a:p>
          <a:p>
            <a:pPr lvl="1" algn="l">
              <a:lnSpc>
                <a:spcPct val="150000"/>
              </a:lnSpc>
              <a:spcBef>
                <a:spcPts val="1500"/>
              </a:spcBef>
            </a:pPr>
            <a:r>
              <a:rPr lang="en-US" sz="24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     for(</a:t>
            </a:r>
            <a:r>
              <a:rPr lang="en-US" sz="24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int</a:t>
            </a:r>
            <a:r>
              <a:rPr lang="en-US" sz="24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US" sz="2400" dirty="0" err="1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i</a:t>
            </a:r>
            <a:r>
              <a:rPr lang="en-US" sz="24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=</a:t>
            </a:r>
            <a:r>
              <a:rPr lang="en-US" sz="24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0</a:t>
            </a:r>
            <a:r>
              <a:rPr lang="en-US" sz="24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; </a:t>
            </a:r>
            <a:r>
              <a:rPr lang="en-US" sz="2400" dirty="0" err="1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i</a:t>
            </a:r>
            <a:r>
              <a:rPr lang="en-US" sz="24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US" sz="24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&lt;</a:t>
            </a:r>
            <a:r>
              <a:rPr lang="en-US" sz="24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US" sz="2400" dirty="0" err="1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studentIds</a:t>
            </a:r>
            <a:r>
              <a:rPr lang="en-US" sz="2400" dirty="0" err="1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.length</a:t>
            </a:r>
            <a:r>
              <a:rPr lang="en-US" sz="24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; </a:t>
            </a:r>
            <a:r>
              <a:rPr lang="en-US" sz="2400" dirty="0" err="1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i</a:t>
            </a:r>
            <a:r>
              <a:rPr lang="en-US" sz="24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++</a:t>
            </a:r>
            <a:r>
              <a:rPr lang="en-US" sz="24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){</a:t>
            </a:r>
          </a:p>
          <a:p>
            <a:pPr lvl="1" algn="l">
              <a:lnSpc>
                <a:spcPct val="150000"/>
              </a:lnSpc>
              <a:spcBef>
                <a:spcPts val="1500"/>
              </a:spcBef>
            </a:pPr>
            <a:r>
              <a:rPr lang="en-US" sz="24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            </a:t>
            </a:r>
            <a:r>
              <a:rPr lang="en-US" sz="2400" dirty="0" err="1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System.out.println</a:t>
            </a:r>
            <a:r>
              <a:rPr lang="en-US" sz="24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(</a:t>
            </a:r>
            <a:r>
              <a:rPr lang="en-US" sz="24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"</a:t>
            </a:r>
            <a:r>
              <a:rPr lang="en-US" sz="2400" dirty="0" err="1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studentId</a:t>
            </a:r>
            <a:r>
              <a:rPr lang="en-US" sz="24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["</a:t>
            </a:r>
            <a:r>
              <a:rPr lang="en-US" sz="24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+ </a:t>
            </a:r>
            <a:r>
              <a:rPr lang="en-US" sz="2400" dirty="0" err="1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i</a:t>
            </a:r>
            <a:r>
              <a:rPr lang="en-US" sz="24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+</a:t>
            </a:r>
            <a:r>
              <a:rPr lang="en-US" sz="24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"]: "</a:t>
            </a:r>
            <a:r>
              <a:rPr lang="en-US" sz="24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+ </a:t>
            </a:r>
            <a:r>
              <a:rPr lang="en-US" sz="2400" dirty="0" err="1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studentIds</a:t>
            </a:r>
            <a:r>
              <a:rPr lang="en-US" sz="24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[</a:t>
            </a:r>
            <a:r>
              <a:rPr lang="en-US" sz="2400" dirty="0" err="1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i</a:t>
            </a:r>
            <a:r>
              <a:rPr lang="en-US" sz="24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]</a:t>
            </a:r>
            <a:r>
              <a:rPr lang="en-US" sz="24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);</a:t>
            </a:r>
          </a:p>
          <a:p>
            <a:pPr lvl="1" algn="l">
              <a:lnSpc>
                <a:spcPct val="150000"/>
              </a:lnSpc>
              <a:spcBef>
                <a:spcPts val="1500"/>
              </a:spcBef>
            </a:pPr>
            <a:r>
              <a:rPr lang="en-US" sz="24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     }</a:t>
            </a:r>
            <a:br>
              <a:rPr lang="en-US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</a:br>
            <a:endParaRPr lang="en-US" dirty="0">
              <a:solidFill>
                <a:srgbClr val="0070C0"/>
              </a:solidFill>
              <a:latin typeface="Khmer OS Battambang" panose="02000500000000020004" pitchFamily="2" charset="77"/>
              <a:cs typeface="Khmer OS Battambang" panose="02000500000000020004" pitchFamily="2" charset="77"/>
            </a:endParaRPr>
          </a:p>
        </p:txBody>
      </p:sp>
    </p:spTree>
    <p:extLst>
      <p:ext uri="{BB962C8B-B14F-4D97-AF65-F5344CB8AC3E}">
        <p14:creationId xmlns:p14="http://schemas.microsoft.com/office/powerpoint/2010/main" val="93930204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60D7547-6B57-1118-CC4F-C65DE11E01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B2F95E9-ECB9-0445-B635-F3C62895568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701800" y="119781"/>
            <a:ext cx="9144000" cy="789373"/>
          </a:xfrm>
        </p:spPr>
        <p:txBody>
          <a:bodyPr>
            <a:normAutofit/>
          </a:bodyPr>
          <a:lstStyle/>
          <a:p>
            <a:pPr algn="l"/>
            <a:r>
              <a:rPr lang="en-US" sz="3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Arrays (</a:t>
            </a:r>
            <a:r>
              <a:rPr lang="en-US" sz="3600" dirty="0" err="1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ត</a:t>
            </a:r>
            <a:r>
              <a:rPr lang="en-US" sz="3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)</a:t>
            </a:r>
            <a:endParaRPr lang="en-KH" sz="3600" dirty="0">
              <a:solidFill>
                <a:srgbClr val="002060"/>
              </a:solidFill>
              <a:latin typeface="Khmer OS Battambang" panose="02000500000000020004" pitchFamily="2" charset="77"/>
              <a:cs typeface="Khmer OS Battambang" panose="02000500000000020004" pitchFamily="2" charset="77"/>
            </a:endParaRP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69203C01-97AD-397D-6D61-7B28EBC5F463}"/>
              </a:ext>
            </a:extLst>
          </p:cNvPr>
          <p:cNvCxnSpPr/>
          <p:nvPr/>
        </p:nvCxnSpPr>
        <p:spPr>
          <a:xfrm>
            <a:off x="0" y="1050468"/>
            <a:ext cx="12192000" cy="0"/>
          </a:xfrm>
          <a:prstGeom prst="line">
            <a:avLst/>
          </a:prstGeom>
          <a:ln w="57150">
            <a:solidFill>
              <a:srgbClr val="D49B0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9776468C-97E3-5A19-84FE-196BBD30A614}"/>
              </a:ext>
            </a:extLst>
          </p:cNvPr>
          <p:cNvCxnSpPr>
            <a:cxnSpLocks/>
          </p:cNvCxnSpPr>
          <p:nvPr/>
        </p:nvCxnSpPr>
        <p:spPr>
          <a:xfrm>
            <a:off x="0" y="979812"/>
            <a:ext cx="12192000" cy="0"/>
          </a:xfrm>
          <a:prstGeom prst="line">
            <a:avLst/>
          </a:prstGeom>
          <a:ln w="57150">
            <a:solidFill>
              <a:srgbClr val="1C27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7" name="Picture 46" descr="A blue circle with a yellow and white bird in it&#10;&#10;AI-generated content may be incorrect.">
            <a:extLst>
              <a:ext uri="{FF2B5EF4-FFF2-40B4-BE49-F238E27FC236}">
                <a16:creationId xmlns:a16="http://schemas.microsoft.com/office/drawing/2014/main" id="{D9F0867B-1767-C514-6607-E6F98C72B7C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5438" y="219712"/>
            <a:ext cx="606500" cy="606500"/>
          </a:xfrm>
          <a:prstGeom prst="rect">
            <a:avLst/>
          </a:prstGeom>
        </p:spPr>
      </p:pic>
      <p:sp>
        <p:nvSpPr>
          <p:cNvPr id="7" name="Subtitle 2">
            <a:extLst>
              <a:ext uri="{FF2B5EF4-FFF2-40B4-BE49-F238E27FC236}">
                <a16:creationId xmlns:a16="http://schemas.microsoft.com/office/drawing/2014/main" id="{5F544F2C-6672-9F74-C84A-3BB025FA7FB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51353" y="1133413"/>
            <a:ext cx="10459234" cy="5204749"/>
          </a:xfrm>
        </p:spPr>
        <p:txBody>
          <a:bodyPr>
            <a:noAutofit/>
          </a:bodyPr>
          <a:lstStyle/>
          <a:p>
            <a:pPr marL="800100" lvl="1" indent="-342900" algn="l">
              <a:lnSpc>
                <a:spcPct val="150000"/>
              </a:lnSpc>
              <a:spcBef>
                <a:spcPts val="1500"/>
              </a:spcBef>
              <a:buFont typeface="Wingdings" pitchFamily="2" charset="2"/>
              <a:buChar char="Ø"/>
            </a:pPr>
            <a:r>
              <a:rPr lang="en-US" sz="24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ឧទាហរណ៍ទី២​ (for-each loop)៖</a:t>
            </a:r>
            <a:r>
              <a:rPr lang="en-US" sz="24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endParaRPr lang="en-US" sz="2400" dirty="0">
              <a:solidFill>
                <a:srgbClr val="FF0000"/>
              </a:solidFill>
              <a:latin typeface="Khmer OS Content" panose="02000500000000020004" pitchFamily="2" charset="77"/>
              <a:cs typeface="Khmer OS Content" panose="02000500000000020004" pitchFamily="2" charset="77"/>
            </a:endParaRPr>
          </a:p>
          <a:p>
            <a:pPr lvl="1" algn="l">
              <a:lnSpc>
                <a:spcPct val="150000"/>
              </a:lnSpc>
              <a:spcBef>
                <a:spcPts val="1500"/>
              </a:spcBef>
            </a:pPr>
            <a:r>
              <a:rPr lang="en-US" sz="24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	 String[] </a:t>
            </a:r>
            <a:r>
              <a:rPr lang="en-US" sz="2400" dirty="0" err="1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studentIds</a:t>
            </a:r>
            <a:r>
              <a:rPr lang="en-US" sz="24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US" sz="24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=</a:t>
            </a:r>
            <a:r>
              <a:rPr lang="en-US" sz="24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{</a:t>
            </a:r>
            <a:r>
              <a:rPr lang="en-US" sz="24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1</a:t>
            </a:r>
            <a:r>
              <a:rPr lang="en-US" sz="24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, </a:t>
            </a:r>
            <a:r>
              <a:rPr lang="en-US" sz="24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3</a:t>
            </a:r>
            <a:r>
              <a:rPr lang="en-US" sz="24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, </a:t>
            </a:r>
            <a:r>
              <a:rPr lang="en-US" sz="24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5</a:t>
            </a:r>
            <a:r>
              <a:rPr lang="en-US" sz="24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}</a:t>
            </a:r>
            <a:r>
              <a:rPr lang="en-US" sz="24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;</a:t>
            </a:r>
          </a:p>
          <a:p>
            <a:pPr lvl="1" algn="l">
              <a:lnSpc>
                <a:spcPct val="150000"/>
              </a:lnSpc>
              <a:spcBef>
                <a:spcPts val="1500"/>
              </a:spcBef>
            </a:pPr>
            <a:r>
              <a:rPr lang="en-US" sz="24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     for(</a:t>
            </a:r>
            <a:r>
              <a:rPr lang="en-US" sz="24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int</a:t>
            </a:r>
            <a:r>
              <a:rPr lang="en-US" sz="24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US" sz="2400" dirty="0" err="1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studentId</a:t>
            </a:r>
            <a:r>
              <a:rPr lang="en-US" sz="24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: </a:t>
            </a:r>
            <a:r>
              <a:rPr lang="en-US" sz="2400" dirty="0" err="1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studentIds</a:t>
            </a:r>
            <a:r>
              <a:rPr lang="en-US" sz="24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){</a:t>
            </a:r>
          </a:p>
          <a:p>
            <a:pPr lvl="1" algn="l">
              <a:lnSpc>
                <a:spcPct val="150000"/>
              </a:lnSpc>
              <a:spcBef>
                <a:spcPts val="1500"/>
              </a:spcBef>
            </a:pPr>
            <a:r>
              <a:rPr lang="en-US" sz="24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		 </a:t>
            </a:r>
            <a:r>
              <a:rPr lang="en-US" sz="2400" dirty="0" err="1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System.out.println</a:t>
            </a:r>
            <a:r>
              <a:rPr lang="en-US" sz="24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(</a:t>
            </a:r>
            <a:r>
              <a:rPr lang="en-US" sz="24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"</a:t>
            </a:r>
            <a:r>
              <a:rPr lang="en-US" sz="2400" dirty="0" err="1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studentId</a:t>
            </a:r>
            <a:r>
              <a:rPr lang="en-US" sz="24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: "</a:t>
            </a:r>
            <a:r>
              <a:rPr lang="en-US" sz="24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+ </a:t>
            </a:r>
            <a:r>
              <a:rPr lang="en-US" sz="2400" dirty="0" err="1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studentId</a:t>
            </a:r>
            <a:r>
              <a:rPr lang="en-US" sz="24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);</a:t>
            </a:r>
          </a:p>
          <a:p>
            <a:pPr lvl="1" algn="l">
              <a:lnSpc>
                <a:spcPct val="150000"/>
              </a:lnSpc>
              <a:spcBef>
                <a:spcPts val="1500"/>
              </a:spcBef>
            </a:pPr>
            <a:r>
              <a:rPr lang="en-US" sz="24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     }</a:t>
            </a:r>
            <a:br>
              <a:rPr lang="en-US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</a:br>
            <a:endParaRPr lang="en-US" dirty="0">
              <a:solidFill>
                <a:srgbClr val="0070C0"/>
              </a:solidFill>
              <a:latin typeface="Khmer OS Battambang" panose="02000500000000020004" pitchFamily="2" charset="77"/>
              <a:cs typeface="Khmer OS Battambang" panose="02000500000000020004" pitchFamily="2" charset="77"/>
            </a:endParaRPr>
          </a:p>
        </p:txBody>
      </p:sp>
    </p:spTree>
    <p:extLst>
      <p:ext uri="{BB962C8B-B14F-4D97-AF65-F5344CB8AC3E}">
        <p14:creationId xmlns:p14="http://schemas.microsoft.com/office/powerpoint/2010/main" val="144630171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1963</TotalTime>
  <Words>4687</Words>
  <Application>Microsoft Macintosh PowerPoint</Application>
  <PresentationFormat>Widescreen</PresentationFormat>
  <Paragraphs>394</Paragraphs>
  <Slides>45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45</vt:i4>
      </vt:variant>
    </vt:vector>
  </HeadingPairs>
  <TitlesOfParts>
    <vt:vector size="53" baseType="lpstr">
      <vt:lpstr>Aptos</vt:lpstr>
      <vt:lpstr>Aptos Display</vt:lpstr>
      <vt:lpstr>Arial</vt:lpstr>
      <vt:lpstr>Kh Battambang</vt:lpstr>
      <vt:lpstr>Khmer OS Battambang</vt:lpstr>
      <vt:lpstr>Khmer OS Content</vt:lpstr>
      <vt:lpstr>Wingdings</vt:lpstr>
      <vt:lpstr>Office Theme</vt:lpstr>
      <vt:lpstr>   សម្រាប់អ្នកចាប់ផ្តើមដំបូង   </vt:lpstr>
      <vt:lpstr>មាតិកា</vt:lpstr>
      <vt:lpstr>អ្វីទៅជា Java?</vt:lpstr>
      <vt:lpstr>ប្រវត្តិនៃ Java</vt:lpstr>
      <vt:lpstr>Java Virtual Machine (JVM)</vt:lpstr>
      <vt:lpstr>Java Development Kit(JDK)</vt:lpstr>
      <vt:lpstr>Java Compiler</vt:lpstr>
      <vt:lpstr>ឧបករណ៍សម្រាប់សរសេរភាសា Java(IDE)</vt:lpstr>
      <vt:lpstr>ប្រយោគនៃភាសា Java (Java statements)</vt:lpstr>
      <vt:lpstr>ប្រភេទទិន្នន័យ (Data Type)</vt:lpstr>
      <vt:lpstr>ប្រភេទទិន្នន័យ (Data Type) (ត)</vt:lpstr>
      <vt:lpstr>ប្រភេទទិន្នន័យ (Data Type) (ត)</vt:lpstr>
      <vt:lpstr>Variable</vt:lpstr>
      <vt:lpstr>Operator</vt:lpstr>
      <vt:lpstr>Arithmetic Operators</vt:lpstr>
      <vt:lpstr>Assignment Operators</vt:lpstr>
      <vt:lpstr>Relational Operators</vt:lpstr>
      <vt:lpstr>Logical Operators</vt:lpstr>
      <vt:lpstr>Unary Operators</vt:lpstr>
      <vt:lpstr>Ternary Operator</vt:lpstr>
      <vt:lpstr>instanceof Operator</vt:lpstr>
      <vt:lpstr>Control Flow</vt:lpstr>
      <vt:lpstr>ប្រយោគបង្កើតការសម្រចចិត្ត</vt:lpstr>
      <vt:lpstr>ប្រយោគបង្កើតការសម្រចចិត្ត (ត)</vt:lpstr>
      <vt:lpstr>ប្រយោគបង្កើតការសម្រចចិត្ត (ត)</vt:lpstr>
      <vt:lpstr>ប្រយោគបង្កើតការសម្រចចិត្ត (ត)</vt:lpstr>
      <vt:lpstr>ប្រយោគរង្វិលជុំ(Loop Statements)</vt:lpstr>
      <vt:lpstr>for loop</vt:lpstr>
      <vt:lpstr>for loop(ត)</vt:lpstr>
      <vt:lpstr>for-each loop</vt:lpstr>
      <vt:lpstr>while loop</vt:lpstr>
      <vt:lpstr>do-while loop</vt:lpstr>
      <vt:lpstr>ប្រយោគផ្លោះ(Jump Statement)</vt:lpstr>
      <vt:lpstr>Exception Handling</vt:lpstr>
      <vt:lpstr>static</vt:lpstr>
      <vt:lpstr>Instance</vt:lpstr>
      <vt:lpstr>Methods និងParameters</vt:lpstr>
      <vt:lpstr>Methods និងParameters</vt:lpstr>
      <vt:lpstr>Methods និងParameters</vt:lpstr>
      <vt:lpstr>Methods និងParameters</vt:lpstr>
      <vt:lpstr>Arrays</vt:lpstr>
      <vt:lpstr>Arrays (ត)</vt:lpstr>
      <vt:lpstr>Arrays (ត)</vt:lpstr>
      <vt:lpstr>Arrays (ត)</vt:lpstr>
      <vt:lpstr>Arrays (ត)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Ngoun Chheng Hy</dc:creator>
  <cp:lastModifiedBy>Ngoun Chheng Hy</cp:lastModifiedBy>
  <cp:revision>653</cp:revision>
  <cp:lastPrinted>2026-01-11T04:09:46Z</cp:lastPrinted>
  <dcterms:created xsi:type="dcterms:W3CDTF">2026-01-06T12:55:20Z</dcterms:created>
  <dcterms:modified xsi:type="dcterms:W3CDTF">2026-01-26T16:56:04Z</dcterms:modified>
</cp:coreProperties>
</file>