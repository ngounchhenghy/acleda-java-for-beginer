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8"/>
  </p:notesMasterIdLst>
  <p:sldIdLst>
    <p:sldId id="257" r:id="rId2"/>
    <p:sldId id="285" r:id="rId3"/>
    <p:sldId id="256" r:id="rId4"/>
    <p:sldId id="259" r:id="rId5"/>
    <p:sldId id="258" r:id="rId6"/>
    <p:sldId id="260" r:id="rId7"/>
    <p:sldId id="278" r:id="rId8"/>
    <p:sldId id="261" r:id="rId9"/>
    <p:sldId id="262" r:id="rId10"/>
    <p:sldId id="277" r:id="rId11"/>
    <p:sldId id="263" r:id="rId12"/>
    <p:sldId id="264" r:id="rId13"/>
    <p:sldId id="265" r:id="rId14"/>
    <p:sldId id="266" r:id="rId15"/>
    <p:sldId id="279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6" r:id="rId24"/>
    <p:sldId id="274" r:id="rId25"/>
    <p:sldId id="275" r:id="rId26"/>
    <p:sldId id="280" r:id="rId27"/>
    <p:sldId id="281" r:id="rId28"/>
    <p:sldId id="282" r:id="rId29"/>
    <p:sldId id="283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0" r:id="rId45"/>
    <p:sldId id="301" r:id="rId46"/>
    <p:sldId id="303" r:id="rId47"/>
    <p:sldId id="302" r:id="rId48"/>
    <p:sldId id="304" r:id="rId49"/>
    <p:sldId id="305" r:id="rId50"/>
    <p:sldId id="306" r:id="rId51"/>
    <p:sldId id="307" r:id="rId52"/>
    <p:sldId id="308" r:id="rId53"/>
    <p:sldId id="309" r:id="rId54"/>
    <p:sldId id="310" r:id="rId55"/>
    <p:sldId id="311" r:id="rId56"/>
    <p:sldId id="312" r:id="rId57"/>
  </p:sldIdLst>
  <p:sldSz cx="12192000" cy="6858000"/>
  <p:notesSz cx="6858000" cy="9144000"/>
  <p:defaultTextStyle>
    <a:defPPr>
      <a:defRPr lang="en-K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49B06"/>
    <a:srgbClr val="1C27CF"/>
    <a:srgbClr val="FBB902"/>
    <a:srgbClr val="FF9300"/>
    <a:srgbClr val="F7D2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9443"/>
    <p:restoredTop sz="94719"/>
  </p:normalViewPr>
  <p:slideViewPr>
    <p:cSldViewPr snapToGrid="0">
      <p:cViewPr varScale="1">
        <p:scale>
          <a:sx n="101" d="100"/>
          <a:sy n="101" d="100"/>
        </p:scale>
        <p:origin x="208" y="60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K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B2FDEF-09AE-D841-82B5-B8C57D3BE67B}" type="datetimeFigureOut">
              <a:rPr lang="en-KH" smtClean="0"/>
              <a:t>3/2/26</a:t>
            </a:fld>
            <a:endParaRPr lang="en-K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K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K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DABFE7-2B72-E34A-B8CF-9CC2D7D3F47E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18915607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1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7141696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14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15506881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35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1140248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50405-EA6E-E7C9-0FB1-BE4DD6BD7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CE1FA3-7CE0-9711-EEE5-B7ECFB06CF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FBBAAE-706B-0E6C-4EC7-4E4C579A68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00FE22-2D10-12A0-0FBF-A72BBB002A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36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4281335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DE283-5004-EDFE-E284-418BADCFD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F24B57-B88F-A610-7A8D-C70500F5FB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EA1662-94C7-3A95-F22F-E7689C1DC2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5ABE0E-EB76-80D7-5DAD-D73AACF897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37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092022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363E8-59E2-C8BB-5CA7-74DE51905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985A76-7024-17A8-96EE-FD0AC6C266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B60A10-C287-7F89-55F7-108743D826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8A6232-3E57-1C7B-15D2-27E0569F26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38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4383211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F4739-DACE-B04A-8DDA-59A86FBD8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8D71B6-CA73-21CD-F878-519FC53404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F047CE-1D9D-1C5D-DB8E-67DD8205D7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4CDC08-6028-E4C0-131C-C85A04C07D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39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7021849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407BA6-33D2-0678-9B24-97F53DBCF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7C6A34-0BE4-679C-BCFF-D5E5D8A968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09A8C3-51E6-9018-4B4D-F7B3812337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7BD51D-3E34-C369-6D4E-0905E48488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40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1779144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6308FD-81B4-3104-8BF0-0F47DE1BD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1E55AF-C792-996D-7026-A94AF3ED30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1B95B1-1FBD-5FBA-5022-F35048AE0D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18853D-931F-B944-1396-C65C4BC146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41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6911017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873601-A223-BAE3-6ED2-B605EDAEC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3AFCA3-60DD-09BE-EBA8-A2021E7F5E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3E2ED4-D1C0-A138-8A7D-4C4E264637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DDF1FD-8DB3-DDC6-E160-E123FC0AC6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42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55850659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BE7EB-43AF-C2E4-36ED-D4DC00DB6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5C7A92-A94D-7CB6-4767-6A44B94B1B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31E1AC-8E5F-BECD-91D8-ABDEBDE999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2761C0-D103-476C-545E-92355F1DF2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43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7390669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D4DA4E-AC9B-6B5A-6C2E-19EDC8960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7521A7-6F5B-3267-4476-9A1DF6A156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192D46-32A6-D480-060D-78F03D364A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E395BE-9677-4790-7858-513151E647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44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57592458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0D41F5-4DAF-CDEB-11C2-8436EDA3E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6D71B7-A8E8-4A3E-BBBB-02374FD058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546D64-630E-435F-8910-0215ACF413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20DADF-EA0E-61F6-E4B1-AB5C3E1226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45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54573475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77AE13-7310-B22D-F2C2-C69AF471C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032311-35EA-91DA-CC3C-7EDC700B2B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F044A8-8159-7893-1536-4AD53FF5B4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BBB8B2-1033-322A-4A2C-1C59128F28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46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04353360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67797-8F42-EA5D-A33A-54B3D0EC7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F05F4F-0F0A-5914-E5FD-FFCC076635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EE9A03-F01F-B4D3-96F8-81F8094619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44008A-031B-F80D-A5A8-D3ED159D88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47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71105049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CF2B7-28BE-542C-680B-CDD4BA643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3822AD-D75A-26C1-11E9-EAF173415D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1912D2-5EC1-47F9-EB8A-86662F6359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B45DAF-C4C9-406A-77EC-523F3C3944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48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05637211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5034F-4929-703E-A983-7856F81BD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64837D-BF92-944A-FBD5-0FA64FC321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D28D48-1A74-3903-4505-87637A940D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71ABF0-D20B-1D30-C1DD-B84F54A6FE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49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17778185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96FB16-F1C0-2979-2E80-AC8D0CA71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19A462-8361-8367-72FE-EE6B2D2619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8D5FAD-10AD-0BAF-5D85-AE58ACC7C4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E7A73D-CE14-4615-4BB8-57D1949719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50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29998884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E52875-DDC5-0ED0-730F-26A528AF99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36E80B-A1BA-A42E-8972-B440CE5E30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B9C49F-61F5-1B88-8060-95396FBEDE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CE374A-2CC8-51B1-6FDD-26DBC482A6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51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10953456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E6DA5-D2FA-D3CF-B2B1-EC4CC7576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D7C9A9-4CE5-3A76-4692-809AD3623B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C6BBAA-CCAA-458A-2208-DDAB3CC75F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F54130-2A49-8339-B684-A31D06DEFA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52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31127690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E7F16-9F0C-077F-72BA-C54E20C67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93ED34-EDF8-FD84-00E5-B75425B726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696F6B-37D6-18FF-9525-422C950394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0353C6-B2DD-6A37-4E87-C853A5E865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53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83290271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A1B11-1AEA-A7EE-82BE-EE1733A58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46900C-E5DA-38BE-B67F-682D08808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3D7DAF-C1AB-45EA-60BC-7E667A1881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ADDE8B-6A57-5D47-F022-8DF49EA6AA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54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75770161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F20BE8-CBD1-F8E2-B817-C4D412764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62707B-5CCD-0BC1-24CE-F5DAEBC854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F55C62-9190-67B9-B96D-345EAF64D2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E5203F-5D48-DB12-ABF6-CFD47546CF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55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20399927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4A0FF-D4F8-4923-972C-ECD3DEB1D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036C73-6F2A-DB6D-10C7-F81D16D96D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169223-12A8-6AA1-D563-F1AABF6CA0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410BDD-C9DE-E49C-7096-6B341FF017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56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14350297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A92B20-97B0-BFE8-33A8-6ED6EF0D96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B3A344-7B9B-A86D-C38C-B6663E9ECF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K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85DA2D-97F9-996E-1A7F-053671A6E0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3/2/26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C6F87E-8ED6-2EC1-128A-C0C4AD76E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E212E0-D388-FE97-F524-B75760D440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7880584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D45033-11D5-AACD-36DD-6A5A404DB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B0BD3A-8858-736F-BB1B-431733E456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C0283A-9327-9628-574C-612C2DA9A6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3/2/26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88B789-84FF-3F91-EF3A-357C7F578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D225E5-510D-6A0A-7044-806F89652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13823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64BF2D-27B8-22F6-E2D1-49CD6A4F3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2890CE-1BF6-21FA-1C62-24D67E65BC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1EF9CE-E4DB-CFAF-6B77-B78A603EED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3/2/26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3C8D6A-23C8-7A30-CCB1-09BD88E99F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426B7D-E582-17D8-3321-401FC4D59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4573754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82CF3F-78E9-AA6D-4948-732FA9E312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8F34FD-6E08-D45D-177D-8E7E72DDF0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4195D7-018E-6BB1-598D-AF306C2559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8468ED-74DE-9272-347C-B9F780A22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3/2/26</a:t>
            </a:fld>
            <a:endParaRPr lang="en-K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75A200-39CD-EF7E-0187-F37CCE9B2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0B3CE2-5082-8512-ED0D-FC78EBB3A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8502649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EDDB90-FFDD-52A8-6C54-BFFF5C1F4B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D170F8-EC63-79CB-4B50-05C84AEF8C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ED119D-A17D-777C-2944-2E0C0462DC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60A5507-9F48-BD1B-4FB6-1285A1EA7E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C47E10D-9A3C-D69B-E36D-3ED811FED9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0E4C588-3075-74BC-0FF9-EC3F1035D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3/2/26</a:t>
            </a:fld>
            <a:endParaRPr lang="en-K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C570D63-AE1F-50C1-5089-2BBD015D3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E86FB9-3142-04A9-8F46-EEE231EA62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3455227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68A0DA-EF88-A891-9F84-F8396C11C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A44A92-6CB6-5FC8-C40A-8216978D9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3/2/26</a:t>
            </a:fld>
            <a:endParaRPr lang="en-K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BFCEEBE-3A6F-6309-B07F-8BC14F749B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A27192F-FB9E-FC80-8ACE-F2D874424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9320887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AA8E491-E1F8-8751-8252-11FCE4A69D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3/2/26</a:t>
            </a:fld>
            <a:endParaRPr lang="en-K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182E04-D7B8-01A9-0FFD-03FF9F8E8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C2186F-9254-9D89-55D8-75C414CE86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6838401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3941F4-FC4D-AD9F-340A-60400B381B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1635C5-0D68-7984-C398-8FF9D26B2A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A0C6B4-2BFE-AACD-3C8F-791644B46B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830EEE-36C9-C890-AA6E-C7D41AFFB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3/2/26</a:t>
            </a:fld>
            <a:endParaRPr lang="en-K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804BD5-1B0C-A6A1-CB1E-7F3088E14B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92806C-198E-9B48-60B9-8D100B708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5650798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FD7767-5206-B51A-F11B-94BAE866EA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84E6E24-1F13-33C8-CA09-CF8C3D8FECB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K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9867FE-C012-5FD3-F77C-DE609CB6CD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0F4DA8-DA37-E3B9-C1F8-DA37D22C3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3/2/26</a:t>
            </a:fld>
            <a:endParaRPr lang="en-K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E1ADDC-871E-7F98-022B-FE66B287B3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3DF440-5BE5-49FE-16CA-3E163353A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4267353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ECCA5-B5B9-71EF-30B5-652D0A9E8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81F8E4-CB5E-2DAD-CDA3-7C753D9609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1DCF3F-7F37-C3FE-F2FC-DF200465AC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3/2/26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17EB44-3DA1-1DB8-DDBD-991061BD9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58CE1A-B5C5-A4C6-303E-54C9263D1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41738428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25D7DAB-DDDE-8643-83A3-8B177C3A9E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56E13D-129B-2C77-FD05-B1BB45BD74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0D8C85-9541-9EBD-54A6-26A31FEE59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3/2/26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76762D-DE41-3B0D-37A5-7B3A040DC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33DBA5-5CC0-FE80-8C83-4E8C6E28FF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15376849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B53CF3-A869-244F-3FF5-4BEF223852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FC56A3-3D0F-1C46-F625-43A6AAF8DE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311A31-2AC6-AC57-EDC2-D54C8048BB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7A51AF-933C-9446-AB7C-4A14F59AF2F3}" type="datetimeFigureOut">
              <a:rPr lang="en-KH" smtClean="0"/>
              <a:t>3/2/26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C582D2-80F7-CCB1-8D23-DDCA04E8C1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6E82A1-1183-9FA9-82EB-0FC03B035B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9073338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K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www.oracle.com/java/technologies/downloads/" TargetMode="Externa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netbeans.apache.org/front/main/download" TargetMode="External"/><Relationship Id="rId2" Type="http://schemas.openxmlformats.org/officeDocument/2006/relationships/hyperlink" Target="https://spring.io/tools#eclipse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hyperlink" Target="https://www.jetbrains.com/idea/download" TargetMode="External"/><Relationship Id="rId4" Type="http://schemas.openxmlformats.org/officeDocument/2006/relationships/hyperlink" Target="https://code.visualstudio.com/download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Java programming language - ProgKids">
            <a:extLst>
              <a:ext uri="{FF2B5EF4-FFF2-40B4-BE49-F238E27FC236}">
                <a16:creationId xmlns:a16="http://schemas.microsoft.com/office/drawing/2014/main" id="{E15B2BE2-42B3-05E4-B46E-AF9EC81B46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6356" y="86504"/>
            <a:ext cx="6853818" cy="4283637"/>
          </a:xfrm>
          <a:prstGeom prst="rect">
            <a:avLst/>
          </a:prstGeom>
          <a:noFill/>
          <a:effectLst>
            <a:outerShdw blurRad="50800" dist="50800" dir="5400000" sx="1000" sy="1000" algn="ctr" rotWithShape="0">
              <a:srgbClr val="000000">
                <a:alpha val="43137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6E77245-BB7E-31F8-2C0A-701588E624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6700" y="3530601"/>
            <a:ext cx="7073900" cy="1854200"/>
          </a:xfrm>
          <a:effectLst>
            <a:outerShdw blurRad="50800" dist="50800" dir="5400000" sx="1000" sy="1000" algn="ctr" rotWithShape="0">
              <a:srgbClr val="000000">
                <a:alpha val="43137"/>
              </a:srgbClr>
            </a:outerShdw>
          </a:effectLst>
        </p:spPr>
        <p:txBody>
          <a:bodyPr>
            <a:noAutofit/>
          </a:bodyPr>
          <a:lstStyle/>
          <a:p>
            <a:pPr algn="ctr"/>
            <a:br>
              <a:rPr lang="en-KH" sz="6000" dirty="0">
                <a:solidFill>
                  <a:srgbClr val="002060"/>
                </a:solidFill>
                <a:effectLst>
                  <a:innerShdw blurRad="63500" dist="50800" dir="16200000">
                    <a:prstClr val="black">
                      <a:alpha val="50000"/>
                    </a:prstClr>
                  </a:innerShdw>
                </a:effectLst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br>
              <a:rPr lang="en-KH" sz="6000" dirty="0">
                <a:solidFill>
                  <a:srgbClr val="002060"/>
                </a:solidFill>
                <a:effectLst>
                  <a:innerShdw blurRad="63500" dist="50800" dir="16200000">
                    <a:prstClr val="black">
                      <a:alpha val="50000"/>
                    </a:prstClr>
                  </a:innerShdw>
                </a:effectLst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br>
              <a:rPr lang="en-KH" sz="6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54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សម្រាប់អ្នកចាប់ផ្តើមដំបូង</a:t>
            </a:r>
            <a:br>
              <a:rPr lang="en-KH" sz="6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br>
              <a:rPr lang="en-KH" sz="6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br>
              <a:rPr lang="en-KH" sz="6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KH" sz="60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EBDD3B2-F42D-358F-CBF2-3B58D1169800}"/>
              </a:ext>
            </a:extLst>
          </p:cNvPr>
          <p:cNvSpPr txBox="1">
            <a:spLocks/>
          </p:cNvSpPr>
          <p:nvPr/>
        </p:nvSpPr>
        <p:spPr>
          <a:xfrm>
            <a:off x="539750" y="5858956"/>
            <a:ext cx="4895850" cy="761999"/>
          </a:xfrm>
          <a:prstGeom prst="rect">
            <a:avLst/>
          </a:prstGeom>
          <a:effectLst>
            <a:outerShdw blurRad="50800" dist="50800" dir="5400000" sx="1000" sy="1000" algn="ctr" rotWithShape="0">
              <a:srgbClr val="000000">
                <a:alpha val="43137"/>
              </a:srgbClr>
            </a:outerShdw>
          </a:effectLst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KH" sz="2800" dirty="0">
                <a:solidFill>
                  <a:srgbClr val="002060"/>
                </a:solidFill>
                <a:effectLst>
                  <a:innerShdw blurRad="63500" dist="50800" dir="16200000">
                    <a:prstClr val="black">
                      <a:alpha val="50000"/>
                    </a:prstClr>
                  </a:innerShdw>
                </a:effectLst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បង្រៀនដោយ៖ លោក ងួន ឆេងហ៊ី</a:t>
            </a:r>
            <a:endParaRPr lang="en-KH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3124378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500"/>
                            </p:stCondLst>
                            <p:childTnLst>
                              <p:par>
                                <p:cTn id="15" presetID="4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 tmFilter="0,0; .5, 1; 1, 1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7E3D8-2A3E-05E8-5FD6-6DB6F5BEB4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មាតិកា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AAAA15-100F-2D87-E3A6-1E413672A8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417637"/>
            <a:ext cx="10472662" cy="5125659"/>
          </a:xfrm>
        </p:spPr>
        <p:txBody>
          <a:bodyPr numCol="2">
            <a:normAutofit fontScale="70000" lnSpcReduction="20000"/>
          </a:bodyPr>
          <a:lstStyle/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លក្ខណៈទូរទៅ និងការដំឡើង JDK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Variable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ប្រតិបត្តិករ (Operators)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Control Flow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 និងParameter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Arrays និងមូលដ្ឋាននៃការប្រមូល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OOP Concepts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class និង object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Inheritance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Polymorphism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Abstraction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ការកាន់កាប់ Exception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មូលដ្ឋាននៃ I/O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ការណែនាំអំពី Java Package 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ការអនុវត្តន៍ Java Project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endParaRPr lang="en-KH" sz="32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endParaRPr lang="en-KH" sz="3200" dirty="0">
              <a:solidFill>
                <a:srgbClr val="0070C0"/>
              </a:solidFill>
              <a:latin typeface="Kh Battambang" panose="02000500000000020004" pitchFamily="2" charset="77"/>
              <a:cs typeface="Kh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4ED8EBF-9896-23AD-8846-2B72B1837D16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62F01DB-C154-4658-5F7F-C4B6AD82BFD8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3609D81B-335C-FBB0-B76B-6DDCD80E22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4505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7E3D8-2A3E-05E8-5FD6-6DB6F5BEB4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អ្វីទៅជា Java?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AAAA15-100F-2D87-E3A6-1E413672A8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417638"/>
            <a:ext cx="10472662" cy="4389894"/>
          </a:xfrm>
        </p:spPr>
        <p:txBody>
          <a:bodyPr>
            <a:normAutofit fontScale="92500"/>
          </a:bodyPr>
          <a:lstStyle/>
          <a:p>
            <a:pPr algn="l"/>
            <a:endParaRPr lang="en-KH" dirty="0"/>
          </a:p>
          <a:p>
            <a:pPr algn="l">
              <a:lnSpc>
                <a:spcPct val="150000"/>
              </a:lnSpc>
            </a:pPr>
            <a:r>
              <a:rPr lang="en-KH" dirty="0"/>
              <a:t>	</a:t>
            </a: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</a:t>
            </a:r>
            <a:r>
              <a:rPr lang="en-KH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គឺជាភាសាសរសេរកម្មវីធីដ៍ពេញនិយម និងតម្រង់ទិសវត្ថុ(</a:t>
            </a:r>
            <a:r>
              <a:rPr lang="en-US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Object-Oriented Programing)​ </a:t>
            </a:r>
            <a:r>
              <a:rPr lang="en-US" sz="3200" dirty="0" err="1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ដែលត្រូវបានបង្កើតឡើងដោយក្រុមហ៊ុន</a:t>
            </a:r>
            <a:r>
              <a:rPr lang="en-US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 Sun Microsystems </a:t>
            </a:r>
            <a:r>
              <a:rPr lang="en-US" sz="3200" dirty="0" err="1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ដែលបច្ចុប្បន្នត្រូវបានគ្រប់គ្រងដោយក្រុមហ៊ុន</a:t>
            </a:r>
            <a:r>
              <a:rPr lang="en-US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 Oracle។ </a:t>
            </a:r>
            <a:r>
              <a:rPr lang="en-US" sz="3200" dirty="0" err="1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កម្មវីធីដែលសរសេរដោយភាសា</a:t>
            </a:r>
            <a:r>
              <a:rPr lang="en-US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 Java </a:t>
            </a:r>
            <a:r>
              <a:rPr lang="en-US" sz="3200" dirty="0" err="1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អាចដំណើរការលើគ្រប់ឧបករណ៍ណាដែលមាន</a:t>
            </a:r>
            <a:r>
              <a:rPr lang="en-US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 Java Virtual Machine (JVM)។</a:t>
            </a:r>
            <a:endParaRPr lang="en-KH" sz="3200" dirty="0">
              <a:solidFill>
                <a:srgbClr val="0070C0"/>
              </a:solidFill>
              <a:latin typeface="Kh Battambang" panose="02000500000000020004" pitchFamily="2" charset="77"/>
              <a:cs typeface="Kh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4ED8EBF-9896-23AD-8846-2B72B1837D16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62F01DB-C154-4658-5F7F-C4B6AD82BFD8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3609D81B-335C-FBB0-B76B-6DDCD80E22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041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3E2073-4B55-5AB1-4A05-4BFA987B5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053E6-4CA8-AD7E-AC0C-3B2CE38F9C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ប្រវត្តិនៃ Java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B93D69-B108-5836-CD61-38CCB64F06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195957"/>
            <a:ext cx="10472662" cy="5320581"/>
          </a:xfrm>
        </p:spPr>
        <p:txBody>
          <a:bodyPr>
            <a:normAutofit fontScale="32500" lnSpcReduction="20000"/>
          </a:bodyPr>
          <a:lstStyle/>
          <a:p>
            <a:pPr algn="l">
              <a:lnSpc>
                <a:spcPct val="150000"/>
              </a:lnSpc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</a:t>
            </a:r>
            <a:r>
              <a:rPr lang="en-KH" sz="4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7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</a:t>
            </a:r>
            <a:r>
              <a:rPr lang="en-KH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ត្រូវាបានអភិវឌ្ឍជាភាសាថ្មីមួយ(ផ្អែកលើ C++) ចាប់ពីឆ្នាំ 1991 ដល់ 1994 ​ដោយលោក 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James Gosling​,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លោក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Mike Sheridan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និងលោក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Patrick Naughton និងដាក់ឲ្យប្រើប្រាស់ជាផ្លូវការនៅឆ្នាំ1995។</a:t>
            </a:r>
            <a:br>
              <a:rPr lang="en-US" sz="7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7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Sun Microsystems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បានដាក់ឲ្យប្រើប្រាស់ជាផ្លូវការនូវ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Java 1.0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ក្នុងឆ្នាំ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1996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ជាមួយ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Web Applets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ដែលធ្វើឲ្យ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កាន់តែមានភាពពេញនិយមសម្រាប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Dynamic Web Content។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ក្រោយមកទៀត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2(J2SE 1.2)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ដែលមាន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J2EE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សម្រាប់សហគ្រាស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J2ME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Mobile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ត្រូវបានដាក់ឲ្យប្រើប្រាស់ជាផ្លូវការនៅឆ្នាំ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1998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1999។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បន្ទាប់មក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Core JVM ត្រូវបាន Sun ដាក់ឲ្យប្រើប្រាស់ជា          open-source នៅឆ្នាំ 2006។ </a:t>
            </a:r>
            <a:br>
              <a:rPr lang="en-KH" sz="7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7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Oracle </a:t>
            </a:r>
            <a:r>
              <a:rPr lang="en-KH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ទទួលបាន 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Sun Microsystems</a:t>
            </a:r>
            <a:r>
              <a:rPr lang="en-KH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នៅឆ្នាំ 2010 និងធ្វើការអភិវឌ្ឍបន្តរហូតមកដល់សព្វថ្ងៃ។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7214E84-2D5A-6F5E-323D-C9F0C90D3114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001CFDD-0ABE-8639-99B6-F95E039B4B82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59A56B10-D991-86D0-48A8-19105FF777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301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9970FC-2686-5948-92DD-9BA217F12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F2CCB-F663-B3FD-0118-5471DF0336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Virtual Machine (JVM)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6DD334-F88C-C46A-BF62-4993741289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417638"/>
            <a:ext cx="10472662" cy="4389894"/>
          </a:xfrm>
        </p:spPr>
        <p:txBody>
          <a:bodyPr>
            <a:normAutofit/>
          </a:bodyPr>
          <a:lstStyle/>
          <a:p>
            <a:pPr algn="l"/>
            <a:endParaRPr lang="en-KH" dirty="0"/>
          </a:p>
          <a:p>
            <a:pPr algn="l">
              <a:lnSpc>
                <a:spcPct val="150000"/>
              </a:lnSpc>
            </a:pPr>
            <a:r>
              <a:rPr lang="en-KH" dirty="0"/>
              <a:t>	</a:t>
            </a:r>
            <a:r>
              <a:rPr lang="en-US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Virtual Machine</a:t>
            </a: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គឺជាម៉ាស៊ីននិម្មិតដែលបើកប្រតិបត្តិការនៃ Java bytecode។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8301863-0496-1ED0-C49B-37DA6F1C8D28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A8143A4-7B3D-B78B-F996-3E97CC2772A6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E3E03E46-4FD8-44E6-FAE1-79578F9BC9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0839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92DCB6-D9F1-4FAD-25FF-81DB7D765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F03AD-6B62-D56F-E81C-5ED3F88800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Development Kit(JDK)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40E7FA-EF96-D6C7-2EE7-AFF92DB6F2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417638"/>
            <a:ext cx="10472662" cy="4389894"/>
          </a:xfrm>
        </p:spPr>
        <p:txBody>
          <a:bodyPr>
            <a:normAutofit/>
          </a:bodyPr>
          <a:lstStyle/>
          <a:p>
            <a:pPr algn="l"/>
            <a:endParaRPr lang="en-KH" dirty="0"/>
          </a:p>
          <a:p>
            <a:pPr algn="l">
              <a:lnSpc>
                <a:spcPct val="150000"/>
              </a:lnSpc>
            </a:pPr>
            <a:r>
              <a:rPr lang="en-KH" dirty="0"/>
              <a:t>	</a:t>
            </a:r>
            <a:r>
              <a:rPr lang="en-US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Development Kit</a:t>
            </a: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គឺកញ្ចប់អភិវឌ្ឍន៍ Software     សម្រាប់ធ្វើការអភិវឌ្ឍកម្មវិធីនៃ Java Platform។</a:t>
            </a:r>
            <a:b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b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  <a:hlinkClick r:id="rId2"/>
              </a:rPr>
              <a:t>https://www.oracle.com/java/technologies/downloads/</a:t>
            </a:r>
            <a:endParaRPr lang="en-KH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A0096CF-C180-9609-12F9-A147ABC5056D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20D06D9-01C3-1C77-8DB7-D6FB9E0554B1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1E409CEC-9E14-AAFE-A778-FA0540CDD0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2100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470267-BC5D-F5B7-8088-7B3998625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3D7BC-0AF3-BD90-363A-D39CCEE06E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Compiler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F406E4-2A28-3FC0-3194-2CAC9D517A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200666"/>
            <a:ext cx="10472662" cy="2332945"/>
          </a:xfrm>
        </p:spPr>
        <p:txBody>
          <a:bodyPr>
            <a:normAutofit fontScale="92500" lnSpcReduction="20000"/>
          </a:bodyPr>
          <a:lstStyle/>
          <a:p>
            <a:pPr algn="l"/>
            <a:endParaRPr lang="en-KH" dirty="0"/>
          </a:p>
          <a:p>
            <a:pPr algn="l">
              <a:lnSpc>
                <a:spcPct val="150000"/>
              </a:lnSpc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</a:t>
            </a:r>
            <a:r>
              <a:rPr lang="en-US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Compiler(</a:t>
            </a:r>
            <a:r>
              <a:rPr lang="en-US" sz="32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javac</a:t>
            </a:r>
            <a:r>
              <a:rPr lang="en-US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KH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</a:t>
            </a:r>
            <a:r>
              <a:rPr lang="en-US" sz="3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ជាឧបករណ៍ដែលមាននៅក្នុង</a:t>
            </a:r>
            <a:r>
              <a:rPr lang="en-US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3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JDK។វាមានមុខងារក្នុងការបម្លែង</a:t>
            </a:r>
            <a:r>
              <a:rPr lang="en-US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code </a:t>
            </a:r>
            <a:r>
              <a:rPr lang="en-US" sz="3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ដែលមនុស្សអានបាន</a:t>
            </a:r>
            <a:r>
              <a:rPr lang="en-US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(.java) </a:t>
            </a:r>
            <a:r>
              <a:rPr lang="en-US" sz="3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ទៅជា</a:t>
            </a:r>
            <a:r>
              <a:rPr lang="en-US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bytecode (.class)។</a:t>
            </a:r>
            <a:endParaRPr lang="en-KH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D678946-27DF-BB33-F5AA-19516701EDC1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21D83C8-8AEE-468B-F0DE-8C946E49CEFB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BC44DE54-83E8-2B95-E1A5-8AED2C1428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4" name="Subtitle 2">
            <a:extLst>
              <a:ext uri="{FF2B5EF4-FFF2-40B4-BE49-F238E27FC236}">
                <a16:creationId xmlns:a16="http://schemas.microsoft.com/office/drawing/2014/main" id="{4778E8FC-43F6-52F0-BF36-7C68C1CC498B}"/>
              </a:ext>
            </a:extLst>
          </p:cNvPr>
          <p:cNvSpPr txBox="1">
            <a:spLocks/>
          </p:cNvSpPr>
          <p:nvPr/>
        </p:nvSpPr>
        <p:spPr>
          <a:xfrm>
            <a:off x="1701799" y="3482335"/>
            <a:ext cx="9630531" cy="57822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50000"/>
              </a:lnSpc>
            </a:pPr>
            <a:r>
              <a:rPr lang="en-US" sz="2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៍៖ </a:t>
            </a:r>
            <a:r>
              <a:rPr lang="en-US" sz="28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javac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Main.java</a:t>
            </a:r>
            <a:endParaRPr lang="en-KH" sz="2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0E710ACA-43C3-52A0-4043-0E5371753F24}"/>
              </a:ext>
            </a:extLst>
          </p:cNvPr>
          <p:cNvSpPr txBox="1">
            <a:spLocks/>
          </p:cNvSpPr>
          <p:nvPr/>
        </p:nvSpPr>
        <p:spPr>
          <a:xfrm>
            <a:off x="931938" y="4393385"/>
            <a:ext cx="10472662" cy="14964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50000"/>
              </a:lnSpc>
            </a:pPr>
            <a:r>
              <a:rPr lang="en-KH" dirty="0"/>
              <a:t>👉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run java bytecode(.class)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យើងត្រូវប្រើពាក្យបញ្ជា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“java”។</a:t>
            </a:r>
            <a:b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       </a:t>
            </a:r>
            <a:r>
              <a:rPr lang="en-US" sz="2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៍៖ </a:t>
            </a:r>
            <a:r>
              <a:rPr lang="en-US" sz="2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Main</a:t>
            </a:r>
            <a:endParaRPr lang="en-KH" sz="2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542496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ntr" presetSubtype="1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9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2BE615-A731-8777-9FCE-37E39787E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1A286-29D9-32B1-0B71-BDF86776A6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ឧបករណ៍សម្រាប់សរសេរភាសា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Java(IDE)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BB3F26-ED51-A7CE-7F26-9BA6464972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417638"/>
            <a:ext cx="10472662" cy="4389894"/>
          </a:xfrm>
        </p:spPr>
        <p:txBody>
          <a:bodyPr>
            <a:normAutofit fontScale="85000" lnSpcReduction="20000"/>
          </a:bodyPr>
          <a:lstStyle/>
          <a:p>
            <a:pPr algn="l"/>
            <a:endParaRPr lang="en-KH" dirty="0"/>
          </a:p>
          <a:p>
            <a:pPr marL="342900" indent="-342900" algn="l">
              <a:lnSpc>
                <a:spcPct val="150000"/>
              </a:lnSpc>
              <a:buFontTx/>
              <a:buChar char="-"/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Command line: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បង្កើត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.java file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ដោយប្រើ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OS command =&gt;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javac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Filename.java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=&gt; java Filename។</a:t>
            </a:r>
          </a:p>
          <a:p>
            <a:pPr marL="342900" indent="-342900" algn="l">
              <a:lnSpc>
                <a:spcPct val="150000"/>
              </a:lnSpc>
              <a:buFontTx/>
              <a:buChar char="-"/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Eclipse: 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  <a:hlinkClick r:id="rId2"/>
              </a:rPr>
              <a:t>https://spring.io/tools - eclipse</a:t>
            </a:r>
            <a:endParaRPr lang="en-US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342900" indent="-342900" algn="l">
              <a:lnSpc>
                <a:spcPct val="150000"/>
              </a:lnSpc>
              <a:buFontTx/>
              <a:buChar char="-"/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NetBeans: 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  <a:hlinkClick r:id="rId3"/>
              </a:rPr>
              <a:t>https://netbeans.apache.org/front/main/download</a:t>
            </a:r>
            <a:endParaRPr lang="en-US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342900" indent="-342900" algn="l">
              <a:lnSpc>
                <a:spcPct val="150000"/>
              </a:lnSpc>
              <a:buFontTx/>
              <a:buChar char="-"/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Visual Studio Code (VS Code): 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  <a:hlinkClick r:id="rId4"/>
              </a:rPr>
              <a:t>https://code.visualstudio.com/download</a:t>
            </a:r>
            <a:endParaRPr lang="en-US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342900" indent="-342900" algn="l">
              <a:lnSpc>
                <a:spcPct val="150000"/>
              </a:lnSpc>
              <a:buFontTx/>
              <a:buChar char="-"/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IntelliJ IDEA: 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  <a:hlinkClick r:id="rId5"/>
              </a:rPr>
              <a:t>https://www.jetbrains.com/idea/download</a:t>
            </a:r>
            <a:endParaRPr lang="en-US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50000"/>
              </a:lnSpc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…</a:t>
            </a:r>
            <a:endParaRPr lang="en-KH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4600895-8F39-287A-A8DF-9382D51F114A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8020AEF-BA18-9478-D0FA-55E7EA5525AF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06ADD998-39A3-093E-7875-65D68201EE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47600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DC70C4-0758-C1ED-AD3E-E9B3CA398F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6375A3-49E6-5330-B5B5-6163C17AAC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ប្រយោគនៃភាសា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(Java statements)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B9FD26-3259-C683-4DBE-BDA87FAE5D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417637"/>
            <a:ext cx="10954536" cy="4188030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 (Statement) នៃភាសា Java សំដៅដល់ប្រយោគដែលសរសេរដើម្បីប្រាប់ទៅ Compiler ក្នុងការអនុវត្តនូវអ្វីមួយ ហើយប្រយោគនីមួយៗត្រូវបានខណ្ឌដោយសញ្ញា​ ”;” ។</a:t>
            </a:r>
          </a:p>
          <a:p>
            <a:pPr algn="l">
              <a:lnSpc>
                <a:spcPct val="150000"/>
              </a:lnSpc>
            </a:pPr>
            <a:r>
              <a:rPr lang="en-KH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ឧទាហរណ៍៖ </a:t>
            </a:r>
            <a:r>
              <a:rPr lang="en-KH" sz="2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System.out.println(“Welcome to Java Learning”);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KH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3ABD5D0-20BB-FC05-51D4-05DFD4160E89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B4109B1-51A3-89A6-0EBC-F5BC97AFE06F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41CBA71E-B120-6EEF-D945-B20BBC50FE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48669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2D1F00-4E6D-ED97-029E-FA893F515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92A7D4-2322-3630-5E70-631739880E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(Data Type)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3DB125-D4AE-9D32-6851-1697C760EA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65233"/>
            <a:ext cx="10954536" cy="4389894"/>
          </a:xfrm>
        </p:spPr>
        <p:txBody>
          <a:bodyPr>
            <a:normAutofit/>
          </a:bodyPr>
          <a:lstStyle/>
          <a:p>
            <a:pPr algn="l"/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ប្រភេទទិន្នន័យបឋម(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Primitive Data Types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):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KH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AEE3454-DEED-59E6-772F-7ECFC3DF378B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1664515-6477-3CE8-871A-4A6592D6A76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8C1B088F-3A97-86E8-DBD8-C38A46A3FD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99D84DA-C95B-FB22-D93C-574A9C14CA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6060528"/>
              </p:ext>
            </p:extLst>
          </p:nvPr>
        </p:nvGraphicFramePr>
        <p:xfrm>
          <a:off x="624192" y="1730100"/>
          <a:ext cx="10954537" cy="482312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55451">
                  <a:extLst>
                    <a:ext uri="{9D8B030D-6E8A-4147-A177-3AD203B41FA5}">
                      <a16:colId xmlns:a16="http://schemas.microsoft.com/office/drawing/2014/main" val="4047497681"/>
                    </a:ext>
                  </a:extLst>
                </a:gridCol>
                <a:gridCol w="2842352">
                  <a:extLst>
                    <a:ext uri="{9D8B030D-6E8A-4147-A177-3AD203B41FA5}">
                      <a16:colId xmlns:a16="http://schemas.microsoft.com/office/drawing/2014/main" val="821048884"/>
                    </a:ext>
                  </a:extLst>
                </a:gridCol>
                <a:gridCol w="1134738">
                  <a:extLst>
                    <a:ext uri="{9D8B030D-6E8A-4147-A177-3AD203B41FA5}">
                      <a16:colId xmlns:a16="http://schemas.microsoft.com/office/drawing/2014/main" val="1256672291"/>
                    </a:ext>
                  </a:extLst>
                </a:gridCol>
                <a:gridCol w="1244906">
                  <a:extLst>
                    <a:ext uri="{9D8B030D-6E8A-4147-A177-3AD203B41FA5}">
                      <a16:colId xmlns:a16="http://schemas.microsoft.com/office/drawing/2014/main" val="3921409523"/>
                    </a:ext>
                  </a:extLst>
                </a:gridCol>
                <a:gridCol w="3977090">
                  <a:extLst>
                    <a:ext uri="{9D8B030D-6E8A-4147-A177-3AD203B41FA5}">
                      <a16:colId xmlns:a16="http://schemas.microsoft.com/office/drawing/2014/main" val="3370400522"/>
                    </a:ext>
                  </a:extLst>
                </a:gridCol>
              </a:tblGrid>
              <a:tr h="434003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cs typeface="Khmer OS Battambang" panose="02000500000000020004" pitchFamily="2" charset="77"/>
                        </a:rPr>
                        <a:t>ប្រភេទទិន្នន័យ</a:t>
                      </a:r>
                      <a:endParaRPr lang="en-KH" sz="2000" kern="1200" dirty="0">
                        <a:solidFill>
                          <a:srgbClr val="0070C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បរិយាយ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ទំហំ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តម្លៃដើម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ដែនកំណត់នៃតម្លៃ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72388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byte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ចំនួនគត់ 8-bit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1 byte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-128 ដល់ 127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469979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short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ចំនួនគត់ 16-bit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2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-32,768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ដល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់ 32,767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350064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int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ចំនួនគត់ 32-bit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4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-2,147,483,648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ដល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់ 2,147,483,647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507085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long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ចំនួនគត់ 64-bit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8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-9,223,372,036,854,775,808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ដល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់ 9,223,372,036,854,775,807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118321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float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ចំនួនទសភាគ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6 ទៅ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7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ខ្ទង់</a:t>
                      </a: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32-bit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4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0.0f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ប្រែប្រួល ប្រើសម្រាប់រក្សាទុកអង្គចងចាំ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និង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មិនមែនភាពជាក់លាក់ទេ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545877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double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ចំនួនទសភាគ 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15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ទៅ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16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ខ្ទង់</a:t>
                      </a: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32-bit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8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0.0d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ប្រែប្រួល ប្រើសម្រាប់រក្សាទុកអង្គចងចាំ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និង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មិនមែនភាពជាក់លាក់ទេ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91380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 err="1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boolean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ឡូជីខល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~1 bit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false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true 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ឫ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 false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04188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char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តួអក្សរ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​Unicode​16-bit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2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\u0000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\u000 (0) ដល់ \uffff (65,535)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506074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791346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7D0DB0-653A-910E-BE01-F7FC6BB80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4523A-087C-1965-07C8-A952DC28D1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(Data Type)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254FD7-03BD-95F6-D76F-E3D044573F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417638"/>
            <a:ext cx="10954536" cy="4389894"/>
          </a:xfrm>
        </p:spPr>
        <p:txBody>
          <a:bodyPr>
            <a:normAutofit/>
          </a:bodyPr>
          <a:lstStyle/>
          <a:p>
            <a:pPr algn="l"/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ប្រភេទទិន្នន័យមិនបឋម(Non-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Primitive Data Types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):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KH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442C9F3-7DD8-9D27-A1C8-2D0C2A20F373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9915AFF-DFBC-C611-D4D7-A7156B776064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BA2C05A5-6797-4B99-57B9-C2CA77291F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D8BA7A4-7565-5AE3-4D68-EAB4788049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6081018"/>
              </p:ext>
            </p:extLst>
          </p:nvPr>
        </p:nvGraphicFramePr>
        <p:xfrm>
          <a:off x="624192" y="2123382"/>
          <a:ext cx="10557928" cy="378743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56262">
                  <a:extLst>
                    <a:ext uri="{9D8B030D-6E8A-4147-A177-3AD203B41FA5}">
                      <a16:colId xmlns:a16="http://schemas.microsoft.com/office/drawing/2014/main" val="4047497681"/>
                    </a:ext>
                  </a:extLst>
                </a:gridCol>
                <a:gridCol w="4300907">
                  <a:extLst>
                    <a:ext uri="{9D8B030D-6E8A-4147-A177-3AD203B41FA5}">
                      <a16:colId xmlns:a16="http://schemas.microsoft.com/office/drawing/2014/main" val="821048884"/>
                    </a:ext>
                  </a:extLst>
                </a:gridCol>
                <a:gridCol w="1909003">
                  <a:extLst>
                    <a:ext uri="{9D8B030D-6E8A-4147-A177-3AD203B41FA5}">
                      <a16:colId xmlns:a16="http://schemas.microsoft.com/office/drawing/2014/main" val="1256672291"/>
                    </a:ext>
                  </a:extLst>
                </a:gridCol>
                <a:gridCol w="1691756">
                  <a:extLst>
                    <a:ext uri="{9D8B030D-6E8A-4147-A177-3AD203B41FA5}">
                      <a16:colId xmlns:a16="http://schemas.microsoft.com/office/drawing/2014/main" val="3921409523"/>
                    </a:ext>
                  </a:extLst>
                </a:gridCol>
              </a:tblGrid>
              <a:tr h="35959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cs typeface="Khmer OS Battambang" panose="02000500000000020004" pitchFamily="2" charset="77"/>
                        </a:rPr>
                        <a:t>ប្រភេទទិន្នន័យ</a:t>
                      </a:r>
                      <a:endParaRPr lang="en-KH" sz="2000" kern="1200" dirty="0">
                        <a:solidFill>
                          <a:srgbClr val="0070C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បរិយាយ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ទំហំ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តម្លៃដើម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72388122"/>
                  </a:ext>
                </a:extLst>
              </a:tr>
              <a:tr h="1327736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Classes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 គឺជាការកំណត់របស់អ្នកប្រើប្រាស់ ពី object ដែលត្រូវបានបង្កើត ដោយពួកគេធ្វើការ 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encapsulate data (fields)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និង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 behavior (methods)។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4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  <a:p>
                      <a:pPr algn="l">
                        <a:lnSpc>
                          <a:spcPct val="150000"/>
                        </a:lnSpc>
                      </a:pP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ផ្ទុកតម្លៃជាក់ស្តែងដោយផ្ទាល់ក្នុង memory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null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46997984"/>
                  </a:ext>
                </a:extLst>
              </a:tr>
              <a:tr h="944981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Strings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ជាប្រភេទដែលបានកំណត់ជាមុននៅក្នុង 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Java។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វាគឺជា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object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នៃ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class String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ដែលតំណាងឱ្យលំដាប់នៃតួអក្សរ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null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35006438"/>
                  </a:ext>
                </a:extLst>
              </a:tr>
              <a:tr h="133805">
                <a:tc rowSpan="2">
                  <a:txBody>
                    <a:bodyPr/>
                    <a:lstStyle/>
                    <a:p>
                      <a:pPr algn="l"/>
                      <a:r>
                        <a:rPr lang="en-US" sz="2000" kern="120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Arrays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 ជាវត្ថុសម្រាប់ផ្ទុកនូវធាតុជាច្រើនដែលមានប្រភេទទិន្នន័យដូចគ្នា និងនៅក្នុង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ទីតាំងចងចាំជាប់គ្នា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។</a:t>
                      </a:r>
                      <a:endParaRPr lang="km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endParaRPr lang="en-K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7308684"/>
                  </a:ext>
                </a:extLst>
              </a:tr>
              <a:tr h="923816">
                <a:tc vMerge="1">
                  <a:txBody>
                    <a:bodyPr/>
                    <a:lstStyle/>
                    <a:p>
                      <a:pPr algn="l"/>
                      <a:r>
                        <a:rPr lang="en-US" sz="18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Arrays</a:t>
                      </a:r>
                      <a:endParaRPr lang="en-KH" sz="18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KH" sz="18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 ជាវត្ថុសម្រាប់ផ្ទុកនូវធាតុជាច្រើនដែលមានប្រភេទទិន្នន័យដូចគ្នា និងនៅក្នុង</a:t>
                      </a:r>
                      <a:r>
                        <a:rPr lang="km-KH" sz="18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ទីតាំងចងចាំជាប់គ្នា</a:t>
                      </a:r>
                      <a:r>
                        <a:rPr lang="en-US" sz="18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។</a:t>
                      </a:r>
                      <a:endParaRPr lang="km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null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507085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369283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B2A585-4685-99A1-BF62-DCEA433DF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15ECB1-8548-4BC9-FA3F-200A902B20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(Data Type)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E06D49-8DFA-0277-09AA-064AC8C84E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417638"/>
            <a:ext cx="10954536" cy="4389894"/>
          </a:xfrm>
        </p:spPr>
        <p:txBody>
          <a:bodyPr>
            <a:normAutofit/>
          </a:bodyPr>
          <a:lstStyle/>
          <a:p>
            <a:pPr algn="l"/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ប្រភេទទិន្នន័យមិនបឋម(Non-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Primitive Data Types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)(ត):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KH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E01AF43-AC4B-A90A-9209-36C24C7A41A8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F3B681B-FD27-D455-40F1-4337AFE73D3B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AB88E863-0DD6-F706-1467-95D547E65C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66CFB58-18CC-9C8C-2D79-B2B6261E6E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8265468"/>
              </p:ext>
            </p:extLst>
          </p:nvPr>
        </p:nvGraphicFramePr>
        <p:xfrm>
          <a:off x="624192" y="2090331"/>
          <a:ext cx="10789283" cy="184887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14468">
                  <a:extLst>
                    <a:ext uri="{9D8B030D-6E8A-4147-A177-3AD203B41FA5}">
                      <a16:colId xmlns:a16="http://schemas.microsoft.com/office/drawing/2014/main" val="4047497681"/>
                    </a:ext>
                  </a:extLst>
                </a:gridCol>
                <a:gridCol w="4395152">
                  <a:extLst>
                    <a:ext uri="{9D8B030D-6E8A-4147-A177-3AD203B41FA5}">
                      <a16:colId xmlns:a16="http://schemas.microsoft.com/office/drawing/2014/main" val="821048884"/>
                    </a:ext>
                  </a:extLst>
                </a:gridCol>
                <a:gridCol w="1770406">
                  <a:extLst>
                    <a:ext uri="{9D8B030D-6E8A-4147-A177-3AD203B41FA5}">
                      <a16:colId xmlns:a16="http://schemas.microsoft.com/office/drawing/2014/main" val="1256672291"/>
                    </a:ext>
                  </a:extLst>
                </a:gridCol>
                <a:gridCol w="1909257">
                  <a:extLst>
                    <a:ext uri="{9D8B030D-6E8A-4147-A177-3AD203B41FA5}">
                      <a16:colId xmlns:a16="http://schemas.microsoft.com/office/drawing/2014/main" val="3921409523"/>
                    </a:ext>
                  </a:extLst>
                </a:gridCol>
              </a:tblGrid>
              <a:tr h="35959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Content" panose="02000500000000020004" pitchFamily="2" charset="77"/>
                          <a:cs typeface="Khmer OS Content" panose="02000500000000020004" pitchFamily="2" charset="77"/>
                        </a:rPr>
                        <a:t>ប្រភេទទិន្នន័យ</a:t>
                      </a:r>
                      <a:endParaRPr lang="en-KH" sz="2000" kern="1200" dirty="0">
                        <a:solidFill>
                          <a:srgbClr val="0070C0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បរិយាយ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ទំហំ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លំនាំដើម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72388122"/>
                  </a:ext>
                </a:extLst>
              </a:tr>
              <a:tr h="154970">
                <a:tc rowSpan="2"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Interfaces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ជា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ប្រភេទអរូបីដែលកំណត់កិច្ចសន្យានៃវិធីសាស្រ្តដែលថ្នាក់ត្រូវអនុវត្ត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។</a:t>
                      </a:r>
                      <a:endParaRPr lang="km-KH" sz="2000" kern="1200" dirty="0">
                        <a:solidFill>
                          <a:srgbClr val="7030A0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4">
                  <a:txBody>
                    <a:bodyPr/>
                    <a:lstStyle/>
                    <a:p>
                      <a:endParaRPr lang="en-KH" sz="2000" dirty="0">
                        <a:latin typeface="Khmer OS Content" panose="02000500000000020004" pitchFamily="2" charset="77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null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53679604"/>
                  </a:ext>
                </a:extLst>
              </a:tr>
              <a:tr h="355354">
                <a:tc vMerge="1">
                  <a:txBody>
                    <a:bodyPr/>
                    <a:lstStyle/>
                    <a:p>
                      <a:pPr algn="l"/>
                      <a:r>
                        <a:rPr lang="en-US" sz="18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Interfaces</a:t>
                      </a:r>
                      <a:endParaRPr lang="en-KH" sz="18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algn="l"/>
                      <a:endParaRPr lang="en-KH" sz="2000" kern="1200" dirty="0">
                        <a:solidFill>
                          <a:srgbClr val="7030A0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11832117"/>
                  </a:ext>
                </a:extLst>
              </a:tr>
              <a:tr h="207546">
                <a:tc rowSpan="2">
                  <a:txBody>
                    <a:bodyPr/>
                    <a:lstStyle/>
                    <a:p>
                      <a:pPr algn="l"/>
                      <a:r>
                        <a:rPr lang="en-US" sz="2000" kern="1200">
                          <a:solidFill>
                            <a:srgbClr val="D49B06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Enums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 ជាប្រភេទពិសេសដែលប្រើដើម្បីកំណត់តម្លៃអថេដែលមិនប្រែប្រួល។</a:t>
                      </a:r>
                      <a:endParaRPr lang="km-KH" sz="2000" kern="1200" dirty="0">
                        <a:solidFill>
                          <a:srgbClr val="7030A0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endParaRPr lang="en-K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548077"/>
                  </a:ext>
                </a:extLst>
              </a:tr>
              <a:tr h="331934">
                <a:tc vMerge="1">
                  <a:txBody>
                    <a:bodyPr/>
                    <a:lstStyle/>
                    <a:p>
                      <a:pPr algn="l"/>
                      <a:r>
                        <a:rPr lang="en-US" sz="18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Enums</a:t>
                      </a:r>
                      <a:endParaRPr lang="en-KH" sz="18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r>
                        <a:rPr lang="en-KH" sz="18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ជាប្រភេទពិសេសដែលប្រើដើម្បីកំណត់តម្លៃអថេដែលមិនប្រែប្រួល។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null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545877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212876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805DA8-021B-CDEE-1DA3-6333145A7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4613E-EAA9-BE10-0DAE-850A6B9468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Variable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D5DB14E-0CC1-544D-90F8-9962D93461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417637"/>
            <a:ext cx="10954536" cy="4836403"/>
          </a:xfrm>
        </p:spPr>
        <p:txBody>
          <a:bodyPr>
            <a:normAutofit fontScale="77500" lnSpcReduction="20000"/>
          </a:bodyPr>
          <a:lstStyle/>
          <a:p>
            <a:pPr algn="l">
              <a:lnSpc>
                <a:spcPct val="15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Variable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គឺជាឈ្មោះអថេរមួយសម្រាប់រក្សាទុកតម្លៃរបស់ទិន្នន័យកំឡុងពេលដំណើរការកម្មវិធី។</a:t>
            </a: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ការប្រកាស​ Variable ៖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(ឈ្មោះ Variable)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;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​​	ឧទាហរណ៍​៖ 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double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amount;</a:t>
            </a: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ការបញ្ចូលតម្លៃទៅឲ្យ Variable៖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(ឈ្មោះ Variable) = (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តម្លៃ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);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ឧទាហរណ៍៖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 = 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200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ការប្រកាស Variable និង​កំណត់តម្លៃដំបូង(Initialization)៖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(ឈ្មោះ Variable) = (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តម្លៃ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);     </a:t>
            </a:r>
          </a:p>
          <a:p>
            <a:pPr algn="l">
              <a:lnSpc>
                <a:spcPct val="150000"/>
              </a:lnSpc>
            </a:pP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   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ឧទាហរណ៍៖ 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double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 = 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200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50000"/>
              </a:lnSpc>
            </a:pPr>
            <a:r>
              <a:rPr lang="en-KH" dirty="0"/>
              <a:t>✍️ 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ចំណាំ៖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ការប្រកាស Vairable ច្រើនដែលមានប្រភេទទិន្នន័យដូចគ្នា អាចដាក់បន្តបន្ទាប់គ្នាដោយប្រើប្រភេទទិន្នន័យតែមួយ ដោយមានសញ្ញា 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r>
              <a:rPr lang="en-KH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នៅចន្លោះកណ្តាល។ ឧទាហរណ៍៖</a:t>
            </a:r>
            <a:r>
              <a:rPr lang="en-KH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2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double</a:t>
            </a:r>
            <a:r>
              <a:rPr lang="en-KH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amount1</a:t>
            </a:r>
            <a:r>
              <a:rPr lang="en-KH" sz="22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KH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amount2;</a:t>
            </a:r>
            <a:endParaRPr lang="en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D30AB15-09DD-66A0-2489-BF7C7FBDDF0C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C37A7C-F4E2-179B-F923-AC9DA76C1D5A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78826D76-722A-8F7A-494F-581F557421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0585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97DD55-2040-90F1-B111-BBB17E542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A26EFC-C41F-7D36-29D5-DB1F67F5D2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Operator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5243BE-5AE1-3116-A871-8C7DA04EB7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519003"/>
          </a:xfrm>
        </p:spPr>
        <p:txBody>
          <a:bodyPr>
            <a:normAutofit fontScale="85000" lnSpcReduction="20000"/>
          </a:bodyPr>
          <a:lstStyle/>
          <a:p>
            <a:pPr algn="l">
              <a:lnSpc>
                <a:spcPct val="15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	Operator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គឺជាសញ្ញាពិសេសដែលប្រាប់ compiler  ដើម្បីអនុវត្តនូវភាពជាក់លាក់ក្នុងការគណនាគណិតវិទ្យា ការប្រៀបធៀប ឫប្រតិបត្តិការតក្កវិទ្យា ចំពោះតម្លៃ ឫ Variable។ </a:t>
            </a:r>
          </a:p>
          <a:p>
            <a:pPr algn="l">
              <a:lnSpc>
                <a:spcPct val="15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​​</a:t>
            </a:r>
            <a:r>
              <a:rPr lang="en-KH" sz="2800" dirty="0"/>
              <a:t> 👉 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Operator មានដូចជា៖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Arithmetic Operators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- Assignment Operators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- Relational (Comparison) Operators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- Logical Operators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- Unary Operators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- 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Ternary (Conditional) Operator</a:t>
            </a:r>
            <a:b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-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instanceof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 Operator</a:t>
            </a:r>
            <a:endParaRPr lang="en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EEF10A7-DC44-D475-5E65-1BCB2C7A41BB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3C59F8A-84CC-D8C7-B0FF-7A7276FDBBDC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11B44003-47F7-E62E-C082-70FE2BD8F1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69000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98FFB8-76A0-FD2E-37C3-7E80E3BB4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EB3D2-153C-C607-6AA5-4AED67C500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Arithmetic Operators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782AFA-A663-692F-FA12-403D7CB0B2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519003"/>
          </a:xfrm>
        </p:spPr>
        <p:txBody>
          <a:bodyPr>
            <a:normAutofit lnSpcReduction="10000"/>
          </a:bodyPr>
          <a:lstStyle/>
          <a:p>
            <a:pPr algn="l">
              <a:lnSpc>
                <a:spcPct val="15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Arithmetic Operators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 Operator ប្រើប្រាស់សម្រាប់អនុវត្តប្រតិបត្តិការ គណិតវិទ្យាធម្មតាដូចជា បូក(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+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ដក(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គុណ(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*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ចែក(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/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)​ និងចែករកសំណល់(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%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ឧទាហរណ៍៖</a:t>
            </a:r>
          </a:p>
          <a:p>
            <a:pPr algn="l">
              <a:lnSpc>
                <a:spcPct val="12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double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amount1=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200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 amount2=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100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b="1" dirty="0"/>
              <a:t>	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double</a:t>
            </a:r>
            <a:r>
              <a:rPr lang="en-US" dirty="0"/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resultAdd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amount1</a:t>
            </a:r>
            <a:r>
              <a:rPr lang="en-US" dirty="0"/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+</a:t>
            </a:r>
            <a:r>
              <a:rPr lang="en-US" dirty="0"/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amount2;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double</a:t>
            </a:r>
            <a:r>
              <a:rPr lang="en-US" sz="2800" dirty="0"/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resultSubtraction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amount1</a:t>
            </a:r>
            <a:r>
              <a:rPr lang="en-US" sz="2800" dirty="0"/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</a:t>
            </a:r>
            <a:r>
              <a:rPr lang="en-US" sz="2800" dirty="0"/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amount2;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double</a:t>
            </a:r>
            <a:r>
              <a:rPr lang="en-US" sz="2800" dirty="0"/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resultMultiplication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amount1</a:t>
            </a:r>
            <a:r>
              <a:rPr lang="en-US" sz="2800" dirty="0"/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*</a:t>
            </a:r>
            <a:r>
              <a:rPr lang="en-US" sz="2800" dirty="0"/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amount2;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double</a:t>
            </a:r>
            <a:r>
              <a:rPr lang="en-US" sz="2800" dirty="0"/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resultDivision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amount1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/</a:t>
            </a:r>
            <a:r>
              <a:rPr lang="en-US" sz="2800" dirty="0"/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amount2;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double</a:t>
            </a:r>
            <a:r>
              <a:rPr lang="en-US" sz="2800" dirty="0"/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resultModulus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amount1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%</a:t>
            </a:r>
            <a:r>
              <a:rPr lang="en-US" sz="2800" dirty="0"/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amount2;</a:t>
            </a:r>
            <a:endParaRPr lang="en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7A8C777-7494-5788-8C5D-4D4BAD6C7654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2BF5ECF-3B50-A128-6BAE-ADF21B214E3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50461559-F173-1E9F-2C7B-65D4E4F511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9633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561C95-8981-940C-146E-E05773C0A5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68098-E636-12DC-15A5-16C997F1BD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Assignment Operators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4DE7CA9-4F08-E131-8F73-5766F23F5F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419075"/>
          </a:xfrm>
        </p:spPr>
        <p:txBody>
          <a:bodyPr>
            <a:normAutofit fontScale="40000" lnSpcReduction="2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5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Assignment Operators</a:t>
            </a:r>
            <a:r>
              <a:rPr lang="en-KH" sz="5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5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 Operators ប្រើប្រាស់សម្រាប់ចាត់តាំតម្លៃទៅកាន់Variable រួមទាំងការចាត់តាំងសមាសធាតុដែលផ្គួបផ្សំប្រតិបត្តិការជាមួយការចាត់តាំងមួយ។</a:t>
            </a:r>
            <a:r>
              <a:rPr lang="en-KH" sz="5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</a:p>
          <a:p>
            <a:pPr algn="l">
              <a:lnSpc>
                <a:spcPct val="150000"/>
              </a:lnSpc>
            </a:pPr>
            <a:r>
              <a:rPr lang="en-KH" sz="50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👉 </a:t>
            </a:r>
            <a:r>
              <a:rPr lang="en-US" sz="5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Assignment Operators​ </a:t>
            </a:r>
            <a:r>
              <a:rPr lang="en-US" sz="5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មានដូចជា</a:t>
            </a:r>
            <a:r>
              <a:rPr lang="en-US" sz="5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 </a:t>
            </a:r>
          </a:p>
          <a:p>
            <a:pPr marL="914400" lvl="1" indent="-457200" algn="l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​</a:t>
            </a:r>
            <a:r>
              <a:rPr lang="en-US" sz="42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ការចាត់តាំងតម្លៃធម្មតា</a:t>
            </a: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 </a:t>
            </a:r>
          </a:p>
          <a:p>
            <a:pPr lvl="1" algn="l">
              <a:lnSpc>
                <a:spcPct val="150000"/>
              </a:lnSpc>
            </a:pP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ឧទាហរណ៍៖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double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amount1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200;</a:t>
            </a:r>
            <a:endParaRPr lang="en-US" sz="4200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marL="914400" lvl="1" indent="-457200" algn="l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42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ការចាត់តាំងតម្លៃសមាសធាតុ</a:t>
            </a: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+=,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-=,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*=,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/=,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%=,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…</a:t>
            </a: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b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ឧទាហរណ៍៖</a:t>
            </a:r>
          </a:p>
          <a:p>
            <a:pPr algn="l">
              <a:lnSpc>
                <a:spcPct val="120000"/>
              </a:lnSpc>
            </a:pP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double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amount=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0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sz="4200" b="1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</a:t>
            </a:r>
            <a:r>
              <a:rPr lang="en-US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+=</a:t>
            </a:r>
            <a:r>
              <a:rPr lang="en-US" sz="42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100;</a:t>
            </a:r>
          </a:p>
          <a:p>
            <a:pPr algn="l">
              <a:lnSpc>
                <a:spcPct val="120000"/>
              </a:lnSpc>
            </a:pP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</a:t>
            </a:r>
            <a:r>
              <a:rPr lang="en-US" sz="42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-= </a:t>
            </a:r>
            <a:r>
              <a:rPr lang="en-US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100;</a:t>
            </a:r>
          </a:p>
          <a:p>
            <a:pPr algn="l">
              <a:lnSpc>
                <a:spcPct val="120000"/>
              </a:lnSpc>
            </a:pP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</a:t>
            </a:r>
            <a:r>
              <a:rPr lang="en-US" sz="42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*=</a:t>
            </a:r>
            <a:r>
              <a:rPr lang="en-US" sz="42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5;</a:t>
            </a:r>
          </a:p>
          <a:p>
            <a:pPr algn="l">
              <a:lnSpc>
                <a:spcPct val="120000"/>
              </a:lnSpc>
            </a:pP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</a:t>
            </a:r>
            <a:r>
              <a:rPr lang="en-US" sz="42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/=</a:t>
            </a:r>
            <a:r>
              <a:rPr lang="en-US" sz="42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2;</a:t>
            </a:r>
          </a:p>
          <a:p>
            <a:pPr algn="l">
              <a:lnSpc>
                <a:spcPct val="120000"/>
              </a:lnSpc>
            </a:pP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</a:t>
            </a: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%=</a:t>
            </a: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3;</a:t>
            </a:r>
            <a:endParaRPr lang="en-KH" sz="4200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D6C1350-F877-571D-C5AE-49818C3DD17D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C7A785B-E998-B9D7-7AF8-DCEAA860D79D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B38B1998-E022-F2CA-BA63-0DD3C63590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78408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C63D7B-6701-CE63-F9B3-0E0B3BC63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A0FD1-4D01-EA10-9B8E-EAFC327CBF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Relational Operators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0BF7FB-543C-1A6B-CF21-49151AC53D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5076080"/>
          </a:xfrm>
        </p:spPr>
        <p:txBody>
          <a:bodyPr>
            <a:normAutofit fontScale="85000" lnSpcReduction="2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Relational (Comparison) Operators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 Operators ប្រើប្រាស់សម្រាប់ប្រៀបធៀបតម្លៃពីរនិងផ្តល់លទ្ធផលជា boolean(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Relational Operators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ស្មើ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==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មិនស្មើ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!=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ធំជាង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&gt;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តូចជាង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&lt;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ធំជាងឫស្មើ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&gt;=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តូចជាងឫស្មើ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&lt;=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ឧទាហរណ៍៖</a:t>
            </a:r>
          </a:p>
          <a:p>
            <a:pPr algn="l">
              <a:lnSpc>
                <a:spcPct val="12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boolean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compare=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b="1" dirty="0"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100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==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100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 10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!=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9;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5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&gt;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2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2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&lt;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5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3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&gt;=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3;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5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&lt;=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5;</a:t>
            </a:r>
            <a:endParaRPr lang="en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93152C-7129-32C6-FCEB-E2852A2F3671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F838701-69F8-F32A-305D-F33281DDA028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8A2ADB71-0106-C980-6FB5-C2DF524D17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38033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6F4F00-8471-11A5-275A-24CC25631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1013D-B9F5-9757-C9E1-01AE898DDB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Logical Operators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3CB0B4-9C30-4C8A-92F2-B949865EA4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5076080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Logical Operators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 Operators ប្រើប្រាស់សម្រាប់ផ្សំកន្សោម boolean ទៅកាន់លក្ខណដែលមានទំរង់ស្មុកស្មាញ។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Logical Operators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&amp;&amp;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||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មិន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!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ឧទាហរណ៍៖</a:t>
            </a:r>
          </a:p>
          <a:p>
            <a:pPr algn="l">
              <a:lnSpc>
                <a:spcPct val="12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boolean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compare=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b="1" dirty="0"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100 == 100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||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2==2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compare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 10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&gt;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9 </a:t>
            </a:r>
            <a:r>
              <a:rPr lang="en-US" sz="28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&amp;&amp;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5 &lt; 6;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sz="2800" dirty="0"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!(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5 &lt; 2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  <a:endParaRPr lang="en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CA6477C-FD8E-E2D9-D54A-3E2D2AE36BC2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4282677-83E0-B9BC-7370-A5B9704C8A81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92DC21F0-C8F8-CA00-E62D-82750A5017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00269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426059-6FDD-61AA-0E80-A1DC99155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55A9C-6CAF-FA6A-BB9B-296FACA6D9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Unary Operators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3AEB4B-C127-FBF0-DC87-89AFAD293D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5076080"/>
          </a:xfrm>
        </p:spPr>
        <p:txBody>
          <a:bodyPr>
            <a:normAutofit fontScale="92500" lnSpcReduction="2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Unary Operators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 Operators ប្រើប្រាស់សម្រាប់ធ្វើការជាមួយប្រតិបត្តិករតែមួយដើម្បីបង្កើន បន្ថែម </a:t>
            </a:r>
            <a:r>
              <a:rPr lang="en-KH" sz="260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ឫបដិសេធ ស្ថានភា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ពតម្លៃ។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Unary Operators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បង្កើន 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++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), បន្ថយ 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--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), តក្កវិទ្យាបំពេញបន្តែម(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!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)។ល។</a:t>
            </a:r>
          </a:p>
          <a:p>
            <a:pPr algn="l">
              <a:lnSpc>
                <a:spcPct val="150000"/>
              </a:lnSpc>
            </a:pPr>
            <a:r>
              <a:rPr lang="en-KH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ឧទាហរណ៍៖</a:t>
            </a:r>
          </a:p>
          <a:p>
            <a:pPr lvl="1" algn="l">
              <a:lnSpc>
                <a:spcPct val="150000"/>
              </a:lnSpc>
            </a:pPr>
            <a:r>
              <a:rPr lang="en-US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int a = 1;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++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--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boolean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isIncorrect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false;</a:t>
            </a:r>
          </a:p>
          <a:p>
            <a:pPr lvl="1" algn="l">
              <a:lnSpc>
                <a:spcPct val="15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boolean isCorrect =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!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isIncorrect;</a:t>
            </a:r>
          </a:p>
          <a:p>
            <a:pPr lvl="1" algn="l">
              <a:lnSpc>
                <a:spcPct val="150000"/>
              </a:lnSpc>
            </a:pPr>
            <a:r>
              <a:rPr lang="en-KH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05C94F6-E5D6-3AD6-F7F7-931FC0C0EA31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BCE5EB0-1680-C545-AA2F-95EFB80D8B73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4A2510FF-1669-CBFC-DC74-DE64F61921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6338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E724B9-C62D-B7EC-D411-9B865866D0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434A87-B323-C03F-D0EB-3E59F30C3F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Ternary Operator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EE706DA-5B28-31B8-A5B5-C5187DDBAC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5098458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Ternary (Conditional) Operator </a:t>
            </a:r>
            <a:r>
              <a:rPr lang="en-KH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គឺជាការ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សរសេកាត់នៅក្នុងប្រយោគតែមួយសម្រាប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 if-else statement ដោយវាយតម្លៃលើលក្ខណនិងកំណត់តម្លៃដែលផ្តល់ត្រឡប់មកវិញដោយផ្អែកលើលទ្ធផល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true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ឫ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false</a:t>
            </a:r>
            <a:r>
              <a:rPr lang="en-KH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</a:p>
          <a:p>
            <a:pPr algn="l">
              <a:lnSpc>
                <a:spcPct val="150000"/>
              </a:lnSpc>
            </a:pPr>
            <a:r>
              <a:rPr lang="en-KH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👉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ទម្រង់នៃការប្រើប្រាស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់(Syntax)៖ 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លក្ខណ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?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តម្លៃនៅពេលលទ្ធផល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 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true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: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តម្លៃនៅពេលលទ្ធផល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 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false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);</a:t>
            </a:r>
          </a:p>
          <a:p>
            <a:pPr algn="l">
              <a:lnSpc>
                <a:spcPct val="150000"/>
              </a:lnSpc>
            </a:pPr>
            <a:r>
              <a:rPr lang="en-KH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 ឧទាហរណ៍៖ </a:t>
            </a:r>
          </a:p>
          <a:p>
            <a:pPr lvl="1" algn="l">
              <a:lnSpc>
                <a:spcPct val="150000"/>
              </a:lnSpc>
            </a:pP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</a:t>
            </a:r>
            <a:r>
              <a:rPr lang="en-KH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nt a = 1, b = 2;</a:t>
            </a:r>
          </a:p>
          <a:p>
            <a:pPr lvl="1" algn="l">
              <a:lnSpc>
                <a:spcPct val="150000"/>
              </a:lnSpc>
            </a:pPr>
            <a:r>
              <a:rPr lang="en-KH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 amount =</a:t>
            </a:r>
            <a:r>
              <a:rPr lang="en-KH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 &lt; b ?</a:t>
            </a:r>
            <a:r>
              <a:rPr lang="en-KH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100</a:t>
            </a:r>
            <a:r>
              <a:rPr lang="en-KH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:</a:t>
            </a:r>
            <a:r>
              <a:rPr lang="en-KH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0 ;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5886F14-88C5-E50F-9699-1CD52578237C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60D7CC2-CC97-3383-3C93-9FF34B6ABC8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5194BB0A-A3D5-612D-EFAB-F830C13720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20401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7DF9B2-578B-86BE-AC30-8562F0F0C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E6D06-CC66-B24C-9B7C-C600010B57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instanceof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 Operator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65973B-B0E8-B941-5DA9-5479ACD2F8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419075"/>
          </a:xfrm>
        </p:spPr>
        <p:txBody>
          <a:bodyPr>
            <a:normAutofit fontScale="25000" lnSpcReduction="2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8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instanceof</a:t>
            </a:r>
            <a:r>
              <a:rPr lang="en-US" sz="8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 Operator </a:t>
            </a:r>
            <a:r>
              <a:rPr lang="en-KH" sz="8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 Operator សម្រាប់ធ្វើការត្រួតពិនិត្យប្រភេទទិន្នន័យដើម្បីសាកល្បងថាតើវត្ថុមួយគឺជា instance នៃ class ឫ </a:t>
            </a:r>
            <a:r>
              <a:rPr lang="en-US" sz="8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interface </a:t>
            </a:r>
            <a:r>
              <a:rPr lang="en-US" sz="8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ជាក់លាក់មួយឬទេ</a:t>
            </a:r>
            <a:r>
              <a:rPr lang="en-KH" sz="8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</a:p>
          <a:p>
            <a:pPr algn="l">
              <a:lnSpc>
                <a:spcPct val="150000"/>
              </a:lnSpc>
            </a:pPr>
            <a:r>
              <a:rPr lang="en-KH" sz="80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👉 </a:t>
            </a:r>
            <a:r>
              <a:rPr lang="en-US" sz="8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ទម្រង់នៃការប្រើប្រាស</a:t>
            </a:r>
            <a:r>
              <a:rPr lang="en-US" sz="8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់(Syntax)៖ </a:t>
            </a:r>
            <a:r>
              <a:rPr lang="en-US" sz="8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វត្ថុយោង</a:t>
            </a:r>
            <a:r>
              <a:rPr lang="en-US" sz="8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(object)</a:t>
            </a:r>
            <a:r>
              <a:rPr lang="en-US" sz="8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8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instanceof</a:t>
            </a:r>
            <a:r>
              <a:rPr lang="en-US" sz="8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8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8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(Data type);</a:t>
            </a:r>
            <a:endParaRPr lang="en-KH" sz="8000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algn="l">
              <a:lnSpc>
                <a:spcPct val="150000"/>
              </a:lnSpc>
            </a:pPr>
            <a:r>
              <a:rPr lang="en-KH" sz="8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ឧទាហរណ៍៖</a:t>
            </a:r>
          </a:p>
          <a:p>
            <a:pPr lvl="1" algn="l">
              <a:lnSpc>
                <a:spcPct val="150000"/>
              </a:lnSpc>
            </a:pPr>
            <a:r>
              <a:rPr lang="en-KH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 Car{}</a:t>
            </a:r>
          </a:p>
          <a:p>
            <a:pPr lvl="1" algn="l">
              <a:lnSpc>
                <a:spcPct val="150000"/>
              </a:lnSpc>
            </a:pPr>
            <a:r>
              <a:rPr lang="en-KH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 Lexus extends Car{}</a:t>
            </a:r>
          </a:p>
          <a:p>
            <a:pPr lvl="1" algn="l">
              <a:lnSpc>
                <a:spcPct val="150000"/>
              </a:lnSpc>
            </a:pPr>
            <a:r>
              <a:rPr lang="en-KH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Car mycar = new Lexus();</a:t>
            </a:r>
          </a:p>
          <a:p>
            <a:pPr lvl="1" algn="l">
              <a:lnSpc>
                <a:spcPct val="150000"/>
              </a:lnSpc>
            </a:pPr>
            <a: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if (</a:t>
            </a:r>
            <a:r>
              <a:rPr lang="en-KH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mycar</a:t>
            </a:r>
            <a:r>
              <a:rPr lang="en-US" sz="7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72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instanceof</a:t>
            </a:r>
            <a:r>
              <a:rPr lang="en-US" sz="7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Lexus</a:t>
            </a:r>
            <a: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 {</a:t>
            </a:r>
          </a:p>
          <a:p>
            <a:pPr lvl="1" algn="l">
              <a:lnSpc>
                <a:spcPct val="150000"/>
              </a:lnSpc>
            </a:pPr>
            <a: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…</a:t>
            </a:r>
          </a:p>
          <a:p>
            <a:pPr lvl="1" algn="l">
              <a:lnSpc>
                <a:spcPct val="150000"/>
              </a:lnSpc>
            </a:pPr>
            <a: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 else {</a:t>
            </a:r>
            <a:b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…</a:t>
            </a:r>
          </a:p>
          <a:p>
            <a:pPr lvl="1" algn="l">
              <a:lnSpc>
                <a:spcPct val="150000"/>
              </a:lnSpc>
            </a:pPr>
            <a: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</a:t>
            </a:r>
          </a:p>
          <a:p>
            <a:pPr lvl="1" algn="l">
              <a:lnSpc>
                <a:spcPct val="150000"/>
              </a:lnSpc>
            </a:pPr>
            <a:endParaRPr lang="en-KH" sz="22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689E53A-3256-A5A7-AD3F-FB773D47B31E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B21BD3A-38D5-7266-AEA2-E6496E9E3F0E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2FF01774-D685-00F4-0DB1-013C437FA7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26165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C72877-4C83-F5A8-4403-ED24EE980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BFC23-F35E-C99C-358D-1414DA5B6B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Control Flow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4C89C24-7C34-93FE-8F97-6B4446EAFA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168413"/>
            <a:ext cx="10954536" cy="5146416"/>
          </a:xfrm>
        </p:spPr>
        <p:txBody>
          <a:bodyPr>
            <a:normAutofit fontScale="92500" lnSpcReduction="1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	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Control Flow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សំដៅលើការគ្រប់គ្រងលំហូដំណើរការនៃ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Code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នៅក្នុងកម្មវិធី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</a:p>
          <a:p>
            <a:pPr algn="l">
              <a:lnSpc>
                <a:spcPct val="150000"/>
              </a:lnSpc>
            </a:pPr>
            <a:r>
              <a:rPr lang="en-KH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👉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Control Flow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មានដូចជា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</a:t>
            </a:r>
          </a:p>
          <a:p>
            <a:pPr algn="l">
              <a:lnSpc>
                <a:spcPct val="170000"/>
              </a:lnSpc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-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ប្រយោគបង្កើតការសម្រចចិត្ត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(Decision-Making Statements)</a:t>
            </a:r>
            <a:b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-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ប្រយោគរង្វិលជុំ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(Loop Statements)</a:t>
            </a:r>
          </a:p>
          <a:p>
            <a:pPr algn="l">
              <a:lnSpc>
                <a:spcPct val="170000"/>
              </a:lnSpc>
            </a:pP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-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ប្រយោគផ្លោះ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(Jump Statements)</a:t>
            </a:r>
          </a:p>
          <a:p>
            <a:pPr algn="l">
              <a:lnSpc>
                <a:spcPct val="170000"/>
              </a:lnSpc>
            </a:pP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- Exception Handling</a:t>
            </a:r>
          </a:p>
          <a:p>
            <a:pPr algn="l">
              <a:lnSpc>
                <a:spcPct val="170000"/>
              </a:lnSpc>
            </a:pP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- Static</a:t>
            </a:r>
          </a:p>
          <a:p>
            <a:pPr algn="l">
              <a:lnSpc>
                <a:spcPct val="170000"/>
              </a:lnSpc>
            </a:pP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- Instance</a:t>
            </a:r>
            <a:endParaRPr lang="km-KH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DAFB8AC-A03C-54D9-6899-0B92EE99BB43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EFB60B7-6572-7DBB-7A44-B70309CDAB0B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C03F132C-18C2-87DD-934B-6F84BA6CC8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38647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5743BD-B0A3-0CF4-7FBC-E8FE4158A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C4D27-D040-C41B-D7DB-83008F1056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ប្រយោគបង្កើតការសម្រចចិត្ត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8B202E-1588-5961-61F4-AA9F6E6A35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168413"/>
            <a:ext cx="10954536" cy="5146416"/>
          </a:xfrm>
        </p:spPr>
        <p:txBody>
          <a:bodyPr>
            <a:normAutofit fontScale="25000" lnSpcReduction="2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	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ប្រយោគបង្កើតការសម្រេចចិត្តនៅក្នុងភាសា</a:t>
            </a: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if, if-else, if-else-if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switch។</a:t>
            </a:r>
          </a:p>
          <a:p>
            <a:pPr algn="l">
              <a:lnSpc>
                <a:spcPct val="170000"/>
              </a:lnSpc>
            </a:pP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if: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</a:t>
            </a:r>
            <a:r>
              <a:rPr lang="km-KH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លំហូរ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នៃ</a:t>
            </a:r>
            <a:r>
              <a:rPr lang="km-KH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ការត្រួតពិនិត្យជាមូលដ្ឋានដែលអនុញ្ញាតឱ្យកម្មវិធីធ្វើការសម្រេចចិត្ត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និងប្រតិបត្តិ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(execute)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នូវប្លុក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ជាក់លាក់លុះត្រាតែការវាយតម្លៃលក្ខណដែលបានផ្តល់ឲ្យស្មើនិង</a:t>
            </a: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9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តែប៉ុណ្ណោះ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9600" dirty="0"/>
              <a:t>👉 </a:t>
            </a:r>
            <a:r>
              <a:rPr lang="en-US" sz="9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  <a:b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	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if(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){</a:t>
            </a:r>
          </a:p>
          <a:p>
            <a:pPr algn="l">
              <a:lnSpc>
                <a:spcPct val="120000"/>
              </a:lnSpc>
            </a:pP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		//Statement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ប្រសិនបើលក្ខណស្មើ</a:t>
            </a: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9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</a:p>
          <a:p>
            <a:pPr algn="l">
              <a:lnSpc>
                <a:spcPct val="120000"/>
              </a:lnSpc>
            </a:pP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	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</a:t>
            </a:r>
            <a:endParaRPr lang="km-KH" sz="9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D1986F8-F7DD-3AD0-6B74-5E89B685247F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9E51B28-085E-F607-6F39-D74B79BD1E5D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BBA359F1-EA10-DA2A-52DC-6F408C3167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13148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D801F8-0D67-890F-57FD-B7A2B7539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F23A6-0081-E42C-E366-96AA111D1A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ប្រយោគបង្កើតការសម្រចចិត្ត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612210-D8F8-B315-B381-8264F24175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5146416"/>
          </a:xfrm>
        </p:spPr>
        <p:txBody>
          <a:bodyPr>
            <a:normAutofit lnSpcReduction="1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if-else :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</a:t>
            </a:r>
            <a:r>
              <a:rPr lang="km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លំហូរ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នៃ</a:t>
            </a:r>
            <a:r>
              <a:rPr lang="km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ការត្រួតពិនិត្យជាមូលដ្ឋានដែលអនុញ្ញាតឱ្យកម្មវិធីធ្វើការសម្រេចចិត្ត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(execute)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នូវប្លុក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ជាក់លាក់ក្នុងការវាយតម្លៃលក្ខណដែលបានផ្តល់ឲ្យស្មើ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800" dirty="0"/>
              <a:t>👉 </a:t>
            </a:r>
            <a:r>
              <a:rPr lang="en-US" sz="2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if(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){</a:t>
            </a:r>
          </a:p>
          <a:p>
            <a:pPr algn="l">
              <a:lnSpc>
                <a:spcPct val="10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		//Statement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ប្រសិនបើលក្ខណស្មើ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</a:p>
          <a:p>
            <a:pPr algn="l">
              <a:lnSpc>
                <a:spcPct val="10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 else {</a:t>
            </a:r>
          </a:p>
          <a:p>
            <a:pPr algn="l">
              <a:lnSpc>
                <a:spcPct val="10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	 //Statement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ប្រសិនបើលក្ខណស្មើ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endParaRPr lang="en-US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</a:t>
            </a:r>
            <a:endParaRPr lang="km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0EF3543-B7E8-52C4-BFFD-EEAF0F2AA2A6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CACC6F3-4951-1CCE-06B6-2ED8335B6D8E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F6A33DCE-B7BA-A585-6C69-21B556FD4E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68083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A5A418-D202-4E60-E032-9A809AF03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E1114-7FC4-E1E5-0039-5FAAD7859D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ប្រយោគបង្កើតការសម្រចចិត្ត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820791-D29E-F21E-0A2E-63E792DA23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5146416"/>
          </a:xfrm>
        </p:spPr>
        <p:txBody>
          <a:bodyPr>
            <a:normAutofit fontScale="77500" lnSpcReduction="20000"/>
          </a:bodyPr>
          <a:lstStyle/>
          <a:p>
            <a:pPr algn="l">
              <a:lnSpc>
                <a:spcPct val="17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if-else-if :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</a:t>
            </a:r>
            <a:r>
              <a:rPr lang="km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លំហូរ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នៃ</a:t>
            </a:r>
            <a:r>
              <a:rPr lang="km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ការត្រួតពិនិត្យជាមូលដ្ឋានដែលអនុញ្ញាតឱ្យកម្មវិធីធ្វើការសម្រេចចិត្ត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នូវលក្ខណច្រើនបន្តបន្ទាប់គ្នា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(execute)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នូវប្លុក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ជាក់លាក់ក្នុងការវាយតម្លៃលក្ខណដែលបានផ្តល់ឲ្យស្មើ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800" dirty="0"/>
              <a:t>👉 </a:t>
            </a:r>
            <a:r>
              <a:rPr lang="en-US" sz="2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if(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){</a:t>
            </a:r>
          </a:p>
          <a:p>
            <a:pPr algn="l">
              <a:lnSpc>
                <a:spcPct val="11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		//Statement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ប្រសិនបើលក្ខណស្មើ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 else if(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){</a:t>
            </a:r>
          </a:p>
          <a:p>
            <a:pPr algn="l">
              <a:lnSpc>
                <a:spcPct val="11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		//Statement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ប្រសិនបើលក្ខណស្មើ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</a:p>
          <a:p>
            <a:pPr algn="l">
              <a:lnSpc>
                <a:spcPct val="11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 else {</a:t>
            </a:r>
          </a:p>
          <a:p>
            <a:pPr algn="l">
              <a:lnSpc>
                <a:spcPct val="11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	 //Statement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ប្រសិនបើលក្ខណស្មើ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endParaRPr lang="en-US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1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</a:t>
            </a:r>
            <a:endParaRPr lang="km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AAA2927-5748-B941-12D7-8004D5EB6222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26DC0D0-F4F7-3D95-4655-64DF2A96758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AE18E364-928A-175D-26DF-1AE8FF7F40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17149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6858C7-0549-BB94-3C6C-A105F253A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AAA7DE-9981-AE92-064F-1C07C2C537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ប្រយោគបង្កើតការសម្រចចិត្ត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DE12E3-CC1D-842D-A20C-AD692334D1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419065"/>
          </a:xfrm>
        </p:spPr>
        <p:txBody>
          <a:bodyPr>
            <a:noAutofit/>
          </a:bodyPr>
          <a:lstStyle/>
          <a:p>
            <a:pPr marL="457200" indent="-457200" algn="l">
              <a:lnSpc>
                <a:spcPct val="160000"/>
              </a:lnSpc>
              <a:buFontTx/>
              <a:buChar char="-"/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switch :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មួយដែលអនុញ្ញាតឲ្យកម្មវិធីធ្វើការប្រតិបត្តិ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នូវប្លុក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នៅក្នុងចំណោមករណី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(Case)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ដែលបានកំណត់ទុកដោយផ្អែកទៅលើការផ្គូរផ្គងតម្លៃជាមួយតម្លៃបញ្ជាក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់(Expression)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មួយ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algn="l">
              <a:lnSpc>
                <a:spcPct val="15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1800" dirty="0"/>
              <a:t>👉 </a:t>
            </a: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  <a:b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</a:t>
            </a:r>
            <a:r>
              <a:rPr lang="en-US" sz="1800" dirty="0">
                <a:solidFill>
                  <a:srgbClr val="FF0000"/>
                </a:solidFill>
              </a:rPr>
              <a:t>switch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តម្លៃបញ្ជាក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){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case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តម្លៃផ្គូផ្គងទី1 : 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//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ប្រសិនបើតម្លៃបញ្ជាក់ស្មើនិងតម្លៃផ្គូផ្គង</a:t>
            </a:r>
            <a:endParaRPr lang="en-US" sz="1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break;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case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តម្លៃផ្គូផ្គងទី2 : 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//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ប្រសិនបើតម្លៃបញ្ជាក់ស្មើនិងតម្លៃផ្គូផ្គង</a:t>
            </a:r>
            <a:endParaRPr lang="en-US" sz="1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break;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default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//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ប្រសិនបើតម្លៃបញ្ជាក់មិនស្មើនិងតម្លៃផ្គូផ្គងណាមួយ</a:t>
            </a:r>
            <a:endParaRPr lang="en-US" sz="1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</a:t>
            </a:r>
            <a:endParaRPr lang="en-US" sz="1800" dirty="0">
              <a:solidFill>
                <a:srgbClr val="0070C0"/>
              </a:solidFill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C9D5991-7328-266D-B7A0-1C4E7597D4AF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ACAFB4A-56C2-003A-619A-4956E9A9BFCE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ECF07541-8BD5-58D3-CE32-6C95DD9F53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54831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3AC115-38D3-BC41-0F3A-23169B665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0A15D-D500-0380-360E-013C418391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ប្រយោគរង្វិលជុំ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(Loop Statements)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A6D95A-711A-6AA4-BE85-A582C8F6BE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4800588"/>
          </a:xfrm>
        </p:spPr>
        <p:txBody>
          <a:bodyPr>
            <a:noAutofit/>
          </a:bodyPr>
          <a:lstStyle/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ប្រយោគរង្វិលជុំ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(Loop Statements):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គឺជារចនាសម្ព័ន្ធ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មួយដែលប្រតិបត្តិប្លុក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ម្តងហើយម្តងទៀតដរាបណាលក្ខណដែលបានបញ្ញាក់នៅតែពិត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</a:p>
          <a:p>
            <a:pPr algn="l">
              <a:lnSpc>
                <a:spcPct val="160000"/>
              </a:lnSpc>
            </a:pPr>
            <a:r>
              <a:rPr lang="en-KH" dirty="0"/>
              <a:t>👉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ប្រយោគរង្វិលជុំនៅក្នុងភាសា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 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  loop, for-each loop, while loop,  do-while loop។ </a:t>
            </a:r>
            <a:b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dirty="0"/>
              <a:t>👉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ពាក្យគន្លឹះនៃប្រយោគរង្វិលជុំ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</a:p>
          <a:p>
            <a:pPr marL="742950" lvl="1" indent="-285750" algn="l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break: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គឺជាពាក្យគន្លឹះសម្រាប់ធ្វើការបញ្ចប់រង្វិលជុំ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(loop)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ទាំងស្រង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់។</a:t>
            </a:r>
          </a:p>
          <a:p>
            <a:pPr marL="742950" lvl="1" indent="-285750" algn="l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continue: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គឺជាពាក្យគន្លឹះសម្រាប់ធ្វើការរំលងទៅកាន់ជុំបន្ទាប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់។</a:t>
            </a:r>
          </a:p>
          <a:p>
            <a:pPr algn="l">
              <a:lnSpc>
                <a:spcPct val="160000"/>
              </a:lnSpc>
            </a:pPr>
            <a:endParaRPr lang="en-US" sz="1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22C6563-4CFD-E1B6-228B-31F55237B00E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10D0BA2-2050-3464-0797-C1CAF1C0C405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CFC7601B-1037-B0C8-972F-B6444DC6FD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67519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02887E-EACA-29C1-D05D-E7268B120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918ED-F7F4-676C-E5BF-800DC81D59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 loop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4FBB0-F1FC-0F44-9897-53044CD521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 loop: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ដែលប្រើប្រាស់ដើម្បីប្រតិបត្តិ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ម្តងហើយម្តងទៀតទៅតាមចំនួនដងដែលបានកំណត់ទុកជាមុន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dirty="0"/>
              <a:t>👉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for (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Initialization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Termination​ Condition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Update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{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 // Code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ការធ្វើឡើងវិញនីមួយ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ៗ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</a:p>
          <a:p>
            <a:pPr algn="l">
              <a:lnSpc>
                <a:spcPct val="100000"/>
              </a:lnSpc>
            </a:pPr>
            <a:endParaRPr lang="en-US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800100" lvl="1" indent="-342900" algn="l">
              <a:lnSpc>
                <a:spcPct val="100000"/>
              </a:lnSpc>
              <a:buFont typeface="Wingdings" pitchFamily="2" charset="2"/>
              <a:buChar char="Ø"/>
            </a:pPr>
            <a:r>
              <a:rPr lang="en-US" sz="24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Initialization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Variable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ដែលបានកំណត់តម្លៃចាប់ផ្តើម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 </a:t>
            </a:r>
          </a:p>
          <a:p>
            <a:pPr marL="800100" lvl="1" indent="-342900" algn="l">
              <a:lnSpc>
                <a:spcPct val="100000"/>
              </a:lnSpc>
              <a:buFont typeface="Wingdings" pitchFamily="2" charset="2"/>
              <a:buChar char="Ø"/>
            </a:pPr>
            <a:r>
              <a:rPr lang="en-US" sz="24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Temination</a:t>
            </a:r>
            <a:r>
              <a:rPr lang="en-US" sz="24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Condition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គឺជាលក្ខណនៃការបញ្ជាប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loop។</a:t>
            </a:r>
          </a:p>
          <a:p>
            <a:pPr marL="800100" lvl="1" indent="-342900" algn="l">
              <a:lnSpc>
                <a:spcPct val="100000"/>
              </a:lnSpc>
              <a:buFont typeface="Wingdings" pitchFamily="2" charset="2"/>
              <a:buChar char="Ø"/>
            </a:pPr>
            <a:r>
              <a:rPr lang="en-US" sz="24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Update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គឺជាប្រយោគដែលដំណើរការក្រោយពេលដែលការធ្វើឡើងវិញនីមួយ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ៗ       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រួចរាល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់។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ជាធម្មតាវាត្រូវបានគេប្រើប្រាស់សម្រាប់បង្កើន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ឫបន្ថយតម្លៃ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algn="l">
              <a:lnSpc>
                <a:spcPct val="160000"/>
              </a:lnSpc>
            </a:pPr>
            <a:endParaRPr lang="en-US" sz="1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D44D3E0-225F-5F6C-9F1D-D1882996682D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42BE5A4-33FE-17B9-7D30-4DDEA3993E6F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BA0F232F-FD2E-5070-53C2-5B8C6AB873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31580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B1D183-3D13-BA53-E03C-B87F4FCF0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DA8D2-047A-E767-74E9-8FDDC4E267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 loop(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1D1290-4B38-6330-2B41-BAE0500084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60000"/>
              </a:lnSpc>
            </a:pPr>
            <a:r>
              <a:rPr lang="en-KH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ឧទាហរណ៍ទី១៖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for (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int I = 1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&lt;=3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++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{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System.out.println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(“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ជុំទី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” +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);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  <a:endParaRPr lang="en-KH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algn="l">
              <a:lnSpc>
                <a:spcPct val="160000"/>
              </a:lnSpc>
            </a:pPr>
            <a:r>
              <a:rPr lang="en-KH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ឧទាហរណ៍ទី២៖</a:t>
            </a:r>
          </a:p>
          <a:p>
            <a:pPr algn="l">
              <a:lnSpc>
                <a:spcPct val="100000"/>
              </a:lnSpc>
            </a:pPr>
            <a:r>
              <a:rPr lang="en-KH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int n = 0;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for (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int I = 3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&gt;=1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--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{</a:t>
            </a:r>
            <a:b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n++;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System.out.println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(“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ជុំទី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” + n );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  <a:endParaRPr lang="en-US" sz="24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D444A4E-C5C2-056D-DC56-2293FDD7C13E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6A7D91F-5792-E19C-0F6B-8DFE9701B27B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0FC85008-EAFF-EF6D-4797-9E286BA059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64964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589B37-8474-87E1-061A-F1BA6605B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D66497-FDDF-B04B-BACA-2F5E183E68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for-each loop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41CEE8E-9E00-D260-9E85-973C0D3516AB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4B1D4DB-8192-E865-D591-C0438B50115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0700F2F2-840A-38D7-A702-B26BABF55D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9E50E9FE-384C-0869-652E-2E2E928CC8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for-each loop: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ដែលប្រើប្រាស់ដើម្បីប្រតិបត្តិ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ម្តងហើយម្តងទៀតទៅតាមចំនួនធាតុនៃ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Arrays​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និងត្រូវបានណែនាំឲ្យប្រើប្រាស់ចាប់ពី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1.5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មក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dirty="0"/>
              <a:t>👉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for (</a:t>
            </a:r>
            <a:r>
              <a:rPr lang="en-US" sz="20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variable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arrays/collection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{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 // 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ការធ្វើឡើងវិញសម្រាប់ធាតុនីមួយ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ៗ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៍៖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String[]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capitalLetters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{“A”,”B”,”C”,”D”};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for(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String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capitalLetter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20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capitalLetters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){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System.out.println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capitalLetter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}</a:t>
            </a:r>
            <a:endParaRPr lang="en-US" sz="20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4835862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884F13-FC64-6529-5CE5-A9B0E6E979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C61723-A9CB-A3FF-85A9-0636A579A4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while loop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5490DD6-2236-4F55-81F8-4CDB88987130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208C836-BC7F-09E4-8CF6-BD68EC7B87CE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D2575535-57CB-314B-2440-9F4CEE26EC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334A7C8-D19D-B6E6-A1B8-FC782434A7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while loop: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ដែលប្រើប្រាស់ដើម្បីប្រតិបត្តិ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ម្តងហើយម្តងទៀតដរាបណាលក្ខណ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Boolean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ដែលបានបញ្ជាក់នៅតែ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dirty="0"/>
              <a:t>👉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while (</a:t>
            </a:r>
            <a:r>
              <a:rPr lang="en-US" sz="20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{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 // 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ការធ្វើឡើងវិញនៅពេលលក្ខណដែលបានបញ្ចាក់ស្មើ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  <a:endParaRPr lang="en-US" sz="20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៍៖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int 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num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0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while(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num &lt;= 4 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){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System.out.println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 num );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num++;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}</a:t>
            </a:r>
            <a:endParaRPr lang="en-US" sz="20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12050010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407F11-EE60-BBCD-6875-DA16DB776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18E613-A35B-DEE8-6128-694735BDC2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do-while loop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A874F9B-A343-C7CA-2FB6-4F3FE4D323AD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EFDCAA6-0EB5-F27A-3ABA-BFCD7B9EE533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7AD8F6A2-A773-AF89-CF53-D4EB4CAA31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4885789-9522-B83C-93F5-30667095C6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do-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while loop: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ដែលប្រើប្រាស់ដើម្បីប្រតិបត្តិ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យ៉ាងតិចម្តង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និងបន្ទាប់មកវាបន្តការប្រតិបត្តិ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(execute)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ម្តងហើយម្តងទៀតដរាបណាលក្ខណ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Boolean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ដែលបានបញ្ជាក់នៅតែ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dirty="0"/>
              <a:t>👉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 {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 //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ការធ្វើឡើងវិញនៅពេលលក្ខណដែលបានបញ្ចាក់ស្មើ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  <a:endParaRPr lang="en-US" sz="1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while (</a:t>
            </a:r>
            <a:r>
              <a:rPr lang="en-US" sz="18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៍៖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int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num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0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do {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System.out.println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 num );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num++;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} while( 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num &lt;= 4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72829552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6BEE96-D498-F934-3B06-2A6AC86C8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2A55AF-C5FD-4E3E-A0D0-4DAB2A767B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ប្រយោគផ្លោះ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(Jump Statement)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C5CE460-F78D-AF09-F0F5-8466D2B25C32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BAC5608-E4A9-92E1-0FAC-36CF7087C30C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07FD4DB3-93A9-D9AC-EB57-19D6796E8A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E0C34949-ED45-38A2-58F5-BB5A9AF792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     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ប្រយោគផ្លោះ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(Jump Statement) 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ដែលប្រើប្រាស់សម្រាប់កែប្រែលំហូរក្នុងការប្រតិបត្តិនៃប្លុក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ដោយធ្វើការផ្ទេរការគ្រប់គ្រងទៅកាន់ផ្នែកផ្សេងនៃកម្មវិធី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វាអនុញ្ញាតប្រើប្រាស់សម្រាប់ចាកចេញពី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loop/method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ជាមុន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រំលងការធ្វើម្តងទៀតនៃ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loop,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ការផ្តល់តម្លៃត្រឡប់ទៅវិញ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និងធ្វើឲ្យ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កាន់តែមានប្រសិទ្ធិភាព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ប្រយោគផ្លោះ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(Jump Statement)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break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continue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return 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 </a:t>
            </a:r>
            <a:endParaRPr lang="en-US" sz="20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break: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គឺជាការចាក</a:t>
            </a:r>
            <a:r>
              <a:rPr lang="km-KH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ចេញពីរង្វិលជុំបច្ចុប្បន្នភ្លាមៗ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(for, while, do-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while,switch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continue: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គឺជាការរំលងនូវការធ្វើឡើងវិញនៃ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loop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នាពេលបច្ចុប្បន្ន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ហើយបន្តទៅការធ្វើឡើងវិញបន្ទាប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return: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គឺជាការចាកចេញពី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ទាំងស្រុង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ហើយផ្ទេរការគ្រប់គ្រងត្រឡប់ទៅ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ដែលបានហៅមក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ឫផ្តល់តម្លៃត្រឡប់ទៅវិញ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endParaRPr lang="km-KH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endParaRPr lang="en-US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endParaRPr lang="en-US" sz="1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29387900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3D9452-9F9A-DC4B-36BB-214450ADDA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EB448-32EB-5468-5E07-480F578913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Exception Handling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0660190-D9DF-7E5F-6EDB-D13428B05469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07CE588-736C-5A5C-F8EE-10B6BD975E0A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53BABEC3-2A4E-AFC2-4D04-6A15F080C1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682314D0-A1BD-8D85-1970-5F94021B24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      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Exception Handling 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ដែលប្រើប្រាស់សម្រាប់កាន់កាប់ទៅលើ</a:t>
            </a:r>
            <a:r>
              <a:rPr lang="km-KH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ព្រឹត្តិការណ៍ដែលមិនចង់បាន ឬមិននឹកស្មានដល់ដែលកើតឡើងកំឡុងពេលដំណើរការកម្មវិធី ហើយរំខានដល់លំហូរធម្មតារបស់វា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 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Exception Handling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try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catch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finally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throw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,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throws 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 </a:t>
            </a:r>
            <a:endParaRPr lang="en-US" sz="20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try :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</a:t>
            </a:r>
            <a:r>
              <a:rPr lang="km-KH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km-KH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ដែលត្រូវបានសាកល្បងសម្រាប់ការលើកលែងក្នុងអំឡុងពេលប្រតិបត្តិ។ ប្រសិនបើករណីលើកលែងកើតឡើង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code </a:t>
            </a:r>
            <a:r>
              <a:rPr lang="km-KH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ដែលនៅសល់ក្នុងប្លុកសាកល្បងត្រូវបានរំលង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catch :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km-KH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ដើម្បីដោះស្រាយប្រសិនបើមានករណីលើកលែងកើតឡើង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finally :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km-KH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តែងតែត្រូវបានប្រតិបត្តិបន្ទាប់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ពីការប្រតិបត្តិនៃប្លុក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របស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try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catch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throw​: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km-KH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ប្រើដើម្បីបោះ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ការកើតឡើងនូវ</a:t>
            </a:r>
            <a:r>
              <a:rPr lang="km-KH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ករណីលើកលែងមួយយ៉ាងច្បាស់លាស់ពីក្នុង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code។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throws :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ប្រើក្នុងការបញ្ជាក់លើ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ដើម្បីប្រកាសថា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អាចបណ្តាលឲ្យករណីលើកលែងជាក់លាក់មួយ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ឫច្រើនកើតឡើងក្នុងពេលវាធ្វើប្រតិបត្តិការ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។</a:t>
            </a:r>
            <a:endParaRPr lang="km-KH" sz="1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endParaRPr lang="en-US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endParaRPr lang="en-US" sz="1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72232699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FD39B0-55A8-EF29-D0E7-12C81B2BC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FB7C63-13F4-0968-3E42-E219D77CB1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static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3A601CB-85BF-18EB-C690-DE4B6D0292D7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27FCE87-CC11-8CDF-4493-A31295726239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AE6DF9C8-F40B-639D-ACCF-B99AE41DAD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8FCF2BE-DF88-72E5-135E-297DF666BB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   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static 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 Control flow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ដែលប្រើប្រាស់ក្នុងការកំណត់លំដាប់លំដោយនៃជំហាននីមួយ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ៗ​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សម្រាប់ការផ្ទុកទិន្នន័យតែម្តងគត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និងការចាប់ផ្តើមនៃ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class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មួយដែលកើតឡើងនៅពេល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JVM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ត្រូវការប្រើប្រាស់វាដំបូង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ជំហាននៃ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static Control Flow:</a:t>
            </a:r>
            <a:endParaRPr lang="km-KH" sz="20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ការកំណត់អត្តសញ្ញាណ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JVM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ធ្វើការស្កេន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class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ពីលើចុះក្រោម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ហើយធ្វើការកំណត់នូវអត្តសញ្ញាណរាល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static variables, static blocks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static methods។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ការចាប់ផ្តើម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</a:t>
            </a:r>
          </a:p>
          <a:p>
            <a:pPr marL="1257300" lvl="2" indent="-342900" algn="l">
              <a:lnSpc>
                <a:spcPct val="100000"/>
              </a:lnSpc>
              <a:spcBef>
                <a:spcPts val="1500"/>
              </a:spcBef>
              <a:buFont typeface="+mj-lt"/>
              <a:buAutoNum type="arabicPeriod"/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Static variables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ត្រូវបានចាត់តាំងតម្លៃចាប់ផ្តើម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marL="1257300" lvl="2" indent="-342900" algn="l">
              <a:lnSpc>
                <a:spcPct val="100000"/>
              </a:lnSpc>
              <a:spcBef>
                <a:spcPts val="1500"/>
              </a:spcBef>
              <a:buFont typeface="+mj-lt"/>
              <a:buAutoNum type="arabicPeriod"/>
            </a:pP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Static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បានប្រតិបត្តិទៅតាមលំដាប់ដែលបានលិចឡើងពីប្រភព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code។</a:t>
            </a:r>
          </a:p>
          <a:p>
            <a:pPr marL="742950" lvl="1" indent="-28575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ការប្រតិបត្តិ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:​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ចាប់ផ្តើមប្រតិបត្តិ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public static void main(String[]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args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ដែលជាចំណុចចូលកម្មវិធី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endParaRPr lang="en-US" sz="1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0650872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D83A6A-539A-ADDB-D8E0-9D0E2FD5A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54139-28EB-EBFC-7407-F9177D2891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Instance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59A6992-F556-F5B6-31B8-7C0B59BFA0C1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5698FBD-3CB5-D1FD-7203-611EFDA65D1E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7A81B597-8102-C362-5D51-B2168AE349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89C3E948-4D3B-CF13-506C-6C86FEAFC0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    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Instance 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គឺជាជំហាននៃដំណើរការក្នុងការចាប់ផ្តើមរបស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object​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មួយក្នុងកម្មវីធី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នៅពេលដែលវាត្រូវបានបង្កើតឡើង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លំដាប់លំដោយពេលដែលបង្កើត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object: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+mj-lt"/>
              <a:buAutoNum type="arabicPeriod"/>
            </a:pP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ការដំណើរការ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Static control flow </a:t>
            </a: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មុនគេបង្អស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JVM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ប្រតិបត្តិដំបូងគេបំផុតនូវ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Static control flow (static blocks, static variables)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class​។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ប៉ុន្តែវាប្រតិ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បត្តិតែម្តងប៉ុណ្ណោះ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+mj-lt"/>
              <a:buAutoNum type="arabicPeriod"/>
            </a:pP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ការកំណត់អត្តសញ្ញាណ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Instance Member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JVM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ស្កេន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class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ពីលើចុះក្រោមដើម្បីកំណត់អត្តសញ្ញណនូវរាល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instance variables, instance initializer blocks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constuctors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 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+mj-lt"/>
              <a:buAutoNum type="arabicPeriod"/>
            </a:pP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ប្លុកនៃ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Instance Variable </a:t>
            </a: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និងការចាត់តាំងតម្លៃនៃ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Instance variable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ជាការប្រតិបត្តិពីលើចុះក្រោមនូវការចាត់តាំងតម្លៃ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ទៅឲ្យ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variable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ដែលបាន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Instance​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រួច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និងប្លុកកម្មវិធីចាប់ផ្តើម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Instance។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+mj-lt"/>
              <a:buAutoNum type="arabicPeriod"/>
            </a:pP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ការប្រតិបត្តិ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Constructor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ជាការប្រតិបត្តិចុងក្រោយបំផុតនូវ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Constructor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object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ជាក់លាក់ដែលនឹងត្រូវបានបង្កើត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</p:txBody>
      </p:sp>
    </p:spTree>
    <p:extLst>
      <p:ext uri="{BB962C8B-B14F-4D97-AF65-F5344CB8AC3E}">
        <p14:creationId xmlns:p14="http://schemas.microsoft.com/office/powerpoint/2010/main" val="122087253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73D5F2-0FC7-2AE7-5D2B-89C136AF0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3FFBF-3562-896C-8F30-B482D11AAC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Methods 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និងParameters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950AC72-125B-BDCF-3866-5CCD6EDD77BE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7F4470E-C2C7-2086-84C0-775259A27041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B7C41771-2614-1A15-D34A-DBD283168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71E7C86-87BB-E04B-ACF2-29A9CB612F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507311"/>
            <a:ext cx="10954536" cy="3528152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      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Methods :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គឺជាប្លុក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ដែលអនុវត្តនូវការងារជាក់លាក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ហើយវាដំណើរការតែពេលដែលត្រូវបានហៅមកប្រើតែប៉ុណ្ណោះ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Parameters :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Variable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មួយដែលបានកំណត់ឡើងនៅក្នុង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មួយ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constructor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មួយ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ដែលមានតួនាទីដាក់ទិន្នន័យសម្រាប់បញ្ជូនទៅឲ្យ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constructor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នៅពេលដែល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constructor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ត្រូវបានហៅ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</p:txBody>
      </p:sp>
    </p:spTree>
    <p:extLst>
      <p:ext uri="{BB962C8B-B14F-4D97-AF65-F5344CB8AC3E}">
        <p14:creationId xmlns:p14="http://schemas.microsoft.com/office/powerpoint/2010/main" val="368871834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2A4274-3CA8-67B9-E0D9-C1A4ABC4E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1E16E-A524-A9BB-51BE-00D5D4BEE1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Methods 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និងParameters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45708D5-6384-2ABD-E349-AA28DA165368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C0D7CF6-B0F2-1885-9FC8-6EEFEDAA75D5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161F6EEC-C875-0393-745F-C3D465561C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8E877883-D334-D714-6BBD-6E1AEDB536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156582"/>
            <a:ext cx="10954536" cy="518157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</a:t>
            </a:r>
            <a:r>
              <a:rPr lang="en-KH" sz="2800" dirty="0"/>
              <a:t> </a:t>
            </a:r>
            <a:r>
              <a:rPr lang="en-KH" sz="2000" dirty="0"/>
              <a:t>👉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នៃ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ដែលផ្តល់តម្លៃត្រឡប់មកវិញ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Return value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)៖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accessModifier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returnType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methodName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0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dataType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parameterName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){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//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return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តម្លៃដែលត្រូវផ្តល់ត្រឡប់ទៅវិញ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ដែលមានប្រភេទទិន្នន័ដូចនិង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returnType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  <a:b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b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-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accessModifier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គឺជាពាក្យសម្រាប់បញ្ជាក់កម្រិតនៃការចូលទៅកាន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method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private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default(</a:t>
            </a:r>
            <a:r>
              <a:rPr lang="en-US" sz="20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មិនបញ្ជាក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់) 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protected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US" sz="2000" b="1" dirty="0"/>
              <a:t>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public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-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returnType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ប្រភេទទិន្នន័យនៃតម្លៃដែលត្រូវផ្តល់ត្រឡប់មកវិញ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endParaRPr lang="en-US" sz="20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-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methodName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ឈ្មោះ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សម្រាប់ហៅនៅពេលប្រើប្រាស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់។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-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parameterName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ឈ្មោះ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Parameter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សម្រាប់ប្រើប្រាស់ក្នុង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នៅពេលប្រតិបត្តិ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</p:txBody>
      </p:sp>
    </p:spTree>
    <p:extLst>
      <p:ext uri="{BB962C8B-B14F-4D97-AF65-F5344CB8AC3E}">
        <p14:creationId xmlns:p14="http://schemas.microsoft.com/office/powerpoint/2010/main" val="41486045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EEDD9A-9AB7-2D7D-2377-2293CEFB3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6451F-8670-735F-59B4-82D837025F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Methods 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និងParameters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378FE91-F0D1-8BB6-0BE5-BFAA3D2E21CA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FDBDDBD-BDFC-F5A9-A2F6-F6225499C745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049E800C-B977-9320-EA12-0CD772F885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AB5CD8C5-0758-8B3E-09F3-7F605119B7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156582"/>
            <a:ext cx="10459234" cy="518157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</a:t>
            </a:r>
            <a:r>
              <a:rPr lang="en-KH" dirty="0"/>
              <a:t>👉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នៃ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ដែលមិនផ្តល់តម្លៃត្រឡប់មកវិញ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(No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return value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)៖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</a:t>
            </a: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accessModifier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void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methodName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18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dataType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parameterName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){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//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</a:t>
            </a:r>
          </a:p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  <a:b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000" dirty="0"/>
              <a:t>✍️ </a:t>
            </a:r>
            <a:r>
              <a:rPr lang="en-KH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ចំណាំ៖ </a:t>
            </a:r>
            <a:r>
              <a:rPr lang="en-KH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ការបង្កើត </a:t>
            </a:r>
            <a:r>
              <a:rPr lang="en-KH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</a:t>
            </a:r>
            <a:r>
              <a:rPr lang="en-KH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អាចធ្វើការដាក់ </a:t>
            </a:r>
            <a:r>
              <a:rPr lang="en-KH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parameter</a:t>
            </a:r>
            <a:r>
              <a:rPr lang="en-KH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ច្រើនបន្តបន្ទាប់គ្នាដោយប្រើសញ្ញា ”</a:t>
            </a:r>
            <a:r>
              <a:rPr lang="en-KH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KH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” នៅចំកណ្តាលរវៀង parameter ពីរ ឫច្រើន ឫមិនដាក់ </a:t>
            </a:r>
            <a:r>
              <a:rPr lang="en-KH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parameter</a:t>
            </a:r>
            <a:r>
              <a:rPr lang="en-KH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ក៍បាន។</a:t>
            </a:r>
            <a:br>
              <a:rPr lang="en-KH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​</a:t>
            </a:r>
            <a:r>
              <a:rPr lang="en-KH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ឧទាហរណ៍ទី១៖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methodName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0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dataType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parameterName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 </a:t>
            </a:r>
            <a:r>
              <a:rPr lang="en-US" sz="20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dataType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parameterName2){}</a:t>
            </a:r>
            <a:b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</a:t>
            </a:r>
            <a:r>
              <a:rPr lang="en-KH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ឧទាហរណ៍ទី២៖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methodName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(){}</a:t>
            </a:r>
            <a:b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US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9699775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D82939-474D-9AF5-7DA6-AE243BB31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D42D5-55CB-C1B8-BD47-3591EB2B22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Methods 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និងParameters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CB24296-590A-6AFB-B54C-F2E440627724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5C66718-FBD5-D9C3-443D-C38CEA87EF0C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CDA8D571-EA15-D167-F3E3-AA91075859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750D091-B569-4A1A-8380-9C4650A2F6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156582"/>
            <a:ext cx="10459234" cy="518157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</a:t>
            </a:r>
            <a:r>
              <a:rPr lang="en-KH" dirty="0"/>
              <a:t>👉</a:t>
            </a:r>
            <a:r>
              <a:rPr lang="en-KH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វិសាលភាព​នៃ Access Modifier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</a:p>
          <a:p>
            <a:pPr marL="914400" lvl="1" indent="-4572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2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private</a:t>
            </a:r>
            <a:r>
              <a:rPr lang="en-US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អាចហៅ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method​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member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បានតែនៅក្នុង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class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ជាមួយគ្នាប៉ុណ្ណោះ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marL="914400" lvl="1" indent="-4572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2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default</a:t>
            </a:r>
            <a:r>
              <a:rPr lang="en-US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អាចហៅ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method​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member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បានតែនៅក្នុង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class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package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ជាមួយគ្នាប៉ុណ្ណោះ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marL="914400" lvl="1" indent="-4572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2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protected</a:t>
            </a:r>
            <a:r>
              <a:rPr lang="en-US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អាចហៅ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method​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ឫmember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បានតែនៅក្នុង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package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ជាមួយគ្នា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subclasses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ប៉ុណ្ណោះ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marL="914400" lvl="1" indent="-4572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2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public</a:t>
            </a:r>
            <a:r>
              <a:rPr lang="en-US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អាចហៅ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method​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member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បានទាំងក្នុង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class 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package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ជាមួយគ្នា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និងpackage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ផ្សេងគ្នា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US" sz="24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0411674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136489-92E5-AA56-A601-E4FDCF7C0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7269EF-0971-363A-37DD-DBE780D3C7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Arrays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9B832F0-880A-10E2-3951-DF73C2C0ABD6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85ACEAD-5F73-1745-9165-A23D73687CC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0538804B-BBE5-0539-7C77-C9772E799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6B30923D-D914-BD8E-B0FB-9E5D1E2008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133413"/>
            <a:ext cx="10459234" cy="520474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Arrays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គឺជាវត្ថុសម្រាប់ផ្ទុកសំណុំនៃតម្លៃដែលមានចំនួនថេរ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និងប្រភេទទិន្នន័យដូចគ្នា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ដែលតម្លៃនីមួយៗហៅថាធាតុ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Array​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ត្រូវបានចែកជាពីរប្រភេទគឺ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មួយវិមាត្រ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​(Single-Dimensional Array):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គឺរចនាសម្ព័ន្ធទិន្នន័យមួយជួរ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ដែលផ្ទុកតារាងនៃធាតុជាច្រើនមានប្រភេទទិន្នន័យដូចគ្នា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ហើយធាតុនីមួយៗត្រូវបានចូលប្រើតាមរយៈ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index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មួយ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String[]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capitalLetters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{"A", "B", "C"};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ច្រើនវិមាត្រ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(Multi-Dimensional Array):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Arrays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នៃ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Arrays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វាត្រូវបានគេប្រើដើម្បីផ្ទុកទិន្នន័យជាទម្រង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 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grid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ឫ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table 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String[][] 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letters =</a:t>
            </a:r>
            <a:r>
              <a:rPr lang="en-US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{{"A", "B", "C"}, {"a", "b", "c"}};</a:t>
            </a:r>
            <a:b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US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71972995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9ECFA5-4EB5-AD29-7EA1-AB2428E28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E562F-DAD3-0719-E28D-45A980850B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Arrays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4BC4279-303C-3BA7-EDAF-236C3D36265A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1AF5D61-4872-E942-CBE0-5559FFB3C2CC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EE987755-B07A-FC08-D17A-E7338F9C2B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455605F-748D-610D-528A-9F3AEAC6EF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133413"/>
            <a:ext cx="10459234" cy="520474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dirty="0"/>
              <a:t>👉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ការប្រកាស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និងការកំណត់តម្លៃចាប់ផ្តើមនៅលើ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Variable 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ប្រកាស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4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ដោយកំណត់ចំនួនធាតុ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4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[ ]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variableName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new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 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[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ចំនួនធាតុ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]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int[]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studentIds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int[10];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ប្រកាស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4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ដោយកំណត់តម្លៃជា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literal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: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24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[ ]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variableName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{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ធាតុ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ធាតុ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 …}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endParaRPr lang="en-US" sz="2400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 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String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[] 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letters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{"A", "B", "C"};</a:t>
            </a:r>
            <a:b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US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06525867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5A2EA9-4A5D-F977-B56B-7FC5A135F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34CB7-D26B-5B44-6588-540C5680AC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Arrays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BC6EA60-B827-FB04-C401-76B8CA667A92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D914093-D2FD-8E99-476A-C18A7E74ED59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A770A8F7-9B7B-6BA9-B205-2453EE4E65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1E856E0-2C67-432D-334C-A32FBD8EDB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133413"/>
            <a:ext cx="10459234" cy="520474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</a:t>
            </a:r>
            <a:r>
              <a:rPr lang="en-KH" dirty="0"/>
              <a:t>👉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ការចូលប្រើ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និងការកែប្រែតម្លៃនៃធាតុនីមួយ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ទម្រង់នៃការចូលប្រើ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arrays[ </a:t>
            </a:r>
            <a:r>
              <a:rPr lang="km-KH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សន្ទស្សន៍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ឫ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index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]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studentIds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[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0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]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ទម្រង់នៃការកែប្រែតម្លៃ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arrays[ </a:t>
            </a:r>
            <a:r>
              <a:rPr lang="km-KH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សន្ទស្សន៍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ឫ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index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] 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តម្លៃថ្មី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endParaRPr lang="en-US" sz="2400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 </a:t>
            </a:r>
            <a:r>
              <a:rPr lang="en-US" sz="24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studentIds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[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0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] 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1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KH" sz="2400" dirty="0"/>
              <a:t>👉 </a:t>
            </a:r>
            <a:r>
              <a:rPr lang="en-US" sz="24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ដើម្បីពិនិត្យចំនួនធាតុនៃ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Arrays </a:t>
            </a:r>
            <a:r>
              <a:rPr lang="en-US" sz="24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យើងត្រូវប្រើ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 “</a:t>
            </a:r>
            <a:r>
              <a:rPr lang="en-US" sz="24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length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” ។</a:t>
            </a:r>
            <a:endParaRPr lang="en-US" dirty="0">
              <a:solidFill>
                <a:srgbClr val="FF000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 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studentIds</a:t>
            </a:r>
            <a:r>
              <a:rPr lang="en-US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.length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endParaRPr lang="en-US" dirty="0">
              <a:solidFill>
                <a:srgbClr val="FF000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165828562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009183-08C5-FE65-02DC-71F962302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0CD83-6202-5A4E-3C8C-F5F2B96017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Arrays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9E71593-B715-BCEA-46F2-84C54601C885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30723D0-0790-137B-4BBA-59F6D05382F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C9D35385-B7A4-45D0-0C61-9607D17E02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3298875-D3EA-F93E-A8C5-72729A566A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133413"/>
            <a:ext cx="10459234" cy="520474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dirty="0"/>
              <a:t>👉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ការចូលប្រើតម្លៃនៃធាតុនីមួយដោយប្រើ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loop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ឧទាហរណ៍ទី១​ (for loop)៖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endParaRPr lang="en-US" sz="2400" dirty="0">
              <a:solidFill>
                <a:srgbClr val="FF000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int[]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studentIds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{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1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 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3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 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5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 for(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0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studentIds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.length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++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){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       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System.out.println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"</a:t>
            </a:r>
            <a:r>
              <a:rPr lang="en-US" sz="24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["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+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+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"]: "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+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studentIds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[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]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);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 }</a:t>
            </a:r>
            <a:b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US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9393020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0D7547-6B57-1118-CC4F-C65DE11E0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F95E9-ECB9-0445-B635-F3C6289556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Arrays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9203C01-97AD-397D-6D61-7B28EBC5F463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776468C-97E3-5A19-84FE-196BBD30A614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D9F0867B-1767-C514-6607-E6F98C72B7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F544F2C-6672-9F74-C84A-3BB025FA7F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133413"/>
            <a:ext cx="10459234" cy="5204749"/>
          </a:xfrm>
        </p:spPr>
        <p:txBody>
          <a:bodyPr>
            <a:noAutofit/>
          </a:bodyPr>
          <a:lstStyle/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ឧទាហរណ៍ទី២​ (for-each loop)៖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endParaRPr lang="en-US" sz="2400" dirty="0">
              <a:solidFill>
                <a:srgbClr val="FF000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String[] </a:t>
            </a:r>
            <a:r>
              <a:rPr lang="en-US" sz="24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studentIds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{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1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 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3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 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5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 for(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: </a:t>
            </a:r>
            <a:r>
              <a:rPr lang="en-US" sz="24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studentIds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){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		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System.out.println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"</a:t>
            </a:r>
            <a:r>
              <a:rPr lang="en-US" sz="24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: "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+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);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 }</a:t>
            </a:r>
            <a:b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US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44630171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AFC312-AFA4-6BF0-F5C1-DB6183B0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17BB4F-B911-5CCD-CC32-60B96D9DCD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Arrays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4FF8B00-7E48-4B92-E4F0-362ED94AF1AA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591566C-0176-8A2C-0AE4-FDBE90504C2D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586132DC-1A5E-81B1-B3DD-0015316260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E38B3B40-C4D3-9109-A5DB-17E220EDEE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133413"/>
            <a:ext cx="10459234" cy="5504874"/>
          </a:xfrm>
        </p:spPr>
        <p:txBody>
          <a:bodyPr>
            <a:noAutofit/>
          </a:bodyPr>
          <a:lstStyle/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KH" sz="2400" dirty="0"/>
              <a:t>👉</a:t>
            </a:r>
            <a:r>
              <a:rPr lang="en-US" sz="24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ទម្រង់នៃការរតម្រៀប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Arrays </a:t>
            </a:r>
            <a:r>
              <a:rPr lang="en-US" sz="24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ពីតូចទៅធំ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 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Arrays.sort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Arrays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ដែលត្រូវតម្រៀប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b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​​​​         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int[]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nums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{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5, 6, 3, 9, 4, 1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   </a:t>
            </a:r>
            <a:r>
              <a:rPr lang="en-US" sz="24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Arrays.sort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nums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endParaRPr lang="en-US" sz="2400" dirty="0">
              <a:solidFill>
                <a:srgbClr val="FF000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KH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👉</a:t>
            </a:r>
            <a:r>
              <a:rPr lang="en-US" sz="24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ទម្រង់នៃការរតម្រៀប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Arrays </a:t>
            </a:r>
            <a:r>
              <a:rPr lang="en-US" sz="24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ពីធំទៅតូច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Arrays.sort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Array(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wraper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class)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ដែលត្រូវតម្រៀប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 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Collections.reverseOrder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())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b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​​​​         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Integer[]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nums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{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5, 6, 3, 9, 4, 1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   </a:t>
            </a:r>
            <a:r>
              <a:rPr lang="en-US" sz="24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Arrays.sort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nums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 </a:t>
            </a:r>
            <a:r>
              <a:rPr lang="en-US" sz="24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Collections.reverseOrder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())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endParaRPr lang="en-US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70574581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C21FB5-2DC8-B44E-3B01-942917CD67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956507-6078-B74B-9577-414DD228F4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90CCD26-A330-75C6-E318-8E12482D889D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944E47-2955-2FE2-8128-31ADE67DE934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72FCC5AF-AC07-EB55-3D52-A4537E259C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0D02F63-7526-74C9-C6AF-D8FAB511B0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227913"/>
            <a:ext cx="10459234" cy="505530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Collection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គឺជាវត្ថុដែលតំណាងឲ្យឯកត្តាមួយនៃវត្ថុផ្សេងៗទៀតជាច្រើន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ដែលត្រូវបានប្រើប្រាស់ដើម្បីផ្ទុក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យកតម្លៃ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និងរៀបចំការប្រមូលផ្តុំទិន្នន័យ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ប្រភេទនៃ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Collection​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មាន</a:t>
            </a:r>
            <a:r>
              <a:rPr lang="en-US" sz="2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ដូចជា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List: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គឺជាការប្រមូលផ្តុំដែលត្រូវបានតម្រៀបនូវធាតុជាច្រើនមានលក្ខណៈ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Dynamic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និងអនុញ្ញាតឲ្យផ្ទុកនូវធាតុស្ទួន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ហើយផ្តល់នូវការប្រើប្រាស់ដោយផ្អែកលើ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index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</a:p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2000" dirty="0"/>
              <a:t>👉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 </a:t>
            </a:r>
            <a:r>
              <a:rPr lang="en-US" sz="2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សម្រាប់ការអនុវត្តទូរទៅនៃ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​ List​ (common implementations)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 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ទម្រង់ប្រើប្រាស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List&lt;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&gt;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variableName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new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)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LinkedList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ទម្រង់ប្រើប្រាស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LinkedList&lt;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&gt;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variableName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LinkedList&lt;&gt;()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)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Vector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ទម្រង់ប្រើប្រាស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Vector&lt;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&gt;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variableName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new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Vector&lt;&gt;()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)</a:t>
            </a:r>
            <a:b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b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US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06257227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A6FEE2-2A96-E68A-A3DA-B56FB6ECD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758CC-0B33-02BC-C17C-F65E2B20A2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F438B5A-C780-E776-C948-CB12A1448117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27F95DE-1658-6CAF-1A43-55F998839DE1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215605F8-9AF0-05FE-917B-552585B637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1900CA6-44FE-0E1E-7FD7-76D3491DAE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227913"/>
            <a:ext cx="10459234" cy="505530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គឺការអនុវត្ត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(implementation)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ដែលអាចផ្លាស់ប្តូរទំហំខាងក្នុងនៃ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array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ដែលល្អបំផុតសម្រាប់ការប្រើប្រាស់ធាតុនីមួយៗនៃ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array។</a:t>
            </a:r>
          </a:p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LinkedList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គឺការអនុវត្ត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(implementation)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ដែលមានលក្ខណៈ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double-linked list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សម្រាប់ការបន្ថែម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ឫការលុបញឹកញាប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់។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ការចូលប្រើប្រាស់ទិន្នន័យដោយ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random​  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តាមរយៈ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index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មានលក្ខណៈយឺត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  <a:b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Vector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គឺការអនុវត្ត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(implementation)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ដែលស្រដៀងទៅនិង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​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ដែរ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ប៉ុន្តែវាមានលក្ខណៈជា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thread-safe (synchronized)</a:t>
            </a: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  <a:endParaRPr lang="en-US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58057525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D1392F-CD19-96A6-AFD1-180CE2F9E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94C504-B2D9-C73F-0FD8-B7CF0BE413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2A20DA4-79D5-AAE4-542F-91940A7FA2CB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7A1A0C3-2D52-A446-11FC-C5C60760B343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6DF5BD5B-F59E-4FF9-020E-81BA139172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A37501D9-1EBF-7D0C-5895-FDADB691FD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154761"/>
            <a:ext cx="10459234" cy="5510306"/>
          </a:xfrm>
        </p:spPr>
        <p:txBody>
          <a:bodyPr>
            <a:noAutofit/>
          </a:bodyPr>
          <a:lstStyle/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 method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មានដូចជា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</a:t>
            </a: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add()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ប្រើសម្រាប់បន្ថែមធាតុចុងក្រោយគេនៃ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get()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ប្រើសម្រាប់ចាប់យកធាតុមួយនៃ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តាមរយៈ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index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.get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0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ប្រើសម្រាប់ផ្លាស់ប្តូរធាតុមួយនៃ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តាមរយៈ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index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.set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0, </a:t>
            </a:r>
            <a:r>
              <a:rPr lang="en-US" sz="18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"B"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remove()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ប្រើសម្រាប់លុបធាតុមួយនៃ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តាមរយៈ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index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ឫ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Object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.remove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0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02915889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356A4A-FB5D-D622-F804-F077C7655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4BEE3A-40FC-872A-9902-75E0958B25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AEA598B-717E-F5E2-148D-89599F3655CE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A86B0F9-561A-5981-D91A-DD6E1C985702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17083AB2-EEED-5C26-61C4-FF420B4C31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D415A91F-E5D3-CA5D-3874-A09B86105B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203529"/>
            <a:ext cx="10459234" cy="5221654"/>
          </a:xfrm>
        </p:spPr>
        <p:txBody>
          <a:bodyPr>
            <a:noAutofit/>
          </a:bodyPr>
          <a:lstStyle/>
          <a:p>
            <a:pPr marL="742950" lvl="1" indent="-28575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size()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ប្រើសម្រាប់ពិនិត្យចំនួនធាតុនៃ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.size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addFirst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ប្រើសម្រាប់បន្ថែមធាតុនៅដំបូងគេនៃ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.addFirst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"</a:t>
            </a:r>
            <a:r>
              <a:rPr lang="en-US" sz="18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1"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addLast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ប្រើសម្រាប់បន្ថែមធាតុចុងក្រោយគេនៃ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តាមរយៈ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index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.addLast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"D"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removeFirst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ប្រើសម្រាប់លុបធាតុដំបូងនៃ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.removeFirst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427205376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8F9F45-ABE7-88BC-C458-3F81309A7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579F32-D89D-51BF-0A0F-A03243483F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62DF271-92BE-AF6D-7C84-D070F460A179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3C954F7-068C-1D2F-ED78-17C508523CE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36EB7122-F6C0-C769-5E8D-C417FEC6FD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88BADAF-C93F-0268-BCD8-93DF9FEC32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203529"/>
            <a:ext cx="10459234" cy="5221654"/>
          </a:xfrm>
        </p:spPr>
        <p:txBody>
          <a:bodyPr>
            <a:noAutofit/>
          </a:bodyPr>
          <a:lstStyle/>
          <a:p>
            <a:pPr marL="742950" lvl="1" indent="-28575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removeLast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ប្រើសម្រាប់លុបធាតុចុងក្រោយគេនៃ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.removeLast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getFirst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ប្រើសម្រាប់ចាប់យកធាតុនៅដំបូងគេនៃ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.getFirst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getLast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ប្រើសម្រាប់ចាប់យកធាតុចុងក្រោយគេនៃ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.getLast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2542539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2DD93C-6927-B2BA-317C-B575216431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62550A-3642-1D31-BCDC-76C9C49E26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D2B54AE-F6BA-B1A6-F80D-5B626AC4B075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85F7D5D-75C3-5C56-618C-6E8A5995090E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7ED99F07-E11F-A902-FD5D-3FE8EE7D29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F88E362B-AAA0-5D6D-79B5-C64FC658BF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621535"/>
            <a:ext cx="10459234" cy="4803647"/>
          </a:xfrm>
        </p:spPr>
        <p:txBody>
          <a:bodyPr>
            <a:noAutofit/>
          </a:bodyPr>
          <a:lstStyle/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ការតម្រៀបធាតុនៃ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List​ (List Sorting)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មានដូចជា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</a:t>
            </a:r>
            <a:endParaRPr lang="en-US" dirty="0">
              <a:solidFill>
                <a:srgbClr val="FF000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marL="742950" lvl="1" indent="-28575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ការតម្រៀបធាតុពីតូចទៅធំ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: 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Collections</a:t>
            </a:r>
            <a:r>
              <a:rPr lang="en-US" dirty="0" err="1">
                <a:solidFill>
                  <a:srgbClr val="FF0000"/>
                </a:solidFill>
              </a:rPr>
              <a:t>.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sort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listVariable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dirty="0"/>
              <a:t>;</a:t>
            </a:r>
            <a:endParaRPr lang="en-US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List&lt;String&gt;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Collections</a:t>
            </a:r>
            <a:r>
              <a:rPr lang="en-US" dirty="0" err="1">
                <a:solidFill>
                  <a:srgbClr val="FF0000"/>
                </a:solidFill>
              </a:rPr>
              <a:t>.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sort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)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ការតម្រៀបធាតុពីធំទៅតូច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: 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Collections</a:t>
            </a:r>
            <a:r>
              <a:rPr lang="en-US" dirty="0" err="1">
                <a:solidFill>
                  <a:srgbClr val="FF0000"/>
                </a:solidFill>
              </a:rPr>
              <a:t>.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sort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listVariable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</a:t>
            </a:r>
            <a:r>
              <a:rPr lang="en-US" dirty="0"/>
              <a:t> 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Collections.reverseOrder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 )</a:t>
            </a:r>
            <a:r>
              <a:rPr lang="en-US" dirty="0"/>
              <a:t>;</a:t>
            </a:r>
            <a:endParaRPr lang="en-US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List&lt;String&gt;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                   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Collections</a:t>
            </a:r>
            <a:r>
              <a:rPr lang="en-US" dirty="0" err="1">
                <a:solidFill>
                  <a:srgbClr val="FF0000"/>
                </a:solidFill>
              </a:rPr>
              <a:t>.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sort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</a:t>
            </a:r>
            <a:r>
              <a:rPr lang="en-US" dirty="0"/>
              <a:t> 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Collections.reverseOrder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 )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61902845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64401A-F22F-1B31-60A2-FC1E29C74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F2B2A-09A1-E3BC-A066-2C764DB210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4657CA3-6440-93F9-8321-E8B239C05B3F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6A0A290-641D-C183-1D84-2785A061D635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A0FFBD09-D20B-75A5-C833-A34117EEE6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F1677A76-8520-C5ED-B2A9-0EC31B0337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3626" y="1346209"/>
            <a:ext cx="11324747" cy="5078974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Set: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interface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មូលដ្ឋានមួយនៅក្នុង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Java Collections Framework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សម្រាប់រក្សាទុកធាតុដែលមានតម្លៃខុសៗគ្នា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  <a:b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KH" dirty="0"/>
              <a:t>👉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សម្រាប់ការអនុវត្តទូរទៅនៃ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​ List​ (common implementations)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</a:t>
            </a:r>
          </a:p>
          <a:p>
            <a:pPr marL="342900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HashSet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 </a:t>
            </a:r>
            <a:r>
              <a:rPr lang="en-US" sz="2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ទម្រង់ប្រើប្រាស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់៖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Set&lt;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&gt;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variableName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new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HashSet &lt;&gt;()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)</a:t>
            </a:r>
          </a:p>
          <a:p>
            <a:pPr marL="342900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LinkedHashSet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2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ទម្រង់ប្រើប្រាស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់៖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Set&lt;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&gt;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variableName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LinkedHashSet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)</a:t>
            </a:r>
          </a:p>
          <a:p>
            <a:pPr marL="342900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TreeSet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2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ទម្រង់ប្រើប្រាស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់៖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 &lt;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&gt;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variableName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new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TreeSet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)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endParaRPr lang="en-US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22012109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7811D7-39B0-EB88-9B8E-55C6C2233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1123F-56F9-6A06-B2E8-EE3B634772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839BD1B-BCB5-48A8-2DB3-1386D5CE4811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8EE86A7-925D-A2E2-3B25-15D9662423E4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4DD7C3E4-9385-BE87-D7B3-483578F2DC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6" name="Subtitle 2">
            <a:extLst>
              <a:ext uri="{FF2B5EF4-FFF2-40B4-BE49-F238E27FC236}">
                <a16:creationId xmlns:a16="http://schemas.microsoft.com/office/drawing/2014/main" id="{14F043B0-FCE2-F319-BF86-C49B709ED5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227913"/>
            <a:ext cx="10459234" cy="505530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HashSet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គឺរចនាសម្ព័ន្ធទិន្នន័យមួយដែលរក្សាទុកនូវធាតុដែលមានតម្លៃខុសគ្នា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ៗ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និងមិនមានលំដាប់លំដោយ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LinkedHashSet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គឺការអនុវត្ត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(implementation)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នៃ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Set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ដែលរួមបញ្ចូលគ្នារវាង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hash table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មួយសម្រាប់រក្សាទុកនូវធាតុដែលមានតម្លៃខុស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ៗ​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ជាមួយ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​ double-linked list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ដើម្បីរក្សាលំដាប់លំដោយនៃការបញ្ចូលរបស់ធាតុនីមួយ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ៗ។</a:t>
            </a:r>
            <a:b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TreeSet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collection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ដែលបានតម្រៀប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និងរក្សាទុកនូវធាតុដែលមានតម្លៃខុសៗគ្នានៅក្នុងលំដាប់លំដោយពីតូចទៅធំ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ឫពីតូចទៅធំ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  <a:endParaRPr lang="en-US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66396468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0170A1-2C92-5B4B-F7FF-ACF22BC20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37143-8519-E3A3-4DA8-EF94FEA265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3F3A458-5291-25BD-FE5F-703BDD979609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755E894-1294-5F7D-E438-5C113B1F717B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88AF5586-10BA-CB27-92C3-A71AFC3C80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2DA5B595-5AF4-242D-B9B5-050E0A41CD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154761"/>
            <a:ext cx="10459234" cy="5510306"/>
          </a:xfrm>
        </p:spPr>
        <p:txBody>
          <a:bodyPr>
            <a:noAutofit/>
          </a:bodyPr>
          <a:lstStyle/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 method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មានដូចជា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</a:t>
            </a: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add()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ប្រើសម្រាប់បន្ថែមធាតុ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HashSet&lt;&gt;();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endParaRPr lang="en-US" sz="1800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remove()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ប្រើសម្រាប់លុបធាតុ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 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HashSet 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.remove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contains()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ប្រើសម្រាប់ពិនិត្យថាមានធាតុដែលយើងចង់រកឬទេ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 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HashSet 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if(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.contains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){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 else {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69340202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781CDC-3C7F-A595-E7C2-6B2A52D0C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7FDEF-365E-98C1-0CFC-28E0121E4B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0512813-E90B-D6ED-F003-5E83955702D7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F7B1F98-B5E9-1F68-CF86-A18DC7681879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D9D3A3C7-8F91-D26C-78F2-917076277B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AF0CEEED-A7E3-747A-E6AB-2B7E8A310D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612900"/>
            <a:ext cx="10459234" cy="4089400"/>
          </a:xfrm>
        </p:spPr>
        <p:txBody>
          <a:bodyPr>
            <a:noAutofit/>
          </a:bodyPr>
          <a:lstStyle/>
          <a:p>
            <a:pPr marL="742950" lvl="1" indent="-28575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size()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ប្រើសម្រាប់ពិនិត្យចំនួនធាតុ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HashSet&lt;&gt;();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.size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endParaRPr lang="en-US" sz="1800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clear()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ប្រើសម្រាប់លុបធាតុទាំងអស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 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HashSet 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.clear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3281715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2416</TotalTime>
  <Words>6268</Words>
  <Application>Microsoft Macintosh PowerPoint</Application>
  <PresentationFormat>Widescreen</PresentationFormat>
  <Paragraphs>481</Paragraphs>
  <Slides>56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4" baseType="lpstr">
      <vt:lpstr>Aptos</vt:lpstr>
      <vt:lpstr>Aptos Display</vt:lpstr>
      <vt:lpstr>Arial</vt:lpstr>
      <vt:lpstr>Kh Battambang</vt:lpstr>
      <vt:lpstr>Khmer OS Battambang</vt:lpstr>
      <vt:lpstr>Khmer OS Content</vt:lpstr>
      <vt:lpstr>Wingdings</vt:lpstr>
      <vt:lpstr>Office Theme</vt:lpstr>
      <vt:lpstr>   សម្រាប់អ្នកចាប់ផ្តើមដំបូង   </vt:lpstr>
      <vt:lpstr>មាតិកា</vt:lpstr>
      <vt:lpstr>អ្វីទៅជា Java?</vt:lpstr>
      <vt:lpstr>ប្រវត្តិនៃ Java</vt:lpstr>
      <vt:lpstr>Java Virtual Machine (JVM)</vt:lpstr>
      <vt:lpstr>Java Development Kit(JDK)</vt:lpstr>
      <vt:lpstr>Java Compiler</vt:lpstr>
      <vt:lpstr>ឧបករណ៍សម្រាប់សរសេរភាសា Java(IDE)</vt:lpstr>
      <vt:lpstr>ប្រយោគនៃភាសា Java (Java statements)</vt:lpstr>
      <vt:lpstr>ប្រភេទទិន្នន័យ (Data Type)</vt:lpstr>
      <vt:lpstr>ប្រភេទទិន្នន័យ (Data Type) (ត)</vt:lpstr>
      <vt:lpstr>ប្រភេទទិន្នន័យ (Data Type) (ត)</vt:lpstr>
      <vt:lpstr>Variable</vt:lpstr>
      <vt:lpstr>Operator</vt:lpstr>
      <vt:lpstr>Arithmetic Operators</vt:lpstr>
      <vt:lpstr>Assignment Operators</vt:lpstr>
      <vt:lpstr>Relational Operators</vt:lpstr>
      <vt:lpstr>Logical Operators</vt:lpstr>
      <vt:lpstr>Unary Operators</vt:lpstr>
      <vt:lpstr>Ternary Operator</vt:lpstr>
      <vt:lpstr>instanceof Operator</vt:lpstr>
      <vt:lpstr>Control Flow</vt:lpstr>
      <vt:lpstr>ប្រយោគបង្កើតការសម្រចចិត្ត</vt:lpstr>
      <vt:lpstr>ប្រយោគបង្កើតការសម្រចចិត្ត (ត)</vt:lpstr>
      <vt:lpstr>ប្រយោគបង្កើតការសម្រចចិត្ត (ត)</vt:lpstr>
      <vt:lpstr>ប្រយោគបង្កើតការសម្រចចិត្ត (ត)</vt:lpstr>
      <vt:lpstr>ប្រយោគរង្វិលជុំ(Loop Statements)</vt:lpstr>
      <vt:lpstr>for loop</vt:lpstr>
      <vt:lpstr>for loop(ត)</vt:lpstr>
      <vt:lpstr>for-each loop</vt:lpstr>
      <vt:lpstr>while loop</vt:lpstr>
      <vt:lpstr>do-while loop</vt:lpstr>
      <vt:lpstr>ប្រយោគផ្លោះ(Jump Statement)</vt:lpstr>
      <vt:lpstr>Exception Handling</vt:lpstr>
      <vt:lpstr>static</vt:lpstr>
      <vt:lpstr>Instance</vt:lpstr>
      <vt:lpstr>Methods និងParameters</vt:lpstr>
      <vt:lpstr>Methods និងParameters</vt:lpstr>
      <vt:lpstr>Methods និងParameters</vt:lpstr>
      <vt:lpstr>Methods និងParameters</vt:lpstr>
      <vt:lpstr>Arrays</vt:lpstr>
      <vt:lpstr>Arrays (ត)</vt:lpstr>
      <vt:lpstr>Arrays (ត)</vt:lpstr>
      <vt:lpstr>Arrays (ត)</vt:lpstr>
      <vt:lpstr>Arrays (ត)</vt:lpstr>
      <vt:lpstr>Arrays (ត)</vt:lpstr>
      <vt:lpstr>Collections</vt:lpstr>
      <vt:lpstr>Collections(ត)</vt:lpstr>
      <vt:lpstr>Collections(ត)</vt:lpstr>
      <vt:lpstr>Collections(ត)</vt:lpstr>
      <vt:lpstr>Collections(ត)</vt:lpstr>
      <vt:lpstr>Collections(ត)</vt:lpstr>
      <vt:lpstr>Collections(ត)</vt:lpstr>
      <vt:lpstr>Collections(ត)</vt:lpstr>
      <vt:lpstr>Collections(ត)</vt:lpstr>
      <vt:lpstr>Collections(ត)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Ngoun Chheng Hy</dc:creator>
  <cp:lastModifiedBy>Ngoun Chheng Hy</cp:lastModifiedBy>
  <cp:revision>867</cp:revision>
  <cp:lastPrinted>2026-01-11T04:09:46Z</cp:lastPrinted>
  <dcterms:created xsi:type="dcterms:W3CDTF">2026-01-06T12:55:20Z</dcterms:created>
  <dcterms:modified xsi:type="dcterms:W3CDTF">2026-02-03T15:16:10Z</dcterms:modified>
</cp:coreProperties>
</file>