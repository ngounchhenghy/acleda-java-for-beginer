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K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9B06"/>
    <a:srgbClr val="FF9300"/>
    <a:srgbClr val="FBB902"/>
    <a:srgbClr val="F7D200"/>
    <a:srgbClr val="1C2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34"/>
    <p:restoredTop sz="94719"/>
  </p:normalViewPr>
  <p:slideViewPr>
    <p:cSldViewPr snapToGrid="0">
      <p:cViewPr>
        <p:scale>
          <a:sx n="100" d="100"/>
          <a:sy n="100" d="100"/>
        </p:scale>
        <p:origin x="37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92B20-97B0-BFE8-33A8-6ED6EF0D9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B3A344-7B9B-A86D-C38C-B6663E9EC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5DA2D-97F9-996E-1A7F-053671A6E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8/1/26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6F87E-8ED6-2EC1-128A-C0C4AD76E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212E0-D388-FE97-F524-B75760D44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78805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45033-11D5-AACD-36DD-6A5A404DB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0BD3A-8858-736F-BB1B-431733E45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0283A-9327-9628-574C-612C2DA9A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8/1/26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8B789-84FF-3F91-EF3A-357C7F578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225E5-510D-6A0A-7044-806F89652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13823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4BF2D-27B8-22F6-E2D1-49CD6A4F3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890CE-1BF6-21FA-1C62-24D67E65B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EF9CE-E4DB-CFAF-6B77-B78A603E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8/1/26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C8D6A-23C8-7A30-CCB1-09BD88E99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26B7D-E582-17D8-3321-401FC4D59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45737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2CF3F-78E9-AA6D-4948-732FA9E31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F34FD-6E08-D45D-177D-8E7E72DDF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4195D7-018E-6BB1-598D-AF306C255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468ED-74DE-9272-347C-B9F780A22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8/1/26</a:t>
            </a:fld>
            <a:endParaRPr lang="en-K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5A200-39CD-EF7E-0187-F37CCE9B2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B3CE2-5082-8512-ED0D-FC78EBB3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850264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DB90-FFDD-52A8-6C54-BFFF5C1F4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170F8-EC63-79CB-4B50-05C84AEF8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ED119D-A17D-777C-2944-2E0C0462D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0A5507-9F48-BD1B-4FB6-1285A1EA7E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47E10D-9A3C-D69B-E36D-3ED811FED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4C588-3075-74BC-0FF9-EC3F1035D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8/1/26</a:t>
            </a:fld>
            <a:endParaRPr lang="en-K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570D63-AE1F-50C1-5089-2BBD015D3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E86FB9-3142-04A9-8F46-EEE231EA6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345522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8A0DA-EF88-A891-9F84-F8396C11C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A44A92-6CB6-5FC8-C40A-8216978D9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8/1/26</a:t>
            </a:fld>
            <a:endParaRPr lang="en-K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FCEEBE-3A6F-6309-B07F-8BC14F749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27192F-FB9E-FC80-8ACE-F2D87442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932088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A8E491-E1F8-8751-8252-11FCE4A69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8/1/26</a:t>
            </a:fld>
            <a:endParaRPr lang="en-K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82E04-D7B8-01A9-0FFD-03FF9F8E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2186F-9254-9D89-55D8-75C414CE8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683840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941F4-FC4D-AD9F-340A-60400B38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635C5-0D68-7984-C398-8FF9D26B2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0C6B4-2BFE-AACD-3C8F-791644B46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30EEE-36C9-C890-AA6E-C7D41AFFB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8/1/26</a:t>
            </a:fld>
            <a:endParaRPr lang="en-K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04BD5-1B0C-A6A1-CB1E-7F3088E14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2806C-198E-9B48-60B9-8D100B708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56507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7767-5206-B51A-F11B-94BAE866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4E6E24-1F13-33C8-CA09-CF8C3D8FEC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867FE-C012-5FD3-F77C-DE609CB6C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F4DA8-DA37-E3B9-C1F8-DA37D22C3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8/1/26</a:t>
            </a:fld>
            <a:endParaRPr lang="en-K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1ADDC-871E-7F98-022B-FE66B287B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DF440-5BE5-49FE-16CA-3E163353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426735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CCA5-B5B9-71EF-30B5-652D0A9E8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1F8E4-CB5E-2DAD-CDA3-7C753D960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DCF3F-7F37-C3FE-F2FC-DF200465A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8/1/26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7EB44-3DA1-1DB8-DDBD-991061BD9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8CE1A-B5C5-A4C6-303E-54C9263D1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17384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5D7DAB-DDDE-8643-83A3-8B177C3A9E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6E13D-129B-2C77-FD05-B1BB45BD7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D8C85-9541-9EBD-54A6-26A31FEE5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51AF-933C-9446-AB7C-4A14F59AF2F3}" type="datetimeFigureOut">
              <a:rPr lang="en-KH" smtClean="0"/>
              <a:t>8/1/26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6762D-DE41-3B0D-37A5-7B3A040DC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3DBA5-5CC0-FE80-8C83-4E8C6E28F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537684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B53CF3-A869-244F-3FF5-4BEF22385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C56A3-3D0F-1C46-F625-43A6AAF8D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11A31-2AC6-AC57-EDC2-D54C8048BB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7A51AF-933C-9446-AB7C-4A14F59AF2F3}" type="datetimeFigureOut">
              <a:rPr lang="en-KH" smtClean="0"/>
              <a:t>8/1/26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582D2-80F7-CCB1-8D23-DDCA04E8C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E82A1-1183-9FA9-82EB-0FC03B035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312EF-28A4-0246-9A95-0A9CE360A7B2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90733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oracle.com/java/technologies/downloads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etbeans.apache.org/front/main/download" TargetMode="External"/><Relationship Id="rId2" Type="http://schemas.openxmlformats.org/officeDocument/2006/relationships/hyperlink" Target="https://spring.io/tools#eclipse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www.jetbrains.com/idea/download" TargetMode="External"/><Relationship Id="rId4" Type="http://schemas.openxmlformats.org/officeDocument/2006/relationships/hyperlink" Target="https://code.visualstudio.com/download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programming language - ProgKids">
            <a:extLst>
              <a:ext uri="{FF2B5EF4-FFF2-40B4-BE49-F238E27FC236}">
                <a16:creationId xmlns:a16="http://schemas.microsoft.com/office/drawing/2014/main" id="{E15B2BE2-42B3-05E4-B46E-AF9EC81B4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507" y="465645"/>
            <a:ext cx="6853818" cy="4283637"/>
          </a:xfrm>
          <a:prstGeom prst="rect">
            <a:avLst/>
          </a:prstGeom>
          <a:noFill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E77245-BB7E-31F8-2C0A-701588E6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100" y="4241801"/>
            <a:ext cx="5470525" cy="1854200"/>
          </a:xfrm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txBody>
          <a:bodyPr>
            <a:noAutofit/>
          </a:bodyPr>
          <a:lstStyle/>
          <a:p>
            <a:pPr algn="ctr"/>
            <a:br>
              <a:rPr lang="en-KH" sz="6000" dirty="0">
                <a:solidFill>
                  <a:srgbClr val="00206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br>
              <a:rPr lang="en-KH" sz="6000" dirty="0">
                <a:solidFill>
                  <a:srgbClr val="00206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br>
              <a:rPr lang="en-KH" sz="6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8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កម្រិតដំបូង</a:t>
            </a:r>
            <a:br>
              <a:rPr lang="en-KH" sz="6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br>
              <a:rPr lang="en-KH" sz="6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br>
              <a:rPr lang="en-KH" sz="6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endParaRPr lang="en-KH" sz="60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1243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7E3D8-2A3E-05E8-5FD6-6DB6F5BEB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KH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អ្វីទៅជា Java?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AAA15-100F-2D87-E3A6-1E413672A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938" y="1417638"/>
            <a:ext cx="10472662" cy="4389894"/>
          </a:xfrm>
        </p:spPr>
        <p:txBody>
          <a:bodyPr>
            <a:normAutofit fontScale="92500"/>
          </a:bodyPr>
          <a:lstStyle/>
          <a:p>
            <a:pPr algn="l"/>
            <a:endParaRPr lang="en-KH" dirty="0"/>
          </a:p>
          <a:p>
            <a:pPr algn="l">
              <a:lnSpc>
                <a:spcPct val="150000"/>
              </a:lnSpc>
            </a:pPr>
            <a:r>
              <a:rPr lang="en-KH" dirty="0"/>
              <a:t>	</a:t>
            </a: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Java គឺជាភាសាសរសេរកម្មវីធីដ៍ពេញនិយម និងតម្រង់ទិសវត្ថុ(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Object-Oriented Programing)​ 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ដែលត្រូវបានបង្កើតឡើងដោយក្រុមហ៊ុន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Sun Microsystems 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ដែលបច្ចុប្បន្នត្រូវបានគ្រប់គ្រងដោយក្រុមហ៊ុន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Oracle។ 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កម្មវីធីដែលសរសេរដោយភាសា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Java 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អាចដំណើរការលើគ្រប់ឧបករណ៍ណាដែលមាន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Java Virtual Machine (JVM)។</a:t>
            </a:r>
            <a:endParaRPr lang="en-KH" sz="32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ED8EBF-9896-23AD-8846-2B72B1837D16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2F01DB-C154-4658-5F7F-C4B6AD82BFD8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3609D81B-335C-FBB0-B76B-6DDCD80E2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41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3E2073-4B55-5AB1-4A05-4BFA987B5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053E6-4CA8-AD7E-AC0C-3B2CE38F9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KH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ប្រវត្តិនៃ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93D69-B108-5836-CD61-38CCB64F06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938" y="1417638"/>
            <a:ext cx="10472662" cy="4389894"/>
          </a:xfrm>
        </p:spPr>
        <p:txBody>
          <a:bodyPr>
            <a:normAutofit fontScale="62500" lnSpcReduction="20000"/>
          </a:bodyPr>
          <a:lstStyle/>
          <a:p>
            <a:pPr algn="l">
              <a:lnSpc>
                <a:spcPct val="150000"/>
              </a:lnSpc>
            </a:pP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Java ត្រូវាបានអភិវឌ្ឍជាភាសាថ្មីមួយ(ផ្អែកលើ C++) ចាប់ពីឆ្នាំ 1991 ដល់ 1994 ​ដោយលោក 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James Gosling​,          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លោក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Mike Sheridan 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និងលោក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Patrick Naughton និងដាក់ឲ្យប្រើប្រាស់ជាផ្លូវការនៅឆ្នាំ1995។</a:t>
            </a:r>
            <a:b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Sun Microsystems 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បានដាក់ឲ្យប្រើប្រាស់ជាផ្លូវការនូវ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Java 1.0 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ក្នុងឆ្នាំ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1996 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ជាមួយ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Web Applets 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ដែលធ្វើឲ្យ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Java 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កាន់តែមានភាពពេញនិយមសម្រាប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 Dynamic Web Content។ 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ក្រោយមកទៀត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Java 2(J2SE 1.2) 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ដែលមាន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J2EE 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សម្រាប់សហគ្រាស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J2ME 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សម្រាប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 Mobile 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ត្រូវបានដាក់ឲ្យប្រើប្រាស់ជាផ្លូវការនៅឆ្នាំ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1998 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1999។ </a:t>
            </a:r>
            <a:r>
              <a:rPr lang="en-US" sz="3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បន្ទាប់មក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Core JVM ត្រូវបាន Sun ដាក់ឲ្យប្រើប្រាស់ជា          open-source នៅឆ្នាំ 2006។ </a:t>
            </a:r>
            <a:b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Oracle ទទួលបាន 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Sun Microsystems</a:t>
            </a: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នៅឆ្នាំ 2010 និងធ្វើការអភិវឌ្ឍបន្តរហូតមកដល់សព្វថ្ងៃ។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214E84-2D5A-6F5E-323D-C9F0C90D3114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01CFDD-0ABE-8639-99B6-F95E039B4B82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59A56B10-D991-86D0-48A8-19105FF77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301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970FC-2686-5948-92DD-9BA217F12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F2CCB-F663-B3FD-0118-5471DF033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Java Virtual Machine (JVM)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6DD334-F88C-C46A-BF62-499374128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938" y="1417638"/>
            <a:ext cx="10472662" cy="4389894"/>
          </a:xfrm>
        </p:spPr>
        <p:txBody>
          <a:bodyPr>
            <a:normAutofit/>
          </a:bodyPr>
          <a:lstStyle/>
          <a:p>
            <a:pPr algn="l"/>
            <a:endParaRPr lang="en-KH" dirty="0"/>
          </a:p>
          <a:p>
            <a:pPr algn="l">
              <a:lnSpc>
                <a:spcPct val="150000"/>
              </a:lnSpc>
            </a:pPr>
            <a:r>
              <a:rPr lang="en-KH" dirty="0"/>
              <a:t>	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Java Virtual Machine</a:t>
            </a: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គឺជាម៉ាស៊ីននិម្មិតដែលបើកការប្រតិបត្តិនៃ Java bytecode។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301863-0496-1ED0-C49B-37DA6F1C8D28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143A4-7B3D-B78B-F996-3E97CC2772A6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E3E03E46-4FD8-44E6-FAE1-79578F9BC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3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92DCB6-D9F1-4FAD-25FF-81DB7D765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F03AD-6B62-D56F-E81C-5ED3F8880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Java Development Kit(JDK)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0E7FA-EF96-D6C7-2EE7-AFF92DB6F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938" y="1417638"/>
            <a:ext cx="10472662" cy="4389894"/>
          </a:xfrm>
        </p:spPr>
        <p:txBody>
          <a:bodyPr>
            <a:normAutofit/>
          </a:bodyPr>
          <a:lstStyle/>
          <a:p>
            <a:pPr algn="l"/>
            <a:endParaRPr lang="en-KH" dirty="0"/>
          </a:p>
          <a:p>
            <a:pPr algn="l">
              <a:lnSpc>
                <a:spcPct val="150000"/>
              </a:lnSpc>
            </a:pPr>
            <a:r>
              <a:rPr lang="en-KH" dirty="0"/>
              <a:t>	</a:t>
            </a:r>
            <a:r>
              <a:rPr lang="en-US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Java Development Kit</a:t>
            </a:r>
            <a: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គឺកញ្ចប់អភិវឌ្ឍន៍ Software     សម្រាប់ធ្វើការអភិវឌ្ឍកម្មវិធីនៃ Java Platform។</a:t>
            </a:r>
            <a:b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br>
              <a:rPr lang="en-KH" sz="3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  <a:hlinkClick r:id="rId2"/>
              </a:rPr>
              <a:t>https://www.oracle.com/java/technologies/downloads/</a:t>
            </a:r>
            <a:endParaRPr lang="en-KH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0096CF-C180-9609-12F9-A147ABC5056D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0D06D9-01C3-1C77-8DB7-D6FB9E0554B1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1E409CEC-9E14-AAFE-A778-FA0540CDD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100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BE615-A731-8777-9FCE-37E39787E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1A286-29D9-32B1-0B71-BDF86776A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ឧបករណ៍សម្រាប់សរសេរភាសា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Java(IDE)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B3F26-ED51-A7CE-7F26-9BA646497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938" y="1417638"/>
            <a:ext cx="10472662" cy="4389894"/>
          </a:xfrm>
        </p:spPr>
        <p:txBody>
          <a:bodyPr>
            <a:normAutofit fontScale="85000" lnSpcReduction="20000"/>
          </a:bodyPr>
          <a:lstStyle/>
          <a:p>
            <a:pPr algn="l"/>
            <a:endParaRPr lang="en-KH" dirty="0"/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Command line: </a:t>
            </a:r>
            <a:r>
              <a:rPr lang="en-US" sz="28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បង្កើត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.java file </a:t>
            </a:r>
            <a:r>
              <a:rPr lang="en-US" sz="28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ដោយប្រើ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OS command =&gt; </a:t>
            </a:r>
            <a:r>
              <a:rPr lang="en-US" sz="28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javac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Filename.java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=&gt; java Filename។</a:t>
            </a: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Eclipse: 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  <a:hlinkClick r:id="rId2"/>
              </a:rPr>
              <a:t>https://spring.io/tools - eclipse</a:t>
            </a:r>
            <a:endParaRPr lang="en-US" sz="28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NetBeans: 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  <a:hlinkClick r:id="rId3"/>
              </a:rPr>
              <a:t>https://netbeans.apache.org/front/main/download</a:t>
            </a:r>
            <a:endParaRPr lang="en-US" sz="28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Visual Studio Code (VS Code): 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  <a:hlinkClick r:id="rId4"/>
              </a:rPr>
              <a:t>https://code.visualstudio.com/download</a:t>
            </a:r>
            <a:endParaRPr lang="en-US" sz="28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IntelliJ IDEA: 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  <a:hlinkClick r:id="rId5"/>
              </a:rPr>
              <a:t>https://www.jetbrains.com/idea/download</a:t>
            </a:r>
            <a:endParaRPr lang="en-US" sz="28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…</a:t>
            </a:r>
            <a:endParaRPr lang="en-KH" sz="28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600895-8F39-287A-A8DF-9382D51F114A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020AEF-BA18-9478-D0FA-55E7EA5525AF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06ADD998-39A3-093E-7875-65D68201EE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60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DC70C4-0758-C1ED-AD3E-E9B3CA398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375A3-49E6-5330-B5B5-6163C17AA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ប្រភេទទិន្នន័យ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(Data Type)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9FD26-3259-C683-4DBE-BDA87FAE5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417638"/>
            <a:ext cx="10954536" cy="4389894"/>
          </a:xfrm>
        </p:spPr>
        <p:txBody>
          <a:bodyPr>
            <a:normAutofit/>
          </a:bodyPr>
          <a:lstStyle/>
          <a:p>
            <a:pPr algn="l"/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 ប្រភេទទិន្នន័យបឋម(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Primitive Data Types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):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endParaRPr lang="en-KH" sz="2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ABD5D0-20BB-FC05-51D4-05DFD4160E89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4109B1-51A3-89A6-0EBC-F5BC97AFE06F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41CBA71E-B120-6EEF-D945-B20BBC50F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A956FD-ECEC-7211-4AD4-85366B207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611137"/>
              </p:ext>
            </p:extLst>
          </p:nvPr>
        </p:nvGraphicFramePr>
        <p:xfrm>
          <a:off x="624192" y="2090330"/>
          <a:ext cx="10954537" cy="42084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5451">
                  <a:extLst>
                    <a:ext uri="{9D8B030D-6E8A-4147-A177-3AD203B41FA5}">
                      <a16:colId xmlns:a16="http://schemas.microsoft.com/office/drawing/2014/main" val="4047497681"/>
                    </a:ext>
                  </a:extLst>
                </a:gridCol>
                <a:gridCol w="2842352">
                  <a:extLst>
                    <a:ext uri="{9D8B030D-6E8A-4147-A177-3AD203B41FA5}">
                      <a16:colId xmlns:a16="http://schemas.microsoft.com/office/drawing/2014/main" val="821048884"/>
                    </a:ext>
                  </a:extLst>
                </a:gridCol>
                <a:gridCol w="1134738">
                  <a:extLst>
                    <a:ext uri="{9D8B030D-6E8A-4147-A177-3AD203B41FA5}">
                      <a16:colId xmlns:a16="http://schemas.microsoft.com/office/drawing/2014/main" val="1256672291"/>
                    </a:ext>
                  </a:extLst>
                </a:gridCol>
                <a:gridCol w="1244906">
                  <a:extLst>
                    <a:ext uri="{9D8B030D-6E8A-4147-A177-3AD203B41FA5}">
                      <a16:colId xmlns:a16="http://schemas.microsoft.com/office/drawing/2014/main" val="3921409523"/>
                    </a:ext>
                  </a:extLst>
                </a:gridCol>
                <a:gridCol w="3977090">
                  <a:extLst>
                    <a:ext uri="{9D8B030D-6E8A-4147-A177-3AD203B41FA5}">
                      <a16:colId xmlns:a16="http://schemas.microsoft.com/office/drawing/2014/main" val="3370400522"/>
                    </a:ext>
                  </a:extLst>
                </a:gridCol>
              </a:tblGrid>
              <a:tr h="4340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2060"/>
                          </a:solidFill>
                          <a:latin typeface="Khmer OS Battambang" panose="02000500000000020004" pitchFamily="2" charset="77"/>
                          <a:cs typeface="Khmer OS Battambang" panose="02000500000000020004" pitchFamily="2" charset="77"/>
                        </a:rPr>
                        <a:t>ប្រភេទទិន្នន័យ</a:t>
                      </a:r>
                      <a:endParaRPr lang="en-KH" sz="2000" kern="1200" dirty="0">
                        <a:solidFill>
                          <a:srgbClr val="00206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206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បរិយាយ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206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ទំហំ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206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តម្លៃដើម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206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ដែនកំណត់នៃតម្លៃ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2388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byte</a:t>
                      </a:r>
                      <a:endParaRPr lang="en-KH" sz="18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ចំនួនគត់ 8-bit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1 byte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-128 ដល់ 127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6997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short</a:t>
                      </a:r>
                      <a:endParaRPr lang="en-KH" sz="18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ចំនួនគត់ 16-bit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2 bytes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-32,768 </a:t>
                      </a:r>
                      <a:r>
                        <a:rPr lang="en-US" sz="1800" kern="1200" dirty="0" err="1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ដល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់ 32,767</a:t>
                      </a:r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5006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int</a:t>
                      </a:r>
                      <a:endParaRPr lang="en-KH" sz="18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ចំនួនគត់ 32-bit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4 bytes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-2,147,483,648 </a:t>
                      </a:r>
                      <a:r>
                        <a:rPr lang="en-US" sz="1800" kern="1200" dirty="0" err="1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ដល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់ 2,147,483,647</a:t>
                      </a:r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708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long</a:t>
                      </a:r>
                      <a:endParaRPr lang="en-KH" sz="18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ចំនួនគត់ 64-bit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8 bytes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0L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-9,223,372,036,854,775,808 </a:t>
                      </a:r>
                      <a:r>
                        <a:rPr lang="en-US" sz="1800" kern="1200" dirty="0" err="1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ដល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់ 9,223,372,036,854,775,807</a:t>
                      </a:r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1832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float</a:t>
                      </a:r>
                      <a:endParaRPr lang="en-KH" sz="18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ចំនួនទសភាគ </a:t>
                      </a:r>
                      <a:r>
                        <a:rPr lang="km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6 ទៅ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</a:t>
                      </a:r>
                      <a:r>
                        <a:rPr lang="km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7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</a:t>
                      </a:r>
                      <a:r>
                        <a:rPr lang="km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ខ្ទង់</a:t>
                      </a:r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32-bit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4 bytes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0.0f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m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ប្រែប្រួល ប្រើសម្រាប់រក្សាទុកអង្គចងចាំ </a:t>
                      </a:r>
                      <a:r>
                        <a:rPr lang="en-US" sz="1800" kern="1200" dirty="0" err="1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និង</a:t>
                      </a:r>
                      <a:r>
                        <a:rPr lang="km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មិនមែនភាពជាក់លាក់ទេ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4587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double</a:t>
                      </a:r>
                      <a:endParaRPr lang="en-KH" sz="18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ចំនួនទសភាគ 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15</a:t>
                      </a:r>
                      <a:r>
                        <a:rPr lang="km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ទៅ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16 </a:t>
                      </a:r>
                      <a:r>
                        <a:rPr lang="km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ខ្ទង់</a:t>
                      </a:r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32-bit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8 bytes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0.0d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m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ប្រែប្រួល ប្រើសម្រាប់រក្សាទុកអង្គចងចាំ </a:t>
                      </a:r>
                      <a:r>
                        <a:rPr lang="en-US" sz="1800" kern="1200" dirty="0" err="1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និង</a:t>
                      </a:r>
                      <a:r>
                        <a:rPr lang="km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មិនមែនភាពជាក់លាក់ទេ</a:t>
                      </a:r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1380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boolean</a:t>
                      </a:r>
                      <a:endParaRPr lang="en-KH" sz="18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m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ឡូជីខល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~1 bit</a:t>
                      </a:r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false</a:t>
                      </a:r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true </a:t>
                      </a:r>
                      <a:r>
                        <a:rPr lang="en-US" sz="1800" kern="1200" dirty="0" err="1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ឫ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 false</a:t>
                      </a:r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4188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char</a:t>
                      </a:r>
                      <a:endParaRPr lang="en-KH" sz="18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m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តួអក្សរ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​Unicode​16-bit</a:t>
                      </a:r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2 bytes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\u0000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\u000 (0) ដល់ \uffff (65,535)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50607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4866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7D0DB0-653A-910E-BE01-F7FC6BB8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4523A-087C-1965-07C8-A952DC28D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ប្រភេទទិន្នន័យ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(Data Type)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54FD7-03BD-95F6-D76F-E3D044573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417638"/>
            <a:ext cx="10954536" cy="4389894"/>
          </a:xfrm>
        </p:spPr>
        <p:txBody>
          <a:bodyPr>
            <a:normAutofit/>
          </a:bodyPr>
          <a:lstStyle/>
          <a:p>
            <a:pPr algn="l"/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 ប្រភេទទិន្នន័យមិនបឋម(Non-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Primitive Data Types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):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endParaRPr lang="en-KH" sz="2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42C9F3-7DD8-9D27-A1C8-2D0C2A20F373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915AFF-DFBC-C611-D4D7-A7156B776064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BA2C05A5-6797-4B99-57B9-C2CA77291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8BA7A4-7565-5AE3-4D68-EAB478804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917704"/>
              </p:ext>
            </p:extLst>
          </p:nvPr>
        </p:nvGraphicFramePr>
        <p:xfrm>
          <a:off x="624192" y="2123382"/>
          <a:ext cx="10557928" cy="3726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6262">
                  <a:extLst>
                    <a:ext uri="{9D8B030D-6E8A-4147-A177-3AD203B41FA5}">
                      <a16:colId xmlns:a16="http://schemas.microsoft.com/office/drawing/2014/main" val="4047497681"/>
                    </a:ext>
                  </a:extLst>
                </a:gridCol>
                <a:gridCol w="4300907">
                  <a:extLst>
                    <a:ext uri="{9D8B030D-6E8A-4147-A177-3AD203B41FA5}">
                      <a16:colId xmlns:a16="http://schemas.microsoft.com/office/drawing/2014/main" val="821048884"/>
                    </a:ext>
                  </a:extLst>
                </a:gridCol>
                <a:gridCol w="1717029">
                  <a:extLst>
                    <a:ext uri="{9D8B030D-6E8A-4147-A177-3AD203B41FA5}">
                      <a16:colId xmlns:a16="http://schemas.microsoft.com/office/drawing/2014/main" val="1256672291"/>
                    </a:ext>
                  </a:extLst>
                </a:gridCol>
                <a:gridCol w="1883730">
                  <a:extLst>
                    <a:ext uri="{9D8B030D-6E8A-4147-A177-3AD203B41FA5}">
                      <a16:colId xmlns:a16="http://schemas.microsoft.com/office/drawing/2014/main" val="3921409523"/>
                    </a:ext>
                  </a:extLst>
                </a:gridCol>
              </a:tblGrid>
              <a:tr h="35959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2060"/>
                          </a:solidFill>
                          <a:latin typeface="Khmer OS Battambang" panose="02000500000000020004" pitchFamily="2" charset="77"/>
                          <a:cs typeface="Khmer OS Battambang" panose="02000500000000020004" pitchFamily="2" charset="77"/>
                        </a:rPr>
                        <a:t>ប្រភេទទិន្នន័យ</a:t>
                      </a:r>
                      <a:endParaRPr lang="en-KH" sz="2000" kern="1200" dirty="0">
                        <a:solidFill>
                          <a:srgbClr val="00206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206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បរិយាយ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206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ទំហំ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206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តម្លៃដើម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2388122"/>
                  </a:ext>
                </a:extLst>
              </a:tr>
              <a:tr h="1327736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Classes</a:t>
                      </a:r>
                      <a:endParaRPr lang="en-KH" sz="18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 គឺជាការកំណត់របស់អ្នកប្រើប្រាស់ ពី object ដែលត្រូវបានបង្កើត ដោយពួកគេធ្វើការ 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encapsulate data (fields) </a:t>
                      </a:r>
                      <a:r>
                        <a:rPr lang="en-US" sz="1800" kern="1200" dirty="0" err="1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និង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 behavior (methods)។</a:t>
                      </a:r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ផ្ទុកតម្លៃជាក់ស្តែងដោយផ្ទាល់ក្នុង memory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null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6997984"/>
                  </a:ext>
                </a:extLst>
              </a:tr>
              <a:tr h="944981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Strings</a:t>
                      </a:r>
                      <a:endParaRPr lang="en-KH" sz="18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 </a:t>
                      </a:r>
                      <a:r>
                        <a:rPr lang="km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ជាប្រភេទដែលបានកំណត់ជាមុននៅក្នុង 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Java។ </a:t>
                      </a:r>
                      <a:r>
                        <a:rPr lang="en-US" sz="1800" kern="1200" dirty="0" err="1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វាគឺជា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object </a:t>
                      </a:r>
                      <a:r>
                        <a:rPr lang="km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នៃ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class String </a:t>
                      </a:r>
                      <a:r>
                        <a:rPr lang="km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ដែលតំណាងឱ្យលំដាប់នៃតួអក្សរ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null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5006438"/>
                  </a:ext>
                </a:extLst>
              </a:tr>
              <a:tr h="133805">
                <a:tc rowSpan="2">
                  <a:txBody>
                    <a:bodyPr/>
                    <a:lstStyle/>
                    <a:p>
                      <a:pPr algn="l"/>
                      <a:r>
                        <a:rPr lang="en-US" sz="1800" kern="120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Arrays</a:t>
                      </a:r>
                      <a:endParaRPr lang="en-KH" sz="18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 ជាវត្ថុសម្រាប់ផ្ទុកនូវធាតុជាច្រើនដែលមានប្រភេទទិន្នន័យដូចគ្នា និងនៅក្នុង</a:t>
                      </a:r>
                      <a:r>
                        <a:rPr lang="km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ទីតាំងចងចាំជាប់គ្នា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។</a:t>
                      </a:r>
                      <a:endParaRPr lang="km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/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7308684"/>
                  </a:ext>
                </a:extLst>
              </a:tr>
              <a:tr h="923816">
                <a:tc vMerge="1"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Arrays</a:t>
                      </a:r>
                      <a:endParaRPr lang="en-KH" sz="18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 ជាវត្ថុសម្រាប់ផ្ទុកនូវធាតុជាច្រើនដែលមានប្រភេទទិន្នន័យដូចគ្នា និងនៅក្នុង</a:t>
                      </a:r>
                      <a:r>
                        <a:rPr lang="km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ទីតាំងចងចាំជាប់គ្នា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។</a:t>
                      </a:r>
                      <a:endParaRPr lang="km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null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708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928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B2A585-4685-99A1-BF62-DCEA433DF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5ECB1-8548-4BC9-FA3F-200A902B2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ប្រភេទទិន្នន័យ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(Data Type)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E06D49-8DFA-0277-09AA-064AC8C84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417638"/>
            <a:ext cx="10954536" cy="4389894"/>
          </a:xfrm>
        </p:spPr>
        <p:txBody>
          <a:bodyPr>
            <a:normAutofit/>
          </a:bodyPr>
          <a:lstStyle/>
          <a:p>
            <a:pPr algn="l"/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 ប្រភេទទិន្នន័យមិនបឋម(Non-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Primitive Data Types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)(ត):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endParaRPr lang="en-KH" sz="2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01AF43-AC4B-A90A-9209-36C24C7A41A8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B681B-FD27-D455-40F1-4337AFE73D3B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AB88E863-0DD6-F706-1467-95D547E65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6CFB58-18CC-9C8C-2D79-B2B6261E6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763555"/>
              </p:ext>
            </p:extLst>
          </p:nvPr>
        </p:nvGraphicFramePr>
        <p:xfrm>
          <a:off x="624192" y="2090331"/>
          <a:ext cx="10789283" cy="17574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14468">
                  <a:extLst>
                    <a:ext uri="{9D8B030D-6E8A-4147-A177-3AD203B41FA5}">
                      <a16:colId xmlns:a16="http://schemas.microsoft.com/office/drawing/2014/main" val="4047497681"/>
                    </a:ext>
                  </a:extLst>
                </a:gridCol>
                <a:gridCol w="4395152">
                  <a:extLst>
                    <a:ext uri="{9D8B030D-6E8A-4147-A177-3AD203B41FA5}">
                      <a16:colId xmlns:a16="http://schemas.microsoft.com/office/drawing/2014/main" val="821048884"/>
                    </a:ext>
                  </a:extLst>
                </a:gridCol>
                <a:gridCol w="1754655">
                  <a:extLst>
                    <a:ext uri="{9D8B030D-6E8A-4147-A177-3AD203B41FA5}">
                      <a16:colId xmlns:a16="http://schemas.microsoft.com/office/drawing/2014/main" val="1256672291"/>
                    </a:ext>
                  </a:extLst>
                </a:gridCol>
                <a:gridCol w="1925008">
                  <a:extLst>
                    <a:ext uri="{9D8B030D-6E8A-4147-A177-3AD203B41FA5}">
                      <a16:colId xmlns:a16="http://schemas.microsoft.com/office/drawing/2014/main" val="3921409523"/>
                    </a:ext>
                  </a:extLst>
                </a:gridCol>
              </a:tblGrid>
              <a:tr h="35959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2060"/>
                          </a:solidFill>
                          <a:latin typeface="Khmer OS Battambang" panose="02000500000000020004" pitchFamily="2" charset="77"/>
                          <a:cs typeface="Khmer OS Battambang" panose="02000500000000020004" pitchFamily="2" charset="77"/>
                        </a:rPr>
                        <a:t>ប្រភេទទិន្នន័យ</a:t>
                      </a:r>
                      <a:endParaRPr lang="en-KH" sz="2000" kern="1200" dirty="0">
                        <a:solidFill>
                          <a:srgbClr val="00206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206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បរិយាយ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206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ទំហំ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KH" sz="2000" kern="1200" dirty="0">
                          <a:solidFill>
                            <a:srgbClr val="00206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លំនាំដើម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2388122"/>
                  </a:ext>
                </a:extLst>
              </a:tr>
              <a:tr h="154970">
                <a:tc rowSpan="2"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Interfaces</a:t>
                      </a:r>
                      <a:endParaRPr lang="en-KH" sz="18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ជា</a:t>
                      </a:r>
                      <a:r>
                        <a:rPr lang="km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ប្រភេទអរូបីដែលកំណត់កិច្ចសន្យានៃវិធីសាស្រ្តដែលថ្នាក់ត្រូវអនុវត្ត</a:t>
                      </a:r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។</a:t>
                      </a:r>
                      <a:endParaRPr lang="km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endParaRPr lang="en-KH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null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3679604"/>
                  </a:ext>
                </a:extLst>
              </a:tr>
              <a:tr h="355354">
                <a:tc vMerge="1"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Interfaces</a:t>
                      </a:r>
                      <a:endParaRPr lang="en-KH" sz="18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l"/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1832117"/>
                  </a:ext>
                </a:extLst>
              </a:tr>
              <a:tr h="207546">
                <a:tc rowSpan="2">
                  <a:txBody>
                    <a:bodyPr/>
                    <a:lstStyle/>
                    <a:p>
                      <a:pPr algn="l"/>
                      <a:r>
                        <a:rPr lang="en-US" sz="1800" kern="120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Enums</a:t>
                      </a:r>
                      <a:endParaRPr lang="en-KH" sz="18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ជាប្រភេទពិសេសដែលប្រើដើម្បីកំណត់តម្លៃអថេដែលមិនប្រែប្រួល។</a:t>
                      </a:r>
                      <a:endParaRPr lang="km-KH" sz="16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K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/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48077"/>
                  </a:ext>
                </a:extLst>
              </a:tr>
              <a:tr h="331934">
                <a:tc vMerge="1"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rgbClr val="D49B06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Enums</a:t>
                      </a:r>
                      <a:endParaRPr lang="en-KH" sz="1800" kern="1200" dirty="0">
                        <a:solidFill>
                          <a:srgbClr val="D49B06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 ជាប្រភេទពិសេសដែលប្រើដើម្បីកំណត់តម្លៃអថេដែលមិនប្រែប្រួល។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KH" sz="1800" kern="1200" dirty="0">
                        <a:solidFill>
                          <a:srgbClr val="7030A0"/>
                        </a:solidFill>
                        <a:latin typeface="Khmer OS Battambang" panose="02000500000000020004" pitchFamily="2" charset="77"/>
                        <a:ea typeface="+mn-ea"/>
                        <a:cs typeface="Khmer OS Battambang" panose="02000500000000020004" pitchFamily="2" charset="7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H" sz="1800" kern="1200" dirty="0">
                          <a:solidFill>
                            <a:srgbClr val="7030A0"/>
                          </a:solidFill>
                          <a:latin typeface="Khmer OS Battambang" panose="02000500000000020004" pitchFamily="2" charset="77"/>
                          <a:ea typeface="+mn-ea"/>
                          <a:cs typeface="Khmer OS Battambang" panose="02000500000000020004" pitchFamily="2" charset="77"/>
                        </a:rPr>
                        <a:t>null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4587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287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805DA8-021B-CDEE-1DA3-6333145A7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4613E-EAA9-BE10-0DAE-850A6B9468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Variable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DB14E-0CC1-544D-90F8-9962D9346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417637"/>
            <a:ext cx="10954536" cy="4836403"/>
          </a:xfrm>
        </p:spPr>
        <p:txBody>
          <a:bodyPr>
            <a:normAutofit fontScale="85000" lnSpcReduction="20000"/>
          </a:bodyPr>
          <a:lstStyle/>
          <a:p>
            <a:pPr algn="l">
              <a:lnSpc>
                <a:spcPct val="15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Variable គឺជាឈ្មោះអថេរមួយសម្រាប់រក្សាទុកតម្លៃរបស់ទិន្នន័យកំឡុងពេលដំណើរការកម្មវិធី។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 ការបកាស​ Variable ៖ 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ប្រភេទទិន្នន័យ)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(ឈ្មោះ Variable) ;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​​	ឧទាហរណ៍​៖ </a:t>
            </a:r>
            <a:r>
              <a:rPr lang="en-KH" sz="2600" dirty="0">
                <a:solidFill>
                  <a:srgbClr val="D49B06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double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amount;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 បញ្ចូលតម្លៃទៅឲ្យ Variable៖ (ឈ្មោះ Variable) = (</a:t>
            </a:r>
            <a:r>
              <a:rPr lang="en-KH" sz="2600" dirty="0">
                <a:solidFill>
                  <a:srgbClr val="D49B06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តម្លៃ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);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ឧទាហរណ៍៖ amount = </a:t>
            </a:r>
            <a:r>
              <a:rPr lang="en-KH" sz="2600" dirty="0">
                <a:solidFill>
                  <a:srgbClr val="D49B06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200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5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 ការប្រកាស Variable និង​កំណត់តម្លៃដំបូង(Initialization)៖ 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ប្រភេទទិន្នន័យ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(ឈ្មោះ Variable) = (</a:t>
            </a:r>
            <a:r>
              <a:rPr lang="en-KH" sz="2600" dirty="0">
                <a:solidFill>
                  <a:srgbClr val="D49B06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តម្លៃ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);</a:t>
            </a:r>
          </a:p>
          <a:p>
            <a:pPr algn="l">
              <a:lnSpc>
                <a:spcPct val="15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ឧទាហរណ៍៖ </a:t>
            </a:r>
            <a:r>
              <a:rPr lang="en-KH" sz="2600" dirty="0">
                <a:solidFill>
                  <a:srgbClr val="D49B06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double 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 = </a:t>
            </a:r>
            <a:r>
              <a:rPr lang="en-KH" sz="2600" dirty="0">
                <a:solidFill>
                  <a:srgbClr val="D49B06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200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5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b="1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ចំណាំ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 ការប្រកាស Vairable ច្រើនដែលមានប្រភេទទិន្នន័យដូចគ្នា អាចដាក់បន្តបន្ទាប់គ្នាដោយប្រើប្រភេទទិន្នន័យតែមួយ ដោយមានសញ្ញា 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,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r>
              <a:rPr lang="en-KH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នៅចន្លោះកណ្តាល។ ឧទាហរណ៍៖ </a:t>
            </a:r>
            <a:r>
              <a:rPr lang="en-KH" sz="22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double</a:t>
            </a:r>
            <a:r>
              <a:rPr lang="en-KH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amount1</a:t>
            </a:r>
            <a:r>
              <a:rPr lang="en-KH" sz="22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,</a:t>
            </a:r>
            <a:r>
              <a:rPr lang="en-KH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amount2;</a:t>
            </a:r>
            <a:endParaRPr lang="en-KH" sz="2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30AB15-09DD-66A0-2489-BF7C7FBDDF0C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C37A7C-F4E2-179B-F923-AC9DA76C1D5A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78826D76-722A-8F7A-494F-581F55742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85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97DD55-2040-90F1-B111-BBB17E542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26EFC-C41F-7D36-29D5-DB1F67F5D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Operator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243BE-5AE1-3116-A871-8C7DA04EB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2"/>
            <a:ext cx="10954536" cy="5519003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5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Operator គឺជាសញ្ញាពិសេសដែលប្រាប់ compiler  ដើម្បីអនុវត្តនូវភាពជាក់លាក់ក្នុងការការគណនាគណិតវិទ្យា ទំនាក់ទំនង ឫប្រតិបត្តិការតក្កវិទ្យា ចំពោះតម្លៃ ឫ Variable។</a:t>
            </a:r>
          </a:p>
          <a:p>
            <a:pPr algn="l">
              <a:lnSpc>
                <a:spcPct val="150000"/>
              </a:lnSpc>
            </a:pP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-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Arithmetic Operators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៖ ជា Operator ប្រើប្រាស់សម្រាប់អនុវត្តប្រតិបត្តិការគណិតវិទ្យាធម្មតាដូចជា បូក(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+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ដក(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គុណ(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*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ចែក(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/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)​ និងចែករកសំណល់(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%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)។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ឧទាហរណ៍៖</a:t>
            </a:r>
          </a:p>
          <a:p>
            <a:pPr algn="l">
              <a:lnSpc>
                <a:spcPct val="12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double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amount1=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200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, amount2=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100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lang="en-US" b="1" dirty="0"/>
              <a:t>	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double</a:t>
            </a:r>
            <a:r>
              <a:rPr lang="en-US" dirty="0"/>
              <a:t>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resultAdd</a:t>
            </a:r>
            <a:r>
              <a:rPr lang="en-US" dirty="0"/>
              <a:t> =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amount1</a:t>
            </a:r>
            <a:r>
              <a:rPr lang="en-US" dirty="0"/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+</a:t>
            </a:r>
            <a:r>
              <a:rPr lang="en-US" dirty="0"/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amount2</a:t>
            </a:r>
            <a:r>
              <a:rPr lang="en-US" dirty="0"/>
              <a:t>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double</a:t>
            </a:r>
            <a:r>
              <a:rPr lang="en-US" sz="2800" dirty="0"/>
              <a:t>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resultSubtraction</a:t>
            </a:r>
            <a:r>
              <a:rPr lang="en-US" sz="2800" dirty="0"/>
              <a:t> =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amount1</a:t>
            </a:r>
            <a:r>
              <a:rPr lang="en-US" sz="2800" dirty="0"/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</a:t>
            </a:r>
            <a:r>
              <a:rPr lang="en-US" sz="2800" dirty="0"/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amount2</a:t>
            </a:r>
            <a:r>
              <a:rPr lang="en-US" sz="2800" dirty="0"/>
              <a:t>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double</a:t>
            </a:r>
            <a:r>
              <a:rPr lang="en-US" sz="2800" dirty="0"/>
              <a:t>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resultMultiplication</a:t>
            </a:r>
            <a:r>
              <a:rPr lang="en-US" sz="2800" dirty="0"/>
              <a:t> =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amount1</a:t>
            </a:r>
            <a:r>
              <a:rPr lang="en-US" sz="2800" dirty="0"/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*</a:t>
            </a:r>
            <a:r>
              <a:rPr lang="en-US" sz="2800" dirty="0"/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amount2</a:t>
            </a:r>
            <a:r>
              <a:rPr lang="en-US" sz="2800" dirty="0"/>
              <a:t>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double</a:t>
            </a:r>
            <a:r>
              <a:rPr lang="en-US" sz="2800" dirty="0"/>
              <a:t>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resultDivision</a:t>
            </a:r>
            <a:r>
              <a:rPr lang="en-US" sz="2800" dirty="0"/>
              <a:t> =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amount1</a:t>
            </a:r>
            <a:r>
              <a:rPr lang="en-US" sz="2800" dirty="0"/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/</a:t>
            </a:r>
            <a:r>
              <a:rPr lang="en-US" sz="2800" dirty="0"/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amount2</a:t>
            </a:r>
            <a:r>
              <a:rPr lang="en-US" sz="2800" dirty="0"/>
              <a:t>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double</a:t>
            </a:r>
            <a:r>
              <a:rPr lang="en-US" sz="2800" dirty="0"/>
              <a:t>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resultModulus</a:t>
            </a:r>
            <a:r>
              <a:rPr lang="en-US" sz="2800" dirty="0"/>
              <a:t> =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amount1</a:t>
            </a:r>
            <a:r>
              <a:rPr lang="en-US" sz="2800" dirty="0"/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%</a:t>
            </a:r>
            <a:r>
              <a:rPr lang="en-US" sz="2800" dirty="0"/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amount2</a:t>
            </a:r>
            <a:r>
              <a:rPr lang="en-US" sz="2800" dirty="0"/>
              <a:t>;</a:t>
            </a:r>
            <a:endParaRPr lang="en-KH" sz="2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EF10A7-DC44-D475-5E65-1BCB2C7A41BB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C59F8A-84CC-D8C7-B0FF-7A7276FDBBDC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11B44003-47F7-E62E-C082-70FE2BD8F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900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561C95-8981-940C-146E-E05773C0A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68098-E636-12DC-15A5-16C997F1B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Operator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E7CA9-4F08-E131-8F73-5766F23F5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3"/>
            <a:ext cx="10954536" cy="5076080"/>
          </a:xfrm>
        </p:spPr>
        <p:txBody>
          <a:bodyPr>
            <a:normAutofit fontScale="70000" lnSpcReduction="20000"/>
          </a:bodyPr>
          <a:lstStyle/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Assignment Operators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៖ ជា Operators ប្រើប្រាស់សម្រាប់ចាត់តាំតម្លៃទៅកាន់Variable រួមទាំងការចាត់តាំងសមាសធាតុដែលផ្គួបផ្សំប្រតិបត្តិការជាមួយការចាត់តាំងមួយ។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Assignment Operators​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មានដូចជា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 </a:t>
            </a:r>
          </a:p>
          <a:p>
            <a:pPr marL="914400" lvl="1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ការចាត់តាំងតម្លៃធម្មតា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</a:t>
            </a:r>
          </a:p>
          <a:p>
            <a:pPr lvl="1" algn="l">
              <a:lnSpc>
                <a:spcPct val="15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ឧទាហរណ៍៖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double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amount1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200;</a:t>
            </a:r>
            <a:endParaRPr lang="en-US" sz="2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marL="914400" lvl="1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ការចាត់តាំងតម្លៃសមាសធាតុ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+=,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-=,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*=,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/=,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%=,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…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ឧទាហរណ៍៖</a:t>
            </a:r>
          </a:p>
          <a:p>
            <a:pPr algn="l">
              <a:lnSpc>
                <a:spcPct val="12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double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amount=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0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lang="en-US" b="1" dirty="0"/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amount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+=</a:t>
            </a:r>
            <a:r>
              <a:rPr lang="en-US" dirty="0"/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100</a:t>
            </a:r>
            <a:r>
              <a:rPr lang="en-US" dirty="0"/>
              <a:t>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amount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-= 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100</a:t>
            </a:r>
            <a:r>
              <a:rPr lang="en-US" sz="2800" dirty="0"/>
              <a:t>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amount</a:t>
            </a:r>
            <a:r>
              <a:rPr lang="en-US" sz="2800" dirty="0"/>
              <a:t> </a:t>
            </a:r>
            <a:r>
              <a:rPr lang="en-KH" sz="2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*=</a:t>
            </a:r>
            <a:r>
              <a:rPr lang="en-US" sz="2800" dirty="0"/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5</a:t>
            </a:r>
            <a:r>
              <a:rPr lang="en-US" sz="2800" dirty="0"/>
              <a:t>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amount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/=</a:t>
            </a:r>
            <a:r>
              <a:rPr lang="en-US" sz="2800" dirty="0"/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2</a:t>
            </a:r>
            <a:r>
              <a:rPr lang="en-US" sz="2800" dirty="0"/>
              <a:t>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amount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%=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3;</a:t>
            </a:r>
            <a:endParaRPr lang="en-KH" sz="2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6C1350-F877-571D-C5AE-49818C3DD17D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7A785B-E998-B9D7-7AF8-DCEAA860D79D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B38B1998-E022-F2CA-BA63-0DD3C6359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40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C63D7B-6701-CE63-F9B3-0E0B3BC63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A0FD1-4D01-EA10-9B8E-EAFC327CB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Operator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0BF7FB-543C-1A6B-CF21-49151AC53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3"/>
            <a:ext cx="10954536" cy="5076080"/>
          </a:xfrm>
        </p:spPr>
        <p:txBody>
          <a:bodyPr>
            <a:normAutofit fontScale="85000" lnSpcReduction="20000"/>
          </a:bodyPr>
          <a:lstStyle/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Relational (Comparison) Operators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 ជា Operators ប្រើប្រាស់សម្រាប់ប្រៀបធៀបតម្លៃពីរនិងផ្តល់លទ្ធផលជា boolean(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ឫ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false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)។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Relational Operators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មានដូចជា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ស្មើ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==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មិនស្មើ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!=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ធំជាង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&gt;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តូចជាង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&lt;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ធំជាងឫស្មើ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&gt;=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តូចជាងឫស្មើ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&lt;=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)។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ឧទាហរណ៍៖</a:t>
            </a:r>
          </a:p>
          <a:p>
            <a:pPr algn="l">
              <a:lnSpc>
                <a:spcPct val="12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boolean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compare=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false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lang="en-US" b="1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compare</a:t>
            </a:r>
            <a:r>
              <a:rPr lang="en-US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</a:t>
            </a:r>
            <a:r>
              <a:rPr lang="en-US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100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==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100</a:t>
            </a:r>
            <a:r>
              <a:rPr lang="en-US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compare</a:t>
            </a:r>
            <a:r>
              <a:rPr lang="en-US" sz="2800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 10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!=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9</a:t>
            </a:r>
            <a:r>
              <a:rPr lang="en-US" sz="2800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compare</a:t>
            </a:r>
            <a:r>
              <a:rPr lang="en-US" sz="2800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</a:t>
            </a:r>
            <a:r>
              <a:rPr lang="en-US" sz="2800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5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&gt;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2</a:t>
            </a:r>
            <a:r>
              <a:rPr lang="en-US" sz="2800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compare</a:t>
            </a:r>
            <a:r>
              <a:rPr lang="en-US" sz="2800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</a:t>
            </a:r>
            <a:r>
              <a:rPr lang="en-US" sz="2800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2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&lt;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5</a:t>
            </a:r>
            <a:r>
              <a:rPr lang="en-US" sz="2800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compare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= 3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&gt;=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3;</a:t>
            </a:r>
            <a:b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compare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= 5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&lt;=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5;</a:t>
            </a:r>
            <a:endParaRPr lang="en-KH" sz="2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93152C-7129-32C6-FCEB-E2852A2F3671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838701-69F8-F32A-305D-F33281DDA028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8A2ADB71-0106-C980-6FB5-C2DF524D1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03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F4F00-8471-11A5-275A-24CC2563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1013D-B9F5-9757-C9E1-01AE898DD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Operator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CB0B4-9C30-4C8A-92F2-B949865EA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3"/>
            <a:ext cx="10954536" cy="5076080"/>
          </a:xfrm>
        </p:spPr>
        <p:txBody>
          <a:bodyPr>
            <a:normAutofit/>
          </a:bodyPr>
          <a:lstStyle/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Logical Operators 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 ជា Operators ប្រើប្រាស់សម្រាប់ផ្សំកន្សោម boolean ទៅកាន់លក្ខណដែលមានទំរង់ស្មុកស្មាញ។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Logical Operators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មានដូចជា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&amp;&amp;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ឫ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||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មិន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!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)។</a:t>
            </a:r>
            <a:b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ឧទាហរណ៍៖</a:t>
            </a:r>
          </a:p>
          <a:p>
            <a:pPr algn="l">
              <a:lnSpc>
                <a:spcPct val="12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boolean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compare= </a:t>
            </a:r>
            <a:r>
              <a:rPr lang="en-KH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false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lang="en-US" b="1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compare</a:t>
            </a:r>
            <a:r>
              <a:rPr lang="en-US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</a:t>
            </a:r>
            <a:r>
              <a:rPr lang="en-US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100 == 100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||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2==2</a:t>
            </a:r>
            <a:r>
              <a:rPr lang="en-US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compare</a:t>
            </a:r>
            <a:r>
              <a:rPr lang="en-US" sz="2800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 10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&gt;</a:t>
            </a:r>
            <a:r>
              <a:rPr lang="en-US" sz="28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9 &amp;&amp; 5 &lt; 6</a:t>
            </a:r>
            <a:r>
              <a:rPr lang="en-US" sz="2800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compare</a:t>
            </a:r>
            <a:r>
              <a:rPr lang="en-US" sz="2800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=</a:t>
            </a:r>
            <a:r>
              <a:rPr lang="en-US" sz="2800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!(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5 &lt; 2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r>
              <a:rPr lang="en-US" sz="2800" dirty="0"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  <a:endParaRPr lang="en-KH" sz="2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A6477C-FD8E-E2D9-D54A-3E2D2AE36BC2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4282677-83E0-B9BC-7370-A5B9704C8A81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92DC21F0-C8F8-CA00-E62D-82750A501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026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26059-6FDD-61AA-0E80-A1DC99155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55A9C-6CAF-FA6A-BB9B-296FACA6D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Operator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AEB4B-C127-FBF0-DC87-89AFAD293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3"/>
            <a:ext cx="10954536" cy="5076080"/>
          </a:xfrm>
        </p:spPr>
        <p:txBody>
          <a:bodyPr>
            <a:normAutofit fontScale="92500"/>
          </a:bodyPr>
          <a:lstStyle/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Unary Operators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 ជា Operators ប្រើប្រាស់សម្រាប់ធ្វើការជាមួយប្រតិបត្តិករតែមួយដើម្បីបង្កើន បន្ថែម ឫបដិសេធ ស្តានភាពតម្លៃ។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Unary Operators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មានដូចជា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 </a:t>
            </a:r>
            <a:r>
              <a:rPr lang="en-KH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បង្កើន (</a:t>
            </a:r>
            <a:r>
              <a:rPr lang="en-KH" sz="22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++</a:t>
            </a:r>
            <a:r>
              <a:rPr lang="en-KH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), បន្ថយ (</a:t>
            </a:r>
            <a:r>
              <a:rPr lang="en-KH" sz="22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--</a:t>
            </a:r>
            <a:r>
              <a:rPr lang="en-KH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), តក្កវិទ្យាបំពេញបន្តែម(</a:t>
            </a:r>
            <a:r>
              <a:rPr lang="en-KH" sz="22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!</a:t>
            </a:r>
            <a:r>
              <a:rPr lang="en-KH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)។ល។</a:t>
            </a:r>
          </a:p>
          <a:p>
            <a:pPr lvl="1" algn="l">
              <a:lnSpc>
                <a:spcPct val="150000"/>
              </a:lnSpc>
            </a:pPr>
            <a:r>
              <a:rPr lang="en-KH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ឧទាហរណ៍៖</a:t>
            </a:r>
          </a:p>
          <a:p>
            <a:pPr lvl="1" algn="l">
              <a:lnSpc>
                <a:spcPct val="150000"/>
              </a:lnSpc>
            </a:pPr>
            <a:r>
              <a:rPr lang="en-US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int a = 1;</a:t>
            </a:r>
            <a:br>
              <a:rPr lang="en-US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a</a:t>
            </a:r>
            <a:r>
              <a:rPr lang="en-US" sz="22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++</a:t>
            </a:r>
            <a:r>
              <a:rPr lang="en-US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  <a:br>
              <a:rPr lang="en-US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a</a:t>
            </a:r>
            <a:r>
              <a:rPr lang="en-US" sz="22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--</a:t>
            </a:r>
            <a:r>
              <a:rPr lang="en-US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  <a:br>
              <a:rPr lang="en-US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2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boolean</a:t>
            </a:r>
            <a:r>
              <a:rPr lang="en-US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isIncorrect</a:t>
            </a:r>
            <a:r>
              <a:rPr lang="en-US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= false;</a:t>
            </a:r>
          </a:p>
          <a:p>
            <a:pPr lvl="1" algn="l">
              <a:lnSpc>
                <a:spcPct val="150000"/>
              </a:lnSpc>
            </a:pPr>
            <a:r>
              <a:rPr lang="en-KH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boolean isCorrect = </a:t>
            </a:r>
            <a:r>
              <a:rPr lang="en-KH" sz="22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! </a:t>
            </a:r>
            <a:r>
              <a:rPr lang="en-KH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isIncorrect;</a:t>
            </a:r>
          </a:p>
          <a:p>
            <a:pPr lvl="1" algn="l">
              <a:lnSpc>
                <a:spcPct val="150000"/>
              </a:lnSpc>
            </a:pPr>
            <a:r>
              <a:rPr lang="en-KH" sz="22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​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5C94F6-E5D6-3AD6-F7F7-931FC0C0EA31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CE5EB0-1680-C545-AA2F-95EFB80D8B73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4A2510FF-1669-CBFC-DC74-DE64F6192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33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E724B9-C62D-B7EC-D411-9B865866D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34A87-B323-C03F-D0EB-3E59F30C3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Operator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E706DA-5B28-31B8-A5B5-C5187DDBA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3"/>
            <a:ext cx="10954536" cy="4185121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Ternary (Conditional) Operator </a:t>
            </a:r>
            <a:r>
              <a:rPr lang="en-KH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 ជា</a:t>
            </a:r>
            <a:r>
              <a:rPr lang="km-KH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អក្សរកាត់បន្ទាត់តែមួយ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សម្រាប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 if-else statement ដោយវាយតម្លៃលើលក្ខណនិងកំណត់តម្លៃដែលផ្តល់ត្រឡប់មកវិញដោយផ្អែកលើលទ្ធផល 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ឫ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false</a:t>
            </a:r>
            <a:r>
              <a:rPr lang="en-KH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 </a:t>
            </a:r>
          </a:p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​    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ទម្រង់នៃការប្រើប្រាស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់៖ (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លក្ខណ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?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តម្លៃនៅពេលលទ្ធផល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 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: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(</a:t>
            </a:r>
            <a:r>
              <a:rPr lang="en-US" sz="20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តម្លៃនៅពេលលទ្ធផល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 </a:t>
            </a:r>
            <a:r>
              <a:rPr lang="en-US" sz="20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false</a:t>
            </a:r>
            <a:r>
              <a:rPr lang="en-US" sz="20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);</a:t>
            </a:r>
            <a:endParaRPr lang="en-KH" sz="20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lvl="1" algn="l">
              <a:lnSpc>
                <a:spcPct val="150000"/>
              </a:lnSpc>
            </a:pPr>
            <a:r>
              <a:rPr lang="en-KH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ឧទាហរណ៍៖ </a:t>
            </a:r>
          </a:p>
          <a:p>
            <a:pPr lvl="1" algn="l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</a:t>
            </a:r>
            <a:r>
              <a:rPr lang="en-KH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nt a = 1, b = 2;</a:t>
            </a:r>
          </a:p>
          <a:p>
            <a:pPr lvl="1" algn="l">
              <a:lnSpc>
                <a:spcPct val="150000"/>
              </a:lnSpc>
            </a:pPr>
            <a:r>
              <a:rPr lang="en-KH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int amount = a &lt; b ? 100 : 0 ;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886F14-88C5-E50F-9699-1CD52578237C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0D7CC2-CC97-3383-3C93-9FF34B6ABC87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5194BB0A-A3D5-612D-EFAB-F830C1372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040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7DF9B2-578B-86BE-AC30-8562F0F0C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E6D06-CC66-B24C-9B7C-C600010B5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Operator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65973B-B0E8-B941-5DA9-5479ACD2F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3"/>
            <a:ext cx="10954536" cy="5146416"/>
          </a:xfrm>
        </p:spPr>
        <p:txBody>
          <a:bodyPr>
            <a:normAutofit fontScale="70000" lnSpcReduction="20000"/>
          </a:bodyPr>
          <a:lstStyle/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instanceof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 Operator 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 ជា Operator សម្រាប់ធ្វើការត្រួតពិនិត្យប្រភេទទិន្នន័យដើម្បីសាកល្បងថាតើវត្ថុមួយគឺជា instance នៃ class ឫ 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interface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ជាក់លាក់មួយឬទេ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 </a:t>
            </a:r>
          </a:p>
          <a:p>
            <a:pPr algn="l">
              <a:lnSpc>
                <a:spcPct val="15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ទម្រង់នៃការប្រើប្រាស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់(Syntax)៖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វត្ថុយោង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(object) </a:t>
            </a:r>
            <a:r>
              <a:rPr lang="en-US" sz="2600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instanceof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ប្រភេទទិន្នន័យ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(Data type)</a:t>
            </a:r>
            <a:r>
              <a:rPr lang="en-US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;</a:t>
            </a:r>
            <a:endParaRPr lang="en-KH" sz="22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lvl="1" algn="l">
              <a:lnSpc>
                <a:spcPct val="15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ឧទាហរណ៍៖</a:t>
            </a:r>
          </a:p>
          <a:p>
            <a:pPr lvl="1" algn="l">
              <a:lnSpc>
                <a:spcPct val="15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class Car{}</a:t>
            </a:r>
          </a:p>
          <a:p>
            <a:pPr lvl="1" algn="l">
              <a:lnSpc>
                <a:spcPct val="15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class Lexus extends Car{}</a:t>
            </a:r>
          </a:p>
          <a:p>
            <a:pPr lvl="1" algn="l">
              <a:lnSpc>
                <a:spcPct val="150000"/>
              </a:lnSpc>
            </a:pP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Car mycar = new Lexus();</a:t>
            </a:r>
          </a:p>
          <a:p>
            <a:pPr lvl="1" algn="l">
              <a:lnSpc>
                <a:spcPct val="15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if (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mycar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instanceof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Lexus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 {</a:t>
            </a:r>
          </a:p>
          <a:p>
            <a:pPr lvl="1" algn="l">
              <a:lnSpc>
                <a:spcPct val="15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…</a:t>
            </a:r>
          </a:p>
          <a:p>
            <a:pPr lvl="1" algn="l">
              <a:lnSpc>
                <a:spcPct val="15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} else {</a:t>
            </a:r>
            <a:b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…</a:t>
            </a:r>
          </a:p>
          <a:p>
            <a:pPr lvl="1" algn="l">
              <a:lnSpc>
                <a:spcPct val="15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}</a:t>
            </a:r>
          </a:p>
          <a:p>
            <a:pPr lvl="1" algn="l">
              <a:lnSpc>
                <a:spcPct val="150000"/>
              </a:lnSpc>
            </a:pPr>
            <a:endParaRPr lang="en-KH" sz="22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89E53A-3256-A5A7-AD3F-FB773D47B31E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B21BD3A-38D5-7266-AEA2-E6496E9E3F0E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2FF01774-D685-00F4-0DB1-013C437FA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16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C72877-4C83-F5A8-4403-ED24EE980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BFC23-F35E-C99C-358D-1414DA5B6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Control Flow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89C24-7C34-93FE-8F97-6B4446EAF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168413"/>
            <a:ext cx="10954536" cy="5146416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Control Flow </a:t>
            </a:r>
            <a:r>
              <a:rPr lang="en-US" sz="9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សំដៅលើលំដាប់ដែល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statements </a:t>
            </a:r>
            <a:r>
              <a:rPr lang="en-US" sz="9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នីមួយត្រូវបានដំណើរការនៅក្នុងកម្មវិធី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      Control Flow </a:t>
            </a:r>
            <a:r>
              <a:rPr lang="en-US" sz="9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មានដូចជា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៖ if statement, if-else </a:t>
            </a:r>
            <a:r>
              <a:rPr lang="en-US" sz="9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statment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, if-else-if statements </a:t>
            </a:r>
            <a:r>
              <a:rPr lang="en-US" sz="9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និងswitch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statement។</a:t>
            </a:r>
          </a:p>
          <a:p>
            <a:pPr algn="l">
              <a:lnSpc>
                <a:spcPct val="170000"/>
              </a:lnSpc>
            </a:pP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 if statement: </a:t>
            </a:r>
            <a:r>
              <a:rPr lang="en-US" sz="9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</a:t>
            </a:r>
            <a:r>
              <a:rPr lang="km-KH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លំហូរ</a:t>
            </a:r>
            <a:r>
              <a:rPr lang="en-US" sz="9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នៃ</a:t>
            </a:r>
            <a:r>
              <a:rPr lang="km-KH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ការត្រួតពិនិត្យជាមូលដ្ឋានដែលអនុញ្ញាតឱ្យកម្មវិធី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km-KH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ធ្វើការសម្រេចចិត្ត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9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និងប្រតិបត្តិនូវប្លុក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en-US" sz="9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ជាក់លាក់លុះត្រាតែការវាយតម្លៃ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</a:t>
            </a:r>
            <a:r>
              <a:rPr lang="en-US" sz="9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លក្ខណដែលបានផ្តល់ឲ្យស្មើនិង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9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 </a:t>
            </a:r>
            <a:r>
              <a:rPr lang="en-US" sz="9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តែប៉ុណ្ណោះ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  <a:b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</a:t>
            </a:r>
            <a:r>
              <a:rPr lang="en-US" sz="9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ទម្រង់នៃការប្រើប្រាស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់(Syntax)៖</a:t>
            </a:r>
            <a:b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	if( </a:t>
            </a:r>
            <a:r>
              <a:rPr lang="en-US" sz="9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លក្ខណ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){</a:t>
            </a:r>
          </a:p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   		//Statement </a:t>
            </a:r>
            <a:r>
              <a:rPr lang="en-US" sz="9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ដែលត្រូវប្រតិបត្តិ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9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ប្រសិនបើលក្ខណស្មើ</a:t>
            </a: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9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</a:t>
            </a:r>
          </a:p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	}</a:t>
            </a:r>
            <a:endParaRPr lang="km-KH" sz="9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AFB8AC-A03C-54D9-6899-0B92EE99BB43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FB60B7-6572-7DBB-7A44-B70309CDAB0B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C03F132C-18C2-87DD-934B-6F84BA6CC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864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D801F8-0D67-890F-57FD-B7A2B7539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F23A6-0081-E42C-E366-96AA111D1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Control Flow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612210-D8F8-B315-B381-8264F2417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3"/>
            <a:ext cx="10954536" cy="5146416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 if-else statement: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</a:t>
            </a:r>
            <a:r>
              <a:rPr lang="km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លំហូរ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នៃ</a:t>
            </a:r>
            <a:r>
              <a:rPr lang="km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ការត្រួតពិនិត្យជាមូលដ្ឋានដែលអនុញ្ញាតឱ្យកម្មវិធីធ្វើការសម្រេចចិត្ត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និងប្រតិបត្តិនូវប្លុក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code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ជាក់លាក់ក្នុងការវាយតម្លៃលក្ខណដែលបានផ្តល់ឲ្យស្មើ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false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  <a:b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ទម្រង់នៃការប្រើប្រាស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់(Syntax)៖</a:t>
            </a:r>
            <a:b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	if(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លក្ខណ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){</a:t>
            </a:r>
          </a:p>
          <a:p>
            <a:pPr algn="l">
              <a:lnSpc>
                <a:spcPct val="10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   		//Statement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ដែលត្រូវប្រតិបត្តិ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ប្រសិនបើលក្ខណស្មើ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</a:t>
            </a:r>
          </a:p>
          <a:p>
            <a:pPr algn="l">
              <a:lnSpc>
                <a:spcPct val="10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	} else {</a:t>
            </a:r>
          </a:p>
          <a:p>
            <a:pPr algn="l">
              <a:lnSpc>
                <a:spcPct val="10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	 //Statement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ដែលត្រូវប្រតិបត្តិ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ប្រសិនបើលក្ខណស្មើ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false</a:t>
            </a:r>
            <a:endParaRPr lang="en-US" sz="2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algn="l">
              <a:lnSpc>
                <a:spcPct val="10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}</a:t>
            </a:r>
            <a:endParaRPr lang="km-KH" sz="2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EF3543-B7E8-52C4-BFFD-EEAF0F2AA2A6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ACC6F3-4951-1CCE-06B6-2ED8335B6D8E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F6A33DCE-B7BA-A585-6C69-21B556FD4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08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5A418-D202-4E60-E032-9A809AF03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E1114-7FC4-E1E5-0039-5FAAD7859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119781"/>
            <a:ext cx="9144000" cy="789373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Control Flow (</a:t>
            </a:r>
            <a:r>
              <a:rPr lang="en-US" sz="3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ត</a:t>
            </a:r>
            <a:r>
              <a:rPr lang="en-US" sz="3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)</a:t>
            </a:r>
            <a:endParaRPr lang="en-KH" sz="3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820791-D29E-F21E-0A2E-63E792DA2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92" y="1219213"/>
            <a:ext cx="10954536" cy="5146416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7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- if-else-if statement: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គឺជា</a:t>
            </a:r>
            <a:r>
              <a:rPr lang="km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លំហូរ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នៃ</a:t>
            </a:r>
            <a:r>
              <a:rPr lang="km-KH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ការត្រួតពិនិត្យជាមូលដ្ឋានដែលអនុញ្ញាតឱ្យកម្មវិធីធ្វើការសម្រេចចិត្ត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នូវលក្ខណច្រើនបន្តបន្ទាប់គ្នា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និងប្រតិបត្តិនូវប្លុក code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ជាក់លាក់ក្នុងការវាយតម្លៃលក្ខណដែលបានផ្តល់ឲ្យស្មើ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និង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false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។</a:t>
            </a:r>
            <a:b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ទម្រង់នៃការប្រើប្រាស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់៖</a:t>
            </a:r>
            <a:b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</a:b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	if(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លក្ខណ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){</a:t>
            </a:r>
          </a:p>
          <a:p>
            <a:pPr algn="l">
              <a:lnSpc>
                <a:spcPct val="11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   		//Statement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ដែលត្រូវប្រតិបត្តិ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ប្រសិនបើលក្ខណស្មើ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</a:t>
            </a:r>
          </a:p>
          <a:p>
            <a:pPr algn="l">
              <a:lnSpc>
                <a:spcPct val="15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} else if(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លក្ខណ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){</a:t>
            </a:r>
          </a:p>
          <a:p>
            <a:pPr algn="l">
              <a:lnSpc>
                <a:spcPct val="11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     		//Statement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ដែលត្រូវប្រតិបត្តិ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ប្រសិនបើលក្ខណស្មើ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true</a:t>
            </a:r>
          </a:p>
          <a:p>
            <a:pPr algn="l">
              <a:lnSpc>
                <a:spcPct val="11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   	} else {</a:t>
            </a:r>
          </a:p>
          <a:p>
            <a:pPr algn="l">
              <a:lnSpc>
                <a:spcPct val="11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	 //Statement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ដែលត្រូវប្រតិបត្តិ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 err="1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ប្រសិនបើលក្ខណស្មើ</a:t>
            </a: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false</a:t>
            </a:r>
            <a:endParaRPr lang="en-US" sz="2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  <a:p>
            <a:pPr algn="l">
              <a:lnSpc>
                <a:spcPct val="110000"/>
              </a:lnSpc>
            </a:pPr>
            <a:r>
              <a:rPr lang="en-US" sz="2600" dirty="0">
                <a:solidFill>
                  <a:srgbClr val="002060"/>
                </a:solidFill>
                <a:latin typeface="Khmer OS Battambang" panose="02000500000000020004" pitchFamily="2" charset="77"/>
                <a:cs typeface="Khmer OS Battambang" panose="02000500000000020004" pitchFamily="2" charset="77"/>
              </a:rPr>
              <a:t>	}</a:t>
            </a:r>
            <a:endParaRPr lang="km-KH" sz="2600" dirty="0">
              <a:solidFill>
                <a:srgbClr val="002060"/>
              </a:solidFill>
              <a:latin typeface="Khmer OS Battambang" panose="02000500000000020004" pitchFamily="2" charset="77"/>
              <a:cs typeface="Khmer OS Battambang" panose="02000500000000020004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AA2927-5748-B941-12D7-8004D5EB6222}"/>
              </a:ext>
            </a:extLst>
          </p:cNvPr>
          <p:cNvCxnSpPr/>
          <p:nvPr/>
        </p:nvCxnSpPr>
        <p:spPr>
          <a:xfrm>
            <a:off x="0" y="1050468"/>
            <a:ext cx="12192000" cy="0"/>
          </a:xfrm>
          <a:prstGeom prst="line">
            <a:avLst/>
          </a:prstGeom>
          <a:ln w="57150">
            <a:solidFill>
              <a:srgbClr val="D49B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6DC0D0-F4F7-3D95-4655-64DF2A967587}"/>
              </a:ext>
            </a:extLst>
          </p:cNvPr>
          <p:cNvCxnSpPr>
            <a:cxnSpLocks/>
          </p:cNvCxnSpPr>
          <p:nvPr/>
        </p:nvCxnSpPr>
        <p:spPr>
          <a:xfrm>
            <a:off x="0" y="979812"/>
            <a:ext cx="12192000" cy="0"/>
          </a:xfrm>
          <a:prstGeom prst="line">
            <a:avLst/>
          </a:prstGeom>
          <a:ln w="57150">
            <a:solidFill>
              <a:srgbClr val="1C2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blue circle with a yellow and white bird in it&#10;&#10;AI-generated content may be incorrect.">
            <a:extLst>
              <a:ext uri="{FF2B5EF4-FFF2-40B4-BE49-F238E27FC236}">
                <a16:creationId xmlns:a16="http://schemas.microsoft.com/office/drawing/2014/main" id="{AE18E364-928A-175D-26DF-1AE8FF7F4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8" y="219712"/>
            <a:ext cx="606500" cy="6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714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1961</Words>
  <Application>Microsoft Macintosh PowerPoint</Application>
  <PresentationFormat>Widescreen</PresentationFormat>
  <Paragraphs>178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Khmer OS Battambang</vt:lpstr>
      <vt:lpstr>Wingdings</vt:lpstr>
      <vt:lpstr>Office Theme</vt:lpstr>
      <vt:lpstr>   កម្រិតដំបូង   </vt:lpstr>
      <vt:lpstr>អ្វីទៅជា Java?</vt:lpstr>
      <vt:lpstr>ប្រវត្តិនៃ Java</vt:lpstr>
      <vt:lpstr>Java Virtual Machine (JVM)</vt:lpstr>
      <vt:lpstr>Java Development Kit(JDK)</vt:lpstr>
      <vt:lpstr>ឧបករណ៍សម្រាប់សរសេរភាសា Java(IDE)</vt:lpstr>
      <vt:lpstr>ប្រភេទទិន្នន័យ (Data Type)</vt:lpstr>
      <vt:lpstr>ប្រភេទទិន្នន័យ (Data Type) (ត)</vt:lpstr>
      <vt:lpstr>ប្រភេទទិន្នន័យ (Data Type) (ត)</vt:lpstr>
      <vt:lpstr>Variable</vt:lpstr>
      <vt:lpstr>Operator</vt:lpstr>
      <vt:lpstr>Operator (ត)</vt:lpstr>
      <vt:lpstr>Operator (ត)</vt:lpstr>
      <vt:lpstr>Operator (ត)</vt:lpstr>
      <vt:lpstr>Operator (ត)</vt:lpstr>
      <vt:lpstr>Operator (ត)</vt:lpstr>
      <vt:lpstr>Operator (ត)</vt:lpstr>
      <vt:lpstr>Control Flow</vt:lpstr>
      <vt:lpstr>Control Flow (ត)</vt:lpstr>
      <vt:lpstr>Control Flow (ត)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Ngoun Chheng Hy</dc:creator>
  <cp:lastModifiedBy>Ngoun Chheng Hy</cp:lastModifiedBy>
  <cp:revision>225</cp:revision>
  <dcterms:created xsi:type="dcterms:W3CDTF">2026-01-06T12:55:20Z</dcterms:created>
  <dcterms:modified xsi:type="dcterms:W3CDTF">2026-01-08T15:58:32Z</dcterms:modified>
</cp:coreProperties>
</file>